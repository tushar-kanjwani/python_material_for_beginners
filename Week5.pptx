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1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5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7" r:id="rId10"/>
    <p:sldId id="268" r:id="rId11"/>
    <p:sldId id="261" r:id="rId12"/>
    <p:sldId id="263" r:id="rId13"/>
    <p:sldId id="266" r:id="rId14"/>
    <p:sldId id="269" r:id="rId15"/>
    <p:sldId id="303" r:id="rId16"/>
    <p:sldId id="304" r:id="rId17"/>
    <p:sldId id="270" r:id="rId18"/>
    <p:sldId id="271" r:id="rId19"/>
    <p:sldId id="305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4" r:id="rId32"/>
    <p:sldId id="326" r:id="rId33"/>
    <p:sldId id="286" r:id="rId34"/>
    <p:sldId id="327" r:id="rId35"/>
    <p:sldId id="287" r:id="rId36"/>
    <p:sldId id="288" r:id="rId37"/>
    <p:sldId id="328" r:id="rId38"/>
    <p:sldId id="289" r:id="rId39"/>
    <p:sldId id="290" r:id="rId40"/>
    <p:sldId id="291" r:id="rId41"/>
    <p:sldId id="292" r:id="rId42"/>
    <p:sldId id="293" r:id="rId43"/>
    <p:sldId id="298" r:id="rId44"/>
    <p:sldId id="294" r:id="rId45"/>
    <p:sldId id="295" r:id="rId46"/>
    <p:sldId id="296" r:id="rId47"/>
    <p:sldId id="297" r:id="rId48"/>
    <p:sldId id="299" r:id="rId49"/>
    <p:sldId id="300" r:id="rId50"/>
    <p:sldId id="301" r:id="rId51"/>
    <p:sldId id="308" r:id="rId52"/>
    <p:sldId id="307" r:id="rId53"/>
    <p:sldId id="310" r:id="rId54"/>
    <p:sldId id="311" r:id="rId55"/>
    <p:sldId id="312" r:id="rId56"/>
    <p:sldId id="313" r:id="rId57"/>
    <p:sldId id="314" r:id="rId58"/>
    <p:sldId id="302" r:id="rId59"/>
    <p:sldId id="306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9" r:id="rId71"/>
    <p:sldId id="330" r:id="rId72"/>
    <p:sldId id="331" r:id="rId73"/>
    <p:sldId id="325" r:id="rId74"/>
    <p:sldId id="332" r:id="rId75"/>
    <p:sldId id="334" r:id="rId76"/>
    <p:sldId id="333" r:id="rId77"/>
    <p:sldId id="366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46" r:id="rId90"/>
    <p:sldId id="358" r:id="rId91"/>
    <p:sldId id="348" r:id="rId92"/>
    <p:sldId id="359" r:id="rId93"/>
    <p:sldId id="350" r:id="rId94"/>
    <p:sldId id="360" r:id="rId95"/>
    <p:sldId id="352" r:id="rId96"/>
    <p:sldId id="361" r:id="rId97"/>
    <p:sldId id="354" r:id="rId98"/>
    <p:sldId id="362" r:id="rId99"/>
    <p:sldId id="355" r:id="rId100"/>
    <p:sldId id="363" r:id="rId101"/>
    <p:sldId id="364" r:id="rId102"/>
    <p:sldId id="365" r:id="rId103"/>
    <p:sldId id="367" r:id="rId10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10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4T20:53:33.5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10248 497 24575,'-55'-17'0,"-1"3"0,-66-9 0,67 11 0,-81-27 0,33 8 0,-40-20 0,98 32 0,-69-17 0,35 16 0,6 1 0,-1 2 0,-1 4 0,-111-5 0,-677 19 0,820-3 0,-54-9 0,-9-1 0,2 7 0,-69-5 0,-127-32 0,150 18 0,-264-9 0,335 34 0,-6 1 0,0-3 0,-91-15 0,90 7 0,0 4 0,-103 6 0,58 1 0,3-4 0,47-1 0,-1 4 0,-157 21 0,97 20 0,111-31 0,-1-1 0,0-1 0,0-2 0,-65 7 0,-401-14 0,214-2 0,-1608 2 0,1849 2 0,-1 2 0,-70 17 0,64-10 0,-69 4 0,55-11 0,-231 21 0,183-11 0,-149 1 0,92-2 0,16 0 0,68-15 0,47 1 0,-72 5 0,92 0 0,1 0 0,-35 13 0,36-11 0,0 0 0,0-1 0,-33 5 0,12-4 0,1 2 0,-1 2 0,2 1 0,-1 2 0,-37 20 0,25-12 0,45-19 0,-1 0 0,1 0 0,0 0 0,0 0 0,0 1 0,0 0 0,0 0 0,1-1 0,-1 2 0,1-1 0,0 0 0,0 0 0,0 1 0,0-1 0,1 1 0,-1-1 0,1 1 0,0 0 0,0 0 0,0-1 0,0 8 0,-1 9 0,1 1 0,3 39 0,-1-36 0,-1 176 0,3 64 0,0-247 0,0 1 0,1 0 0,0-1 0,11 25 0,-1-3 0,-3 19 0,-10-48 0,1-1 0,0 1 0,0-1 0,0 0 0,1 0 0,8 17 0,3 1 0,-2 1 0,17 53 0,-20-53 0,-4-16 0,0 0 0,0 0 0,1-1 0,1 0 0,0 0 0,16 18 0,59 54 0,-57-59 0,56 48 0,4-4 0,3-4 0,95 54 0,-117-78 0,119 52 0,10-9 0,371 136 0,-413-171 0,-67-19 0,158 33 0,-184-54 0,77 17 0,-111-19 0,20 7 0,0-2 0,0-2 0,91 6 0,685-17 0,-749-2 0,118-20 0,-116 12 0,105-4 0,-175 16 0,48 0 0,1-2 0,0-2 0,66-15 0,-21-3 0,73-20 0,-128 30 0,0 1 0,1 2 0,0 2 0,87-2 0,-82 9 0,634-15 0,-462 4 0,168-18 0,-288 13 0,-1-4 0,119-40 0,-142 32 0,-39 13 0,2 2 0,0 1 0,51-7 0,-71 17 0,0 2 0,0 0 0,0 1 0,37 8 0,79 25 0,-70-13 0,-38-11 0,1-1 0,0-2 0,0-1 0,43 4 0,37 2 0,-18-1 0,-76-9 0,0 1 0,0 1 0,0 0 0,26 11 0,-25-8 0,0-1 0,1-1 0,30 6 0,114 9 0,-40-3 0,171 2 0,207-4 0,-232 0 0,-14-2 0,159-2 0,-302-12 0,-78 2 0,60 12 0,-57-7 0,44 1 0,-55-6 0,204-3 0,-192-2 0,1-1 0,-1-2 0,-1-2 0,54-19 0,-65 15 0,0 0 0,-1-2 0,-1-1 0,42-36 0,22-15 0,-70 55 0,-1-1 0,0-1 0,-1 0 0,0-1 0,-1-1 0,-1 0 0,19-32 0,11-21 0,38-84 0,-73 134 0,0 1 0,-2-2 0,0 1 0,-1 0 0,0-1 0,-2 0 0,-1 0 0,0 0 0,-2-25 0,1-53 0,-5-99 0,1 175 0,-1-1 0,-1 1 0,-2 1 0,0-1 0,-13-28 0,-4-9 0,-28-67 0,47 115 0,-1 0 0,0 0 0,0 1 0,-1 0 0,-1 0 0,-14-16 0,-59-48 0,70 65 0,-8-7 0,-1 2 0,0 0 0,-1 2 0,0 0 0,-1 1 0,-26-9 0,27 12 0,-2-2 0,-1 2 0,-41-10 0,45 12 0,0 0 0,0-2 0,0 0 0,1-1 0,0-1 0,1-1 0,-30-23 0,-32-18 0,-89-58 0,144 93 0,0 0 0,-23-23 0,-17-13 0,60 49-227,0 1-1,0 1 1,0-1-1,-1 1 1,-10-4-1,-7 0-6598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4T20:53:48.3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3720 59 24575,'-1809'0'0,"1770"-2"0,-56-10 0,-30-1 0,77 12 0,7 1 0,1-2 0,-68-11 0,59 6 0,-1 1 0,-1 4 0,-73 4 0,25 0 0,-12-3 0,-118 3 0,112 14 0,54-6 0,22-1 0,0 1 0,1 2 0,1 2 0,0 2 0,-58 32 0,-31 31 0,120-73 0,1 0 0,0 0 0,0 1 0,1 0 0,-1 0 0,2 1 0,-1-1 0,1 1 0,0 1 0,1-1 0,-1 1 0,2-1 0,-1 1 0,1 1 0,1-1 0,-3 14 0,1 12 0,1 0 0,2 0 0,4 41 0,-2-18 0,-1-52 0,0 0 0,1-1 0,-1 1 0,1 0 0,0-1 0,1 1 0,-1-1 0,1 1 0,0-1 0,1 0 0,-1 0 0,1 0 0,0 0 0,6 7 0,-4-7 0,0 0 0,1 0 0,0-1 0,0 1 0,0-1 0,0-1 0,1 1 0,-1-1 0,1-1 0,14 5 0,5 2 0,33 16 0,-38-14 0,1-2 0,35 10 0,-37-15 0,1-2 0,-1 0 0,31-1 0,-26-1 0,37 4 0,-51-1 0,0 0 0,0 0 0,17 9 0,26 7 0,-21-14 0,1-1 0,66 0 0,-63-4 0,1 1 0,41 8 0,4 2 0,0-4 0,151-7 0,-98-2 0,-52 5 0,86 15 0,-26-11 0,9 3 0,13 3 0,-89-8 0,22 8 0,-63-7 0,57 2 0,68-10 0,113 4 0,-155 11 0,55 2 0,-94-14 0,150-4 0,-216 0 0,-1 1 0,0-1 0,0-1 0,0-1 0,0 0 0,-1 0 0,17-10 0,24-11 0,-41 22 0,1 0 0,-1 1 0,1 1 0,15-1 0,-18 2 0,-1 0 0,0 0 0,0-1 0,0 0 0,-1 0 0,1-1 0,0 0 0,-1-1 0,15-8 0,30-25 0,-18 13 0,-1-1 0,43-41 0,-64 52 0,-1 0 0,0 0 0,-1-1 0,0 0 0,-2-1 0,12-24 0,-17 28 0,0-1 0,-1 1 0,-1-1 0,0 0 0,-1 0 0,0 1 0,-1-1 0,0 0 0,-1 0 0,-1 0 0,0 0 0,-1 1 0,-5-18 0,6 27 0,-1-1 0,1 1 0,-1 0 0,1 0 0,-1 0 0,0 1 0,0-1 0,0 1 0,-1-1 0,1 1 0,-1 0 0,1 0 0,-1 1 0,1-1 0,-1 1 0,0 0 0,0-1 0,0 2 0,0-1 0,-5 0 0,3 0 0,0 0 0,1-1 0,-1 0 0,0 0 0,1 0 0,-1 0 0,1-1 0,0 0 0,-6-4 0,-28-27 0,-51-57 0,74 71 0,6 7 0,-1 1 0,0-1 0,-19-14 0,1 3 0,19 15 0,-1-1 0,-1 2 0,0 0 0,0 0 0,-20-9 0,13 9-1365,4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4T21:10:55.0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6669 57 24575,'-3'-3'0,"0"1"0,-1 0 0,1-1 0,0 1 0,-1 0 0,0 1 0,1-1 0,-1 1 0,0-1 0,0 1 0,-5 0 0,-50-6 0,16 3 0,-30-7 0,-106-2 0,-75 14 0,96 1 0,59-4 0,-112 5 0,131 9 0,52-6 0,-37 1 0,-405-4 0,243-5 0,-1165 2 0,1359 1 0,-57 11 0,-18 1 0,48-7 0,-83 17 0,88-12 0,-1-3 0,-59 2 0,-579-10 0,296-2 0,377 1 0,1-1 0,-36-8 0,34 5 0,0 1 0,-26-1 0,-519 3 0,276 4 0,236-3 0,30 0 0,1 0 0,0 2 0,0 0 0,0 2 0,-26 6 0,26-2 0,1-1 0,-38 16 0,52-18 0,1 0 0,1 1 0,-1 0 0,1 0 0,-1 1 0,2 0 0,-1 0 0,-6 8 0,5-5 0,0 0 0,1 0 0,0 1 0,1 0 0,0 0 0,0 0 0,1 1 0,1 0 0,0 0 0,0 0 0,1 1 0,0-1 0,1 1 0,-1 21 0,7 209 0,0-223 0,1 0 0,1 0 0,0 0 0,1 0 0,1-1 0,1-1 0,14 22 0,-3-2 0,-15-30 0,0 0 0,0 0 0,1-1 0,-1 0 0,1 0 0,1 0 0,-1-1 0,1 0 0,0 0 0,1 0 0,-1-1 0,1 0 0,12 4 0,-4-1 0,-1 1 0,16 11 0,-22-14 0,0 0 0,0 0 0,1-1 0,-1-1 0,1 0 0,0 0 0,0 0 0,13 0 0,-12-1 0,1 0 0,-1 1 0,0 0 0,0 0 0,0 1 0,14 8 0,-12-5 0,0 0 0,0-1 0,1 0 0,-1-1 0,1 0 0,24 3 0,-9-4 0,-1-1 0,43-3 0,58 1 0,91-5 0,-195 1 0,0-2 0,43-13 0,-46 11 0,1 0 0,0 2 0,37-3 0,18 6 0,-34 1 0,58-7 0,-26 0 0,130 3 0,-7 1 0,-97-9 0,-59 7 0,46-2 0,12 9 0,-50 0 0,-1-1 0,78-12 0,-60 3 0,86-1 0,41-5 0,-130 5 0,9-2 0,124-5 0,-173 15 0,0-1 0,-1 0 0,1-2 0,25-9 0,-20 6 0,58-9 0,180 14 0,-142 5 0,648-2 0,-737 2 0,58 10 0,-55-6 0,41 2 0,-47-5 0,1 1 0,61 16 0,-63-11 0,0-2 0,68 5 0,237-12 0,-140-2 0,-164 0 0,-1-1 0,1-2 0,43-12 0,-34 7 0,48-5 0,36 11 0,-97 5 0,0-2 0,-1 0 0,1-2 0,0-1 0,40-12 0,-36 8 0,1 1 0,0 1 0,1 2 0,-1 2 0,53 2 0,44-2 0,-110 0 0,0-2 0,0 0 0,-1-1 0,1-1 0,38-18 0,-53 21 0,0-1 0,0 0 0,0-1 0,-1 0 0,0 0 0,0 0 0,-1 0 0,1-1 0,-1 0 0,0 0 0,-1-1 0,1 0 0,-1 1 0,-1-1 0,1 0 0,-1-1 0,0 1 0,-1-1 0,0 1 0,0-1 0,-1 0 0,1 0 0,-2 1 0,1-10 0,-1 4 0,0 1 0,-1 0 0,0 0 0,-1 0 0,-1 0 0,0 0 0,0 0 0,-1 0 0,0 1 0,-1 0 0,-1-1 0,0 2 0,0-1 0,-15-17 0,12 18 0,-1 1 0,0 1 0,-1 0 0,0 0 0,0 1 0,-13-6 0,-32-21 0,24 8 0,-30-31 0,35 31 0,7 3 13,16 19-185,1 0 0,-1 0 0,1 0-1,-1 0 1,0 1 0,-1-1-1,-8-4 1,-7-1-6654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4T21:11:58.4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4T21:18:26.9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24530,'0'2287'0,"11531"-2287"0,-11531-2287 0,-11531 2287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4T21:18:42.7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24536,'0'1775'0,"9236"-1775"0,-9236-1775 0,-9236 1775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4T21:11:58.4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4T21:30:13.8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0 143 24575,'3'0'0,"0"0"0,0 1 0,0-1 0,0 1 0,0 0 0,0 0 0,-1 0 0,1 0 0,0 0 0,-1 1 0,1-1 0,-1 1 0,1 0 0,-1 0 0,0 0 0,0 0 0,0 0 0,0 0 0,0 1 0,0-1 0,0 0 0,-1 1 0,1 0 0,-1-1 0,2 6 0,3 8 0,-1 0 0,-1-1 0,4 27 0,-4-20 0,68 280 0,-18-81 0,-46-187 0,21 111 0,-15-45 0,1 141 0,-16 431 0,0-667 0,1-1 0,1 1 0,-1-1 0,1 1 0,-1-1 0,1 1 0,1-1 0,-1 1 0,0-1 0,4 7 0,-3-9 0,0 0 0,0 0 0,0 0 0,0 0 0,0 0 0,0 0 0,0 0 0,0-1 0,1 1 0,-1-1 0,1 0 0,-1 0 0,1 0 0,-1 0 0,1 0 0,0 0 0,0-1 0,4 1 0,448 70 0,-366-61 0,-1-5 0,105-7 0,75 4 0,375 66 0,-43-4 0,-380-37 0,55 3 0,61 2 0,-205-17 0,35 1 0,209 30 0,25 1 0,-144-20 0,-150-12 0,122 11 0,-163-19 0,120 28 0,-114-19 0,78 7 0,205 16 0,50 0 0,-215-22 0,-85-8 506,452 39-7436,-220-31 4442,-112-13 5924,-23-4-1003,927-2-1071,-677-27 401,-26 1-1888,-350 25 149,124-21-1,71-32-31,-178 35 12,-36 9-4,1 2 0,0 3 0,74-1 0,-98 7 0,1-2 0,41-10 0,-26 5 0,-46 7 0,0 1 0,0-1 0,0 0 0,-1 0 0,1 0 0,0-1 0,0 1 0,-1-1 0,1 1 0,-1-1 0,1 0 0,-1 0 0,0 0 0,1-1 0,-1 1 0,-1 0 0,1-1 0,0 1 0,0-1 0,-1 0 0,1 1 0,-1-1 0,0 0 0,0 0 0,0 0 0,0 0 0,-1 0 0,1 0 0,-1 0 0,0 0 0,0-5 0,0-5 0,0 0 0,-1 0 0,0 0 0,-1 1 0,-1-1 0,-5-15 0,-147-553 0,30 153 0,50 182 0,39 121 0,-53-124 0,75 219 0,-13-28 0,3-1 0,3-1 0,-18-79 0,32 111 0,-20-52 0,-2-6 0,19 21 0,8 47 0,-8-36 0,8 51 0,1 0 0,-1-1 0,1 1 0,-1 0 0,0 0 0,0 1 0,-1-1 0,1 0 0,0 1 0,-1-1 0,0 1 0,1 0 0,-1 0 0,0 0 0,0 0 0,0 0 0,0 1 0,-1-1 0,1 1 0,0 0 0,-1 0 0,-4-1 0,-8-1 0,-1 1 0,1 0 0,-23 0 0,35 2 0,-109 3 0,-222 33 0,116-9 0,-21 3 0,98-8 0,-282 8 0,225-17 0,27 0 0,-640-11 0,393-4 0,198 0 0,-247 5 0,233 12 0,70-3 0,14-2 0,-233 8 0,68-4 0,6 0 0,-77-1 0,-1 1 0,-16 1 0,-23 0 0,-706-16 0,1078-2 0,0-2 0,-67-15 0,-46-6 0,114 21 0,0-2 0,1-3 0,0-2 0,1-3 0,0-1 0,-53-26 0,78 31 0,0 1 0,0 2 0,-43-8 0,-43-13 0,64 12 0,-61-11 0,65 16 0,-73-29 0,89 29 0,0 1 0,0 2 0,-1 0 0,0 2 0,-1 2 0,-42-4 0,32 9 0,-111 4 0,147-3 0,0 0 0,0 1 0,0-1 0,0 1 0,1 0 0,-1 1 0,1-1 0,-1 1 0,1 0 0,0 0 0,0 0 0,0 1 0,1-1 0,-1 1 0,1 0 0,0 0 0,-3 5 0,2-4 0,1-1 0,-1 1 0,0-1 0,0 1 0,-1-1 0,1 0 0,-1-1 0,0 1 0,0-1 0,0 0 0,0 0 0,-9 3 0,-1-4 0,0 1 0,0-2 0,0 0 0,0-1 0,-19-2 0,22 0 0,-1 1 0,1 1 0,0 0 0,-1 1 0,1 0 0,0 1 0,0 1 0,-16 4 0,11 3-1365,4 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4T21:30:21.5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6198 115 24575,'-40'2'0,"-1"3"0,0 1 0,-44 13 0,-7 0 0,-9 1 0,32-5 0,-1-4 0,-123 6 0,-1524-19 0,1646-1 0,-72-13 0,66 6 0,-3-1 0,-63-5 0,-166 17 0,-64-3 0,236-12 0,-52 0 0,-1191 15 0,1344 1 0,1 1 0,-35 9 0,3-1 0,0-1 0,17-2 0,-82 4 0,14-15 0,-98 5 0,214-2 0,0 0 0,-1 1 0,1-1 0,-1 0 0,1 1 0,0 0 0,-1 0 0,1-1 0,0 1 0,0 0 0,-1 1 0,1-1 0,0 0 0,0 1 0,0-1 0,0 1 0,1 0 0,-1-1 0,0 1 0,1 0 0,-3 4 0,3-3 0,-1 0 0,1 1 0,0 0 0,0-1 0,1 1 0,-1-1 0,1 1 0,0 0 0,0 0 0,0-1 0,0 1 0,2 7 0,1 0 0,0 1 0,1-1 0,0 1 0,0-2 0,2 1 0,-1 0 0,1-1 0,8 10 0,20 15 0,-29-32 0,-1 0 0,0 1 0,0 0 0,0 0 0,0 0 0,-1 1 0,1-1 0,-1 1 0,0 0 0,-1 0 0,1 0 0,-1 0 0,0 0 0,1 6 0,2 23 0,-1 1 0,-2-1 0,-6 68 0,1-17 0,2-28 0,3 80 0,-2-134 0,1 0 0,-1-1 0,1 1 0,0 0 0,0 0 0,0-1 0,0 1 0,0-1 0,0 1 0,1-1 0,-1 0 0,1 1 0,0-1 0,0 0 0,-1 0 0,1 0 0,1 0 0,-1 0 0,0-1 0,0 1 0,1-1 0,-1 1 0,1-1 0,-1 0 0,1 0 0,-1 0 0,1 0 0,0 0 0,4 0 0,8 1 0,1-1 0,-1 0 0,0-1 0,21-2 0,-9 0 0,514-2 0,-365 5 0,-135 1 0,58 10 0,32 2 0,83-16 0,90 4 0,-152 20 0,-129-18 0,84 20 0,-63-13 0,83 10 0,34-17 0,38 3 0,4 9 0,232-13 0,-219-5 0,-93 2 0,136 18 0,-133-7 0,192-9 0,-158-4 0,-149 2 0,96-1 0,0 5 0,150 23 0,-181-15 0,125 5 0,78-18 0,-105-1 0,-18 3 0,172-3 0,-298-1 0,-1-2 0,52-15 0,-51 12 0,-1 1 0,48-5 0,-72 12 0,-1-1 0,0 1 0,0-1 0,0 1 0,0-1 0,0 0 0,0-1 0,0 1 0,0-1 0,0 0 0,-1 0 0,7-3 0,-8 2 0,0 0 0,1 0 0,-1 1 0,0-1 0,0-1 0,0 1 0,-1 0 0,1 0 0,-1-1 0,0 1 0,1-1 0,-2 1 0,1-1 0,0 1 0,0-4 0,0-3 0,-1 0 0,0 0 0,0 0 0,-1 0 0,0 1 0,0-1 0,-1 0 0,-1 1 0,1-1 0,-2 1 0,1 0 0,-1 0 0,-1 0 0,1 0 0,-2 1 0,-9-13 0,7 8 0,0-1 0,1 1 0,0-1 0,1 0 0,1-1 0,0 1 0,-4-25 0,4 7 0,1 0 0,2-51 0,0 57 0,-1 0 0,0 0 0,-2 0 0,-10-29 0,7 28 0,2 0 0,0 0 0,-2-44 0,10-282-1365,-2 341-5461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4T21:30:43.6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 24575,'0'-4'0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4T21:34:41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167 275 24575,'-1'162'0,"3"196"0,2-303 0,2-1 0,19 78 0,44 102 0,-32-133 0,13 42 0,-49-139 0,9 32 0,1 0 0,2-1 0,33 63 0,29-1 0,-47-57 0,1-2 0,2 0 0,69 63 0,-79-83 0,2 0 0,0-2 0,0-1 0,2 0 0,0-2 0,0-1 0,1-1 0,31 9 0,187 42 0,-195-47 0,1-1 0,1-3 0,0-2 0,101 4 0,618-16 0,-680-2 0,177-32 0,-138 15 0,278-24 0,-246 35 0,212-6 0,-269 18 0,-13 1 0,124-14 0,71-9 0,-61 8 0,47 4 0,26-3 0,151-54 0,-356 51 0,158-6 0,96 21 0,-188 2 0,268-17 0,-248 4 0,234-22 0,288-84 0,-537 83 0,2 8 0,1 6 0,257 5 0,-291 20 4,177 32 1,133 53-109,-60 15-1062,-224-53-3638,-94-29 4584,2-3 1,0-2-1,1-4 0,131 11 0,276-27 207,-178-3 89,-147 6-52,74-1 1565,0-12 3899,-51-1-5488,109-12 0,-222 16 0,286-38 0,-38 41 0,-215 9 0,151-15 0,17-22 0,-208 28 0,72 3 0,-3 1 0,-28-11 0,-63 7 0,47-2 0,270 8 0,-159 1 0,-179-1 0,-1 0 0,1-1 0,0 0 0,0-1 0,-1 0 0,1-1 0,-1 1 0,1-2 0,-1 1 0,0-2 0,-1 1 0,1-1 0,-1 0 0,0-1 0,0 0 0,0 0 0,-1-1 0,0 0 0,0 0 0,-1 0 0,0-1 0,9-16 0,112-153 0,-122 168 0,-1 0 0,0 0 0,0 0 0,-1 0 0,4-17 0,8-22 0,-7 26 0,-1-1 0,0 1 0,-2-1 0,-1-1 0,3-37 0,-8-123 0,-2 79 0,2 79 0,-1 1 0,-1-1 0,-2 1 0,0 0 0,-2 1 0,-1-1 0,-1 1 0,0 0 0,-20-32 0,-7-4 0,-3 1 0,-55-63 0,44 65 0,-2 3 0,-2 2 0,-2 3 0,-100-67 0,138 104 0,-1 2 0,0 1 0,0 0 0,-1 1 0,0 1 0,-30-6 0,-127-15 0,174 28 0,-135-10 0,-148 8 0,167 3 0,-230 22 0,1 24 0,30-2 0,-505 28-10499,654-60 10005,-631 9-274,-59 5 708,382 28 60,183-19 0,-423 82 468,174-23 113,-5-46-290,-508-86 5196,845 21-3239,-295 13 0,393 14-1743,-19 0-510,112-10 5,0-2-1,0-1 1,0 0 0,-33-9-1,-151-38 1,-45-14 0,133 33 0,67 19 0,1-2 0,-65-27 0,63 21 0,-94-25 0,16 7 0,27 8 0,-29-11 0,71 17 0,-1 2 0,-97-19 0,87 24 0,2-3 0,0-2 0,-70-35 0,115 48 0,0 0 0,0 1 0,0 1 0,-1 2 0,-45-4 0,-123 9 0,83 2 0,-116-17 0,10 0 0,-1137 15 0,1268 3 0,-117 20 0,117-11 0,-129 4 0,109-20 0,-104 4 0,61 23 0,114-20 0,0 2 0,1 2 0,-57 21 0,5-2 0,72-25 0,0 0 0,0 0 0,-24-1 0,26-1 0,0 0 0,0 1 0,0 0 0,0 1 0,-17 4 0,23-4 0,1 0 0,-1 0 0,1 1 0,-1-1 0,1 1 0,0 0 0,0 0 0,0 0 0,0 0 0,0 0 0,1 1 0,0-1 0,-1 1 0,1-1 0,0 1 0,1 0 0,-1 0 0,1 0 0,0 0 0,0 0 0,-1 6 0,-1 10 0,1 0 0,0 0 0,2 21 0,0-36 0,1 4 0,0 0 0,0 0 0,1-1 0,0 1 0,0 0 0,1-1 0,0 0 0,1 1 0,-1-1 0,2-1 0,-1 1 0,1-1 0,8 11 0,5 12 25,-16-24-224,1 0 1,1-1-1,-1 1 1,1-1-1,0 1 1,9 7-1,1-1-6627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4T21:34:44.9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4130 56 24575,'0'3'0,"-1"1"0,1-1 0,-1 0 0,0 0 0,0 0 0,0 0 0,0 0 0,-1 0 0,1 0 0,-1 0 0,1 0 0,-1-1 0,0 1 0,0 0 0,-1-1 0,1 0 0,0 0 0,-1 0 0,0 0 0,1 0 0,-1 0 0,0 0 0,-5 1 0,-8 5 0,-1-1 0,0-1 0,-21 4 0,15-3 0,-13 2 0,0-1 0,0-1 0,-43 1 0,-111-4 0,146-5 0,-571 1 0,568-3 0,-1-1 0,-78-19 0,-2 0 0,-11-1 0,76 12 0,0 2 0,-85-1 0,106 11 0,27 2 0,-1-2 0,1 0 0,-1 0 0,1-2 0,0 0 0,-1-1 0,1 0 0,-24-9 0,23 5 0,1 2 0,-1 0 0,0 1 0,0 0 0,-25-2 0,-81 3 0,16 2 0,13-12 0,62 8 0,-48-4 0,-593 8 0,327 3 0,328-1 0,0 2 0,0 0 0,0 0 0,0 2 0,-26 10 0,-20 5 0,46-16 0,-1 0 0,1 1 0,0 1 0,1 1 0,0 1 0,0 0 0,0 1 0,-27 21 0,39-26 0,1 0 0,0 1 0,0-1 0,0 1 0,0 0 0,1 0 0,0 0 0,0 0 0,0 0 0,0 0 0,1 0 0,0 1 0,-1 9 0,1 9 0,2 44 0,0-42 0,2 331 0,-3-352 0,0 0 0,0-1 0,1 1 0,-1-1 0,1 1 0,0-1 0,0 0 0,1 1 0,-1-1 0,1 0 0,0 0 0,0 0 0,0 0 0,5 6 0,0-3 0,0 0 0,0-1 0,1 0 0,0-1 0,0 0 0,10 5 0,5 1 0,1-1 0,-1-1 0,2-1 0,25 5 0,21 6 0,-17-4 0,1-2 0,1-3 0,84 5 0,169-11 0,-33-2 0,6 24 0,-141-13 0,94 2 0,-74-1 0,-10-1 0,280-13 0,-197-1 0,-62-12 0,-27 0 0,131-8 0,-215 16 0,45-9 0,-54 7 0,68-2 0,-81 9 0,68-3 0,-94 2 0,0-1 0,1-1 0,-1-1 0,0 1 0,24-12 0,108-69 0,-139 81 0,0-1 0,0 1 0,-1-1 0,0 0 0,1 0 0,-1-1 0,-1 1 0,1-1 0,-1 0 0,0-1 0,0 1 0,4-7 0,-5 4 0,0 0 0,0 0 0,0 0 0,-1 0 0,0-1 0,-1 1 0,0-1 0,0 1 0,-1-10 0,-5-502-1365,5 495-5461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45C9E-E398-4F78-AE74-C606F0A9909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39F9E-0F2E-499B-80C0-3B3F8678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65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39F9E-0F2E-499B-80C0-3B3F867857E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483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D0F06-2B25-7421-FFCB-D809B3E5ED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F5E8E1-2C44-DD3A-B1B7-C2C77D71F2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0EBD6-D0CF-125F-E0C9-1B169A9BB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0ED70-A2CE-4465-A25D-32DA2B065F38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B0605-817F-211E-11A0-200DAA0CB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5E3CF-1EC1-DAF9-38B2-66694C318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48AD-E628-41B8-895A-B9B8F2E29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998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A36B9-875F-08FA-A5D2-9519709CB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26CA9-5627-E5CD-98B2-57342B916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7FAD4-C202-9AC8-3AD2-A2ADA22B1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0ED70-A2CE-4465-A25D-32DA2B065F38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BE0CC-C553-EA21-BCF9-A299B1541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6BA77-48F3-C274-1564-D044CED3E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48AD-E628-41B8-895A-B9B8F2E29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541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3DD74-B3A9-414A-5066-745B5C086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F4CAC5-BF0C-2715-E7BB-4D896F3F7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43918-618B-664A-EEA5-2E05812F3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0ED70-A2CE-4465-A25D-32DA2B065F38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CFC91-ABF2-F229-C630-949CD2B60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C5FA1-5885-735B-562A-729C8B017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48AD-E628-41B8-895A-B9B8F2E29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65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15258-3CA7-A87A-A0A7-0AB6BF283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93C50-6C41-C004-A182-D9EAD723C3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7DCCAA-1398-3544-D50F-7CCE89B36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C71E2-F889-6135-7297-6895EAC4F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0ED70-A2CE-4465-A25D-32DA2B065F38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1CBB4-671A-0E04-83C9-6FAAC67EE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E53E9-5AAE-7C6A-951A-298572ED5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48AD-E628-41B8-895A-B9B8F2E29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107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06850-C27E-BB74-8296-106C1537A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F292A-1828-B292-C6FF-4F4AF5DE1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E37BE-44BF-1BA5-1F4F-B6CA2E6F3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4263DC-7681-3C5D-FF8C-1145935EE0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76AADF-D746-5688-ABBC-2B2AAD6C86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9D9B87-E434-1FE2-0BF8-7B4192BB4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0ED70-A2CE-4465-A25D-32DA2B065F38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F78BD2-0CCE-61EA-34DF-547B44008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486E30-13D1-35B0-5684-9500D35B1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48AD-E628-41B8-895A-B9B8F2E29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25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B8CF4-B18D-9908-4F6B-E51A4E64F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101A60-9887-1416-F3EC-D01E2DFD3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0ED70-A2CE-4465-A25D-32DA2B065F38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7C9EDE-3147-E220-B9A5-C30B2A089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82D82-4F90-D896-79C1-2D6FC3318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48AD-E628-41B8-895A-B9B8F2E29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574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6A9C09-411D-91E3-E6E4-A1F1D134F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0ED70-A2CE-4465-A25D-32DA2B065F38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13DFC0-A95E-9740-2062-CEF67FFBD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1B790-6897-7127-5D59-FC022FE68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48AD-E628-41B8-895A-B9B8F2E29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98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0F902-85A6-36C4-B784-D75B9AB51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4C91C-6D95-3DDE-EEC1-AF50706D7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9CF10F-14B0-1F9D-5928-0BBE03868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14CA2-A3AD-7B06-146D-71D0E125F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0ED70-A2CE-4465-A25D-32DA2B065F38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9F8E9-69F3-2EFB-7EBE-67037FB1D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67969-DA67-6995-4B2A-150C61D6D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48AD-E628-41B8-895A-B9B8F2E29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68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ACB62-9697-6D3F-E98D-8C22DFDCC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E2F9F-D9F4-4267-ADDC-95C0CEB080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8040F9-506E-8DA4-206A-CDE5B959A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7105B-AC3D-D449-E8BA-7F642AC24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0ED70-A2CE-4465-A25D-32DA2B065F38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70894-C01C-BF51-127C-1B7864668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36D0BA-0E8C-DE9A-202A-42C373280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48AD-E628-41B8-895A-B9B8F2E29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691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B38F6-A72C-F249-7150-4541E76B0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6C3A30-1CB1-E065-DE37-7EE876FDA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FC695-95BB-0EDE-A249-AAAF80E90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0ED70-A2CE-4465-A25D-32DA2B065F38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81FED-1F92-DE64-B391-DEA74A16A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24991-1D93-2D83-139E-EA41C5C5D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48AD-E628-41B8-895A-B9B8F2E29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17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2749A8-B957-CF3B-C2B1-5EC0AE92DF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05D88-7F68-2AAE-4EB3-15A5EF4F5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718FF-DA84-AD51-A6B8-98A419DB1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0ED70-A2CE-4465-A25D-32DA2B065F38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7AC1E-62DA-3871-31A1-18C19663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16720-6F06-CB0C-B077-A2411F4A5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48AD-E628-41B8-895A-B9B8F2E29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67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6D02AE-606C-D24B-A7AB-6A89302FC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E31B3-B374-BD19-6DF9-4B451D79B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32473-3BA7-00B0-69B2-84195E982E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10ED70-A2CE-4465-A25D-32DA2B065F38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7A893-9B3E-A0B4-8D1D-23CD35B84D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DF3F5-5988-5B8A-DE91-2C4D538B3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BC48AD-E628-41B8-895A-B9B8F2E29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1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6.png"/><Relationship Id="rId7" Type="http://schemas.openxmlformats.org/officeDocument/2006/relationships/customXml" Target="../ink/ink2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customXml" Target="../ink/ink1.xml"/><Relationship Id="rId4" Type="http://schemas.openxmlformats.org/officeDocument/2006/relationships/image" Target="../media/image4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customXml" Target="../ink/ink3.xml"/><Relationship Id="rId4" Type="http://schemas.openxmlformats.org/officeDocument/2006/relationships/image" Target="../media/image4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46.png"/><Relationship Id="rId7" Type="http://schemas.openxmlformats.org/officeDocument/2006/relationships/customXml" Target="../ink/ink6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customXml" Target="../ink/ink5.xml"/><Relationship Id="rId4" Type="http://schemas.openxmlformats.org/officeDocument/2006/relationships/image" Target="../media/image4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5" Type="http://schemas.openxmlformats.org/officeDocument/2006/relationships/image" Target="../media/image64.png"/><Relationship Id="rId4" Type="http://schemas.openxmlformats.org/officeDocument/2006/relationships/customXml" Target="../ink/ink8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70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5" Type="http://schemas.openxmlformats.org/officeDocument/2006/relationships/image" Target="../media/image69.png"/><Relationship Id="rId4" Type="http://schemas.openxmlformats.org/officeDocument/2006/relationships/customXml" Target="../ink/ink1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79.pn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79.png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4C7C-6001-6073-2015-88B5A65825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spc="-5" dirty="0">
                <a:solidFill>
                  <a:srgbClr val="1F3863"/>
                </a:solidFill>
              </a:rPr>
            </a:br>
            <a:r>
              <a:rPr lang="en-US" spc="-5" dirty="0">
                <a:solidFill>
                  <a:srgbClr val="1F3863"/>
                </a:solidFill>
              </a:rPr>
              <a:t>Introduction to Object-Oriented Programming (OOP)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3112A1-C55F-7939-4674-26EB5AF449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pc="-5" dirty="0">
                <a:solidFill>
                  <a:srgbClr val="1F3863"/>
                </a:solidFill>
              </a:rPr>
              <a:t>Week-05</a:t>
            </a:r>
          </a:p>
          <a:p>
            <a:r>
              <a:rPr lang="en-US" spc="-5" dirty="0">
                <a:solidFill>
                  <a:srgbClr val="1F3863"/>
                </a:solidFill>
              </a:rPr>
              <a:t>Engr. </a:t>
            </a:r>
            <a:r>
              <a:rPr lang="en-US" spc="-5">
                <a:solidFill>
                  <a:srgbClr val="1F3863"/>
                </a:solidFill>
              </a:rPr>
              <a:t>Tushar Kanjwani</a:t>
            </a:r>
            <a:endParaRPr lang="en-US" spc="-5" dirty="0">
              <a:solidFill>
                <a:srgbClr val="1F38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3618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5B1EE-C15E-09A8-B2EC-2A8B88163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What is OOP?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5373E-F3A2-8681-17C8-BCECC202F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660904"/>
            <a:ext cx="5661709" cy="3547872"/>
          </a:xfrm>
        </p:spPr>
        <p:txBody>
          <a:bodyPr anchor="t">
            <a:normAutofit/>
          </a:bodyPr>
          <a:lstStyle/>
          <a:p>
            <a:r>
              <a:rPr lang="en-US" sz="2200" dirty="0"/>
              <a:t>Python is an object-oriented language, allowing you to structure your code using classes and objects for better organization and reusability. </a:t>
            </a:r>
          </a:p>
          <a:p>
            <a:r>
              <a:rPr lang="en-US" sz="2200" dirty="0"/>
              <a:t>Python supports the core principles of object-oriented programming, which are the building blocks for designing robust and reusable software. </a:t>
            </a:r>
          </a:p>
        </p:txBody>
      </p:sp>
      <p:pic>
        <p:nvPicPr>
          <p:cNvPr id="4" name="Picture 3" descr="Python OOPs ">
            <a:extLst>
              <a:ext uri="{FF2B5EF4-FFF2-40B4-BE49-F238E27FC236}">
                <a16:creationId xmlns:a16="http://schemas.microsoft.com/office/drawing/2014/main" id="{E1D0E82E-E4AC-0096-D269-575FF8DB4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260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44D82-8D80-6496-8D62-B18C4340C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D0FAA-FC29-C3F2-8EB6-6A02C07FC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a clear structure to programs</a:t>
            </a:r>
          </a:p>
          <a:p>
            <a:r>
              <a:rPr lang="en-US" dirty="0"/>
              <a:t>Makes code easier to maintain, reuse, and debug</a:t>
            </a:r>
          </a:p>
          <a:p>
            <a:r>
              <a:rPr lang="en-US" dirty="0"/>
              <a:t>Helps keep your code DRY (</a:t>
            </a:r>
            <a:r>
              <a:rPr lang="en-US" b="1" dirty="0"/>
              <a:t>Don't Repeat Yourself</a:t>
            </a:r>
            <a:r>
              <a:rPr lang="en-US" dirty="0"/>
              <a:t>)</a:t>
            </a:r>
          </a:p>
          <a:p>
            <a:r>
              <a:rPr lang="en-US" dirty="0"/>
              <a:t>Allows you to build reusable applications with less code</a:t>
            </a:r>
          </a:p>
          <a:p>
            <a:r>
              <a:rPr lang="en-US" b="1" dirty="0"/>
              <a:t>Tip:</a:t>
            </a:r>
            <a:r>
              <a:rPr lang="en-US" dirty="0"/>
              <a:t> The DRY principle means you should avoid writing the same code more than once. Move repeated code into functions or classes and reuse 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798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89EE2-0126-3FBA-0BA7-872751964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Classes and Objects?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95BEA-0B72-8C0D-3CD1-B54FDCEF5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Classes and objects are the two core concepts in object-oriented programming.</a:t>
            </a:r>
          </a:p>
          <a:p>
            <a:r>
              <a:rPr lang="en-US" dirty="0"/>
              <a:t>A class defines what an object should look like, and an object is created based on that class.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When you create an object from a class, it inherits all the variables and functions defined inside that class.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315DB9-F9D5-DE7D-8EAE-F0D538D3C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003" y="4547431"/>
            <a:ext cx="6280667" cy="185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790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F5B84-23A3-E5E3-7AD9-82B49BAAE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49A15-C683-08C9-CBF4-1FA024BFF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Class:</a:t>
            </a:r>
          </a:p>
          <a:p>
            <a:pPr marL="0" indent="0">
              <a:buNone/>
            </a:pPr>
            <a:r>
              <a:rPr lang="en-US" dirty="0"/>
              <a:t>Create a class named </a:t>
            </a:r>
            <a:r>
              <a:rPr lang="en-US" dirty="0" err="1"/>
              <a:t>MyClass</a:t>
            </a:r>
            <a:r>
              <a:rPr lang="en-US" dirty="0"/>
              <a:t>, with a property named x: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Create Object</a:t>
            </a:r>
          </a:p>
          <a:p>
            <a:pPr marL="0" indent="0">
              <a:buNone/>
            </a:pPr>
            <a:r>
              <a:rPr lang="en-US" dirty="0"/>
              <a:t>Now we can use the class named </a:t>
            </a:r>
            <a:r>
              <a:rPr lang="en-US" dirty="0" err="1"/>
              <a:t>MyClass</a:t>
            </a:r>
            <a:r>
              <a:rPr lang="en-US" dirty="0"/>
              <a:t> to create objects: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3415FE-9428-C6C1-D388-2E629BB6A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653" y="2877872"/>
            <a:ext cx="2454959" cy="9380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B4FD2C-889C-6368-A023-EE7933E6B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652" y="4868182"/>
            <a:ext cx="2454959" cy="93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055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74EFC-A4B5-BAFE-C9C0-B48187F13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 __</a:t>
            </a:r>
            <a:r>
              <a:rPr lang="en-US" dirty="0" err="1"/>
              <a:t>init</a:t>
            </a:r>
            <a:r>
              <a:rPr lang="en-US" dirty="0"/>
              <a:t>__()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FBB4D-8D68-5D5F-F62D-9169EC697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classes have a built-in method called __</a:t>
            </a:r>
            <a:r>
              <a:rPr lang="en-US" dirty="0" err="1"/>
              <a:t>init</a:t>
            </a:r>
            <a:r>
              <a:rPr lang="en-US" dirty="0"/>
              <a:t>__(), which is always executed when the class is being initiated.</a:t>
            </a:r>
          </a:p>
          <a:p>
            <a:r>
              <a:rPr lang="en-US" dirty="0"/>
              <a:t>The __</a:t>
            </a:r>
            <a:r>
              <a:rPr lang="en-US" dirty="0" err="1"/>
              <a:t>init</a:t>
            </a:r>
            <a:r>
              <a:rPr lang="en-US" dirty="0"/>
              <a:t>__() method is used to assign values to object properties, or to perform operations that are necessary when the object is being created.</a:t>
            </a:r>
          </a:p>
        </p:txBody>
      </p:sp>
    </p:spTree>
    <p:extLst>
      <p:ext uri="{BB962C8B-B14F-4D97-AF65-F5344CB8AC3E}">
        <p14:creationId xmlns:p14="http://schemas.microsoft.com/office/powerpoint/2010/main" val="2826217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2F033-4162-3500-E702-F8ABA56DB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/>
              <a:t>The self Parameter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5484A-0EB1-CF5E-E5B8-86C0AC06F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800"/>
              <a:t>It is used to access properties and methods that belong to the class.</a:t>
            </a:r>
          </a:p>
          <a:p>
            <a:r>
              <a:rPr lang="en-US" sz="1800"/>
              <a:t>Use self to access class properties</a:t>
            </a:r>
          </a:p>
          <a:p>
            <a:r>
              <a:rPr lang="en-US" sz="1800"/>
              <a:t>self → refers to the </a:t>
            </a:r>
            <a:r>
              <a:rPr lang="en-US" sz="1800" b="1"/>
              <a:t>current object</a:t>
            </a:r>
          </a:p>
          <a:p>
            <a:r>
              <a:rPr lang="en-US" sz="1800"/>
              <a:t>name → value passed when creating the object </a:t>
            </a:r>
          </a:p>
          <a:p>
            <a:r>
              <a:rPr lang="en-US" sz="1800"/>
              <a:t>age → value passed when creating the object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E5AD0B-8E68-AE15-BDFB-E607D0788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855885"/>
            <a:ext cx="6440424" cy="50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270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1C649-4FBE-98EF-901E-C9017DAC9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Simple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500AF-566E-5489-F676-F0CA1DA88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class `Car` with two attributes: `brand` and `model`. Then create an object of the class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dirty="0"/>
              <a:t>class Car:</a:t>
            </a:r>
          </a:p>
          <a:p>
            <a:pPr marL="457200" lvl="1" indent="0">
              <a:buNone/>
            </a:pPr>
            <a:r>
              <a:rPr lang="en-US" dirty="0"/>
              <a:t>	def __</a:t>
            </a:r>
            <a:r>
              <a:rPr lang="en-US" dirty="0" err="1"/>
              <a:t>init</a:t>
            </a:r>
            <a:r>
              <a:rPr lang="en-US" dirty="0"/>
              <a:t>__(self, brand, model):</a:t>
            </a:r>
          </a:p>
          <a:p>
            <a:pPr marL="457200" lvl="1" indent="0">
              <a:buNone/>
            </a:pPr>
            <a:r>
              <a:rPr lang="en-US" dirty="0"/>
              <a:t>		</a:t>
            </a:r>
            <a:r>
              <a:rPr lang="en-US" dirty="0" err="1"/>
              <a:t>self.brand</a:t>
            </a:r>
            <a:r>
              <a:rPr lang="en-US" dirty="0"/>
              <a:t> = brand</a:t>
            </a:r>
          </a:p>
          <a:p>
            <a:pPr marL="457200" lvl="1" indent="0">
              <a:buNone/>
            </a:pPr>
            <a:r>
              <a:rPr lang="en-US" dirty="0"/>
              <a:t>		</a:t>
            </a:r>
            <a:r>
              <a:rPr lang="en-US" dirty="0" err="1"/>
              <a:t>self.model</a:t>
            </a:r>
            <a:r>
              <a:rPr lang="en-US" dirty="0"/>
              <a:t> = model</a:t>
            </a:r>
          </a:p>
          <a:p>
            <a:pPr marL="457200" lvl="1" indent="0">
              <a:buNone/>
            </a:pPr>
            <a:r>
              <a:rPr lang="en-US" dirty="0"/>
              <a:t># Create an object</a:t>
            </a:r>
          </a:p>
          <a:p>
            <a:pPr marL="457200" lvl="1" indent="0">
              <a:buNone/>
            </a:pPr>
            <a:r>
              <a:rPr lang="en-US" dirty="0" err="1"/>
              <a:t>my_car</a:t>
            </a:r>
            <a:r>
              <a:rPr lang="en-US" dirty="0"/>
              <a:t> = Car('Toyota', 'Corolla')</a:t>
            </a:r>
          </a:p>
          <a:p>
            <a:pPr marL="457200" lvl="1" indent="0">
              <a:buNone/>
            </a:pPr>
            <a:r>
              <a:rPr lang="en-US" dirty="0"/>
              <a:t>print(</a:t>
            </a:r>
            <a:r>
              <a:rPr lang="en-US" dirty="0" err="1"/>
              <a:t>f'My</a:t>
            </a:r>
            <a:r>
              <a:rPr lang="en-US" dirty="0"/>
              <a:t> car is a {</a:t>
            </a:r>
            <a:r>
              <a:rPr lang="en-US" dirty="0" err="1"/>
              <a:t>my_car.brand</a:t>
            </a:r>
            <a:r>
              <a:rPr lang="en-US" dirty="0"/>
              <a:t>} {</a:t>
            </a:r>
            <a:r>
              <a:rPr lang="en-US" dirty="0" err="1"/>
              <a:t>my_car.model</a:t>
            </a:r>
            <a:r>
              <a:rPr lang="en-US" dirty="0"/>
              <a:t>}')</a:t>
            </a:r>
          </a:p>
        </p:txBody>
      </p:sp>
    </p:spTree>
    <p:extLst>
      <p:ext uri="{BB962C8B-B14F-4D97-AF65-F5344CB8AC3E}">
        <p14:creationId xmlns:p14="http://schemas.microsoft.com/office/powerpoint/2010/main" val="2123456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02FCF-3232-A150-366F-E057C77FF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B226A-31E2-EC8E-54CA-D8C34284E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car class(self, brand, model) and Add a method `</a:t>
            </a:r>
            <a:r>
              <a:rPr lang="en-US" dirty="0" err="1"/>
              <a:t>start_engine</a:t>
            </a:r>
            <a:r>
              <a:rPr lang="en-US" dirty="0"/>
              <a:t>()` to the `Car` class that prints a message when called.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82A91B-9D86-24A9-4F5F-A02E76573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91848"/>
            <a:ext cx="7525800" cy="27721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19222B-29DB-14AA-8C41-D48DCA720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464010"/>
            <a:ext cx="4124901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624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025A-FC49-CB70-83A9-6B8419092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Multiple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B154A-7E4A-0B39-341D-379F95AB0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multiple objects of the `Car` class with different attributes and call their methods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A63E16-7DEB-D12D-CFF7-D2E4ED933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11781"/>
            <a:ext cx="4916824" cy="174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430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67268-9F62-A9A2-FA5B-C97EE5281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 Objects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7EBB9A-0791-0EF4-D521-DC5346CA85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29235"/>
            <a:ext cx="5401826" cy="459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C04033-30EE-58CC-7DD7-47822B485061}"/>
              </a:ext>
            </a:extLst>
          </p:cNvPr>
          <p:cNvSpPr txBox="1"/>
          <p:nvPr/>
        </p:nvSpPr>
        <p:spPr>
          <a:xfrm>
            <a:off x="7148052" y="3429000"/>
            <a:ext cx="4041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Note: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Each object is independent and has its own copy of the class properties.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257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50A5-7CE2-B18A-A0F4-151ABED81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 __</a:t>
            </a:r>
            <a:r>
              <a:rPr lang="en-US" dirty="0" err="1"/>
              <a:t>init</a:t>
            </a:r>
            <a:r>
              <a:rPr lang="en-US" dirty="0"/>
              <a:t>__()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556E-F7BC-F729-45A4-14B3C4ED3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 with __</a:t>
            </a:r>
            <a:r>
              <a:rPr lang="en-US" dirty="0" err="1"/>
              <a:t>init</a:t>
            </a:r>
            <a:r>
              <a:rPr lang="en-US" dirty="0"/>
              <a:t>__() Method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D74B873-29A4-CBE9-F52C-E48D6A63145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19197" y="2747732"/>
            <a:ext cx="3908442" cy="2931331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700C2B-298E-F2E5-B0F0-EC9DDA2BA2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  without __</a:t>
            </a:r>
            <a:r>
              <a:rPr lang="en-US" dirty="0" err="1"/>
              <a:t>init</a:t>
            </a:r>
            <a:r>
              <a:rPr lang="en-US" dirty="0"/>
              <a:t>__() Method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92DDDB1-8FC9-312D-80C7-17BA03E61E2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421936" y="2618197"/>
            <a:ext cx="2702400" cy="346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87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5B16A-6969-E953-805A-6BC9C294B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Vs Method	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71A2CA-9BCC-1263-8132-61E94C72C2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2057" y="1617438"/>
            <a:ext cx="7706801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175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0CD4C-6FB6-CB5F-1DC0-24C04ABB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Object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0B386-5D19-56F1-A4D4-3CEC59C3D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class `Student` with attributes `name` and `age`. Add a method `introduce()` that prints a message with the student's name and age.</a:t>
            </a:r>
          </a:p>
        </p:txBody>
      </p:sp>
    </p:spTree>
    <p:extLst>
      <p:ext uri="{BB962C8B-B14F-4D97-AF65-F5344CB8AC3E}">
        <p14:creationId xmlns:p14="http://schemas.microsoft.com/office/powerpoint/2010/main" val="2062960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13760-8EE9-B22B-B43F-BEFC75DC2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12AD6-A786-9D51-C433-05252F1C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Object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3BD1B-653B-4759-168E-E13EA9CF1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class `Student` with attributes `name` and `age`. Add a method `introduce()` that prints a message with the student's name and age.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118E59-3C2E-63A8-206D-79D7895A9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120554"/>
            <a:ext cx="7821116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751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51850-F510-9382-9860-A5FA12F51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62E25-D37D-D353-56D2-652FB81E0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Object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B9B0D-BF12-07BA-069B-1F84B6782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class `Student` with attributes `name` and `age`. Add a method `introduce()` that prints a message with the student's name and age.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F12483-3EA1-43B8-8EFA-332B76B3F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120554"/>
            <a:ext cx="7821116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259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664C9-A768-25C7-85D1-CBDED9B04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Modifying Object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6D709-995A-35BF-CFF8-88B9E236C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Modify the attributes of the `Student` object after its creation.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B85617-EE68-E2D1-228A-37D231D79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251" y="2743103"/>
            <a:ext cx="8758154" cy="94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131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CE164-AF0A-E130-F22F-89C5A6C9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Simple Class for To-Do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1CEEC-1691-271F-5392-A026DF1BE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a class `Task` with attributes `title` and `completed`. Add a method `</a:t>
            </a:r>
            <a:r>
              <a:rPr lang="en-US" dirty="0" err="1"/>
              <a:t>mark_complete</a:t>
            </a:r>
            <a:r>
              <a:rPr lang="en-US" dirty="0"/>
              <a:t>()` to mark the task as completed.</a:t>
            </a:r>
          </a:p>
        </p:txBody>
      </p:sp>
    </p:spTree>
    <p:extLst>
      <p:ext uri="{BB962C8B-B14F-4D97-AF65-F5344CB8AC3E}">
        <p14:creationId xmlns:p14="http://schemas.microsoft.com/office/powerpoint/2010/main" val="1129070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FE79E-B18C-BAA7-D7A4-B617500D3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946C7-CFD9-9279-6D4E-3493BE539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Simple Class for To-Do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96532-69E4-E252-0976-69FAECCD5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a class `Task` with attributes `title` and `completed`. Add a method `</a:t>
            </a:r>
            <a:r>
              <a:rPr lang="en-US" dirty="0" err="1"/>
              <a:t>mark_complete</a:t>
            </a:r>
            <a:r>
              <a:rPr lang="en-US" dirty="0"/>
              <a:t>()` to mark the task as completed.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0BA866-871A-FBE2-46C0-B468613A7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20" y="2666371"/>
            <a:ext cx="8164064" cy="24101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9D79EF-7AC9-2C4B-19C5-3353C22D2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20" y="5021803"/>
            <a:ext cx="6249272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939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ECDD-55AA-73DB-CC13-6F8E1E1B6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and Managing Multiple Task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E0DBE-9557-E431-BBA5-042B156C1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multiple `Task` objects and store them in a list. Write a function to display all tasks and their statuses.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1CD7C2-9640-66AF-08CD-CE448B2CB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753" y="2800634"/>
            <a:ext cx="6872122" cy="3692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4931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3B46C-9386-48DB-A8D1-DF8084E49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User Input to Create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761E9-952F-1B2D-4992-4162955A9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program that allows users to create `Task` objects by providing a title via user input. Store the tasks in a list.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AA31D1-129E-4185-F8EC-328795929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95525"/>
            <a:ext cx="5257800" cy="11848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054ED9-C926-B67B-570D-3D2180A38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032" y="4080381"/>
            <a:ext cx="4391638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490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F08CC-4F2F-7E69-423B-022937554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A5D6-DF10-1D9D-856E-B747E45CD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Simple Task Management System</a:t>
            </a:r>
          </a:p>
          <a:p>
            <a:pPr marL="0" indent="0">
              <a:buNone/>
            </a:pPr>
            <a:r>
              <a:rPr lang="en-US" dirty="0"/>
              <a:t>Write a Python program that simulates a simple task management system using OOP. The program should allow the user to:</a:t>
            </a:r>
          </a:p>
          <a:p>
            <a:pPr lvl="1"/>
            <a:r>
              <a:rPr lang="en-US" dirty="0"/>
              <a:t>1. Add a new task (title only)</a:t>
            </a:r>
          </a:p>
          <a:p>
            <a:pPr lvl="1"/>
            <a:r>
              <a:rPr lang="en-US" dirty="0"/>
              <a:t>2. View all tasks</a:t>
            </a:r>
          </a:p>
          <a:p>
            <a:pPr lvl="1"/>
            <a:r>
              <a:rPr lang="en-US" dirty="0"/>
              <a:t>3. Mark a task as completed </a:t>
            </a:r>
          </a:p>
          <a:p>
            <a:pPr lvl="1"/>
            <a:r>
              <a:rPr lang="en-US" dirty="0"/>
              <a:t>4. Exit the program</a:t>
            </a:r>
          </a:p>
        </p:txBody>
      </p:sp>
    </p:spTree>
    <p:extLst>
      <p:ext uri="{BB962C8B-B14F-4D97-AF65-F5344CB8AC3E}">
        <p14:creationId xmlns:p14="http://schemas.microsoft.com/office/powerpoint/2010/main" val="20731355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8F14D-F44C-24DA-C476-931F25B69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1EFE0-B171-3B05-3E95-56430D345F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spc="-5" dirty="0">
                <a:solidFill>
                  <a:srgbClr val="1F3863"/>
                </a:solidFill>
              </a:rPr>
            </a:br>
            <a:r>
              <a:rPr lang="en-US" spc="-5" dirty="0">
                <a:solidFill>
                  <a:srgbClr val="1F3863"/>
                </a:solidFill>
              </a:rPr>
              <a:t>Introduction to Object-Oriented Programming (OOP)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E29D3-E53B-AE4A-7C0D-82F1544804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pc="-5" dirty="0">
                <a:solidFill>
                  <a:srgbClr val="1F3863"/>
                </a:solidFill>
              </a:rPr>
              <a:t>Week-05</a:t>
            </a:r>
          </a:p>
          <a:p>
            <a:r>
              <a:rPr lang="en-US" spc="-5" dirty="0">
                <a:solidFill>
                  <a:srgbClr val="1F3863"/>
                </a:solidFill>
              </a:rPr>
              <a:t>More on Classes and Methods</a:t>
            </a:r>
          </a:p>
        </p:txBody>
      </p:sp>
    </p:spTree>
    <p:extLst>
      <p:ext uri="{BB962C8B-B14F-4D97-AF65-F5344CB8AC3E}">
        <p14:creationId xmlns:p14="http://schemas.microsoft.com/office/powerpoint/2010/main" val="23681086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2FD05-D059-268B-2488-7FA6FE73F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Constructor Method (__</a:t>
            </a:r>
            <a:r>
              <a:rPr lang="en-US" dirty="0" err="1"/>
              <a:t>init</a:t>
            </a:r>
            <a:r>
              <a:rPr lang="en-US" dirty="0"/>
              <a:t>__)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4D632-4EEA-AB3B-0A31-BB6642685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Define a class Person with attributes name and age. Initialize these attributes using a constructor method.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F75738-359E-BFE8-C36D-802E0E207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59530"/>
            <a:ext cx="8145012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8120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19952-1A72-EC80-75F0-783D7065F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Methods to a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20E35-9839-43FA-B203-66A20B063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 method greet() to the Person class that prints a greeting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832298-131E-9342-681B-BF07B0027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59861"/>
            <a:ext cx="7678222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0719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5C030-B0A2-DFA7-D0D6-B33130729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Class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C3087-C9DF-F730-0AA2-4AFD05D1E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Modify the countdown timer to break the loop if the number goes below 5.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70A9A4-928C-E93F-6BD0-E87AD32C7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45013"/>
            <a:ext cx="5315692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937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FF0CA-1233-8822-85B2-40F732771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Task Class for To-Do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AC944-73AC-2546-FC9F-21C2D2B0C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Task class with attributes title and completed. Add a method </a:t>
            </a:r>
            <a:r>
              <a:rPr lang="en-US" dirty="0" err="1"/>
              <a:t>mark_complete</a:t>
            </a:r>
            <a:r>
              <a:rPr lang="en-US" dirty="0"/>
              <a:t>().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10220C-B063-A23F-E881-50329F102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52287"/>
            <a:ext cx="8689258" cy="381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817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7A5EA-73B4-008D-EE1D-34E783102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 Method to Display Task 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4A647-4620-A42A-7CAA-68D0A89F1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 method </a:t>
            </a:r>
            <a:r>
              <a:rPr lang="en-US" dirty="0" err="1"/>
              <a:t>show_status</a:t>
            </a:r>
            <a:r>
              <a:rPr lang="en-US" dirty="0"/>
              <a:t>() to the Task class that prints whether the task is completed.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D89B42-D164-ECD2-8CB8-8E6D81A00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96874"/>
            <a:ext cx="9993120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4952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0FBAE-488B-FDF8-16E1-EDDD04370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Multiple Task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7E703-1BAC-A1CB-7BF4-F26800066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multiple Task objects and store them in a list. Write a function to display all tasks and their status.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372237-D468-209E-8233-963D20F15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85" y="2685075"/>
            <a:ext cx="10679015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3827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82A12-C928-D3BA-A326-E1B9A6B36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Task with Due 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B98F2-C78F-EF1E-B8B7-069D0A2A0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Modify the Task class to include a due date (</a:t>
            </a:r>
            <a:r>
              <a:rPr lang="en-US" dirty="0" err="1"/>
              <a:t>due_date</a:t>
            </a:r>
            <a:r>
              <a:rPr lang="en-US" dirty="0"/>
              <a:t> attribute) and display it.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5D30B-C63C-46CC-852C-3BC716021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33" y="2632157"/>
            <a:ext cx="9697803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5627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FB114-258E-1B0F-ECE5-E2834EFD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Task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01756-438D-2AF1-830C-36738391B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 method </a:t>
            </a:r>
            <a:r>
              <a:rPr lang="en-US" dirty="0" err="1"/>
              <a:t>update_title</a:t>
            </a:r>
            <a:r>
              <a:rPr lang="en-US" dirty="0"/>
              <a:t>(</a:t>
            </a:r>
            <a:r>
              <a:rPr lang="en-US" dirty="0" err="1"/>
              <a:t>new_title</a:t>
            </a:r>
            <a:r>
              <a:rPr lang="en-US" dirty="0"/>
              <a:t>) to change the title of a task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9C8EA2-8A74-645F-A7AA-3C5C2C5BE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821" y="2288415"/>
            <a:ext cx="6258798" cy="6096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5D5996-0CFF-B99D-6F87-BA2FA33E3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192" y="2905221"/>
            <a:ext cx="6544588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5774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AE753-D40B-9B6A-3F16-E0681C1F1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A1E44-CA79-E999-A18E-62AA7219A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Task Priority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850DD-F772-1E6C-6D4B-6FD2F8F22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 priority attribute (Low, Medium, High) to the Task class and display it.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E260BA-602A-14D9-4EB0-8E0D3191B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33957"/>
            <a:ext cx="8697539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7669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E4E0F-61C8-435C-3A61-F44AFA9B4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Marking Task Completion from User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2DF8E-5DDD-BDC4-9A95-FCAB3B9F2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Extend the program to allow users to mark tasks as completed by entering the task number.</a:t>
            </a:r>
          </a:p>
        </p:txBody>
      </p:sp>
    </p:spTree>
    <p:extLst>
      <p:ext uri="{BB962C8B-B14F-4D97-AF65-F5344CB8AC3E}">
        <p14:creationId xmlns:p14="http://schemas.microsoft.com/office/powerpoint/2010/main" val="16480823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F90EE-C26D-0089-B1CE-3E220405B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9AE52-0F80-F559-A05F-8ACCBBC03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Marking Task Completion from User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8AD46-4DDA-5DED-8514-42DC628E8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Extend the program to allow users to mark tasks as completed by entering the task number.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910F36-21D5-4939-2C3A-4609BA7E1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49325"/>
            <a:ext cx="10717121" cy="2114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B34DD0-D054-ED7F-139C-E0ABD4103D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390"/>
          <a:stretch>
            <a:fillRect/>
          </a:stretch>
        </p:blipFill>
        <p:spPr>
          <a:xfrm>
            <a:off x="789040" y="5099107"/>
            <a:ext cx="10717121" cy="5838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D42945-BF31-0F76-9D66-EEE926697B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1421"/>
          <a:stretch>
            <a:fillRect/>
          </a:stretch>
        </p:blipFill>
        <p:spPr>
          <a:xfrm>
            <a:off x="674785" y="4364453"/>
            <a:ext cx="10679015" cy="84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4282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C76CF-0578-5FDB-AFE1-7C8AC3E48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Viewing All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7EE65-4E0D-33AC-C701-06D1EF188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displays the status and due date of all tasks.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76ED52-D4FE-09AA-AF11-D64D7BF65B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432" b="4757"/>
          <a:stretch>
            <a:fillRect/>
          </a:stretch>
        </p:blipFill>
        <p:spPr>
          <a:xfrm>
            <a:off x="1723001" y="3068097"/>
            <a:ext cx="6872122" cy="1174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8D22AE-2617-4E3F-A0C2-D19925AC68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171" b="4902"/>
          <a:stretch>
            <a:fillRect/>
          </a:stretch>
        </p:blipFill>
        <p:spPr>
          <a:xfrm>
            <a:off x="1723001" y="3655372"/>
            <a:ext cx="6872122" cy="40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4764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A025F-5E1B-4E9B-E975-70EA02F84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Task Priority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97FD7-676E-7E0E-CBB6-A4FA8AA6B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 priority attribute (Low, Medium, High) to the Task class and display it. </a:t>
            </a:r>
          </a:p>
        </p:txBody>
      </p:sp>
    </p:spTree>
    <p:extLst>
      <p:ext uri="{BB962C8B-B14F-4D97-AF65-F5344CB8AC3E}">
        <p14:creationId xmlns:p14="http://schemas.microsoft.com/office/powerpoint/2010/main" val="1917880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3D70B-9B67-9FE5-961A-2EDFC1AE9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4E9B2-C569-D242-4053-3196A4D8B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Task Priority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43BDE-EDD4-5438-2A55-635BE95CD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 priority attribute (Low, Medium, High) to the Task class and display it.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819946-4454-98B0-93B1-3BFD7E308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34265"/>
            <a:ext cx="8402223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7096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AD520-0788-F7AD-2E17-E92C24B71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Search by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29527-36CB-9EFE-EB4A-8ED4F0892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 search function that allows users to search for tasks by keyword.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8D8E6E-12D1-F954-8E1E-9D7EDF9D1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194" y="2999049"/>
            <a:ext cx="7602011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7959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7FFDB-2EE3-9A87-EFE9-37E6951DC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and Loading Tasks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4F7F-654B-FE52-C489-F90B53F97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functions to save tasks to a file and load them back into the program.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FA0601-6DC6-69B1-9262-54609C5DD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547" y="2884036"/>
            <a:ext cx="6335009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0930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4BB5C-271B-B7AB-8848-587C1420C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C73D9-6913-4373-5AE2-3651BA22F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Task Management System (45 mins):- Extend the countdown timer by adding these features: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3F7286-DFB4-3505-09FD-F2F48ED92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750" y="2711904"/>
            <a:ext cx="7839225" cy="188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1279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08F9A-69DA-B83E-8B0F-7D3A32A35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134F2-A4BE-836A-9AAC-B08FB66AE8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spc="-5" dirty="0">
                <a:solidFill>
                  <a:srgbClr val="1F3863"/>
                </a:solidFill>
              </a:rPr>
            </a:br>
            <a:r>
              <a:rPr lang="en-US" spc="-5" dirty="0">
                <a:solidFill>
                  <a:srgbClr val="1F3863"/>
                </a:solidFill>
              </a:rPr>
              <a:t>Introduction to Object-Oriented Programming (OOP)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D28B1-0F68-3990-1397-E65039AC20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pc="-5" dirty="0">
                <a:solidFill>
                  <a:srgbClr val="1F3863"/>
                </a:solidFill>
              </a:rPr>
              <a:t>Week-05</a:t>
            </a:r>
          </a:p>
          <a:p>
            <a:r>
              <a:rPr lang="en-US" spc="-5" dirty="0">
                <a:solidFill>
                  <a:srgbClr val="1F3863"/>
                </a:solidFill>
              </a:rPr>
              <a:t>Inheritance and Polymorphism</a:t>
            </a:r>
          </a:p>
        </p:txBody>
      </p:sp>
    </p:spTree>
    <p:extLst>
      <p:ext uri="{BB962C8B-B14F-4D97-AF65-F5344CB8AC3E}">
        <p14:creationId xmlns:p14="http://schemas.microsoft.com/office/powerpoint/2010/main" val="11100471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747DF-165B-15C0-AAD5-A863BD76E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 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A9777-C82B-0A97-3B88-C10B8E69C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Inheritance allows us to define a class that inherits the methods and properties from another class.</a:t>
            </a:r>
          </a:p>
          <a:p>
            <a:r>
              <a:rPr lang="en-US" b="1" dirty="0"/>
              <a:t>Parent class</a:t>
            </a:r>
            <a:r>
              <a:rPr lang="en-US" dirty="0"/>
              <a:t> is the class being inherited from, also called base class.</a:t>
            </a:r>
          </a:p>
          <a:p>
            <a:r>
              <a:rPr lang="en-US" b="1" dirty="0"/>
              <a:t>Child class</a:t>
            </a:r>
            <a:r>
              <a:rPr lang="en-US" dirty="0"/>
              <a:t> is the class that inherits from another class, also called derived class.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6854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E3354-3CDF-CAF2-AFAC-A3569BD87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0FB0E-4F8B-8E9E-0CEC-789D57252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 Inheritance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BF0B33-C14D-E50C-4688-1FDEB9A2D5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8368" y="1599483"/>
            <a:ext cx="631270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5895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97DB6-3452-76B9-BC34-BDC8AB925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Parent Class (Base Class)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6E8EE-0A2F-2E8F-730D-F0FD17E86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class `Animal` with attributes `name` and `species`. Add a method `</a:t>
            </a:r>
            <a:r>
              <a:rPr lang="en-US" dirty="0" err="1"/>
              <a:t>make_sound</a:t>
            </a:r>
            <a:r>
              <a:rPr lang="en-US" dirty="0"/>
              <a:t>()`.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9ED12-472E-3583-A3C7-C12925349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365" y="2833039"/>
            <a:ext cx="4580325" cy="319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2442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0FD00-8986-1DD5-1D47-5D802EB7E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Child Class (derived class)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9456D-7CCA-9044-7901-8EB61F77A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class `Dog` that inherits from `Animal.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52217B-A47F-3264-4309-7AA338B38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77239"/>
            <a:ext cx="3094703" cy="1918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9199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DE91D-C6A4-C16E-2712-0D5463A37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Method Overriding?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07498-FC2C-7F43-F30B-9DB4BBA5A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 child class defines a method with the SAME NAME and SAME PURPOSE as a method in the parent class, the child’s version replaces the parent’s version for child objects.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2EEE24-40FC-0051-530F-AEE5B1716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99307"/>
            <a:ext cx="4829849" cy="26387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755F6B-669C-131C-C7EE-27E1ABDF5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008" y="3144965"/>
            <a:ext cx="4000988" cy="329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8736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11CE0-0E73-90DB-F1B5-CD5224BD7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properties of child: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76AF1-4DE6-71A3-B016-25F1D1654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6684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class `Dog` that inherits from `Animal` and overrides `</a:t>
            </a:r>
            <a:r>
              <a:rPr lang="en-US" dirty="0" err="1"/>
              <a:t>make_sound</a:t>
            </a:r>
            <a:r>
              <a:rPr lang="en-US" dirty="0"/>
              <a:t>()`.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8BA095-59D1-201D-349C-3BFCFE4B7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409" y="1423325"/>
            <a:ext cx="4163006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811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5367A-7024-6B9A-9E6B-EEC7E847B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`super()` in Child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83C5D-D02B-CF84-1FDF-37C40F43A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`super()` function to access the parent class's constructor and methods.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57211A-45E7-17AD-40C3-42CB5420E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047" y="2743240"/>
            <a:ext cx="3762900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2558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F4891-3BA4-EB47-49BB-0DFFF493A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`super()` in Child Class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3CD105-A16E-72DC-E4B7-28785BD5E4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2046" y="2268768"/>
            <a:ext cx="4192807" cy="31574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202E24-3EEF-894A-CDEF-C96F93B26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653" y="2268768"/>
            <a:ext cx="4972744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6414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2E5E8-C2D1-DD25-B4DB-50134C681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Another Child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AA93A-6475-68C7-C966-D009A6CCF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class `Cat` that also inherits from `Animal` and has its own `</a:t>
            </a:r>
            <a:r>
              <a:rPr lang="en-US" dirty="0" err="1"/>
              <a:t>make_sound</a:t>
            </a:r>
            <a:r>
              <a:rPr lang="en-US" dirty="0"/>
              <a:t>()`.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E6BE0C-FC2D-AB98-8558-9493B9394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196318"/>
            <a:ext cx="4175927" cy="211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3377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C775A-12B9-8A07-5036-C144F825C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New Methods in Child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5536B-2F78-684E-F11E-4CD139F91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 method `play()` to the `Dog` class that prints a message.</a:t>
            </a:r>
            <a:br>
              <a:rPr lang="en-US" dirty="0"/>
            </a:br>
            <a:r>
              <a:rPr lang="en-US" dirty="0"/>
              <a:t>For example( “DOG_NAME” is playing)</a:t>
            </a:r>
          </a:p>
        </p:txBody>
      </p:sp>
    </p:spTree>
    <p:extLst>
      <p:ext uri="{BB962C8B-B14F-4D97-AF65-F5344CB8AC3E}">
        <p14:creationId xmlns:p14="http://schemas.microsoft.com/office/powerpoint/2010/main" val="9493507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AB8781-21ED-EF64-9B01-52440EC9B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0F385E5-D96D-7D7C-CA82-A907FCB03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9E78AB8-437A-C842-488E-F2BF389EC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22EF8C5-6062-65BE-148A-696C260B6D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600EE4C-103B-6046-63C9-2525CC75F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E93F3DB-77C6-7DB7-5FCE-8313F86DA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50" y="830269"/>
            <a:ext cx="11090274" cy="675441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000" dirty="0"/>
              <a:t>Adding New Methods in Child Class</a:t>
            </a:r>
            <a:endParaRPr lang="en-US" sz="4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7D538-C849-F6BE-6DAE-0C6C733D8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111187"/>
            <a:ext cx="11090274" cy="643253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7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	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6DB182-F2E4-D570-89EF-D810EEA1DC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347" r="3" b="10034"/>
          <a:stretch>
            <a:fillRect/>
          </a:stretch>
        </p:blipFill>
        <p:spPr>
          <a:xfrm>
            <a:off x="479157" y="2035358"/>
            <a:ext cx="6383337" cy="3885548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6397F3A-E783-22C5-2CA6-B6CBF1FB21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4" b="2233"/>
          <a:stretch>
            <a:fillRect/>
          </a:stretch>
        </p:blipFill>
        <p:spPr>
          <a:xfrm>
            <a:off x="7656601" y="1695090"/>
            <a:ext cx="3359899" cy="1996799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F99DC5-02BA-C15A-F4A1-1F488AACE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604" y="3881269"/>
            <a:ext cx="4353533" cy="261974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94697B5-1BB3-FCAE-2875-DB6A99A2D210}"/>
                  </a:ext>
                </a:extLst>
              </p14:cNvPr>
              <p14:cNvContentPartPr/>
              <p14:nvPr/>
            </p14:nvContentPartPr>
            <p14:xfrm>
              <a:off x="7578337" y="4737468"/>
              <a:ext cx="4093560" cy="975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94697B5-1BB3-FCAE-2875-DB6A99A2D21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72217" y="4731348"/>
                <a:ext cx="4105800" cy="9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2BA4FF1-647F-5F49-8270-A1F1605784CA}"/>
                  </a:ext>
                </a:extLst>
              </p14:cNvPr>
              <p14:cNvContentPartPr/>
              <p14:nvPr/>
            </p14:nvContentPartPr>
            <p14:xfrm>
              <a:off x="7195297" y="6212388"/>
              <a:ext cx="1508760" cy="3664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2BA4FF1-647F-5F49-8270-A1F1605784C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89177" y="6206268"/>
                <a:ext cx="1521000" cy="37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70354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F40A68-57BE-FAD8-2294-E222F91A5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F05DD51-238D-6BAC-A7D0-D63E17F76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161007F-21A3-A6EF-565D-C386F206C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55D05EB-76FF-89CC-31E9-10CA50B27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D6FA000-4853-2DDA-C10A-7A6914B3D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A65C3AD-3F4E-24ED-367C-E3EF93FE1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50" y="830269"/>
            <a:ext cx="11090274" cy="675441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000" dirty="0"/>
              <a:t>call the parent class method using `super()`</a:t>
            </a:r>
            <a:endParaRPr lang="en-US" sz="4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663617-2B03-1DED-2B9D-3694B38025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347" r="3" b="10034"/>
          <a:stretch>
            <a:fillRect/>
          </a:stretch>
        </p:blipFill>
        <p:spPr>
          <a:xfrm>
            <a:off x="550863" y="2133601"/>
            <a:ext cx="7561262" cy="41736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AE397D-89BA-329D-33F9-A48BD7DB9C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4" b="2233"/>
          <a:stretch>
            <a:fillRect/>
          </a:stretch>
        </p:blipFill>
        <p:spPr>
          <a:xfrm>
            <a:off x="8292124" y="2133600"/>
            <a:ext cx="3359899" cy="1996799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F60E1E-B80E-8945-8E01-45C8712F5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2124" y="4247440"/>
            <a:ext cx="3358800" cy="217988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BF32822-A747-3654-FFA7-822D2B5C0415}"/>
                  </a:ext>
                </a:extLst>
              </p14:cNvPr>
              <p14:cNvContentPartPr/>
              <p14:nvPr/>
            </p14:nvContentPartPr>
            <p14:xfrm>
              <a:off x="9122737" y="4846301"/>
              <a:ext cx="2589480" cy="375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BF32822-A747-3654-FFA7-822D2B5C041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16617" y="4840181"/>
                <a:ext cx="2601720" cy="38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2653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92254-A9AE-2CC1-CE48-8281067F5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Attributes to Child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8CB88-AF25-6B8A-4F98-55F09D701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 new attribute `age` to the `Dog` class and initialize it using `__</a:t>
            </a:r>
            <a:r>
              <a:rPr lang="en-US" dirty="0" err="1"/>
              <a:t>init</a:t>
            </a:r>
            <a:r>
              <a:rPr lang="en-US" dirty="0"/>
              <a:t>__()`.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187AD19-57CD-DD47-403F-32C1839B8E65}"/>
                  </a:ext>
                </a:extLst>
              </p14:cNvPr>
              <p14:cNvContentPartPr/>
              <p14:nvPr/>
            </p14:nvContentPartPr>
            <p14:xfrm>
              <a:off x="2251777" y="923764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187AD19-57CD-DD47-403F-32C1839B8E6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45657" y="917644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65877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A089B0-C84D-8075-8A4E-516B0B48D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4ED071C-58AF-C20B-DAC4-E6F325095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95BA795-41C3-5E21-2731-94C1A6CBD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C470B88-C6D5-28E3-69C4-AFC09AE545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7938A1B-B92B-3168-99F2-CE8A49E748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F91235E-EF61-BEB0-4988-8EC81E79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50" y="830269"/>
            <a:ext cx="5899144" cy="1667125"/>
          </a:xfrm>
        </p:spPr>
        <p:txBody>
          <a:bodyPr vert="horz" wrap="square" lIns="91440" tIns="45720" rIns="91440" bIns="45720" rtlCol="0" anchor="t">
            <a:normAutofit fontScale="90000"/>
          </a:bodyPr>
          <a:lstStyle/>
          <a:p>
            <a:r>
              <a:rPr lang="en-US" sz="4000" dirty="0"/>
              <a:t>Add a new attribute `age` to the `Dog` class and initialize it using `__</a:t>
            </a:r>
            <a:r>
              <a:rPr lang="en-US" sz="4000" dirty="0" err="1"/>
              <a:t>init</a:t>
            </a:r>
            <a:r>
              <a:rPr lang="en-US" sz="4000" dirty="0"/>
              <a:t>__()`</a:t>
            </a:r>
            <a:endParaRPr lang="en-US" sz="4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ACCC19-BAB1-12F1-1CDB-4902F167B2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347" r="3" b="10034"/>
          <a:stretch>
            <a:fillRect/>
          </a:stretch>
        </p:blipFill>
        <p:spPr>
          <a:xfrm>
            <a:off x="620657" y="3210122"/>
            <a:ext cx="5317576" cy="2935149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CED0F4F-FFB0-25D5-320F-2067820031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4" b="2233"/>
          <a:stretch>
            <a:fillRect/>
          </a:stretch>
        </p:blipFill>
        <p:spPr>
          <a:xfrm>
            <a:off x="7237682" y="830269"/>
            <a:ext cx="3359899" cy="1996799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22A8D7-B381-8C68-A549-2E2717FC5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448" y="3060246"/>
            <a:ext cx="4735337" cy="326189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ACF5B9B-365D-E560-45A3-FB4FD101E70A}"/>
                  </a:ext>
                </a:extLst>
              </p14:cNvPr>
              <p14:cNvContentPartPr/>
              <p14:nvPr/>
            </p14:nvContentPartPr>
            <p14:xfrm>
              <a:off x="7206457" y="3419508"/>
              <a:ext cx="4151520" cy="823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ACF5B9B-365D-E560-45A3-FB4FD101E70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99977" y="3413388"/>
                <a:ext cx="4163760" cy="83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28E9847-DDC3-73BA-2DD6-A9B435334F42}"/>
                  </a:ext>
                </a:extLst>
              </p14:cNvPr>
              <p14:cNvContentPartPr/>
              <p14:nvPr/>
            </p14:nvContentPartPr>
            <p14:xfrm>
              <a:off x="6743137" y="5610828"/>
              <a:ext cx="3325320" cy="639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28E9847-DDC3-73BA-2DD6-A9B435334F4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37017" y="5604348"/>
                <a:ext cx="3337560" cy="65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68268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FE3FD-865A-23F3-F7F6-596372386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FBDE5-BA2D-20BB-037A-C5FD4F16F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with Multiple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D6FC7-C2E5-5220-25C3-45BB08497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another class `Puppy` that inherits from `Dog` and adds a method `train()`.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64A8937-A20C-C823-79B4-FD7897ABCA15}"/>
                  </a:ext>
                </a:extLst>
              </p14:cNvPr>
              <p14:cNvContentPartPr/>
              <p14:nvPr/>
            </p14:nvContentPartPr>
            <p14:xfrm>
              <a:off x="2251777" y="923764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64A8937-A20C-C823-79B4-FD7897ABCA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45657" y="917644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91754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3D152F-27B6-ACAB-A235-9BADBFDDD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CC4B88D-27F7-5173-4BDE-8C9355B3C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41F7B41-F4EB-BD9C-0B65-ED4BCB989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4A283BD-5488-9DFA-6C81-8938C0240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06E17AF-AFEB-A106-F206-8E0783B0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58362D5-A06F-58DE-4F6E-4E470D139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50" y="830269"/>
            <a:ext cx="5899144" cy="1667125"/>
          </a:xfrm>
        </p:spPr>
        <p:txBody>
          <a:bodyPr vert="horz" wrap="square" lIns="91440" tIns="45720" rIns="91440" bIns="45720" rtlCol="0" anchor="t">
            <a:normAutofit fontScale="90000"/>
          </a:bodyPr>
          <a:lstStyle/>
          <a:p>
            <a:r>
              <a:rPr lang="en-US" sz="4000" dirty="0"/>
              <a:t>Create another class `Puppy` that inherits from `Dog` and adds a method `train()`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6044A95-51CC-A491-5A62-6FAAE8FCB6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347" r="3" b="10034"/>
          <a:stretch>
            <a:fillRect/>
          </a:stretch>
        </p:blipFill>
        <p:spPr>
          <a:xfrm>
            <a:off x="620657" y="3210122"/>
            <a:ext cx="5317576" cy="2935149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9D9CAE-AC12-A92A-FCE5-44E54E2B8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448" y="3060246"/>
            <a:ext cx="4735337" cy="32618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7A6E8B-3688-6933-5E9F-D4AD76548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448" y="758829"/>
            <a:ext cx="4934639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484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3" name="Rectangle 1042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631725-3834-AE52-BF78-E801311C7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Python Polymorphism</a:t>
            </a: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258C5-809D-F78D-4235-61A12DAD3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442193"/>
            <a:ext cx="5410493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The word "polymorphism" means "many forms", and in programming it refers to methods/functions/operators with the same name that can be executed on many objects or classes.</a:t>
            </a:r>
          </a:p>
          <a:p>
            <a:r>
              <a:rPr lang="en-US" sz="2000" dirty="0"/>
              <a:t>The same method name behaves differently depending on the object that calls it.</a:t>
            </a:r>
          </a:p>
        </p:txBody>
      </p:sp>
      <p:pic>
        <p:nvPicPr>
          <p:cNvPr id="1026" name="Picture 2" descr="Python Polymorphism - learnBATTA">
            <a:extLst>
              <a:ext uri="{FF2B5EF4-FFF2-40B4-BE49-F238E27FC236}">
                <a16:creationId xmlns:a16="http://schemas.microsoft.com/office/drawing/2014/main" id="{0C98D76C-E2D6-17F9-74EA-CB39E88B8F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97" t="5619" r="22764" b="15924"/>
          <a:stretch>
            <a:fillRect/>
          </a:stretch>
        </p:blipFill>
        <p:spPr bwMode="auto">
          <a:xfrm>
            <a:off x="6569583" y="2320413"/>
            <a:ext cx="4118082" cy="4103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4" name="Rectangle 1043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3758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AC43B5F-CE3F-4DB7-8215-9ACF03FB5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938B951-7EFC-40A2-B198-E73D39DFB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2E4506E-6A0E-49A0-BC31-8CADBFF3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EED4D51-65BF-4AEE-B596-7CB61A70B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5C3FBE-1D2F-9F5B-4530-96D2A3669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50" y="830269"/>
            <a:ext cx="11090274" cy="675441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Polymorphism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C34A2-E46E-B78B-5B67-77C1225AA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111187"/>
            <a:ext cx="11090274" cy="643253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7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	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DAF7F1-7B40-1EA5-531D-FC43802EE0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347" r="3" b="10034"/>
          <a:stretch>
            <a:fillRect/>
          </a:stretch>
        </p:blipFill>
        <p:spPr>
          <a:xfrm>
            <a:off x="550863" y="2133601"/>
            <a:ext cx="7561262" cy="41736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3591696-DD13-3631-6394-4F78C40E77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4" b="2233"/>
          <a:stretch>
            <a:fillRect/>
          </a:stretch>
        </p:blipFill>
        <p:spPr>
          <a:xfrm>
            <a:off x="8292124" y="2133600"/>
            <a:ext cx="3359899" cy="1996799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450602B-B59B-8D39-C160-03AA7E43A7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1" b="5522"/>
          <a:stretch>
            <a:fillRect/>
          </a:stretch>
        </p:blipFill>
        <p:spPr>
          <a:xfrm>
            <a:off x="8292124" y="4308380"/>
            <a:ext cx="3358800" cy="1998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55967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3F5E4-F441-290E-0699-997C6CF88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Vehicle Base Class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6274F-5A80-C224-B565-5F4F385B5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class `Vehicle` with attributes `make`, `model`, and a method `</a:t>
            </a:r>
            <a:r>
              <a:rPr lang="en-US" dirty="0" err="1"/>
              <a:t>start_engine</a:t>
            </a:r>
            <a:r>
              <a:rPr lang="en-US" dirty="0"/>
              <a:t>()`. </a:t>
            </a:r>
          </a:p>
        </p:txBody>
      </p:sp>
    </p:spTree>
    <p:extLst>
      <p:ext uri="{BB962C8B-B14F-4D97-AF65-F5344CB8AC3E}">
        <p14:creationId xmlns:p14="http://schemas.microsoft.com/office/powerpoint/2010/main" val="23279441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5497BE-4057-1FC4-BEB2-37660783C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76FFDD4-6D57-BEBD-1FAA-D5854F2F9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96AA5AC-D08E-9C52-4EA6-797FE933B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39B59A5-1BB2-9B40-E6F1-295A6A2406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9C35CEF-B4AC-9239-D915-B6F9E76FB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C2CEC6-0538-E1F4-349B-E218BC64F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49" y="830269"/>
            <a:ext cx="11139737" cy="1667125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000" dirty="0"/>
              <a:t>Create a class `Vehicle` with attributes `make`, `model`, and a method `</a:t>
            </a:r>
            <a:r>
              <a:rPr lang="en-US" sz="4000" dirty="0" err="1"/>
              <a:t>start_engine</a:t>
            </a:r>
            <a:r>
              <a:rPr lang="en-US" sz="4000" dirty="0"/>
              <a:t>()`.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4D67CD-D14D-04E3-6B88-314991288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823" y="2360944"/>
            <a:ext cx="5403931" cy="373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6473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71506-6828-B892-4754-C544F943F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Inheriting from `Vehicle`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CADD4-4C2F-6BCE-8F50-B68AFF080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class `Car` that inherits from `Vehicle` and adds an attribute `brand, model, year`. </a:t>
            </a:r>
          </a:p>
        </p:txBody>
      </p:sp>
    </p:spTree>
    <p:extLst>
      <p:ext uri="{BB962C8B-B14F-4D97-AF65-F5344CB8AC3E}">
        <p14:creationId xmlns:p14="http://schemas.microsoft.com/office/powerpoint/2010/main" val="6547640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D9AADF-EFC3-F8AE-FB75-AF8579447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AB9B51E-A12F-AF7B-2441-B4A5720B0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4C2E859-E45C-2D7E-3ACD-3384CE374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39F910E-C0FF-205B-3837-61AEEB05D1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199B344-C430-F368-3591-A8A44B1CE6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D66F89F-286C-6CD7-05F3-F805557D1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49" y="830269"/>
            <a:ext cx="11139737" cy="1667125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000" dirty="0"/>
              <a:t>Create a class `Car` that inherits from `Vehicle` and adds an attribute `year`.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9EA212-6AB0-3E7F-604A-D5CF99974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819" y="2294337"/>
            <a:ext cx="4944723" cy="34161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E1B310-5A89-1317-1F5B-65CDE9F9D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246" y="2584078"/>
            <a:ext cx="5656140" cy="250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4361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902A9-EA97-D8ED-18AC-7CFDB50CB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Overriding a Method in Child Class.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5BEBA-BE8E-BA26-AE64-392214F35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Override the `</a:t>
            </a:r>
            <a:r>
              <a:rPr lang="en-US" dirty="0" err="1"/>
              <a:t>start_engine</a:t>
            </a:r>
            <a:r>
              <a:rPr lang="en-US" dirty="0"/>
              <a:t>()` method in the `Car` class.</a:t>
            </a:r>
          </a:p>
        </p:txBody>
      </p:sp>
    </p:spTree>
    <p:extLst>
      <p:ext uri="{BB962C8B-B14F-4D97-AF65-F5344CB8AC3E}">
        <p14:creationId xmlns:p14="http://schemas.microsoft.com/office/powerpoint/2010/main" val="15848218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5729A6-27B4-F54C-8C59-2C0BEE2FE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6E9C339-1070-ACB1-03FB-6CBB7CEF2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1E828BF-9307-AE9B-61C2-F0A976638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AA3379D-0A53-EA1B-1AA3-55ADD63605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07B34F7-F22F-0E23-C869-1BE5C2FEA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6FBA075-5C2A-D460-2A96-9AD75BAA8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49" y="830269"/>
            <a:ext cx="11139737" cy="1667125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000" dirty="0"/>
              <a:t>Create a class `Car` that inherits from `Vehicle` and adds an attribute `year`.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EAC16-5425-AA83-CDC2-3E4C24F58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819" y="2294337"/>
            <a:ext cx="4944723" cy="34161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AD91B4-DCCB-F7BA-E4E2-CE6872DD4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460" y="2218195"/>
            <a:ext cx="4674210" cy="321932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340D23B-F10B-944F-63E4-DF0EA2DA7062}"/>
                  </a:ext>
                </a:extLst>
              </p14:cNvPr>
              <p14:cNvContentPartPr/>
              <p14:nvPr/>
            </p14:nvContentPartPr>
            <p14:xfrm>
              <a:off x="7003491" y="3425345"/>
              <a:ext cx="4031280" cy="1027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340D23B-F10B-944F-63E4-DF0EA2DA706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97371" y="3419225"/>
                <a:ext cx="4043520" cy="10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B369406-7D36-314C-C392-61715A63F441}"/>
                  </a:ext>
                </a:extLst>
              </p14:cNvPr>
              <p14:cNvContentPartPr/>
              <p14:nvPr/>
            </p14:nvContentPartPr>
            <p14:xfrm>
              <a:off x="6470691" y="5002865"/>
              <a:ext cx="2353680" cy="454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B369406-7D36-314C-C392-61715A63F44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64571" y="4996745"/>
                <a:ext cx="2365920" cy="46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48171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DE584-3DF5-0BE6-46BC-4A4ACD9D3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Methods to `Car`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8B117-4488-EF06-B164-C16375C9F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 method `drive()` to the `Car` class that prints (“{brand} and {model} is driving”)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6B77942-8C71-5512-7D8C-EDBFC90C43B6}"/>
                  </a:ext>
                </a:extLst>
              </p14:cNvPr>
              <p14:cNvContentPartPr/>
              <p14:nvPr/>
            </p14:nvContentPartPr>
            <p14:xfrm>
              <a:off x="3962497" y="1256652"/>
              <a:ext cx="360" cy="2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6B77942-8C71-5512-7D8C-EDBFC90C43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56377" y="1250532"/>
                <a:ext cx="12600" cy="1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784248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D29E82-EF32-BDB2-6BAD-97F1EF8A7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59EE400-F339-E3E1-E1D5-322AE8194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3859260-9FF0-6F3B-5FAA-A54C81FCB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0EF7732-D387-48CC-01EF-569D6C13C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17C3F8B-A4F1-4313-A7A9-C9E1BF3DE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5A10EC8-42E9-A0BD-7C2D-19D3AF8A3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49" y="830269"/>
            <a:ext cx="11139737" cy="1667125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000" dirty="0"/>
              <a:t>Add a method `drive()` to the `Car` class that prints brand name and model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DAB82B9-A28C-36C1-328F-C1F02DECB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469" y="2286890"/>
            <a:ext cx="4945450" cy="31792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54F77F5-831C-1665-4CD3-56AAF99B8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027" y="1861681"/>
            <a:ext cx="6156552" cy="391612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9B6096E-7C86-F85B-8603-4B8EEB95817D}"/>
                  </a:ext>
                </a:extLst>
              </p14:cNvPr>
              <p14:cNvContentPartPr/>
              <p14:nvPr/>
            </p14:nvContentPartPr>
            <p14:xfrm>
              <a:off x="6271897" y="3833868"/>
              <a:ext cx="5636160" cy="8276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9B6096E-7C86-F85B-8603-4B8EEB9581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65777" y="3827748"/>
                <a:ext cx="5648400" cy="83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C8E0C3D-2829-5696-91C7-774B5FC0B8B9}"/>
                  </a:ext>
                </a:extLst>
              </p14:cNvPr>
              <p14:cNvContentPartPr/>
              <p14:nvPr/>
            </p14:nvContentPartPr>
            <p14:xfrm>
              <a:off x="5916937" y="5475828"/>
              <a:ext cx="1528200" cy="3650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C8E0C3D-2829-5696-91C7-774B5FC0B8B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10817" y="5469708"/>
                <a:ext cx="1540440" cy="37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09349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7E847-B59B-3F66-BE99-2FCC51039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8D702-7E08-56A3-1EC3-F2423FE24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class `</a:t>
            </a:r>
            <a:r>
              <a:rPr lang="en-US" dirty="0" err="1"/>
              <a:t>ElectricCar</a:t>
            </a:r>
            <a:r>
              <a:rPr lang="en-US" dirty="0"/>
              <a:t>` that inherits from both `Car` and another class `</a:t>
            </a:r>
            <a:r>
              <a:rPr lang="en-US" dirty="0" err="1"/>
              <a:t>ElectricVehicle</a:t>
            </a:r>
            <a:r>
              <a:rPr lang="en-US" dirty="0"/>
              <a:t>`(create method “</a:t>
            </a:r>
            <a:r>
              <a:rPr lang="en-US" dirty="0" err="1"/>
              <a:t>charge_battery</a:t>
            </a:r>
            <a:r>
              <a:rPr lang="en-US" dirty="0"/>
              <a:t> that prints “battery is charging”)</a:t>
            </a:r>
          </a:p>
        </p:txBody>
      </p:sp>
    </p:spTree>
    <p:extLst>
      <p:ext uri="{BB962C8B-B14F-4D97-AF65-F5344CB8AC3E}">
        <p14:creationId xmlns:p14="http://schemas.microsoft.com/office/powerpoint/2010/main" val="192982385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E0A905-1196-DADC-4F8B-8DF213F84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4FA5782-2AE2-D099-5DEE-835A72C6E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B531127-4B9F-897B-8CDA-BC7D91022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230940D-2672-B951-E42F-B607F9A67E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CA10DCC-0081-D117-6FCD-804B51398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DD2D3A6-998C-B7D7-12AC-9E6482F8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49" y="830269"/>
            <a:ext cx="11139737" cy="1667125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000" dirty="0"/>
              <a:t>Add a method `drive()` to the `Car` class that prints brand name and model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1EF658-5DE5-0D60-E01E-096C18351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34" y="2128989"/>
            <a:ext cx="4161486" cy="267524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0539BA8-1428-4884-CA63-01CF65D06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553" y="1663831"/>
            <a:ext cx="4905414" cy="31202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B02A21-2360-E2DF-6B92-CCB450AF2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49" y="5340509"/>
            <a:ext cx="3867690" cy="9812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F341AC-70C4-99FD-C351-DF71DA06DB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8553" y="4977978"/>
            <a:ext cx="4696480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75461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64BC1-C2FA-9631-7AEF-2B6F623C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 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56365-6E27-F0F8-6C77-F4848FBEA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9316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Encapsulation means hiding internal details of a class and only exposing what’s necessary. It helps to protect important data from being changed directly and keeps the code secure and organized.</a:t>
            </a:r>
          </a:p>
          <a:p>
            <a:pPr fontAlgn="base"/>
            <a:r>
              <a:rPr lang="en-US" b="1" dirty="0"/>
              <a:t>Why do we need Encapsulation?</a:t>
            </a:r>
          </a:p>
          <a:p>
            <a:pPr lvl="1" fontAlgn="base"/>
            <a:r>
              <a:rPr lang="en-US" dirty="0"/>
              <a:t>Protects data from unauthorized access.</a:t>
            </a:r>
          </a:p>
          <a:p>
            <a:pPr lvl="1" fontAlgn="base"/>
            <a:r>
              <a:rPr lang="en-US" dirty="0"/>
              <a:t>Controls data updates.</a:t>
            </a:r>
          </a:p>
          <a:p>
            <a:pPr lvl="1" fontAlgn="base"/>
            <a:r>
              <a:rPr lang="en-US" dirty="0"/>
              <a:t>Enhances Security by hiding internal implementation details.</a:t>
            </a:r>
          </a:p>
          <a:p>
            <a:pPr lvl="1" fontAlgn="base"/>
            <a:r>
              <a:rPr lang="en-US" dirty="0"/>
              <a:t>Example: Restricting direct access to a bank account balance.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30346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9C1AC5-9C31-1FFC-09D1-9D4BBEB72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053" y="2345368"/>
            <a:ext cx="4777381" cy="1994556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14" name="Arc 13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B2DAD-F464-C1D5-BC29-3E6F9B137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en-US"/>
              <a:t>Access Specifiers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F6353-16F0-66A2-788E-1FC75A9E3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730" y="1975723"/>
            <a:ext cx="5788741" cy="4192520"/>
          </a:xfrm>
        </p:spPr>
        <p:txBody>
          <a:bodyPr>
            <a:normAutofit/>
          </a:bodyPr>
          <a:lstStyle/>
          <a:p>
            <a:r>
              <a:rPr lang="en-US" dirty="0"/>
              <a:t>Access specifiers define how class members (variables and methods) can be accessed from outside the class.</a:t>
            </a:r>
          </a:p>
          <a:p>
            <a:r>
              <a:rPr lang="en-US" dirty="0"/>
              <a:t>They help in implementing encapsulation by controlling the visibility of data. There are three types of access specifiers:</a:t>
            </a:r>
          </a:p>
        </p:txBody>
      </p:sp>
    </p:spTree>
    <p:extLst>
      <p:ext uri="{BB962C8B-B14F-4D97-AF65-F5344CB8AC3E}">
        <p14:creationId xmlns:p14="http://schemas.microsoft.com/office/powerpoint/2010/main" val="193582337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Color Cover">
            <a:extLst>
              <a:ext uri="{FF2B5EF4-FFF2-40B4-BE49-F238E27FC236}">
                <a16:creationId xmlns:a16="http://schemas.microsoft.com/office/drawing/2014/main" id="{8B2B1708-8CE4-4A20-94F5-55118AE2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E84BE2F-C43D-43D9-A96D-152600326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30" name="Color">
              <a:extLst>
                <a:ext uri="{FF2B5EF4-FFF2-40B4-BE49-F238E27FC236}">
                  <a16:creationId xmlns:a16="http://schemas.microsoft.com/office/drawing/2014/main" id="{E7400609-3385-4926-AD61-85A199F074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Color">
              <a:extLst>
                <a:ext uri="{FF2B5EF4-FFF2-40B4-BE49-F238E27FC236}">
                  <a16:creationId xmlns:a16="http://schemas.microsoft.com/office/drawing/2014/main" id="{9E9E1A20-C3CA-40B4-8D3A-3EAC12D69A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4C7EC8-2729-2317-DF4B-295CBB4A97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3864" y="1128724"/>
            <a:ext cx="5234707" cy="20546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CEFB77-3051-F636-3D00-E7B36B3C4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665" y="4064239"/>
            <a:ext cx="4756760" cy="1083999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094892C-2C38-2ABB-A83E-0245880DC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644" y="598260"/>
            <a:ext cx="4879001" cy="30261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427717827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04863-C427-61CC-B23A-7B5E44744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A3E0B-3EE9-E88A-2476-591E64D3C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Task Management System with Inheritance</a:t>
            </a:r>
          </a:p>
          <a:p>
            <a:pPr marL="0" indent="0">
              <a:buNone/>
            </a:pPr>
            <a:r>
              <a:rPr lang="en-US" dirty="0"/>
              <a:t>Extend the Task Management System with the following: </a:t>
            </a:r>
          </a:p>
          <a:p>
            <a:pPr lvl="1"/>
            <a:r>
              <a:rPr lang="en-US" dirty="0"/>
              <a:t>Create a base class `Task` with attributes `title`, `</a:t>
            </a:r>
            <a:r>
              <a:rPr lang="en-US" dirty="0" err="1"/>
              <a:t>due_date</a:t>
            </a:r>
            <a:r>
              <a:rPr lang="en-US" dirty="0"/>
              <a:t>`, and `priority`</a:t>
            </a:r>
          </a:p>
          <a:p>
            <a:pPr lvl="1"/>
            <a:r>
              <a:rPr lang="en-US" dirty="0"/>
              <a:t>Create a child class `</a:t>
            </a:r>
            <a:r>
              <a:rPr lang="en-US" dirty="0" err="1"/>
              <a:t>ProjectTask</a:t>
            </a:r>
            <a:r>
              <a:rPr lang="en-US" dirty="0"/>
              <a:t>` that inherits from `Task` and adds an attribute `</a:t>
            </a:r>
            <a:r>
              <a:rPr lang="en-US" dirty="0" err="1"/>
              <a:t>project_name</a:t>
            </a:r>
            <a:r>
              <a:rPr lang="en-US" dirty="0"/>
              <a:t>`. </a:t>
            </a:r>
          </a:p>
          <a:p>
            <a:pPr lvl="1"/>
            <a:r>
              <a:rPr lang="en-US" dirty="0"/>
              <a:t>Override the method to display task details in the `</a:t>
            </a:r>
            <a:r>
              <a:rPr lang="en-US" dirty="0" err="1"/>
              <a:t>ProjectTask</a:t>
            </a:r>
            <a:r>
              <a:rPr lang="en-US" dirty="0"/>
              <a:t>` class to include the project name. </a:t>
            </a:r>
          </a:p>
          <a:p>
            <a:pPr lvl="1"/>
            <a:r>
              <a:rPr lang="en-US" dirty="0"/>
              <a:t>Write a function that accepts both `Task` and `</a:t>
            </a:r>
            <a:r>
              <a:rPr lang="en-US" dirty="0" err="1"/>
              <a:t>ProjectTask</a:t>
            </a:r>
            <a:r>
              <a:rPr lang="en-US" dirty="0"/>
              <a:t>` objects and displays their details.</a:t>
            </a:r>
          </a:p>
        </p:txBody>
      </p:sp>
    </p:spTree>
    <p:extLst>
      <p:ext uri="{BB962C8B-B14F-4D97-AF65-F5344CB8AC3E}">
        <p14:creationId xmlns:p14="http://schemas.microsoft.com/office/powerpoint/2010/main" val="126013385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D4353-D818-527A-3CA1-97D550AB6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1D6A9-940F-6A33-1F1E-EB2D7F4F11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spc="-5" dirty="0">
                <a:solidFill>
                  <a:srgbClr val="1F3863"/>
                </a:solidFill>
              </a:rPr>
            </a:br>
            <a:r>
              <a:rPr lang="en-US" spc="-5" dirty="0">
                <a:solidFill>
                  <a:srgbClr val="1F3863"/>
                </a:solidFill>
              </a:rPr>
              <a:t>Introduction to Object-Oriented Programming (OOP)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6F3A6-0441-DC17-0B3B-E258912DF9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pc="-5" dirty="0">
                <a:solidFill>
                  <a:srgbClr val="1F3863"/>
                </a:solidFill>
              </a:rPr>
              <a:t>Week-05</a:t>
            </a:r>
          </a:p>
          <a:p>
            <a:r>
              <a:rPr lang="en-US" spc="-5" dirty="0">
                <a:solidFill>
                  <a:srgbClr val="1F3863"/>
                </a:solidFill>
              </a:rPr>
              <a:t>Working with Objects in the Project</a:t>
            </a:r>
          </a:p>
        </p:txBody>
      </p:sp>
    </p:spTree>
    <p:extLst>
      <p:ext uri="{BB962C8B-B14F-4D97-AF65-F5344CB8AC3E}">
        <p14:creationId xmlns:p14="http://schemas.microsoft.com/office/powerpoint/2010/main" val="315025541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AACFD-D7A8-4C7A-ABD5-73D007922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Class “TASK”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547AD-2323-C0EF-C9A6-521A41CDA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class “Task” with attributes (title, </a:t>
            </a:r>
            <a:r>
              <a:rPr lang="en-US" dirty="0" err="1"/>
              <a:t>due_date</a:t>
            </a:r>
            <a:r>
              <a:rPr lang="en-US" dirty="0"/>
              <a:t>, priority).</a:t>
            </a:r>
          </a:p>
        </p:txBody>
      </p:sp>
    </p:spTree>
    <p:extLst>
      <p:ext uri="{BB962C8B-B14F-4D97-AF65-F5344CB8AC3E}">
        <p14:creationId xmlns:p14="http://schemas.microsoft.com/office/powerpoint/2010/main" val="163137496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0F0095-D2F9-1147-D8E6-B18C4C6B7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7BE4790-7B3A-0714-C9CC-DF4F22A7B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A2283CC-F6C3-9A1C-E0B2-15E2B11A7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39790B1-75F1-3303-E8F9-4D17FE8F7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0001F42-8E5B-E218-1C1A-3B7B434FC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3AEE3EE-853A-AB39-E8F4-846351BB4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49" y="830269"/>
            <a:ext cx="11139737" cy="1667125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000" dirty="0"/>
              <a:t>Create a class ‘Task’ with attributes (title, </a:t>
            </a:r>
            <a:r>
              <a:rPr lang="en-US" sz="4000" dirty="0" err="1"/>
              <a:t>due_date</a:t>
            </a:r>
            <a:r>
              <a:rPr lang="en-US" sz="4000" dirty="0"/>
              <a:t>, priority).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116123-A30D-ABA1-B9A0-1577EFA922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6787"/>
          <a:stretch>
            <a:fillRect/>
          </a:stretch>
        </p:blipFill>
        <p:spPr>
          <a:xfrm>
            <a:off x="902943" y="2242945"/>
            <a:ext cx="5597831" cy="229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35654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E0417-949E-6E49-0494-5F63800EA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E2446-B8C9-2A6D-DD79-D5E6E86D3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 `</a:t>
            </a:r>
            <a:r>
              <a:rPr lang="en-US" dirty="0" err="1"/>
              <a:t>mark_complete</a:t>
            </a:r>
            <a:r>
              <a:rPr lang="en-US" dirty="0"/>
              <a:t>`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D8D43-2CA6-D728-44DE-6025E5D60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 method `</a:t>
            </a:r>
            <a:r>
              <a:rPr lang="en-US" dirty="0" err="1"/>
              <a:t>mark_complete</a:t>
            </a:r>
            <a:r>
              <a:rPr lang="en-US" dirty="0"/>
              <a:t>()` to the `Task` class that marks the task as completed.</a:t>
            </a:r>
          </a:p>
        </p:txBody>
      </p:sp>
    </p:spTree>
    <p:extLst>
      <p:ext uri="{BB962C8B-B14F-4D97-AF65-F5344CB8AC3E}">
        <p14:creationId xmlns:p14="http://schemas.microsoft.com/office/powerpoint/2010/main" val="8283373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8B4E49-2151-EFCD-82E3-4F362486F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32EA0AE-0886-673E-DC3A-FC20B79F1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37DB544-6F70-7F65-EA09-B36D6831A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64AB966-562B-728E-D548-AF23F9E7D4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241F3C8-5165-3A10-13AA-3CB2E800D5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2EFF379-44D9-6C1B-D5FA-F966C78A4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49" y="830269"/>
            <a:ext cx="11139737" cy="1667125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000" dirty="0"/>
              <a:t>Add a method `</a:t>
            </a:r>
            <a:r>
              <a:rPr lang="en-US" sz="4000" dirty="0" err="1"/>
              <a:t>mark_complete</a:t>
            </a:r>
            <a:r>
              <a:rPr lang="en-US" sz="4000" dirty="0"/>
              <a:t>()` to the `Task` class that marks the task as completed.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6229D8-491E-E51F-68DA-CA80E48B5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43" y="2242945"/>
            <a:ext cx="5597831" cy="312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81458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B82B4-3F6C-A7B7-4EBB-AF8D00DB3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3006D-7703-77AE-3ABD-0E7E30D4C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Displaying Task 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BD9ED-F2A8-AB99-E5A7-A5E27ECC8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 method `</a:t>
            </a:r>
            <a:r>
              <a:rPr lang="en-US" dirty="0" err="1"/>
              <a:t>show_status</a:t>
            </a:r>
            <a:r>
              <a:rPr lang="en-US" dirty="0"/>
              <a:t>()` that displays title, </a:t>
            </a:r>
            <a:r>
              <a:rPr lang="en-US" dirty="0" err="1"/>
              <a:t>Due_date</a:t>
            </a:r>
            <a:r>
              <a:rPr lang="en-US" dirty="0"/>
              <a:t> and task status. </a:t>
            </a:r>
          </a:p>
        </p:txBody>
      </p:sp>
    </p:spTree>
    <p:extLst>
      <p:ext uri="{BB962C8B-B14F-4D97-AF65-F5344CB8AC3E}">
        <p14:creationId xmlns:p14="http://schemas.microsoft.com/office/powerpoint/2010/main" val="424312183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E3659A-5356-74ED-E06C-79D4BF57C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DC004A0-4D68-E328-92C0-3636CE4EB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BDF721D-DF02-B7D9-E438-81F92CAE9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5A85395-3C96-F2B3-31FB-7FE2AFFF0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1E8CE56-A3E9-72A2-6682-80BA973E5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C79FD6B-F045-324A-13B4-C4DBC19AB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49" y="830269"/>
            <a:ext cx="11139737" cy="1667125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000" dirty="0"/>
              <a:t>Add a method `</a:t>
            </a:r>
            <a:r>
              <a:rPr lang="en-US" sz="4000" dirty="0" err="1"/>
              <a:t>show_status</a:t>
            </a:r>
            <a:r>
              <a:rPr lang="en-US" sz="4000" dirty="0"/>
              <a:t>()` that displays title, </a:t>
            </a:r>
            <a:r>
              <a:rPr lang="en-US" sz="4000" dirty="0" err="1"/>
              <a:t>Due_date</a:t>
            </a:r>
            <a:r>
              <a:rPr lang="en-US" sz="4000" dirty="0"/>
              <a:t> and task status.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AD616D-5F72-4448-7B14-CF7AFCE52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49" y="2215876"/>
            <a:ext cx="7468642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39433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B7D49-8619-E187-77C4-D5A3320AF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E8A1C-5690-4A08-7090-2F0E1943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 Task to a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74D7F-E34A-10AA-5681-64DEC819F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</a:t>
            </a:r>
            <a:r>
              <a:rPr lang="en-US" b="1" dirty="0"/>
              <a:t>function </a:t>
            </a:r>
            <a:r>
              <a:rPr lang="en-US" dirty="0"/>
              <a:t>that allows users to create a new task and add it to a </a:t>
            </a:r>
            <a:r>
              <a:rPr lang="en-US" b="1" dirty="0"/>
              <a:t>list</a:t>
            </a:r>
            <a:r>
              <a:rPr lang="en-US" dirty="0"/>
              <a:t> of tasks.</a:t>
            </a:r>
          </a:p>
        </p:txBody>
      </p:sp>
    </p:spTree>
    <p:extLst>
      <p:ext uri="{BB962C8B-B14F-4D97-AF65-F5344CB8AC3E}">
        <p14:creationId xmlns:p14="http://schemas.microsoft.com/office/powerpoint/2010/main" val="392414572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52F54-9A9E-C5FA-3DC9-16E16037B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0EC0B90-47DC-9083-9686-3A8709CCA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8207A01-D42D-E605-7612-06A387CB6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C8C5072-B37D-BAAC-0AB3-D41195A212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68D2109-99D0-791C-2EF7-EBA063912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74D27B7-9D88-782D-58AE-A8D049D42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49" y="830269"/>
            <a:ext cx="11139737" cy="1667125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000" dirty="0"/>
              <a:t>Write a </a:t>
            </a:r>
            <a:r>
              <a:rPr lang="en-US" sz="4000" b="1" dirty="0"/>
              <a:t>function</a:t>
            </a:r>
            <a:r>
              <a:rPr lang="en-US" sz="4000" dirty="0"/>
              <a:t> that allows users to create a new task and add it to a </a:t>
            </a:r>
            <a:r>
              <a:rPr lang="en-US" sz="4000" b="1" dirty="0"/>
              <a:t>list</a:t>
            </a:r>
            <a:r>
              <a:rPr lang="en-US" sz="4000" dirty="0"/>
              <a:t> of tasks.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2B81E22-C37B-7A44-2F29-7D8DE30C6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71" y="2122190"/>
            <a:ext cx="6326333" cy="39055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7077D4-1EC2-6DA2-8EAD-46A5212FA2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067"/>
          <a:stretch>
            <a:fillRect/>
          </a:stretch>
        </p:blipFill>
        <p:spPr>
          <a:xfrm>
            <a:off x="7021865" y="2122190"/>
            <a:ext cx="4363059" cy="185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87975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6D32D-B300-D9C8-18E4-755232181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65E7C-1AF4-9CF9-C944-0B96722AB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Viewing All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F7898-4BFB-CC73-1F66-47C4B1210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</a:t>
            </a:r>
            <a:r>
              <a:rPr lang="en-US" b="1" dirty="0"/>
              <a:t>function</a:t>
            </a:r>
            <a:r>
              <a:rPr lang="en-US" dirty="0"/>
              <a:t> `</a:t>
            </a:r>
            <a:r>
              <a:rPr lang="en-US" dirty="0" err="1"/>
              <a:t>view_tasks</a:t>
            </a:r>
            <a:r>
              <a:rPr lang="en-US" dirty="0"/>
              <a:t>()` to display all tasks in the list, including their completion status</a:t>
            </a:r>
          </a:p>
        </p:txBody>
      </p:sp>
    </p:spTree>
    <p:extLst>
      <p:ext uri="{BB962C8B-B14F-4D97-AF65-F5344CB8AC3E}">
        <p14:creationId xmlns:p14="http://schemas.microsoft.com/office/powerpoint/2010/main" val="69884832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51D25E-ADE4-241C-D859-CEBB1DF56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460599D-BAC4-E0D1-2669-796E7616D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4D1376F-00BF-48F0-E37B-D150EA3A0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F0F5F97-F33F-8C78-60CD-63CD2F3C1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1A9E48F-3E14-1AA5-D59F-F14C32A356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58BE48-5D5F-2205-30FD-DD2E6982F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49" y="830269"/>
            <a:ext cx="11139737" cy="1667125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000" dirty="0"/>
              <a:t>Write a function `</a:t>
            </a:r>
            <a:r>
              <a:rPr lang="en-US" sz="4000" dirty="0" err="1"/>
              <a:t>view_tasks</a:t>
            </a:r>
            <a:r>
              <a:rPr lang="en-US" sz="4000" dirty="0"/>
              <a:t>()` to display all tasks in the list, including their completion status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FA0335-6C6A-0423-6317-8FDD02407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865" y="2350790"/>
            <a:ext cx="4363059" cy="28102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595475-D53B-EAC1-5865-BF8936E30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71" y="2122190"/>
            <a:ext cx="6326333" cy="390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42603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6BD80-34D2-FF3C-51DA-77C9B3EAE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A695A-A46D-5C91-C2B8-A11775BB9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Marking a Task as Completed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B899A-F5E2-3739-2C7C-D76846362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80700" cy="4351338"/>
          </a:xfrm>
        </p:spPr>
        <p:txBody>
          <a:bodyPr/>
          <a:lstStyle/>
          <a:p>
            <a:r>
              <a:rPr lang="en-US" dirty="0"/>
              <a:t>Extend your program to allow users to mark a task as completed by selecting it from the list using function </a:t>
            </a:r>
            <a:r>
              <a:rPr lang="en-US" b="1" dirty="0"/>
              <a:t>“</a:t>
            </a:r>
            <a:r>
              <a:rPr lang="en-US" b="1" dirty="0" err="1"/>
              <a:t>mark_task_completed</a:t>
            </a:r>
            <a:r>
              <a:rPr lang="en-US" b="1" dirty="0"/>
              <a:t>”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385779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2BF3ED-559B-9864-52BA-7CFCB3519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6885EA1-9714-7E8E-49F6-5C883316C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39A08B5-3002-600B-5539-009D5A472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F60160D-E6A7-7705-4E22-56F6F33FD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7898E2F-4253-BB1D-5199-3E7B8BFD0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8DB18B0-C030-AD3C-7AB9-258AF8F90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49" y="830269"/>
            <a:ext cx="11796451" cy="1667125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3200" dirty="0"/>
              <a:t>Extend your program to allow users to mark a task as completed by selecting it from the list using function </a:t>
            </a:r>
            <a:r>
              <a:rPr lang="en-US" sz="3200" b="1" dirty="0"/>
              <a:t>“</a:t>
            </a:r>
            <a:r>
              <a:rPr lang="en-US" sz="3200" b="1" dirty="0" err="1"/>
              <a:t>mark_task_completed</a:t>
            </a:r>
            <a:r>
              <a:rPr lang="en-US" sz="3200" b="1" dirty="0"/>
              <a:t>”</a:t>
            </a:r>
            <a:r>
              <a:rPr lang="en-US" sz="32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DC940F-7AC3-A3A7-0892-3DD7FF84F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49" y="2156646"/>
            <a:ext cx="4178085" cy="44079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EA3E0F-EDFB-7E27-5713-497CC9EAD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983" y="1922529"/>
            <a:ext cx="4363059" cy="28102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1DF5EE-41B0-F76F-71ED-81916680C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4670" y="4825943"/>
            <a:ext cx="5318430" cy="179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66657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BCB33-E711-BBAD-1474-7CDDAC488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EAC6F-52D0-5790-4CCD-ED7E5FCB9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a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B9DAD-B3CA-52C5-ABEA-ECA2CD021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 function </a:t>
            </a:r>
            <a:r>
              <a:rPr lang="en-US" b="1" dirty="0"/>
              <a:t>“</a:t>
            </a:r>
            <a:r>
              <a:rPr lang="en-US" b="1" dirty="0" err="1"/>
              <a:t>remove_task</a:t>
            </a:r>
            <a:r>
              <a:rPr lang="en-US" b="1" dirty="0"/>
              <a:t>()</a:t>
            </a:r>
            <a:r>
              <a:rPr lang="en-US" dirty="0"/>
              <a:t>” that allows users to delete a task from the list. (Hint : use pop())</a:t>
            </a:r>
          </a:p>
        </p:txBody>
      </p:sp>
    </p:spTree>
    <p:extLst>
      <p:ext uri="{BB962C8B-B14F-4D97-AF65-F5344CB8AC3E}">
        <p14:creationId xmlns:p14="http://schemas.microsoft.com/office/powerpoint/2010/main" val="38960648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F8BB8F-85A5-8F81-AA6B-11FD8847F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3FFFB8A-A94E-3C2C-7955-D60B9CCCB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5E0DA48-B1AD-DCA2-54D8-D1DE2B849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87BC0D9-5D77-A7FB-5D50-3BFF6F8A7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0FE67DB-621D-DF15-E7E6-CEB402C97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A1A34-05F2-404B-61F5-832EA2CD8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553" y="376702"/>
            <a:ext cx="11796451" cy="1667125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3200" dirty="0"/>
              <a:t>Add a function </a:t>
            </a:r>
            <a:r>
              <a:rPr lang="en-US" sz="3200" b="1" dirty="0"/>
              <a:t>“</a:t>
            </a:r>
            <a:r>
              <a:rPr lang="en-US" sz="3200" b="1" dirty="0" err="1"/>
              <a:t>remove_task</a:t>
            </a:r>
            <a:r>
              <a:rPr lang="en-US" sz="3200" b="1" dirty="0"/>
              <a:t>()</a:t>
            </a:r>
            <a:r>
              <a:rPr lang="en-US" sz="3200" dirty="0"/>
              <a:t>” that allows users to delete a task from the list. (Hint : use pop())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241C0A-5B82-2708-DFDE-A5158E92A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791" y="1471952"/>
            <a:ext cx="4363059" cy="23720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2DD820-398B-F73B-1A1D-43CE4F3D2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79" y="1471952"/>
            <a:ext cx="4363059" cy="28102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EF2F1B-E020-D9D4-CE87-240781EC9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79" y="4492281"/>
            <a:ext cx="4467021" cy="179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68658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F4819-B896-BFAE-4502-8097BA5BA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for a Task by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4AFED-CEA0-E707-5E21-2B57C6BE6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function that searches for a task by its title and displays its details.</a:t>
            </a:r>
          </a:p>
        </p:txBody>
      </p:sp>
    </p:spTree>
    <p:extLst>
      <p:ext uri="{BB962C8B-B14F-4D97-AF65-F5344CB8AC3E}">
        <p14:creationId xmlns:p14="http://schemas.microsoft.com/office/powerpoint/2010/main" val="352181630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95FF85-FE26-AB6E-470C-FDD708E31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F57FB58-28A1-A2A9-4E14-B9E5427A3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FBE2F00-F78A-06FB-0F25-2DA130483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62E1ED3-A997-7E8F-AD47-54D2518A3C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33AE01E-7E41-F91F-B790-73B880C58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CE21D6-348B-D179-E666-EC42DF08F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553" y="376702"/>
            <a:ext cx="11796451" cy="1667125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3200" dirty="0"/>
              <a:t>Write a function that searches for a task by its title and displays its details.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6E0DE1-2300-3B8C-10B1-17F81AB4F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585" y="1338287"/>
            <a:ext cx="4363059" cy="23720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4B599F-A0DA-E6FE-0035-C0F051D59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79" y="1338287"/>
            <a:ext cx="4363059" cy="28102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ECF297-1A79-17E4-9F90-B18C2CDB2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7" y="4314481"/>
            <a:ext cx="4467021" cy="17966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06E3D9-54C4-8830-650E-E316B86D18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585" y="3976506"/>
            <a:ext cx="4363059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03369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37FC1-7E79-DA7B-D112-84C695DE9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05AA1-CAF0-FBF7-5FA1-898FC8190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a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4DE88-A69B-42CD-53F2-E796EF557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function `</a:t>
            </a:r>
            <a:r>
              <a:rPr lang="en-US" dirty="0" err="1"/>
              <a:t>update_task</a:t>
            </a:r>
            <a:r>
              <a:rPr lang="en-US" dirty="0"/>
              <a:t>()` to allow users to change the title or due date of a task.</a:t>
            </a:r>
          </a:p>
        </p:txBody>
      </p:sp>
    </p:spTree>
    <p:extLst>
      <p:ext uri="{BB962C8B-B14F-4D97-AF65-F5344CB8AC3E}">
        <p14:creationId xmlns:p14="http://schemas.microsoft.com/office/powerpoint/2010/main" val="387165139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ABE3F6-B2F6-28D7-2EC6-C3F02F9FF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E7FDD1D-26BB-961C-D8CF-8F1018B1C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317B286-36F2-8A56-7123-689B8E1EB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47CD839-0C13-935B-B8C0-F2A7ED656A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C431DF5-2562-85E2-5359-4394AD449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F381ABE-0745-7CDE-6626-2E1787F03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553" y="376702"/>
            <a:ext cx="11796451" cy="1667125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3200" dirty="0"/>
              <a:t>Write a function `</a:t>
            </a:r>
            <a:r>
              <a:rPr lang="en-US" sz="3200" dirty="0" err="1"/>
              <a:t>update_task</a:t>
            </a:r>
            <a:r>
              <a:rPr lang="en-US" sz="3200" dirty="0"/>
              <a:t>()` to allow users to change the title or due date of a task.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A3AD2C-DF1B-88AE-3FA8-51EEFEE81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918" y="1426310"/>
            <a:ext cx="4363059" cy="23720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A26E04-AACD-50FB-428A-3DBDB1D5E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79" y="1426310"/>
            <a:ext cx="4363059" cy="28102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0F2204-2CD6-AF2F-DD69-C4A974264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679" y="4387855"/>
            <a:ext cx="4467021" cy="17966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2BE285-4202-2B87-A41C-14B7C1BA9F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7918" y="3644459"/>
            <a:ext cx="4363059" cy="13908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BE8B5E-D9EA-9E09-4A06-DD5C429DBD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7918" y="5147452"/>
            <a:ext cx="4363059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19943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2F5B3-8EFD-EAA8-A549-C6F30FB29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5982E-ED00-E9A2-BF0D-E2E18C813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Tasks to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AB7D2-A960-8B9D-9064-65A2879AD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function “</a:t>
            </a:r>
            <a:r>
              <a:rPr lang="en-US" dirty="0" err="1"/>
              <a:t>save_tasks_to_file</a:t>
            </a:r>
            <a:r>
              <a:rPr lang="en-US" dirty="0"/>
              <a:t>(filename)” to save the list of tasks to a file.</a:t>
            </a:r>
          </a:p>
        </p:txBody>
      </p:sp>
    </p:spTree>
    <p:extLst>
      <p:ext uri="{BB962C8B-B14F-4D97-AF65-F5344CB8AC3E}">
        <p14:creationId xmlns:p14="http://schemas.microsoft.com/office/powerpoint/2010/main" val="5209142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3CD3E6-64B3-198C-E5D0-B321E48F3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F51D7A7-D294-ED95-3339-2253D836C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615008B-CA6C-ABF4-1825-8D051F35E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58C8734-7415-7BED-7071-DFE3869CFD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48C8920-9B86-8B55-5788-F72BF94C71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63DD39F-3058-8FEB-DF7E-2C0DAF0B8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553" y="376702"/>
            <a:ext cx="11796451" cy="1667125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3200" dirty="0"/>
              <a:t>Add function “</a:t>
            </a:r>
            <a:r>
              <a:rPr lang="en-US" sz="3200" dirty="0" err="1"/>
              <a:t>save_tasks_to_file</a:t>
            </a:r>
            <a:r>
              <a:rPr lang="en-US" sz="3200" dirty="0"/>
              <a:t>(filename)” to save the list of tasks to a file.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C6ED04-D82B-2C07-8CD1-D00D95466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53" y="1478787"/>
            <a:ext cx="4363059" cy="23720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DEBA18-48C5-A97A-675C-0C4312821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53" y="3784159"/>
            <a:ext cx="4363059" cy="13908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14C2B6-AB0E-499B-E4E6-E7BCE3C3E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53" y="5200403"/>
            <a:ext cx="4363059" cy="14098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4BD28C-A07A-6CE1-E012-4D212DCB25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9067" y="1478787"/>
            <a:ext cx="6956233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32130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7F6B4-50E1-A32C-3934-FDDCBC555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Tasks from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D8A39-119E-DAF5-CFB8-3EACCAE13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function “</a:t>
            </a:r>
            <a:r>
              <a:rPr lang="en-US" dirty="0" err="1"/>
              <a:t>load_tasks_from_file</a:t>
            </a:r>
            <a:r>
              <a:rPr lang="en-US" dirty="0"/>
              <a:t>(filename)” to load tasks from a file and repopulate the task list. </a:t>
            </a:r>
          </a:p>
        </p:txBody>
      </p:sp>
    </p:spTree>
    <p:extLst>
      <p:ext uri="{BB962C8B-B14F-4D97-AF65-F5344CB8AC3E}">
        <p14:creationId xmlns:p14="http://schemas.microsoft.com/office/powerpoint/2010/main" val="106529837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19F68F-1C67-EE35-1C47-929A350A7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833E8E2-6CC5-65F0-6BCA-5F24025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38EB166-4D38-724A-1C85-23A97992D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E2336F1-62ED-01E6-AA4C-1D00400A79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752962F-E291-B880-DCE7-C5C763782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66594D-E5AB-77FF-8792-FB285844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553" y="376702"/>
            <a:ext cx="11796451" cy="1667125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3200" dirty="0"/>
              <a:t>Write a function “</a:t>
            </a:r>
            <a:r>
              <a:rPr lang="en-US" sz="3200" dirty="0" err="1"/>
              <a:t>load_tasks_from_file</a:t>
            </a:r>
            <a:r>
              <a:rPr lang="en-US" sz="3200" dirty="0"/>
              <a:t>(filename)” to load tasks from a file and repopulate the task list.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631273-9E8A-7B1D-8682-DB9DB32EC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53" y="1478787"/>
            <a:ext cx="4363059" cy="23720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093455-C942-C49D-67CD-C98C3FF73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53" y="3784159"/>
            <a:ext cx="4363059" cy="13908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7BA9B3-51EE-82B6-7548-4BD0D9A32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53" y="5200403"/>
            <a:ext cx="4363059" cy="14098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17A9AC-9FD6-91AB-B0B7-A68392F167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9067" y="1478787"/>
            <a:ext cx="6956233" cy="1257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A55B8F-CC40-36A7-E1B5-E230B69909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2915" y="2821999"/>
            <a:ext cx="7068536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05050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CB59C-E591-7FFC-86C7-BD6FA1306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42D53-A966-832B-DE98-B199DD818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Displaying Completed Tasks Only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F9EDD-7C66-6CEE-25EB-62A8CECF2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</a:t>
            </a:r>
            <a:r>
              <a:rPr lang="en-US" dirty="0" err="1"/>
              <a:t>fuction</a:t>
            </a:r>
            <a:r>
              <a:rPr lang="en-US" dirty="0"/>
              <a:t> “</a:t>
            </a:r>
            <a:r>
              <a:rPr lang="en-US" dirty="0" err="1"/>
              <a:t>show_completed_tasks</a:t>
            </a:r>
            <a:r>
              <a:rPr lang="en-US" dirty="0"/>
              <a:t>()” to display only tasks that are marked as completed. </a:t>
            </a:r>
          </a:p>
        </p:txBody>
      </p:sp>
    </p:spTree>
    <p:extLst>
      <p:ext uri="{BB962C8B-B14F-4D97-AF65-F5344CB8AC3E}">
        <p14:creationId xmlns:p14="http://schemas.microsoft.com/office/powerpoint/2010/main" val="349326060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FA38EA-7B6C-095C-0C6B-664C74550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193D4C4-3C2E-D4D7-DEA6-F49792FA0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68C2198-3EC9-8BB0-855A-1D2F7367D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7162004-FEB8-D1EA-6AD7-C7A0BC92E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1C5C731-6A52-48C4-5F27-750B449B1F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3469796-16D7-1D0D-45EA-C8C583076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553" y="376702"/>
            <a:ext cx="11796451" cy="1667125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3200" dirty="0"/>
              <a:t>Write a </a:t>
            </a:r>
            <a:r>
              <a:rPr lang="en-US" sz="3200" dirty="0" err="1"/>
              <a:t>fuction</a:t>
            </a:r>
            <a:r>
              <a:rPr lang="en-US" sz="3200" dirty="0"/>
              <a:t> “</a:t>
            </a:r>
            <a:r>
              <a:rPr lang="en-US" sz="3200" dirty="0" err="1"/>
              <a:t>show_completed_tasks</a:t>
            </a:r>
            <a:r>
              <a:rPr lang="en-US" sz="3200" dirty="0"/>
              <a:t>()” to display only tasks that are marked as completed.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660BD3-4C76-C950-4EF4-D361A6EAE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53" y="1478787"/>
            <a:ext cx="4363059" cy="23720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AF7F0F-CC8D-1882-4F4F-776CF33C2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53" y="3784159"/>
            <a:ext cx="4363059" cy="13908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86D49C-1168-A8CB-E5C1-A86E073FF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53" y="5200403"/>
            <a:ext cx="4363059" cy="14098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314548-A01C-E655-31CA-84715B0EBE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9067" y="1478787"/>
            <a:ext cx="6956233" cy="1257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F391FC-D83C-B2FE-4061-44804C1726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3738" y="2720603"/>
            <a:ext cx="7068536" cy="2057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9DEFB7-0071-E247-9E16-B79FDC9256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9067" y="4994754"/>
            <a:ext cx="3328562" cy="13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71826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A9AFA-485F-E2D1-CB07-1FC4B4E89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1AFC7-9D6C-09DD-5279-DF97BCD2F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Displaying Incomplete Tasks Only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FA6C5-5A8F-02A6-DBBE-9AFCF81D6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function “</a:t>
            </a:r>
            <a:r>
              <a:rPr lang="en-US" dirty="0" err="1"/>
              <a:t>show_incomplete_tasks</a:t>
            </a:r>
            <a:r>
              <a:rPr lang="en-US" dirty="0"/>
              <a:t>()” to display only tasks that are marked as </a:t>
            </a:r>
            <a:r>
              <a:rPr lang="en-US" dirty="0" err="1"/>
              <a:t>Incompleted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8424650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862132-EB19-2546-505A-009A90BCE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AF9CCDE-A345-0713-A267-B244DF172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01B6E8C-6C7C-8787-839E-28F4C73BA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78DD1E6-EB38-A7B0-5D92-A420E6894D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4817320-859A-3317-7349-589446533D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5997BFF-EAB1-347B-E440-6C1B2FFCD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553" y="376702"/>
            <a:ext cx="11796451" cy="1667125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3200" dirty="0"/>
              <a:t>Write a function “</a:t>
            </a:r>
            <a:r>
              <a:rPr lang="en-US" sz="3200" dirty="0" err="1"/>
              <a:t>show_incomplete_tasks</a:t>
            </a:r>
            <a:r>
              <a:rPr lang="en-US" sz="3200" dirty="0"/>
              <a:t>()” to display only tasks that are marked as </a:t>
            </a:r>
            <a:r>
              <a:rPr lang="en-US" sz="3200" dirty="0" err="1"/>
              <a:t>Incompleted</a:t>
            </a:r>
            <a:r>
              <a:rPr lang="en-US" sz="3200" dirty="0"/>
              <a:t>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EC4274-2AA8-5BC7-6FDC-93353A553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53" y="1478787"/>
            <a:ext cx="4363059" cy="23720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32D79A-67B0-D976-4BDD-E23D6B962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53" y="3784159"/>
            <a:ext cx="4363059" cy="13908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5E69ED-D9E3-15FD-CE7D-182601AC9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53" y="5200403"/>
            <a:ext cx="4363059" cy="14098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CF980A-3C8E-490B-127E-E4B07FE98C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9067" y="1478787"/>
            <a:ext cx="6956233" cy="1257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94204D-B6C0-978C-744E-A709D9CF13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3738" y="2720603"/>
            <a:ext cx="7068536" cy="2057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69514F-EE1C-069C-7C14-6677D91A45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9067" y="4994754"/>
            <a:ext cx="3328562" cy="13100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5C4F79-2B05-D7CF-EC12-9C9D137D73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084" y="4994754"/>
            <a:ext cx="3391373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31939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F5A9E-4FF3-9212-ED96-B4D52ADF1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18A60-4EB9-2F16-3170-B0B04BD6F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Menu Function: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F2C78-3A40-4ADE-8F6D-32112E39A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function “Menu” which ask user that which Task Manager service you want?</a:t>
            </a:r>
          </a:p>
        </p:txBody>
      </p:sp>
    </p:spTree>
    <p:extLst>
      <p:ext uri="{BB962C8B-B14F-4D97-AF65-F5344CB8AC3E}">
        <p14:creationId xmlns:p14="http://schemas.microsoft.com/office/powerpoint/2010/main" val="146351731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53E58F-4BEF-5316-D880-FAFB7B9AD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60C4EE3-7C2F-21E9-FD87-5C65B0F0E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C274FCF-881A-D397-1624-F351DFFBF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2A78A86-C240-37CA-EE2C-8CA3D97055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56A6E13-FA6F-2ED8-9AB1-F455F61593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6FD0D51-17D4-C9A4-4FB6-FFF1096A9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553" y="376702"/>
            <a:ext cx="11796451" cy="1667125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3200" dirty="0"/>
              <a:t>Write a function “Menu” which ask user that which Task Manager service you want?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898BE31-D318-3D1D-4CBF-CE64E37D2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733" y="1499028"/>
            <a:ext cx="4534533" cy="49822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36E61CB-1E47-0F29-0E51-BBC80DE83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446" y="1499028"/>
            <a:ext cx="2800741" cy="513469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EBA87A1-904A-C736-1CD9-75E8D902D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723" y="1499028"/>
            <a:ext cx="3162741" cy="220058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0799AD1-98E1-71FC-85C8-A4B7614522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2366" y="3836465"/>
            <a:ext cx="3112097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85493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9A020-C772-B728-716F-AF7AEBF0B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7419"/>
            <a:ext cx="10515600" cy="543954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Task</a:t>
            </a:r>
          </a:p>
          <a:p>
            <a:pPr lvl="1"/>
            <a:r>
              <a:rPr lang="en-US" dirty="0"/>
              <a:t>Init(title, </a:t>
            </a:r>
            <a:r>
              <a:rPr lang="en-US" dirty="0" err="1"/>
              <a:t>due_date</a:t>
            </a:r>
            <a:r>
              <a:rPr lang="en-US" dirty="0"/>
              <a:t>, priority)  , variable complete</a:t>
            </a:r>
          </a:p>
          <a:p>
            <a:pPr lvl="1"/>
            <a:r>
              <a:rPr lang="en-US" dirty="0" err="1"/>
              <a:t>Make_complete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Show_status</a:t>
            </a:r>
            <a:r>
              <a:rPr lang="en-US" dirty="0"/>
              <a:t>()</a:t>
            </a:r>
          </a:p>
          <a:p>
            <a:r>
              <a:rPr lang="en-US" dirty="0" err="1"/>
              <a:t>add_task</a:t>
            </a:r>
            <a:r>
              <a:rPr lang="en-US" dirty="0"/>
              <a:t>()</a:t>
            </a:r>
          </a:p>
          <a:p>
            <a:r>
              <a:rPr lang="en-US" dirty="0" err="1"/>
              <a:t>View_task</a:t>
            </a:r>
            <a:r>
              <a:rPr lang="en-US" dirty="0"/>
              <a:t>()</a:t>
            </a:r>
          </a:p>
          <a:p>
            <a:r>
              <a:rPr lang="en-US" dirty="0" err="1"/>
              <a:t>mark_task_completed</a:t>
            </a:r>
            <a:r>
              <a:rPr lang="en-US" dirty="0"/>
              <a:t>()</a:t>
            </a:r>
          </a:p>
          <a:p>
            <a:r>
              <a:rPr lang="en-US" dirty="0" err="1"/>
              <a:t>Remove_task</a:t>
            </a:r>
            <a:r>
              <a:rPr lang="en-US" dirty="0"/>
              <a:t>(title)</a:t>
            </a:r>
          </a:p>
          <a:p>
            <a:r>
              <a:rPr lang="en-US" dirty="0" err="1"/>
              <a:t>Search_task</a:t>
            </a:r>
            <a:r>
              <a:rPr lang="en-US" dirty="0"/>
              <a:t>() </a:t>
            </a:r>
            <a:r>
              <a:rPr lang="en-US" dirty="0">
                <a:sym typeface="Wingdings" panose="05000000000000000000" pitchFamily="2" charset="2"/>
              </a:rPr>
              <a:t> # pop function</a:t>
            </a:r>
          </a:p>
          <a:p>
            <a:r>
              <a:rPr lang="en-US" dirty="0">
                <a:sym typeface="Wingdings" panose="05000000000000000000" pitchFamily="2" charset="2"/>
              </a:rPr>
              <a:t>Update_ task(</a:t>
            </a:r>
            <a:r>
              <a:rPr lang="en-US" dirty="0" err="1">
                <a:sym typeface="Wingdings" panose="05000000000000000000" pitchFamily="2" charset="2"/>
              </a:rPr>
              <a:t>task_number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r>
              <a:rPr lang="en-US" dirty="0" err="1">
                <a:sym typeface="Wingdings" panose="05000000000000000000" pitchFamily="2" charset="2"/>
              </a:rPr>
              <a:t>Save_task_to_file</a:t>
            </a:r>
            <a:r>
              <a:rPr lang="en-US" dirty="0">
                <a:sym typeface="Wingdings" panose="05000000000000000000" pitchFamily="2" charset="2"/>
              </a:rPr>
              <a:t>(filename= ‘Task.txt’)</a:t>
            </a:r>
          </a:p>
          <a:p>
            <a:r>
              <a:rPr lang="en-US" dirty="0" err="1">
                <a:sym typeface="Wingdings" panose="05000000000000000000" pitchFamily="2" charset="2"/>
              </a:rPr>
              <a:t>load_task_from_file</a:t>
            </a:r>
            <a:r>
              <a:rPr lang="en-US" dirty="0">
                <a:sym typeface="Wingdings" panose="05000000000000000000" pitchFamily="2" charset="2"/>
              </a:rPr>
              <a:t>(filename= ‘Task.txt’)</a:t>
            </a:r>
          </a:p>
          <a:p>
            <a:r>
              <a:rPr lang="en-US" dirty="0" err="1">
                <a:sym typeface="Wingdings" panose="05000000000000000000" pitchFamily="2" charset="2"/>
              </a:rPr>
              <a:t>Show_completed_task</a:t>
            </a:r>
            <a:r>
              <a:rPr lang="en-US" dirty="0">
                <a:sym typeface="Wingdings" panose="05000000000000000000" pitchFamily="2" charset="2"/>
              </a:rPr>
              <a:t>()</a:t>
            </a:r>
          </a:p>
          <a:p>
            <a:r>
              <a:rPr lang="en-US" dirty="0" err="1">
                <a:sym typeface="Wingdings" panose="05000000000000000000" pitchFamily="2" charset="2"/>
              </a:rPr>
              <a:t>Show_incomplete_task</a:t>
            </a:r>
            <a:r>
              <a:rPr lang="en-US" dirty="0">
                <a:sym typeface="Wingdings" panose="05000000000000000000" pitchFamily="2" charset="2"/>
              </a:rPr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675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3351</TotalTime>
  <Words>2833</Words>
  <Application>Microsoft Office PowerPoint</Application>
  <PresentationFormat>Widescreen</PresentationFormat>
  <Paragraphs>242</Paragraphs>
  <Slides>103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10" baseType="lpstr">
      <vt:lpstr>Aptos</vt:lpstr>
      <vt:lpstr>Aptos Display</vt:lpstr>
      <vt:lpstr>Arial</vt:lpstr>
      <vt:lpstr>Calibri</vt:lpstr>
      <vt:lpstr>Segoe UI</vt:lpstr>
      <vt:lpstr>Wingdings</vt:lpstr>
      <vt:lpstr>Office Theme</vt:lpstr>
      <vt:lpstr> Introduction to Object-Oriented Programming (OOP)</vt:lpstr>
      <vt:lpstr>What is OOP?</vt:lpstr>
      <vt:lpstr>Advantages of OOP</vt:lpstr>
      <vt:lpstr>What are Classes and Objects? </vt:lpstr>
      <vt:lpstr>Syntax:</vt:lpstr>
      <vt:lpstr> __init__() Method</vt:lpstr>
      <vt:lpstr>The self Parameter</vt:lpstr>
      <vt:lpstr>Defining a Simple Class</vt:lpstr>
      <vt:lpstr>Car Class</vt:lpstr>
      <vt:lpstr>Creating Multiple Objects</vt:lpstr>
      <vt:lpstr>Multiple Objects</vt:lpstr>
      <vt:lpstr> __init__() Method</vt:lpstr>
      <vt:lpstr>Function Vs Method </vt:lpstr>
      <vt:lpstr>Using Object Attributes</vt:lpstr>
      <vt:lpstr>Using Object Attributes</vt:lpstr>
      <vt:lpstr>Using Object Attributes</vt:lpstr>
      <vt:lpstr>Modifying Object Attributes</vt:lpstr>
      <vt:lpstr>Defining a Simple Class for To-Do List</vt:lpstr>
      <vt:lpstr>Defining a Simple Class for To-Do List</vt:lpstr>
      <vt:lpstr>Creating and Managing Multiple Task Objects</vt:lpstr>
      <vt:lpstr>Adding User Input to Create Tasks</vt:lpstr>
      <vt:lpstr>Assignment Task</vt:lpstr>
      <vt:lpstr> Introduction to Object-Oriented Programming (OOP)</vt:lpstr>
      <vt:lpstr>Defining a Constructor Method (__init__)</vt:lpstr>
      <vt:lpstr>Adding Methods to a Class</vt:lpstr>
      <vt:lpstr>Using Class Attributes</vt:lpstr>
      <vt:lpstr>Creating a Task Class for To-Do List</vt:lpstr>
      <vt:lpstr>Adding a Method to Display Task Status</vt:lpstr>
      <vt:lpstr>Creating Multiple Task Objects</vt:lpstr>
      <vt:lpstr>Creating a Task with Due Date</vt:lpstr>
      <vt:lpstr>Updating Task Title</vt:lpstr>
      <vt:lpstr>Adding Task Priority</vt:lpstr>
      <vt:lpstr>Marking Task Completion from User Input</vt:lpstr>
      <vt:lpstr>Marking Task Completion from User Input</vt:lpstr>
      <vt:lpstr>Viewing All Tasks</vt:lpstr>
      <vt:lpstr>Adding Task Priority</vt:lpstr>
      <vt:lpstr>Adding Task Priority</vt:lpstr>
      <vt:lpstr>Task Search by Keyword</vt:lpstr>
      <vt:lpstr>Saving and Loading Tasks </vt:lpstr>
      <vt:lpstr>Assignment Task</vt:lpstr>
      <vt:lpstr> Introduction to Object-Oriented Programming (OOP)</vt:lpstr>
      <vt:lpstr>Python Inheritance</vt:lpstr>
      <vt:lpstr>Python Inheritance</vt:lpstr>
      <vt:lpstr>Creating a Parent Class (Base Class)</vt:lpstr>
      <vt:lpstr>Creating a Child Class (derived class)</vt:lpstr>
      <vt:lpstr>What is Method Overriding?</vt:lpstr>
      <vt:lpstr>Add properties of child:</vt:lpstr>
      <vt:lpstr>Using `super()` in Child Class</vt:lpstr>
      <vt:lpstr>Using `super()` in Child Class</vt:lpstr>
      <vt:lpstr>Creating Another Child Class</vt:lpstr>
      <vt:lpstr>Adding New Methods in Child Class</vt:lpstr>
      <vt:lpstr>Adding New Methods in Child Class</vt:lpstr>
      <vt:lpstr>call the parent class method using `super()`</vt:lpstr>
      <vt:lpstr>Adding Attributes to Child Class</vt:lpstr>
      <vt:lpstr>Add a new attribute `age` to the `Dog` class and initialize it using `__init__()`</vt:lpstr>
      <vt:lpstr>Inheritance with Multiple Levels</vt:lpstr>
      <vt:lpstr>Create another class `Puppy` that inherits from `Dog` and adds a method `train()`</vt:lpstr>
      <vt:lpstr>Python Polymorphism</vt:lpstr>
      <vt:lpstr>Polymorphism Example</vt:lpstr>
      <vt:lpstr>Creating a Vehicle Base Class </vt:lpstr>
      <vt:lpstr>Create a class `Vehicle` with attributes `make`, `model`, and a method `start_engine()`. </vt:lpstr>
      <vt:lpstr>Inheriting from `Vehicle`</vt:lpstr>
      <vt:lpstr>Create a class `Car` that inherits from `Vehicle` and adds an attribute `year`. </vt:lpstr>
      <vt:lpstr>Overriding a Method in Child Class.</vt:lpstr>
      <vt:lpstr>Create a class `Car` that inherits from `Vehicle` and adds an attribute `year`. </vt:lpstr>
      <vt:lpstr>Adding Methods to `Car` Class</vt:lpstr>
      <vt:lpstr>Add a method `drive()` to the `Car` class that prints brand name and model</vt:lpstr>
      <vt:lpstr>Multiple Inheritance</vt:lpstr>
      <vt:lpstr>Add a method `drive()` to the `Car` class that prints brand name and model</vt:lpstr>
      <vt:lpstr>Python Encapsulation</vt:lpstr>
      <vt:lpstr>Access Specifiers</vt:lpstr>
      <vt:lpstr>Example:</vt:lpstr>
      <vt:lpstr>Assignment Task</vt:lpstr>
      <vt:lpstr> Introduction to Object-Oriented Programming (OOP)</vt:lpstr>
      <vt:lpstr>Create A Class “TASK”</vt:lpstr>
      <vt:lpstr>Create a class ‘Task’ with attributes (title, due_date, priority).</vt:lpstr>
      <vt:lpstr>Adding a `mark_complete` Method</vt:lpstr>
      <vt:lpstr>Add a method `mark_complete()` to the `Task` class that marks the task as completed.</vt:lpstr>
      <vt:lpstr>Displaying Task Status</vt:lpstr>
      <vt:lpstr>Add a method `show_status()` that displays title, Due_date and task status. </vt:lpstr>
      <vt:lpstr>Adding a Task to a List</vt:lpstr>
      <vt:lpstr>Write a function that allows users to create a new task and add it to a list of tasks.</vt:lpstr>
      <vt:lpstr>Viewing All Tasks</vt:lpstr>
      <vt:lpstr>Write a function `view_tasks()` to display all tasks in the list, including their completion status</vt:lpstr>
      <vt:lpstr>Marking a Task as Completed</vt:lpstr>
      <vt:lpstr>Extend your program to allow users to mark a task as completed by selecting it from the list using function “mark_task_completed”.</vt:lpstr>
      <vt:lpstr>Removing a Task</vt:lpstr>
      <vt:lpstr>Add a function “remove_task()” that allows users to delete a task from the list. (Hint : use pop())</vt:lpstr>
      <vt:lpstr>Searching for a Task by Title</vt:lpstr>
      <vt:lpstr>Write a function that searches for a task by its title and displays its details.</vt:lpstr>
      <vt:lpstr>Updating a Task</vt:lpstr>
      <vt:lpstr>Write a function `update_task()` to allow users to change the title or due date of a task.</vt:lpstr>
      <vt:lpstr>Saving Tasks to a File</vt:lpstr>
      <vt:lpstr>Add function “save_tasks_to_file(filename)” to save the list of tasks to a file.</vt:lpstr>
      <vt:lpstr>Loading Tasks from a File</vt:lpstr>
      <vt:lpstr>Write a function “load_tasks_from_file(filename)” to load tasks from a file and repopulate the task list. </vt:lpstr>
      <vt:lpstr>Displaying Completed Tasks Only</vt:lpstr>
      <vt:lpstr>Write a fuction “show_completed_tasks()” to display only tasks that are marked as completed. </vt:lpstr>
      <vt:lpstr>Displaying Incomplete Tasks Only</vt:lpstr>
      <vt:lpstr>Write a function “show_incomplete_tasks()” to display only tasks that are marked as Incompleted. </vt:lpstr>
      <vt:lpstr>Create Menu Function:</vt:lpstr>
      <vt:lpstr>Write a function “Menu” which ask user that which Task Manager service you want?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Barkha Teekam</dc:creator>
  <cp:lastModifiedBy>Barkha Teekam</cp:lastModifiedBy>
  <cp:revision>29</cp:revision>
  <dcterms:created xsi:type="dcterms:W3CDTF">2026-02-10T19:58:53Z</dcterms:created>
  <dcterms:modified xsi:type="dcterms:W3CDTF">2026-06-04T07:28:59Z</dcterms:modified>
</cp:coreProperties>
</file>