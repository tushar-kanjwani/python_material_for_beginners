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5"/>
  </p:notesMasterIdLst>
  <p:sldIdLst>
    <p:sldId id="269" r:id="rId2"/>
    <p:sldId id="268" r:id="rId3"/>
    <p:sldId id="256" r:id="rId4"/>
    <p:sldId id="272" r:id="rId5"/>
    <p:sldId id="274" r:id="rId6"/>
    <p:sldId id="259" r:id="rId7"/>
    <p:sldId id="275" r:id="rId8"/>
    <p:sldId id="261" r:id="rId9"/>
    <p:sldId id="276" r:id="rId10"/>
    <p:sldId id="263" r:id="rId11"/>
    <p:sldId id="277" r:id="rId12"/>
    <p:sldId id="265" r:id="rId13"/>
    <p:sldId id="284" r:id="rId14"/>
    <p:sldId id="285" r:id="rId15"/>
    <p:sldId id="286" r:id="rId16"/>
    <p:sldId id="278" r:id="rId17"/>
    <p:sldId id="290" r:id="rId18"/>
    <p:sldId id="279" r:id="rId19"/>
    <p:sldId id="289" r:id="rId20"/>
    <p:sldId id="280" r:id="rId21"/>
    <p:sldId id="288" r:id="rId22"/>
    <p:sldId id="281" r:id="rId23"/>
    <p:sldId id="287" r:id="rId24"/>
    <p:sldId id="282" r:id="rId25"/>
    <p:sldId id="291" r:id="rId26"/>
    <p:sldId id="299" r:id="rId27"/>
    <p:sldId id="300" r:id="rId28"/>
    <p:sldId id="301" r:id="rId29"/>
    <p:sldId id="302" r:id="rId30"/>
    <p:sldId id="318" r:id="rId31"/>
    <p:sldId id="303" r:id="rId32"/>
    <p:sldId id="319" r:id="rId33"/>
    <p:sldId id="304" r:id="rId34"/>
    <p:sldId id="320" r:id="rId35"/>
    <p:sldId id="305" r:id="rId36"/>
    <p:sldId id="321" r:id="rId37"/>
    <p:sldId id="306" r:id="rId38"/>
    <p:sldId id="322" r:id="rId39"/>
    <p:sldId id="307" r:id="rId40"/>
    <p:sldId id="323" r:id="rId41"/>
    <p:sldId id="308" r:id="rId42"/>
    <p:sldId id="324" r:id="rId43"/>
    <p:sldId id="309" r:id="rId44"/>
    <p:sldId id="325" r:id="rId45"/>
    <p:sldId id="310" r:id="rId46"/>
    <p:sldId id="326" r:id="rId47"/>
    <p:sldId id="311" r:id="rId48"/>
    <p:sldId id="327" r:id="rId49"/>
    <p:sldId id="312" r:id="rId50"/>
    <p:sldId id="328" r:id="rId51"/>
    <p:sldId id="313" r:id="rId52"/>
    <p:sldId id="329" r:id="rId53"/>
    <p:sldId id="314" r:id="rId54"/>
    <p:sldId id="330" r:id="rId55"/>
    <p:sldId id="315" r:id="rId56"/>
    <p:sldId id="353" r:id="rId57"/>
    <p:sldId id="331" r:id="rId58"/>
    <p:sldId id="332" r:id="rId59"/>
    <p:sldId id="354" r:id="rId60"/>
    <p:sldId id="333" r:id="rId61"/>
    <p:sldId id="355" r:id="rId62"/>
    <p:sldId id="334" r:id="rId63"/>
    <p:sldId id="356" r:id="rId64"/>
    <p:sldId id="335" r:id="rId65"/>
    <p:sldId id="357" r:id="rId66"/>
    <p:sldId id="336" r:id="rId67"/>
    <p:sldId id="358" r:id="rId68"/>
    <p:sldId id="337" r:id="rId69"/>
    <p:sldId id="359" r:id="rId70"/>
    <p:sldId id="360" r:id="rId71"/>
    <p:sldId id="369" r:id="rId72"/>
    <p:sldId id="339" r:id="rId73"/>
    <p:sldId id="368" r:id="rId74"/>
    <p:sldId id="340" r:id="rId75"/>
    <p:sldId id="367" r:id="rId76"/>
    <p:sldId id="341" r:id="rId77"/>
    <p:sldId id="366" r:id="rId78"/>
    <p:sldId id="342" r:id="rId79"/>
    <p:sldId id="365" r:id="rId80"/>
    <p:sldId id="343" r:id="rId81"/>
    <p:sldId id="364" r:id="rId82"/>
    <p:sldId id="344" r:id="rId83"/>
    <p:sldId id="363" r:id="rId84"/>
    <p:sldId id="345" r:id="rId85"/>
    <p:sldId id="362" r:id="rId86"/>
    <p:sldId id="346" r:id="rId87"/>
    <p:sldId id="361" r:id="rId88"/>
    <p:sldId id="347" r:id="rId89"/>
    <p:sldId id="348" r:id="rId90"/>
    <p:sldId id="349" r:id="rId91"/>
    <p:sldId id="350" r:id="rId92"/>
    <p:sldId id="351" r:id="rId93"/>
    <p:sldId id="352" r:id="rId9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6" d="100"/>
          <a:sy n="46" d="100"/>
        </p:scale>
        <p:origin x="149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71EECA-2E46-43DD-8776-78CAD739356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14305A-EF30-4D3F-AD92-DC379A55A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16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4305A-EF30-4D3F-AD92-DC379A55AAA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99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254C7-C249-1F81-BF58-BEBB45DF1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DA9A89-2F2E-2B87-E2DE-DDCC4862F9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7BD9AF-F641-912A-02B6-FC7AFE438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595E0-5BED-2B15-D639-A0C8D3993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4305A-EF30-4D3F-AD92-DC379A55AAA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709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print(</a:t>
            </a:r>
            <a:r>
              <a:rPr lang="en-US" dirty="0" err="1"/>
              <a:t>f'OUTPUT</a:t>
            </a:r>
            <a:r>
              <a:rPr lang="en-US" dirty="0"/>
              <a:t>\n-----')</a:t>
            </a:r>
          </a:p>
          <a:p>
            <a:endParaRPr lang="en-US" dirty="0"/>
          </a:p>
          <a:p>
            <a:r>
              <a:rPr lang="en-US" dirty="0"/>
              <a:t>text = 'Python'</a:t>
            </a:r>
          </a:p>
          <a:p>
            <a:r>
              <a:rPr lang="en-US" dirty="0" err="1"/>
              <a:t>i</a:t>
            </a:r>
            <a:r>
              <a:rPr lang="en-US" dirty="0"/>
              <a:t> = 0</a:t>
            </a:r>
          </a:p>
          <a:p>
            <a:endParaRPr lang="en-US" dirty="0"/>
          </a:p>
          <a:p>
            <a:r>
              <a:rPr lang="en-US" dirty="0"/>
              <a:t>while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len</a:t>
            </a:r>
            <a:r>
              <a:rPr lang="en-US" dirty="0"/>
              <a:t>(text):</a:t>
            </a:r>
          </a:p>
          <a:p>
            <a:r>
              <a:rPr lang="en-US" dirty="0"/>
              <a:t>    print(text[</a:t>
            </a:r>
            <a:r>
              <a:rPr lang="en-US" dirty="0" err="1"/>
              <a:t>i</a:t>
            </a:r>
            <a:r>
              <a:rPr lang="en-US" dirty="0"/>
              <a:t>])</a:t>
            </a:r>
          </a:p>
          <a:p>
            <a:r>
              <a:rPr lang="en-US" dirty="0"/>
              <a:t>    </a:t>
            </a:r>
            <a:r>
              <a:rPr lang="en-US" dirty="0" err="1"/>
              <a:t>i</a:t>
            </a:r>
            <a:r>
              <a:rPr lang="en-US" dirty="0"/>
              <a:t> += 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4305A-EF30-4D3F-AD92-DC379A55AAA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28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ref_keyword_while.asp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ref_keyword_for.asp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80C78F-B5C3-E673-50FE-0E3992821A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451381"/>
            <a:ext cx="7884414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5700" dirty="0"/>
              <a:t>Control Flow &amp; Looping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CE2940-A089-7C28-EFA8-07E67735F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49" y="4983276"/>
            <a:ext cx="7884414" cy="112668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Engr. </a:t>
            </a:r>
            <a:r>
              <a:rPr lang="en-US"/>
              <a:t>Tushar Kanjwani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4718595"/>
            <a:ext cx="4057650" cy="18288"/>
          </a:xfrm>
          <a:custGeom>
            <a:avLst/>
            <a:gdLst>
              <a:gd name="csX0" fmla="*/ 0 w 4057650"/>
              <a:gd name="csY0" fmla="*/ 0 h 18288"/>
              <a:gd name="csX1" fmla="*/ 757428 w 4057650"/>
              <a:gd name="csY1" fmla="*/ 0 h 18288"/>
              <a:gd name="csX2" fmla="*/ 1474279 w 4057650"/>
              <a:gd name="csY2" fmla="*/ 0 h 18288"/>
              <a:gd name="csX3" fmla="*/ 2191131 w 4057650"/>
              <a:gd name="csY3" fmla="*/ 0 h 18288"/>
              <a:gd name="csX4" fmla="*/ 2745676 w 4057650"/>
              <a:gd name="csY4" fmla="*/ 0 h 18288"/>
              <a:gd name="csX5" fmla="*/ 3340798 w 4057650"/>
              <a:gd name="csY5" fmla="*/ 0 h 18288"/>
              <a:gd name="csX6" fmla="*/ 4057650 w 4057650"/>
              <a:gd name="csY6" fmla="*/ 0 h 18288"/>
              <a:gd name="csX7" fmla="*/ 4057650 w 4057650"/>
              <a:gd name="csY7" fmla="*/ 18288 h 18288"/>
              <a:gd name="csX8" fmla="*/ 3381375 w 4057650"/>
              <a:gd name="csY8" fmla="*/ 18288 h 18288"/>
              <a:gd name="csX9" fmla="*/ 2826830 w 4057650"/>
              <a:gd name="csY9" fmla="*/ 18288 h 18288"/>
              <a:gd name="csX10" fmla="*/ 2272284 w 4057650"/>
              <a:gd name="csY10" fmla="*/ 18288 h 18288"/>
              <a:gd name="csX11" fmla="*/ 1555432 w 4057650"/>
              <a:gd name="csY11" fmla="*/ 18288 h 18288"/>
              <a:gd name="csX12" fmla="*/ 960310 w 4057650"/>
              <a:gd name="csY12" fmla="*/ 18288 h 18288"/>
              <a:gd name="csX13" fmla="*/ 0 w 4057650"/>
              <a:gd name="csY13" fmla="*/ 18288 h 18288"/>
              <a:gd name="csX14" fmla="*/ 0 w 4057650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57650" h="18288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150" y="8855"/>
                  <a:pt x="4057759" y="14521"/>
                  <a:pt x="4057650" y="18288"/>
                </a:cubicBezTo>
                <a:cubicBezTo>
                  <a:pt x="3743404" y="40125"/>
                  <a:pt x="3625516" y="-14923"/>
                  <a:pt x="3381375" y="18288"/>
                </a:cubicBezTo>
                <a:cubicBezTo>
                  <a:pt x="3137235" y="51499"/>
                  <a:pt x="2946571" y="1"/>
                  <a:pt x="2826830" y="18288"/>
                </a:cubicBezTo>
                <a:cubicBezTo>
                  <a:pt x="2707090" y="36575"/>
                  <a:pt x="2402756" y="1432"/>
                  <a:pt x="2272284" y="18288"/>
                </a:cubicBezTo>
                <a:cubicBezTo>
                  <a:pt x="2141812" y="35144"/>
                  <a:pt x="1895935" y="18199"/>
                  <a:pt x="1555432" y="18288"/>
                </a:cubicBezTo>
                <a:cubicBezTo>
                  <a:pt x="1214929" y="18377"/>
                  <a:pt x="1103072" y="14503"/>
                  <a:pt x="960310" y="18288"/>
                </a:cubicBezTo>
                <a:cubicBezTo>
                  <a:pt x="817548" y="22073"/>
                  <a:pt x="402272" y="-29359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057650" h="18288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752" y="7180"/>
                  <a:pt x="4057819" y="13790"/>
                  <a:pt x="4057650" y="18288"/>
                </a:cubicBezTo>
                <a:cubicBezTo>
                  <a:pt x="3865148" y="-3313"/>
                  <a:pt x="3702543" y="49468"/>
                  <a:pt x="3381375" y="18288"/>
                </a:cubicBezTo>
                <a:cubicBezTo>
                  <a:pt x="3060208" y="-12892"/>
                  <a:pt x="2956571" y="-8678"/>
                  <a:pt x="2826830" y="18288"/>
                </a:cubicBezTo>
                <a:cubicBezTo>
                  <a:pt x="2697089" y="45254"/>
                  <a:pt x="2411031" y="43154"/>
                  <a:pt x="2150555" y="18288"/>
                </a:cubicBezTo>
                <a:cubicBezTo>
                  <a:pt x="1890080" y="-6578"/>
                  <a:pt x="1741827" y="-615"/>
                  <a:pt x="1474280" y="18288"/>
                </a:cubicBezTo>
                <a:cubicBezTo>
                  <a:pt x="1206734" y="37191"/>
                  <a:pt x="998203" y="33335"/>
                  <a:pt x="838581" y="18288"/>
                </a:cubicBezTo>
                <a:cubicBezTo>
                  <a:pt x="678959" y="3241"/>
                  <a:pt x="187101" y="-13212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478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864F06-19F8-365F-43D9-F32C5D0BD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US" sz="4700" dirty="0"/>
              <a:t>Learning Outcomes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EC320-E000-0DDA-EEA4-8DF7A9BD9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r>
              <a:rPr lang="en-US" sz="1900"/>
              <a:t>By the end of this lab, students will be able to:</a:t>
            </a:r>
          </a:p>
          <a:p>
            <a:pPr lvl="1"/>
            <a:r>
              <a:rPr lang="en-US" sz="1900"/>
              <a:t>Understand what loops are in programming</a:t>
            </a:r>
          </a:p>
          <a:p>
            <a:pPr lvl="1"/>
            <a:r>
              <a:rPr lang="en-US" sz="1900"/>
              <a:t>Use while loops correctly in Python</a:t>
            </a:r>
          </a:p>
          <a:p>
            <a:pPr lvl="1"/>
            <a:r>
              <a:rPr lang="en-US" sz="1900"/>
              <a:t>Apply break and continue statements</a:t>
            </a:r>
          </a:p>
          <a:p>
            <a:pPr lvl="1"/>
            <a:r>
              <a:rPr lang="en-US" sz="1900"/>
              <a:t>Create nested loops</a:t>
            </a:r>
          </a:p>
          <a:p>
            <a:pPr lvl="1"/>
            <a:r>
              <a:rPr lang="en-US" sz="1900"/>
              <a:t>Build interactive programs using loops</a:t>
            </a:r>
          </a:p>
          <a:p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844339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40080"/>
            <a:ext cx="3614166" cy="148132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/>
              <a:t>What is a Loop?</a:t>
            </a:r>
          </a:p>
        </p:txBody>
      </p:sp>
      <p:sp>
        <p:nvSpPr>
          <p:cNvPr id="104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372868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660904"/>
            <a:ext cx="3614166" cy="3547872"/>
          </a:xfrm>
        </p:spPr>
        <p:txBody>
          <a:bodyPr anchor="t">
            <a:normAutofit/>
          </a:bodyPr>
          <a:lstStyle/>
          <a:p>
            <a:r>
              <a:rPr lang="en-US" sz="1900" dirty="0"/>
              <a:t>A </a:t>
            </a:r>
            <a:r>
              <a:rPr lang="en-US" sz="1900" b="1" dirty="0"/>
              <a:t>loop</a:t>
            </a:r>
            <a:r>
              <a:rPr lang="en-US" sz="1900" dirty="0"/>
              <a:t> is a programming construct that allows a block of code to be executed repeatedly until a condition is met.</a:t>
            </a:r>
          </a:p>
          <a:p>
            <a:r>
              <a:rPr lang="en-US" sz="1900" b="1" dirty="0"/>
              <a:t>Why use loops?</a:t>
            </a:r>
          </a:p>
          <a:p>
            <a:pPr lvl="1"/>
            <a:r>
              <a:rPr lang="en-US" sz="1900" dirty="0"/>
              <a:t>Avoid repetitive code</a:t>
            </a:r>
          </a:p>
          <a:p>
            <a:pPr lvl="1"/>
            <a:r>
              <a:rPr lang="en-US" sz="1900" dirty="0"/>
              <a:t>Improve readability</a:t>
            </a:r>
          </a:p>
          <a:p>
            <a:pPr lvl="1"/>
            <a:r>
              <a:rPr lang="en-US" sz="1900" dirty="0"/>
              <a:t>Automate repeated tasks</a:t>
            </a:r>
            <a:br>
              <a:rPr lang="en-US" sz="1900" dirty="0"/>
            </a:br>
            <a:endParaRPr lang="en-US" sz="1900" dirty="0"/>
          </a:p>
        </p:txBody>
      </p:sp>
      <p:pic>
        <p:nvPicPr>
          <p:cNvPr id="1026" name="Picture 2" descr="Python While Loop - GeeksforGeeks">
            <a:extLst>
              <a:ext uri="{FF2B5EF4-FFF2-40B4-BE49-F238E27FC236}">
                <a16:creationId xmlns:a16="http://schemas.microsoft.com/office/drawing/2014/main" id="{21DFFDA2-2D1D-AADE-E7FF-35794C96C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4286" y="2170026"/>
            <a:ext cx="4094226" cy="2517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862E0-0BCE-DF26-4B38-32FB51A50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Loops in Python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DDA97-A42D-79BC-E752-B3730185A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loop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CAE3B15-5FA2-8897-F907-08A2E5EC4C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2907" y="3648127"/>
            <a:ext cx="4540797" cy="1494144"/>
          </a:xfr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68E3C27-7717-7CC5-02A9-ACBD6C4D8C0F}"/>
              </a:ext>
            </a:extLst>
          </p:cNvPr>
          <p:cNvSpPr txBox="1"/>
          <p:nvPr/>
        </p:nvSpPr>
        <p:spPr>
          <a:xfrm>
            <a:off x="457199" y="2372892"/>
            <a:ext cx="774290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With the </a:t>
            </a:r>
            <a:r>
              <a:rPr lang="en-US" sz="32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while</a:t>
            </a:r>
            <a:r>
              <a:rPr lang="en-US" sz="3200" dirty="0"/>
              <a:t> loop we can execute a set of statements as long as a condition is true.</a:t>
            </a:r>
          </a:p>
        </p:txBody>
      </p:sp>
    </p:spTree>
    <p:extLst>
      <p:ext uri="{BB962C8B-B14F-4D97-AF65-F5344CB8AC3E}">
        <p14:creationId xmlns:p14="http://schemas.microsoft.com/office/powerpoint/2010/main" val="248064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C0FA8-B041-C836-0E23-B346365B4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961D5-BEDB-5D60-6004-95DBC7C53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Task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2DE77-CBDC-9333-8CA2-CC382CFAB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to print numbers 0 to 4 using while loop.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A4F057D-974C-ED5B-2B72-B48ACF385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465" y="2929600"/>
            <a:ext cx="2139541" cy="27230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2939AE-927E-7F78-0CB3-1DC74B3D0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5127" y="2956638"/>
            <a:ext cx="4771792" cy="192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002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72088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916395" cy="1800526"/>
          </a:xfrm>
        </p:spPr>
        <p:txBody>
          <a:bodyPr>
            <a:normAutofit/>
          </a:bodyPr>
          <a:lstStyle/>
          <a:p>
            <a:r>
              <a:rPr lang="en-US" dirty="0"/>
              <a:t>Task</a:t>
            </a:r>
            <a:r>
              <a:rPr dirty="0"/>
              <a:t>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623382"/>
            <a:ext cx="3353416" cy="3138322"/>
          </a:xfrm>
        </p:spPr>
        <p:txBody>
          <a:bodyPr>
            <a:normAutofit/>
          </a:bodyPr>
          <a:lstStyle/>
          <a:p>
            <a:r>
              <a:rPr lang="en-US" sz="2800" dirty="0"/>
              <a:t>Write a countdown program from 10 to 0 and print 'Liftoff!'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D24987-94F3-904B-D76E-9A566A16D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806" y="643234"/>
            <a:ext cx="2492525" cy="55998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D8F66-8EA8-76C4-8A9D-AAC0B5D18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33E60-7040-DBB4-DFA2-761675BEB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</a:t>
            </a:r>
            <a:r>
              <a:rPr dirty="0"/>
              <a:t>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AA66E-9C6D-0B07-71E2-6ED6E3D87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Write a countdown program from 10 to 0 and print 'Liftoff!'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0364C9-E059-6B02-6A81-68BA56B25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686" y="2797207"/>
            <a:ext cx="2199146" cy="32103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C23AD0-B1E9-A67E-6A5D-30E87423B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197" y="2797207"/>
            <a:ext cx="4614804" cy="2364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71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72088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916395" cy="1800526"/>
          </a:xfrm>
        </p:spPr>
        <p:txBody>
          <a:bodyPr>
            <a:normAutofit/>
          </a:bodyPr>
          <a:lstStyle/>
          <a:p>
            <a:r>
              <a:rPr lang="en-US" dirty="0"/>
              <a:t>Task</a:t>
            </a:r>
            <a:r>
              <a:rPr dirty="0"/>
              <a:t>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623381"/>
            <a:ext cx="2916396" cy="3553581"/>
          </a:xfrm>
        </p:spPr>
        <p:txBody>
          <a:bodyPr>
            <a:normAutofit/>
          </a:bodyPr>
          <a:lstStyle/>
          <a:p>
            <a:r>
              <a:rPr lang="en-US" sz="2800" dirty="0"/>
              <a:t>Modify the countdown when number becomes less than 5. (Hint: Using ‘break’)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624AB5-CD46-B7C1-980F-D3D510195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739" y="1581549"/>
            <a:ext cx="3560660" cy="37232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B7978-0E6E-4C7C-DAA5-0E42FDB30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B0DDC-321F-F20D-BBBA-8410DDF28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</a:t>
            </a:r>
            <a:r>
              <a:rPr dirty="0"/>
              <a:t>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E7218-81F7-5C7C-7BC4-7E2B5070E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Modify</a:t>
            </a:r>
            <a:r>
              <a:rPr dirty="0"/>
              <a:t> the countdown when number becomes less than 5.</a:t>
            </a:r>
            <a:r>
              <a:rPr lang="en-US" dirty="0"/>
              <a:t> (Hint: Using ‘break’)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B16313-B857-2796-E790-390B223B5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002" y="2879010"/>
            <a:ext cx="2498308" cy="26123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5D9306-DF96-ED02-5143-F194946B9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415" y="2879010"/>
            <a:ext cx="4123236" cy="237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646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72088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916395" cy="1800526"/>
          </a:xfrm>
        </p:spPr>
        <p:txBody>
          <a:bodyPr>
            <a:normAutofit/>
          </a:bodyPr>
          <a:lstStyle/>
          <a:p>
            <a:r>
              <a:rPr lang="en-US" dirty="0"/>
              <a:t>Task</a:t>
            </a:r>
            <a:r>
              <a:rPr dirty="0"/>
              <a:t>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269420"/>
            <a:ext cx="3843439" cy="3553581"/>
          </a:xfrm>
        </p:spPr>
        <p:txBody>
          <a:bodyPr>
            <a:normAutofit/>
          </a:bodyPr>
          <a:lstStyle/>
          <a:p>
            <a:r>
              <a:rPr lang="en-US" sz="2800" dirty="0"/>
              <a:t>Skip printing number 5 in countdown. </a:t>
            </a:r>
          </a:p>
          <a:p>
            <a:pPr marL="0" indent="0">
              <a:buNone/>
            </a:pPr>
            <a:r>
              <a:rPr lang="en-US" sz="2800" dirty="0"/>
              <a:t>    (Hint: Using `continue)</a:t>
            </a:r>
          </a:p>
          <a:p>
            <a:pPr marL="0" indent="0">
              <a:buNone/>
            </a:pPr>
            <a:endParaRPr lang="en-US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9C84A9-D178-63A9-3A93-5550A283D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205" y="643234"/>
            <a:ext cx="2841728" cy="55998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42BFC-DD80-34AD-774D-AA7AB60A4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F4243-8C3A-77A7-8E91-D88AEFDF3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</a:t>
            </a:r>
            <a:r>
              <a:rPr dirty="0"/>
              <a:t>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A54EC-3CD9-AAE9-DE98-553C9CC79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Skip printing number 5 in countdown.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 (Hint: Using `continue)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37C4B5-F364-B4F3-62FF-989B6A44D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391" y="2934843"/>
            <a:ext cx="1960112" cy="3191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2CCBBB-46C7-5581-CD66-223E2FA0F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1742" y="3095323"/>
            <a:ext cx="3609263" cy="259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48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72088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916395" cy="1800526"/>
          </a:xfrm>
        </p:spPr>
        <p:txBody>
          <a:bodyPr>
            <a:normAutofit/>
          </a:bodyPr>
          <a:lstStyle/>
          <a:p>
            <a:r>
              <a:rPr lang="en-US" dirty="0"/>
              <a:t>Task</a:t>
            </a:r>
            <a:r>
              <a:rPr dirty="0"/>
              <a:t>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1" y="2062942"/>
            <a:ext cx="3382911" cy="3553581"/>
          </a:xfrm>
        </p:spPr>
        <p:txBody>
          <a:bodyPr>
            <a:normAutofit/>
          </a:bodyPr>
          <a:lstStyle/>
          <a:p>
            <a:r>
              <a:rPr lang="en-US" sz="2800" dirty="0"/>
              <a:t>Create a nested ‘while’ loop to print a simple multiplication table (from 1 to 5).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1D07A4-46F7-8EF7-9ACE-6F3C46430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739" y="1917175"/>
            <a:ext cx="3560660" cy="305199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98D5D-6629-6A43-224B-500DC2061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D5688-873B-A183-BA64-DEE496A4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</a:t>
            </a:r>
            <a:r>
              <a:rPr dirty="0"/>
              <a:t>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C7FF2-A26A-20C0-4EA2-80E4B73C6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nested ‘while’ loop to print a simple multiplication table (from 1 to 5).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C42F2C-60AB-1383-B927-35B82E8BB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790693"/>
            <a:ext cx="2878292" cy="2467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2FFEEF-099B-8DD0-3FE6-3D6F88170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099" y="2790693"/>
            <a:ext cx="3429479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881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811B5B-85F3-DD39-AAD6-6DBD460B2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72088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CE3AA1-10B4-7B76-DBF4-48F1BB29C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43467"/>
            <a:ext cx="2916395" cy="1800526"/>
          </a:xfrm>
        </p:spPr>
        <p:txBody>
          <a:bodyPr>
            <a:normAutofit/>
          </a:bodyPr>
          <a:lstStyle/>
          <a:p>
            <a:r>
              <a:rPr lang="en-US" dirty="0"/>
              <a:t>Task 6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37638-668E-78EA-A89F-60C22B4A7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085" y="2210426"/>
            <a:ext cx="3323918" cy="3553581"/>
          </a:xfrm>
        </p:spPr>
        <p:txBody>
          <a:bodyPr>
            <a:noAutofit/>
          </a:bodyPr>
          <a:lstStyle/>
          <a:p>
            <a:r>
              <a:rPr lang="en-US" sz="2800" dirty="0"/>
              <a:t>Write a simple program that creates an infinite loop and then modify it to break after a certain condition is met.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E1232A-78BE-619E-2A41-11A6FF5E1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739" y="685405"/>
            <a:ext cx="3560660" cy="551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931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3D9B6-2708-B73D-E779-C31CEE16E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BC6AA-4B0E-A7A3-68C4-C5B5A7362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6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B5FA5-AD24-0A57-662B-EE06532BC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simple program that creates an infinite loop and then modify it to break after a certain condition is met.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11E532-A77C-BEFB-C531-E045D93C7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16" y="3352181"/>
            <a:ext cx="2085615" cy="32306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C19D67-BEF0-B785-9D5E-FEC562A88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292" y="3429000"/>
            <a:ext cx="3496163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956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4675AB-CFA1-73DD-8950-FFD31B0F5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72088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C6A594-EC2F-677F-96A2-EA93F554A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43467"/>
            <a:ext cx="2916395" cy="1800526"/>
          </a:xfrm>
        </p:spPr>
        <p:txBody>
          <a:bodyPr>
            <a:normAutofit/>
          </a:bodyPr>
          <a:lstStyle/>
          <a:p>
            <a:r>
              <a:rPr lang="en-US" dirty="0"/>
              <a:t>Task 7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76518-C6CC-A465-9C09-8BFE3307A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623381"/>
            <a:ext cx="2916396" cy="3553581"/>
          </a:xfrm>
        </p:spPr>
        <p:txBody>
          <a:bodyPr>
            <a:normAutofit/>
          </a:bodyPr>
          <a:lstStyle/>
          <a:p>
            <a:r>
              <a:rPr lang="en-US" sz="2800" dirty="0"/>
              <a:t>Create a `while` loop that asks the user to guess a number until they guess it correctly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8B2D08-AE80-A456-EDE1-3134BCB85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739" y="2331186"/>
            <a:ext cx="3560660" cy="222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036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A4194-1247-217C-151B-BF6057CE5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E8572-81B0-32BE-9CC3-E614D82CB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447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Task 7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7C78B-48B9-1A4C-2F9B-81C4B0C3E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`while` loop that asks the user to guess a number until they guess it correctly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4831E5-F8F6-2833-B8CD-0ACBD967E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104" y="3375548"/>
            <a:ext cx="2943636" cy="18385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531CEC-4E12-5D5A-92AB-9824FEDFD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7606" y="3309180"/>
            <a:ext cx="4652267" cy="194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006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70DF15-1BE9-4BC4-A6DC-420B2CBCB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3C994B4-9721-4148-9EEC-6793CECDE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2" y="-1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D95E49-763A-4886-B038-82F734740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CCF7B0-8448-4461-83DB-51318EB79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8743" y="699899"/>
            <a:ext cx="8035257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0A0A99-E788-E592-8950-597A06B61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092" y="-800256"/>
            <a:ext cx="4212177" cy="296760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Task 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24DA1-53C1-A090-E329-397351F6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4092" y="2388456"/>
            <a:ext cx="4212177" cy="219268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Write a Python program that uses a flag variable to terminate the loop.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58F707-009E-4E74-A368-7AF82DDF0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7902648" y="699893"/>
            <a:ext cx="1241351" cy="5427855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BCC5E1-12E7-BCC3-111F-670B546A9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845" y="825866"/>
            <a:ext cx="3046935" cy="5290804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D28AB17-F6FA-4C53-B3E3-D0A39D4A3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524492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EFADC67-92A1-44FB-8691-D8CD71A21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9144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8812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C12E5-D716-30C5-B934-54E7C253B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4B1B-89F9-B197-69BE-95E46F4E4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8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589A5-803C-DE14-0F08-843661E99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program that uses a flag variable to terminate the loop. 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BB94FD-8441-4150-0561-444CE0655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221" y="2796231"/>
            <a:ext cx="1843481" cy="32010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8C0418-FB18-C99E-6303-764187C0F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878" y="3000552"/>
            <a:ext cx="3925406" cy="2731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94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DE30DD-F0B9-9886-0384-724AA5661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72088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E5A29B-EFC3-687C-74D2-65067CBC3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43467"/>
            <a:ext cx="2916395" cy="1800526"/>
          </a:xfrm>
        </p:spPr>
        <p:txBody>
          <a:bodyPr>
            <a:normAutofit/>
          </a:bodyPr>
          <a:lstStyle/>
          <a:p>
            <a:r>
              <a:rPr lang="en-US" dirty="0"/>
              <a:t>Task 9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295D2-CBC4-AB42-3EF8-5DFD47171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086864"/>
            <a:ext cx="3225595" cy="3553581"/>
          </a:xfrm>
        </p:spPr>
        <p:txBody>
          <a:bodyPr>
            <a:noAutofit/>
          </a:bodyPr>
          <a:lstStyle/>
          <a:p>
            <a:r>
              <a:rPr lang="en-US" sz="2800" dirty="0"/>
              <a:t>Write a Python program that uses the `else` block with a `while` loop to display a message after the loop completes.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F9495A-26A3-54A1-3BFA-0B7EB531C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739" y="2078864"/>
            <a:ext cx="3560660" cy="272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9084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B3B2D-CC70-A635-80B7-9DDC3009D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60F4F-826F-BEDA-5699-5DD8AFA88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9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F8A33-1458-0682-CC5F-6716422A2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program that uses the `else` block with a `while` loop to display a message after the loop completes.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712612-0A91-E589-1E29-771EC7059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002" y="3251718"/>
            <a:ext cx="3155887" cy="24184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3F6162-5B04-695C-105B-38A2A2F44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9236" y="3429000"/>
            <a:ext cx="4239217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6139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9D93A-29B6-D137-4DE8-BC8929883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72088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CF045D-58E8-E5ED-FCDF-2C6D508F5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43467"/>
            <a:ext cx="2916395" cy="1800526"/>
          </a:xfrm>
        </p:spPr>
        <p:txBody>
          <a:bodyPr>
            <a:normAutofit/>
          </a:bodyPr>
          <a:lstStyle/>
          <a:p>
            <a:r>
              <a:rPr lang="en-US" dirty="0"/>
              <a:t>Task 10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5E3A8-343B-16E1-2509-679E26B43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308749"/>
            <a:ext cx="2916396" cy="35535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Create a number-guessing game where the user has a limited number of attempts to guess a random number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A7FCB8-415A-16BB-329B-C69344022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739" y="2121794"/>
            <a:ext cx="3560660" cy="264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2268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12CAA-D072-F12C-8F6D-18B36E79C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07531-B084-8FC3-C987-2C3BB0C4A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Task 10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80B9E-8CA5-033F-85BF-C514BFB29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number-guessing game where the user has a limited number of attempts to guess a random number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04A75B-3BF4-0C9D-3F9E-BF87BF3E3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40" y="3272432"/>
            <a:ext cx="3234170" cy="24004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090410-F25E-FD32-721F-EF9F92F02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9436" y="3272432"/>
            <a:ext cx="4734899" cy="28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302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5B533-F238-C2E4-92B0-F6623A2AD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3C7A9-FF06-ADEC-D1E2-6DFFD8D6B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Task: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4E2BF-9BD1-8718-A1F3-4CB01D223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Building a Countdown Timer with Custom Features: </a:t>
            </a:r>
          </a:p>
          <a:p>
            <a:pPr lvl="1"/>
            <a:r>
              <a:rPr lang="en-US" dirty="0"/>
              <a:t>Extend the countdown timer by adding these features: </a:t>
            </a:r>
          </a:p>
          <a:p>
            <a:pPr lvl="2"/>
            <a:r>
              <a:rPr lang="en-US" dirty="0"/>
              <a:t>Allow the user to input the starting number for the countdown. </a:t>
            </a:r>
          </a:p>
          <a:p>
            <a:pPr lvl="2"/>
            <a:r>
              <a:rPr lang="en-US" dirty="0"/>
              <a:t>Allow the user to decide whether to include numbers divisible by 3. </a:t>
            </a:r>
          </a:p>
          <a:p>
            <a:pPr lvl="2"/>
            <a:r>
              <a:rPr lang="en-US" dirty="0"/>
              <a:t>Allow the user to terminate the countdown at any point by pressing a specific key (e.g., 'q’).	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39396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2F4ACF-D655-6267-D707-1DD120475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1ACFFC-231A-AC57-F8C1-522DD3EE5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451381"/>
            <a:ext cx="7884414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5700" dirty="0"/>
              <a:t>Control Flow &amp; Looping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76FF0C-32AD-C73E-1517-86278FCA1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49" y="4983276"/>
            <a:ext cx="7884414" cy="112668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For Loop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4718595"/>
            <a:ext cx="4057650" cy="18288"/>
          </a:xfrm>
          <a:custGeom>
            <a:avLst/>
            <a:gdLst>
              <a:gd name="csX0" fmla="*/ 0 w 4057650"/>
              <a:gd name="csY0" fmla="*/ 0 h 18288"/>
              <a:gd name="csX1" fmla="*/ 757428 w 4057650"/>
              <a:gd name="csY1" fmla="*/ 0 h 18288"/>
              <a:gd name="csX2" fmla="*/ 1474279 w 4057650"/>
              <a:gd name="csY2" fmla="*/ 0 h 18288"/>
              <a:gd name="csX3" fmla="*/ 2191131 w 4057650"/>
              <a:gd name="csY3" fmla="*/ 0 h 18288"/>
              <a:gd name="csX4" fmla="*/ 2745676 w 4057650"/>
              <a:gd name="csY4" fmla="*/ 0 h 18288"/>
              <a:gd name="csX5" fmla="*/ 3340798 w 4057650"/>
              <a:gd name="csY5" fmla="*/ 0 h 18288"/>
              <a:gd name="csX6" fmla="*/ 4057650 w 4057650"/>
              <a:gd name="csY6" fmla="*/ 0 h 18288"/>
              <a:gd name="csX7" fmla="*/ 4057650 w 4057650"/>
              <a:gd name="csY7" fmla="*/ 18288 h 18288"/>
              <a:gd name="csX8" fmla="*/ 3381375 w 4057650"/>
              <a:gd name="csY8" fmla="*/ 18288 h 18288"/>
              <a:gd name="csX9" fmla="*/ 2826830 w 4057650"/>
              <a:gd name="csY9" fmla="*/ 18288 h 18288"/>
              <a:gd name="csX10" fmla="*/ 2272284 w 4057650"/>
              <a:gd name="csY10" fmla="*/ 18288 h 18288"/>
              <a:gd name="csX11" fmla="*/ 1555432 w 4057650"/>
              <a:gd name="csY11" fmla="*/ 18288 h 18288"/>
              <a:gd name="csX12" fmla="*/ 960310 w 4057650"/>
              <a:gd name="csY12" fmla="*/ 18288 h 18288"/>
              <a:gd name="csX13" fmla="*/ 0 w 4057650"/>
              <a:gd name="csY13" fmla="*/ 18288 h 18288"/>
              <a:gd name="csX14" fmla="*/ 0 w 4057650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57650" h="18288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150" y="8855"/>
                  <a:pt x="4057759" y="14521"/>
                  <a:pt x="4057650" y="18288"/>
                </a:cubicBezTo>
                <a:cubicBezTo>
                  <a:pt x="3743404" y="40125"/>
                  <a:pt x="3625516" y="-14923"/>
                  <a:pt x="3381375" y="18288"/>
                </a:cubicBezTo>
                <a:cubicBezTo>
                  <a:pt x="3137235" y="51499"/>
                  <a:pt x="2946571" y="1"/>
                  <a:pt x="2826830" y="18288"/>
                </a:cubicBezTo>
                <a:cubicBezTo>
                  <a:pt x="2707090" y="36575"/>
                  <a:pt x="2402756" y="1432"/>
                  <a:pt x="2272284" y="18288"/>
                </a:cubicBezTo>
                <a:cubicBezTo>
                  <a:pt x="2141812" y="35144"/>
                  <a:pt x="1895935" y="18199"/>
                  <a:pt x="1555432" y="18288"/>
                </a:cubicBezTo>
                <a:cubicBezTo>
                  <a:pt x="1214929" y="18377"/>
                  <a:pt x="1103072" y="14503"/>
                  <a:pt x="960310" y="18288"/>
                </a:cubicBezTo>
                <a:cubicBezTo>
                  <a:pt x="817548" y="22073"/>
                  <a:pt x="402272" y="-29359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057650" h="18288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752" y="7180"/>
                  <a:pt x="4057819" y="13790"/>
                  <a:pt x="4057650" y="18288"/>
                </a:cubicBezTo>
                <a:cubicBezTo>
                  <a:pt x="3865148" y="-3313"/>
                  <a:pt x="3702543" y="49468"/>
                  <a:pt x="3381375" y="18288"/>
                </a:cubicBezTo>
                <a:cubicBezTo>
                  <a:pt x="3060208" y="-12892"/>
                  <a:pt x="2956571" y="-8678"/>
                  <a:pt x="2826830" y="18288"/>
                </a:cubicBezTo>
                <a:cubicBezTo>
                  <a:pt x="2697089" y="45254"/>
                  <a:pt x="2411031" y="43154"/>
                  <a:pt x="2150555" y="18288"/>
                </a:cubicBezTo>
                <a:cubicBezTo>
                  <a:pt x="1890080" y="-6578"/>
                  <a:pt x="1741827" y="-615"/>
                  <a:pt x="1474280" y="18288"/>
                </a:cubicBezTo>
                <a:cubicBezTo>
                  <a:pt x="1206734" y="37191"/>
                  <a:pt x="998203" y="33335"/>
                  <a:pt x="838581" y="18288"/>
                </a:cubicBezTo>
                <a:cubicBezTo>
                  <a:pt x="678959" y="3241"/>
                  <a:pt x="187101" y="-13212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6072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50006-0667-FF16-39EF-4987B155E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B8CB9-5413-6F76-EF21-966CE03A1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Loops in Python</a:t>
            </a:r>
            <a:endParaRPr lang="en-US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711F1A0F-BF4F-B6AF-410C-89E35C3A1DC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383458" y="4230682"/>
            <a:ext cx="8229600" cy="904887"/>
          </a:xfr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4D586D7-CB7D-D5A9-DDA1-DC42B55E3F8D}"/>
              </a:ext>
            </a:extLst>
          </p:cNvPr>
          <p:cNvSpPr txBox="1"/>
          <p:nvPr/>
        </p:nvSpPr>
        <p:spPr>
          <a:xfrm>
            <a:off x="457199" y="2372892"/>
            <a:ext cx="815585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A </a:t>
            </a:r>
            <a:r>
              <a:rPr lang="en-US" sz="32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</a:t>
            </a:r>
            <a:r>
              <a:rPr lang="en-US" sz="3200" dirty="0"/>
              <a:t> loop is used for iterating over a sequence (that is either a list, a tuple, a dictionary, a set, or a string).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355D79-0B07-9CF9-D4B8-BAB5171BEB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Loop</a:t>
            </a:r>
          </a:p>
        </p:txBody>
      </p:sp>
    </p:spTree>
    <p:extLst>
      <p:ext uri="{BB962C8B-B14F-4D97-AF65-F5344CB8AC3E}">
        <p14:creationId xmlns:p14="http://schemas.microsoft.com/office/powerpoint/2010/main" val="697635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98446-1E6D-A53E-2FE4-FFD226612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2BA27-0F0A-6A9D-F9AA-4160F12AC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56162-C41F-A2B2-392B-4E986E437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to print numbers 0 to 4 using while loop.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7997B2-AFBE-E053-60BA-B49E0A267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465" y="2929600"/>
            <a:ext cx="2139541" cy="27230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ABDAE8-6A63-684E-2549-105437043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394" y="3303224"/>
            <a:ext cx="3526595" cy="157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2871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A17DA-F0AD-058A-A3B9-4628F185A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E0E0-1F42-7F94-7418-CBE0A78C6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2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39368-DA25-4294-6548-4CB312901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program that uses a `for` loop to iterate over each character of a string.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7BB09B-AEE2-A01B-F752-E02B5EE03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346" y="2995562"/>
            <a:ext cx="1284398" cy="33131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D06A47-3C31-582F-96A3-C06625D86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713" y="3429000"/>
            <a:ext cx="3264655" cy="1763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1762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8DD5A-7092-0BE1-AA90-668B4F2E6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CC5B8-F0B5-DCF8-8BB1-48D9A4A17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3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0946A-B638-1999-CBC3-02C3BC231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 `range()` function to print every second number between 1 and 20.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DE2865-9FE3-603D-0527-132750639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123" y="2762157"/>
            <a:ext cx="1568432" cy="355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8214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5C856-0ED2-8030-9F6A-0E10C025F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672F-21E6-303A-113B-C6B8A065E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3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0F310-44F2-DFBD-5CCC-F58EF116D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 `range()` function to print every second number between 1 and 20.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3E0FED-2EFC-7A95-B878-D9A3EE0CD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123" y="2762157"/>
            <a:ext cx="1568432" cy="35558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2B3D34-C0C6-1277-D837-0908CE3BB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633" y="3406877"/>
            <a:ext cx="3209267" cy="129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4129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F748B-C86D-314C-3614-802F5074E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01A22-8668-A18B-8ABF-B28A6BD9C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4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6BCC4-DCD4-B8FC-2715-9DE5635AB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list of fruits and use a `for` loop to print each fruit.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6EF051-0AE9-CB46-37E5-370CA64F4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908" y="3096311"/>
            <a:ext cx="2819333" cy="216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2323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1DF02-9CAB-C0ED-565D-980D3ACB2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12076-7A84-F884-1A68-35B2A8D1E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4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B0783-01A5-97E2-BC15-91ABB78F6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list of fruits and use a `for` loop to print each fruit.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27DE0F-EA05-2A42-3B87-1700FA356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908" y="3096311"/>
            <a:ext cx="2819333" cy="21614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3E79AB-8962-1919-4532-AD0B5A678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8132" y="3096311"/>
            <a:ext cx="4728668" cy="161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6630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5A702-55A6-1531-B28D-AD50E1AEE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3E634-4313-E8F8-8072-75AC003E9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5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F3634-6179-B3EC-BEA1-7F0F01480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program that calculates the sum of all numbers in a list using a `for` loop.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99ECEC-92A4-5C35-882C-D7F919CFE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39" y="3428999"/>
            <a:ext cx="3274100" cy="114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5609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1661F-A277-C05F-675C-1734F452C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5CBB9-F7C5-130D-3311-818E36F2B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5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3DDF7-4B08-2109-CCE5-DA1F3FC23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program that calculates the sum of all numbers in a list using a `for` loop.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2778E7-8D81-C9FC-C5BF-270B3FB9D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39" y="3428999"/>
            <a:ext cx="3274100" cy="11474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3EB05F-4925-FC0C-6D2B-801CE3401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374" y="3228691"/>
            <a:ext cx="3572251" cy="2284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3673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AE6C2-CFB4-0C51-B92A-5431F6856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75184-BA12-144E-482F-C8828CE73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Task 6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C3CA0-E482-7155-B812-1F8305872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Use nested `for` loops to print a multiplication table (1 to 5).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CC3D00-810E-9DF9-BE2D-9C1B125B8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42" y="3194734"/>
            <a:ext cx="2451098" cy="218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8610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994C3-2423-EA26-D107-622E4B20C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E4284-5CB4-5BA1-2DA2-2CF737134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Task 6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C9477-F0DB-F44A-9965-51A2E86D3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Use nested `for` loops to print a multiplication table (1 to 5).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9B8E8E-A53E-A06D-B2C6-BC231253A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42" y="3194734"/>
            <a:ext cx="2451098" cy="21835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E0F5F4-2391-1213-BAF0-20662EEEC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256" y="3194733"/>
            <a:ext cx="3576402" cy="171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4480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98B5B-3EE7-C1FE-A11A-E5D085DF7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0001E-1F23-3921-952D-94AC6DF15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7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AFF10-94CF-6C39-0B76-1F7995094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dictionary of employee names and their salaries. Use a `for` loop to print each key value pair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0F4DBD-C824-3A8D-993F-6597EADA3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338" y="3264282"/>
            <a:ext cx="5329378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2582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C1582-4E3D-D1B8-E375-FDD445172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0C0D3-D983-3D28-4F91-9D71F67BB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7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09476-1E5C-B831-65F2-BEC2E54D2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dictionary of employee names and their salaries. Use a `for` loop to print each key value pair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253ADB-AE86-7EB0-03EB-326ED5D83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338" y="3264282"/>
            <a:ext cx="5329378" cy="1476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AF56A2-1FF5-2E20-0896-97192E887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390" y="4832144"/>
            <a:ext cx="6411220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2984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7D787-5030-8D05-FEED-73A30E7CA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6A102-7CEE-5682-1C81-25FB52E9F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8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18BAD-259B-D127-A2A5-3C8A3A644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program that searches for a specific item in a list and breaks the loop when it is found.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E504E3-C237-E7C1-FBB4-C058F3203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809" y="3538553"/>
            <a:ext cx="3134162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9942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39EBD-9A71-D5D1-C079-99ECA4742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EFE80-A061-EB88-E894-543F7B1E1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8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DED13-4D0E-420F-F602-44C79FD7F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program that searches for a specific item in a list and breaks the loop when it is found.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C46762-AAD8-DDA3-25C3-16BA25BDD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809" y="3538553"/>
            <a:ext cx="3134162" cy="11336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F1CA72-C9D6-5042-D683-0DEC15D81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429000"/>
            <a:ext cx="3563510" cy="226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4115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9BF0B-9E80-B9DD-5495-E177706A4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CCE9-9168-96C7-3A26-0B635C869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9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E9431-7C4B-BC39-6085-0781A7A63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program that skips printing the number 3 from a range of 1 to 5.</a:t>
            </a: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A375A3-5360-0E75-B8CA-115598AC9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90" y="3001047"/>
            <a:ext cx="1420078" cy="298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0448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E5A1D-04FE-05BC-5625-28B45AA9D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5AD55-BED0-0916-437F-ED38C09DD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9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E99A7-A568-4942-64FB-FFFDE811E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program that skips printing the number 3 from a range of 1 to 5.</a:t>
            </a: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75CC25-6FEF-705A-B269-16456B2A2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90" y="3001047"/>
            <a:ext cx="1420078" cy="29887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013474E-D619-100B-4B3D-35B003CCF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611" y="3305072"/>
            <a:ext cx="3170615" cy="1885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3271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8D889-A0FC-12FC-CC4B-9A15642B6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1A021-723D-1574-8AD9-824674479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10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7B7D5-D4F9-3919-3BAA-A232511B2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list of numbers and print only the even numbers using a `for` loop and `if` condition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E2BB56-FBD5-E9FC-01C4-CAFE27E8D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90" y="3295983"/>
            <a:ext cx="1567562" cy="2454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4441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E9D35-3055-D8F2-E32F-D6183BE4F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208B2-6BC6-B6CB-97FB-4BEEC429A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10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B26F5-9E8D-7BFC-5201-6E08BF8A6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list of numbers and print only the even numbers using a `for` loop and `if` condition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EC915C-0976-FC0F-CECA-3FB27000C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90" y="3295983"/>
            <a:ext cx="1567562" cy="24541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7084CC-31F9-E08A-9A34-FCE0B90B9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342" y="3639982"/>
            <a:ext cx="4363059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6382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4ADD8-2FE4-6A90-D539-EABAD22F1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52C4E-4227-9F8C-0F08-A4CD965A7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11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4F433-9671-4CB1-0257-F3B5CAFCB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 `enumerate()` function in a `for` loop to print the index and value of each item in a list.</a:t>
            </a:r>
            <a:endParaRPr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26624FB-27F4-D94A-80D5-A1EB362C4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55" y="3429000"/>
            <a:ext cx="3467584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8221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3ACB4-1A20-1865-ECF0-5B11B96C4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605E3-5CC5-6EDD-BD1B-EF939875F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11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C1A2D-EE32-096C-C841-9DAC3E39E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 `enumerate()` function in a `for` loop to print the index and value of each item in a list.</a:t>
            </a:r>
            <a:endParaRPr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775BD84-F487-F103-A560-0629AE7C7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55" y="3429000"/>
            <a:ext cx="3467584" cy="16099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96A6394-E04E-8B2F-6337-B59D77A1D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9417" y="3495684"/>
            <a:ext cx="4572638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9272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E63C4-761E-2D13-690B-674D177DA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0DE77-0C88-3CD6-88E0-0D079A06C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12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7DE0D-F5E3-C258-B01E-5F5FADCD9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a `for` loop to print numbers from 5 down to 1.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F708E8-6FAC-6E45-6D2C-EB1A98E68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40" y="2934538"/>
            <a:ext cx="1414015" cy="2934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5262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EBEBC-0AAE-8C62-0AEE-FDF9D7BBC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CC150-6899-7526-6E01-BBB185E6D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12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528DD-29A9-52F6-EE41-8AC4C4DFD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a `for` loop to print numbers from 5 down to 1.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63978D-34CE-7649-9D1E-E01C145B8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40" y="2934538"/>
            <a:ext cx="1414015" cy="29344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4B6FF4-461E-AB36-3253-6DE8143C0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850" y="3622807"/>
            <a:ext cx="3806265" cy="138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849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A25B8-DB7E-10E8-800F-CD0E4449C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B6827-A4AF-8458-FD25-B482F75C8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13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ACD3B-1AC5-213F-2CBA-25E2B9C2E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 `zip()` function to loop over two lists and print corresponding items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4BA4E8-E6FC-DFF1-5BD0-AA532B8B2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97" y="3203341"/>
            <a:ext cx="3581900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5707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55B72-6A63-8B7E-E38F-69DCD06F8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B3CC8-BC21-3DB8-6846-2C7B0774F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13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5ECA6-611C-431F-3F5E-0B84C8064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 `zip()` function to loop over two lists and print corresponding items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1ADBFF-9B1A-2104-2DFF-E70315AAD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97" y="3203341"/>
            <a:ext cx="3581900" cy="18671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9F3024-58B6-4639-3FC1-0AAE0B093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961" y="3122367"/>
            <a:ext cx="4115374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4624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F3CD5-4970-B6E6-C923-8D33E66EB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DA6DA-18FF-9CDD-F9EC-43485F0F2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14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B6AAF-5645-C67C-9FBF-F0725A336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`for` loop that searches for a number in a list, and prints a message if the number is not found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2FDE05-807A-065D-2022-C7E1B4A11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52" y="3495684"/>
            <a:ext cx="2999181" cy="114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3194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5320A-4CF3-0C7F-E58F-F41D64367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623DC-E270-677D-F5FB-D3CA9A98E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14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49C16-659E-DA9E-E0C4-849EB3984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`for` loop that searches for a number in a list, and prints a message if the number is not found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D32CA3-E7CA-034F-BF86-BDB8A0F5B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52" y="3495684"/>
            <a:ext cx="2999181" cy="11451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7D2296-728E-2C20-EA68-BFD0B2791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1161" y="3200983"/>
            <a:ext cx="3057952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942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1E410-93A1-FFF8-1EC2-E5D78887A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ABD15-57E9-7C97-D8C3-6A57EDE19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15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36578-F2B3-2E04-CB76-4BDE9C74A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list comprehension to create a list of squares of numbers from 1 to 5. 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C905BF-4B67-C8AC-B0A4-274378655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996" y="3383673"/>
            <a:ext cx="2657952" cy="108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1269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13704-33E8-B54E-A29E-451182C35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58A00-749E-170F-7620-18CB0DCD2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15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F390B-3361-C12E-1B29-4F32C4CE1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list comprehension to create a list of squares of numbers from 1 to 5. 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050559-9B87-8D7D-6D42-58989F952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996" y="3383673"/>
            <a:ext cx="2657952" cy="10801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649DA8-940F-99F3-3B8A-BD18A97CE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4920" y="3489369"/>
            <a:ext cx="4565205" cy="97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9225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C9086-0FEF-C7CC-9C38-18363146D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678DF-2F31-4BB7-0A60-7F0B9B3FD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Task: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8E521-F126-451A-1B2C-D0092A76D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Creating a Number Pattern Printer: </a:t>
            </a:r>
          </a:p>
          <a:p>
            <a:pPr lvl="1"/>
            <a:r>
              <a:rPr lang="en-US" dirty="0"/>
              <a:t>Write a Python program that uses `for` loops to print the following pattern: 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9B25BB-2495-F818-2A48-CD79EEE0C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511" y="3527500"/>
            <a:ext cx="1504727" cy="23168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98CF60-7099-96D3-5A6A-9E54AF64A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752" y="3527499"/>
            <a:ext cx="1540614" cy="2316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5081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D9DBC-9487-0520-B64C-41EEA80C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06928-4F07-7FAE-5BF0-B24BA2437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64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D9B25-ED09-63DE-FC7A-7E4F8151C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Lists – Introduction and Basic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0231E-C3EC-C608-31F8-CF6FC4FE0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 Outcomes: </a:t>
            </a:r>
          </a:p>
          <a:p>
            <a:pPr lvl="1"/>
            <a:r>
              <a:rPr lang="en-US" dirty="0"/>
              <a:t>Understand how to use lists in Python. </a:t>
            </a:r>
          </a:p>
          <a:p>
            <a:pPr lvl="1"/>
            <a:r>
              <a:rPr lang="en-US" dirty="0"/>
              <a:t>Learn basic list operations such as adding and removing items. </a:t>
            </a:r>
          </a:p>
          <a:p>
            <a:pPr lvl="1"/>
            <a:r>
              <a:rPr lang="en-US" dirty="0"/>
              <a:t>Apply loops to iterate over lists and perform common tasks</a:t>
            </a:r>
          </a:p>
        </p:txBody>
      </p:sp>
    </p:spTree>
    <p:extLst>
      <p:ext uri="{BB962C8B-B14F-4D97-AF65-F5344CB8AC3E}">
        <p14:creationId xmlns:p14="http://schemas.microsoft.com/office/powerpoint/2010/main" val="37336250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CF379-80AD-67ED-8793-1373CC0D3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0AE72-AB14-6B5A-DF76-6574D6DFD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4AFE8-EBB4-5620-129B-1A46E6C97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list of 5 numbers and print each number using a `for` loop. 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647931-47C3-8498-5874-C4742DDFD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726" y="2941748"/>
            <a:ext cx="2540564" cy="196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5471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6EA8-DD38-FD3F-8A75-F7BE5877B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8B41E-12FC-6A85-DC75-05A0C9205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C0D89-BA76-DAD7-EA8F-12E019E84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list of 5 numbers and print each number using a `for` loop. 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43A317-8130-7431-194B-4C21034B9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865" y="3045455"/>
            <a:ext cx="3623108" cy="16445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D4EFB9-05CD-8133-5C93-DC35FC052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726" y="2941748"/>
            <a:ext cx="2540564" cy="196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8634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9644B-E67E-CBD7-AE9E-8893FB458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AA019-B4B0-E504-157E-8E26A802A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2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A5E14-F7C5-3966-B9EE-0A3DC8618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an empty list and use a loop to append numbers 1 through 5 to the list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C5D1B9-D0EA-9CB0-4D64-A02A4A7D1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424" y="3237544"/>
            <a:ext cx="3398688" cy="83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2538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5EF13-0D81-8B79-7C75-F5311B848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C67D2-B5F5-FB08-3D73-7BB15A3EF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2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040AB-806F-C5FF-917A-813DF7212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an empty list and use a loop to append numbers 1 through 5 to the list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7FF8A3-D87D-0928-5F22-FB5655297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424" y="3237544"/>
            <a:ext cx="3398688" cy="8330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C5329B-F42C-D146-463E-F6793B330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418" y="3212440"/>
            <a:ext cx="2895749" cy="184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7111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5BABD-C50A-D38D-95D9-5AD5E5EE7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26834-11FD-5A8A-9ADB-EA1C8DE57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3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DC079-5F69-C18B-8D43-9DBCB83E8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list of 5 fruits, and then remove 'apple' from the list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FE90C4-0B30-B70E-091D-A404ECB0E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857" y="2965923"/>
            <a:ext cx="6563641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2491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4587B-245C-B529-E64F-97BE25B41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7E835-1B74-BE33-7FA4-D23DC5FC4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3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E44AC-B206-8DAF-CA5D-21040FE59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list of 5 fruits, and then remove 'apple' from the list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10FC37-30A1-675F-2327-097D0B7F7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857" y="2965923"/>
            <a:ext cx="6563641" cy="5525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7F9EB8-B3F5-A66B-32EB-C1B39A752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936" y="3863181"/>
            <a:ext cx="5963482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42952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C911D-8F3F-212B-2368-8B7528914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A60BD-499F-F395-0EBB-ACB0560CD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4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0938F-92C7-1FE5-98DB-D08DE8E6E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list of 5 items and print the first and last items using list indexing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157F1F-C521-6F8F-D95F-F7E908B4A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391" y="2933631"/>
            <a:ext cx="5325218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54073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B4639-C478-A649-8623-7ACDB4B06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4CD4D-32BC-5557-2EB3-3FC6D322E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4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2709C-2529-CE16-7422-784B7A12D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list of 5 items and print the first and last items using list indexing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30237D-4A07-6B9F-58B3-21258F1AE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391" y="2933631"/>
            <a:ext cx="5325218" cy="9907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9D8B58-83BA-4AC9-69B8-7B7847642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996" y="4313206"/>
            <a:ext cx="5430008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03799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371E1-0944-572D-7228-097122B97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0B14E-87B8-FCD6-6F0D-2F31867B4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5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2F94D-4C5E-B137-8CD2-561B1ABE7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program that creates a list of numbers 1 to 10 and prints the first 5 numbers using list slicing.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C3F1B4-18DD-1A80-D1D0-4A5838D0A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825" y="3563101"/>
            <a:ext cx="4267796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55669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8FA9D-CD24-26B3-29C1-9A618E9CC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0394E-63EF-4BAD-19C3-00922A4BD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5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C16A2-0A64-3BAF-0C2E-64C91F233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program that creates a list of numbers 1 to 10 and prints the first 5 numbers using list slicing.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F21053-EC72-B439-9E42-4FF241E6B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825" y="3563101"/>
            <a:ext cx="4267796" cy="600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57E987-963B-EAE0-E29C-C036FA0AE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825" y="4496960"/>
            <a:ext cx="4372585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4605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FBDA3-E7B3-A3E9-12A3-DEEF3DF4C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DA1B5-48B3-D234-C0E8-C7446E851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6	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89D3F-704A-7F00-733D-E52AAA1B3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list of student names and print each name using a `for` loop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256AAB-8721-32D8-9DE8-2EAA0F02E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233" y="2781209"/>
            <a:ext cx="4715533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5689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8B783-DAF0-5A41-CB5F-6D47A3968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0072-552F-11BF-1897-DCA9A5290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6	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0FB1C-BDC6-BAC5-39CD-A2462F672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list of student names and print each name using a `for` loop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61C219-7ACC-B395-C4DF-DA28CC536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233" y="2781209"/>
            <a:ext cx="4715533" cy="1295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6E6D6D-FE3A-F248-1C0E-F7F5C8B41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706" y="4259352"/>
            <a:ext cx="4906060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27136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510E5-37F7-E1FD-E965-CECC67FEA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2B94C-E1EA-76AE-71DC-3CFC24542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7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A89A3-462E-8602-E30C-F88CCA70B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program that checks if 'apple' is in the list of fruits.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1B90DC-A42B-61CD-F783-19DC6E79C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338" y="3071762"/>
            <a:ext cx="5001323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00504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442AC-88F8-5EFC-26BE-B78ED6F40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5E953-B397-2DC8-1E04-F17F8629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7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78B4A-ED9E-8548-C5E1-D782062E8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program that checks if 'apple' is in the list of fruits.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A93C50-3CA1-163B-18A6-DD688C292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338" y="3071762"/>
            <a:ext cx="5001323" cy="714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53F93C-4A5D-A6BD-BDC2-923E89CE8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338" y="4013093"/>
            <a:ext cx="5001323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64987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A63D0-0133-F690-FD2E-4E17BA138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FD698-A7C0-B149-3038-AF919D99B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8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3DEC0-A584-7728-6F41-2711522F6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list of numbers and sort them in ascending order.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4D674D-100B-7D01-6ABC-9EFA7EAEA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954" y="2866946"/>
            <a:ext cx="3477110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5185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C90D6-CF95-578B-0DB6-6286DF0E9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BFD2A-A1D8-FB9D-EB8E-3F26578A3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8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F76C5-86E9-DF64-837A-F36B77FD1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list of numbers and sort them in ascending order.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3820E3-321F-EA54-CE14-E43A55E0E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954" y="2866946"/>
            <a:ext cx="3477110" cy="5620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4B75EF-0727-D7D0-007F-745E80841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313" y="3793320"/>
            <a:ext cx="3753374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74364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A2ADA-6DDB-1526-8D6C-95E49793E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6E194-95B6-466C-FDDE-2B12466F3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9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DA7E6-21D4-1B76-EF6C-26B49DEF4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list of numbers and reverse the order of the list. 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64042E-2C71-C892-FCAC-0907EF578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076" y="2762157"/>
            <a:ext cx="3381847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99129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AC1D1-5604-37A1-5745-A997500A5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8CB1-2E12-2205-ABFF-8715CB28E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9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C6245-1BA8-BC2F-1B68-2D5325D9F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list of numbers and reverse the order of the list. 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EFFE0B-D150-EC39-9674-29D8DA666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076" y="2762157"/>
            <a:ext cx="3381847" cy="6668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D17D11-406D-43F2-8847-BADEA4D46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260" y="3638601"/>
            <a:ext cx="3724795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29155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A7AA2-8148-B120-F445-951C953E7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541C6-BDD2-083D-0E4D-DF91D3F5B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10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16850-E9D4-C707-C695-AA41113DE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list comprehension to create a list of squares of numbers from 1 to 5. 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ACEDF8-D800-75FE-C206-860D74EBD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209" y="3219421"/>
            <a:ext cx="2679712" cy="55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1378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8EBC2-0F0A-A3CF-34CE-F56020802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7F493-485D-F2F2-241B-E391C8DDC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10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96BE6-CB73-708C-5C67-C3CAE45D2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list comprehension to create a list of squares of numbers from 1 to 5. 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0A19F5-FA22-FAF8-1E30-C935C6B6C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209" y="3219421"/>
            <a:ext cx="2019582" cy="4191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6E0544-0906-8B5C-8F8F-C51060B81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602" y="3880387"/>
            <a:ext cx="4086795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21359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325E5-7836-DF11-2600-3A7F45799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6A223-B671-8504-1EAD-5AE555064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11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4E477-706E-5FD4-097A-1DE671FA9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two lists of fruits and concatenate them into one list.. 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8BA8E1-8EA5-574B-7E44-A24CC3C0C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470" y="2837623"/>
            <a:ext cx="4067743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95603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28EE4-BD0A-89B0-1804-133A526E8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DA9A3-195F-E4CC-B32E-D4F9335D1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11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E8A86-E7D6-ADAB-3896-31896EC57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two lists of fruits and concatenate them into one list.. 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E3C5E3-3649-0404-FA93-3AC68F088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470" y="2837623"/>
            <a:ext cx="4067743" cy="8287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2BDD0F-2593-0572-DCC4-E3DDDF09C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182" y="3863181"/>
            <a:ext cx="3305636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94724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F5E65-4555-FEA1-F150-E3CBF44B7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5827E-C49D-A749-3556-0F4AFA3FA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12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9817D-A9FF-A3F6-43AC-7DB8331C9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list of 5 items and print the length of the list.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38379F-8AFD-806E-314F-C284A9EE2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417" y="2768973"/>
            <a:ext cx="5849166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4841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7CDF-D75C-C951-C1CE-712190E4D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DA9C1-BFBA-F87F-39F1-633789AC7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12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3BA58-0160-E5D5-3AC8-1C01F6C1A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list of 5 items and print the length of the list.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2BF392-E65C-769A-114E-7E9FC5BC4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417" y="2768973"/>
            <a:ext cx="5849166" cy="5334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66B42B-E7EE-2495-D983-60A59F986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706" y="3584037"/>
            <a:ext cx="6182588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62480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92340-8BA2-D38E-F504-117527E8D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C3BC-2448-A61B-11B9-3E46EC894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13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20720-9FE3-B47A-AA15-347F6E099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list of numbers and use `max()` and `min()` functions to find the largest and smallest number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BC2459-ADCF-5726-28A6-A2512B9B1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356" y="3485535"/>
            <a:ext cx="2553056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86178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83B57-B756-F37B-DC1B-C95559890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8DF43-120D-8DCF-BC1A-8A87280DA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13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E4661-1175-1577-2F7D-5C90B9C48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list of numbers and use `max()` and `min()` functions to find the largest and smallest number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BBA0F5-C939-329E-72AD-C0FC06C40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356" y="3485535"/>
            <a:ext cx="2553056" cy="7716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C5B38F-F024-E097-F434-6C22976FC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5918" y="3175929"/>
            <a:ext cx="4477375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64523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E9C68-7CBB-EB80-C448-8782E9262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2FA6D-C49E-B25C-5452-9DBA57BEB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14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BE479-FBD8-9022-1638-75393B35A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list with repeated items and count how many times a specific item appears in the list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705212-DA84-3EB1-D70E-FA0F40D78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418" y="3086052"/>
            <a:ext cx="4401164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29486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32F40-CAE2-16DD-90CC-48356F580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6D213-6A54-D5B2-9F68-C6B66AFB2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14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0F36E-9257-5885-F74A-541116550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list with repeated items and count how many times a specific item appears in the list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2370BE-B57B-080D-26A7-320853E28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418" y="3086052"/>
            <a:ext cx="4401164" cy="685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B4EF5B-E7A3-2B7F-DD04-93A84C3D1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805" y="4053580"/>
            <a:ext cx="7125694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06307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CC888-2471-F408-9ED7-D718EFDF6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4748E-485B-20AE-434A-A51586826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15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955A3-5B31-5F3E-E0FF-76F889C45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nested list (a list of lists) and use a loop to print each </a:t>
            </a:r>
            <a:r>
              <a:rPr lang="en-US" dirty="0" err="1"/>
              <a:t>sublist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6B697F-FB38-D542-E92D-1106329CC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181" y="2900288"/>
            <a:ext cx="4029637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36092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21356-DFFC-4A98-5D8C-F91ABF456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67E4B-FB84-2542-F33F-8A5111D9A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15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AF82D-1038-47B4-F366-FB1C09B94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nested list (a list of lists) and use a loop to print each </a:t>
            </a:r>
            <a:r>
              <a:rPr lang="en-US" dirty="0" err="1"/>
              <a:t>sublist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7153B9-E50A-8222-7AF6-19AB381AD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181" y="2900288"/>
            <a:ext cx="4029637" cy="1057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9ED3DC-26A5-27AA-A1C4-6A227DEF7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181" y="4140273"/>
            <a:ext cx="4058216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14098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4D9CB-DF46-5D05-B0AD-9632390D1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B02A9-1DAC-4CAC-2268-AEAE56CD6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To-Do List Program with Multiple Tasks</a:t>
            </a:r>
          </a:p>
          <a:p>
            <a:r>
              <a:rPr lang="en-US" dirty="0"/>
              <a:t>Write a Python program that allows the user to create a to-do list with multiple tasks. The program should allow the user to: </a:t>
            </a:r>
          </a:p>
          <a:p>
            <a:pPr lvl="1"/>
            <a:r>
              <a:rPr lang="en-US" dirty="0"/>
              <a:t>Add tasks to the list. </a:t>
            </a:r>
          </a:p>
          <a:p>
            <a:pPr lvl="1"/>
            <a:r>
              <a:rPr lang="en-US" dirty="0"/>
              <a:t>View all tasks. </a:t>
            </a:r>
          </a:p>
          <a:p>
            <a:pPr lvl="1"/>
            <a:r>
              <a:rPr lang="en-US" dirty="0"/>
              <a:t>Mark tasks as completed. </a:t>
            </a:r>
          </a:p>
          <a:p>
            <a:pPr lvl="1"/>
            <a:r>
              <a:rPr lang="en-US" dirty="0"/>
              <a:t>Remove completed tasks from the list. </a:t>
            </a:r>
          </a:p>
        </p:txBody>
      </p:sp>
    </p:spTree>
    <p:extLst>
      <p:ext uri="{BB962C8B-B14F-4D97-AF65-F5344CB8AC3E}">
        <p14:creationId xmlns:p14="http://schemas.microsoft.com/office/powerpoint/2010/main" val="256955173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9E046-D50F-0EAE-0ACD-29839DDA0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2348B-8DF2-48D8-BAAE-1B4614FD5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Mega Task 1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EA574-EE67-C40E-BFF0-B42A98650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Building a Multi-List To-Do Application</a:t>
            </a:r>
          </a:p>
          <a:p>
            <a:r>
              <a:rPr lang="en-US" dirty="0"/>
              <a:t>Write a Python program that allows the user to create multiple to-do lists (e.g., work tasks, personal tasks) and manage tasks for each list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138833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C32E3-2B98-484B-0935-27750F51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35B5E-AFE6-FA08-F83E-AD68BC2CC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Mega Task 2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F0BF3-3FB9-62C7-95F6-DB59B9AE1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Prime Number Checker with Range </a:t>
            </a:r>
          </a:p>
          <a:p>
            <a:r>
              <a:rPr lang="en-US" dirty="0"/>
              <a:t>Write a Python program that allows the user to input a range of numbers and checks which numbers are prime within that range.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0060415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50CF0-C141-2D9F-A1C4-A84417857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58D3F-D358-F008-6E79-19FBB5219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Mega Task 3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D21F4-E5B7-581E-DDF1-8FE496DF0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Multi-Dimensional List Operations </a:t>
            </a:r>
          </a:p>
          <a:p>
            <a:r>
              <a:rPr lang="en-US" dirty="0"/>
              <a:t>Write a Python program that creates a 2D list (a list of lists) and performs the following operations: </a:t>
            </a:r>
          </a:p>
          <a:p>
            <a:pPr lvl="1"/>
            <a:r>
              <a:rPr lang="en-US" dirty="0"/>
              <a:t>Print the 2D list. </a:t>
            </a:r>
          </a:p>
          <a:p>
            <a:pPr lvl="1"/>
            <a:r>
              <a:rPr lang="en-US" dirty="0"/>
              <a:t>Find the sum of elements in each row. </a:t>
            </a:r>
          </a:p>
          <a:p>
            <a:pPr lvl="1"/>
            <a:r>
              <a:rPr lang="en-US" dirty="0"/>
              <a:t>Find the sum of elements in each column.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8810469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BC1F0-94EB-1BF3-D6D0-75335BA5C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81E05-862D-C309-ECAF-41611CF90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Mega Task 4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44DCB-3D53-0BE7-9C4C-C6C2DD78C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Enhanced Guessing Game with Score System</a:t>
            </a:r>
          </a:p>
          <a:p>
            <a:r>
              <a:rPr lang="en-US" dirty="0"/>
              <a:t>Extend the number-guessing game by adding a score system that tracks how many tries the player needed and calculates a score based on their performance.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607198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ED239-5F6E-EA5D-95B4-CEBDA5183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7D795-B117-9F56-542C-E0CB67184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Mega Task 5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2BDD3-4482-1C20-5205-DA6DE29F1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Continue building the to-do list project by adding the following features: </a:t>
            </a:r>
          </a:p>
          <a:p>
            <a:pPr lvl="1"/>
            <a:r>
              <a:rPr lang="en-US" dirty="0"/>
              <a:t>Allow the user to mark tasks as completed and view only completed or pending tasks. </a:t>
            </a:r>
          </a:p>
          <a:p>
            <a:pPr lvl="1"/>
            <a:r>
              <a:rPr lang="en-US" dirty="0"/>
              <a:t>Add a feature to delete a to-do list entirely.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454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609</TotalTime>
  <Words>2093</Words>
  <Application>Microsoft Office PowerPoint</Application>
  <PresentationFormat>On-screen Show (4:3)</PresentationFormat>
  <Paragraphs>231</Paragraphs>
  <Slides>93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93</vt:i4>
      </vt:variant>
    </vt:vector>
  </HeadingPairs>
  <TitlesOfParts>
    <vt:vector size="98" baseType="lpstr">
      <vt:lpstr>Aptos</vt:lpstr>
      <vt:lpstr>Arial</vt:lpstr>
      <vt:lpstr>Calibri</vt:lpstr>
      <vt:lpstr>Helvetica Neue Medium</vt:lpstr>
      <vt:lpstr>Office Theme</vt:lpstr>
      <vt:lpstr>Control Flow &amp; Looping</vt:lpstr>
      <vt:lpstr>Learning Outcomes</vt:lpstr>
      <vt:lpstr>What is a Loop?</vt:lpstr>
      <vt:lpstr>Types of Loops in Python</vt:lpstr>
      <vt:lpstr>Task 1</vt:lpstr>
      <vt:lpstr>Task 2</vt:lpstr>
      <vt:lpstr>Task 2</vt:lpstr>
      <vt:lpstr>Task 3</vt:lpstr>
      <vt:lpstr>Task 3</vt:lpstr>
      <vt:lpstr>Task 4</vt:lpstr>
      <vt:lpstr>Task 4</vt:lpstr>
      <vt:lpstr>Task 5</vt:lpstr>
      <vt:lpstr>Task 5</vt:lpstr>
      <vt:lpstr>Task 6</vt:lpstr>
      <vt:lpstr>Task 6</vt:lpstr>
      <vt:lpstr>Task 7</vt:lpstr>
      <vt:lpstr>Task 7</vt:lpstr>
      <vt:lpstr>Task 8</vt:lpstr>
      <vt:lpstr>Task 8</vt:lpstr>
      <vt:lpstr>Task 9</vt:lpstr>
      <vt:lpstr>Task 9</vt:lpstr>
      <vt:lpstr>Task 10</vt:lpstr>
      <vt:lpstr>Task 10</vt:lpstr>
      <vt:lpstr>Assignment Task:</vt:lpstr>
      <vt:lpstr>Control Flow &amp; Looping</vt:lpstr>
      <vt:lpstr>Types of Loops in Python</vt:lpstr>
      <vt:lpstr>Task 1</vt:lpstr>
      <vt:lpstr>Task 2</vt:lpstr>
      <vt:lpstr>Task 3</vt:lpstr>
      <vt:lpstr>Task 3</vt:lpstr>
      <vt:lpstr>Task 4</vt:lpstr>
      <vt:lpstr>Task 4</vt:lpstr>
      <vt:lpstr>Task 5</vt:lpstr>
      <vt:lpstr>Task 5</vt:lpstr>
      <vt:lpstr>Task 6</vt:lpstr>
      <vt:lpstr>Task 6</vt:lpstr>
      <vt:lpstr>Task 7</vt:lpstr>
      <vt:lpstr>Task 7</vt:lpstr>
      <vt:lpstr>Task 8</vt:lpstr>
      <vt:lpstr>Task 8</vt:lpstr>
      <vt:lpstr>Task 9</vt:lpstr>
      <vt:lpstr>Task 9</vt:lpstr>
      <vt:lpstr>Task 10</vt:lpstr>
      <vt:lpstr>Task 10</vt:lpstr>
      <vt:lpstr>Task 11</vt:lpstr>
      <vt:lpstr>Task 11</vt:lpstr>
      <vt:lpstr>Task 12</vt:lpstr>
      <vt:lpstr>Task 12</vt:lpstr>
      <vt:lpstr>Task 13</vt:lpstr>
      <vt:lpstr>Task 13</vt:lpstr>
      <vt:lpstr>Task 14</vt:lpstr>
      <vt:lpstr>Task 14</vt:lpstr>
      <vt:lpstr>Task 15</vt:lpstr>
      <vt:lpstr>Task 15</vt:lpstr>
      <vt:lpstr>Assignment Task:</vt:lpstr>
      <vt:lpstr>Lecture 3</vt:lpstr>
      <vt:lpstr>Lists – Introduction and Basic Operations</vt:lpstr>
      <vt:lpstr>Task 1</vt:lpstr>
      <vt:lpstr>Task 1</vt:lpstr>
      <vt:lpstr>Task 2</vt:lpstr>
      <vt:lpstr>Task 2</vt:lpstr>
      <vt:lpstr>Task 3</vt:lpstr>
      <vt:lpstr>Task 3</vt:lpstr>
      <vt:lpstr>Task 4</vt:lpstr>
      <vt:lpstr>Task 4</vt:lpstr>
      <vt:lpstr>Task 5</vt:lpstr>
      <vt:lpstr>Task 5</vt:lpstr>
      <vt:lpstr>Task 6 </vt:lpstr>
      <vt:lpstr>Task 6 </vt:lpstr>
      <vt:lpstr>Task 7</vt:lpstr>
      <vt:lpstr>Task 7</vt:lpstr>
      <vt:lpstr>Task 8</vt:lpstr>
      <vt:lpstr>Task 8</vt:lpstr>
      <vt:lpstr>Task 9</vt:lpstr>
      <vt:lpstr>Task 9</vt:lpstr>
      <vt:lpstr>Task 10</vt:lpstr>
      <vt:lpstr>Task 10</vt:lpstr>
      <vt:lpstr>Task 11</vt:lpstr>
      <vt:lpstr>Task 11</vt:lpstr>
      <vt:lpstr>Task 12</vt:lpstr>
      <vt:lpstr>Task 12</vt:lpstr>
      <vt:lpstr>Task 13</vt:lpstr>
      <vt:lpstr>Task 13</vt:lpstr>
      <vt:lpstr>Task 14</vt:lpstr>
      <vt:lpstr>Task 14</vt:lpstr>
      <vt:lpstr>Task 15</vt:lpstr>
      <vt:lpstr>Task 15</vt:lpstr>
      <vt:lpstr>Assignment Task</vt:lpstr>
      <vt:lpstr>Mega Task 1</vt:lpstr>
      <vt:lpstr>Mega Task 2</vt:lpstr>
      <vt:lpstr>Mega Task 3</vt:lpstr>
      <vt:lpstr>Mega Task 4</vt:lpstr>
      <vt:lpstr>Mega Task 5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Barkha Teekam</cp:lastModifiedBy>
  <cp:revision>8</cp:revision>
  <dcterms:created xsi:type="dcterms:W3CDTF">2013-01-27T09:14:16Z</dcterms:created>
  <dcterms:modified xsi:type="dcterms:W3CDTF">2026-06-04T07:28:00Z</dcterms:modified>
  <cp:category/>
</cp:coreProperties>
</file>