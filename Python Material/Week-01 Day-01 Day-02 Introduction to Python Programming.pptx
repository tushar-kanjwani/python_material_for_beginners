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3"/>
  </p:notesMasterIdLst>
  <p:sldIdLst>
    <p:sldId id="322" r:id="rId2"/>
    <p:sldId id="315" r:id="rId3"/>
    <p:sldId id="316" r:id="rId4"/>
    <p:sldId id="317" r:id="rId5"/>
    <p:sldId id="328" r:id="rId6"/>
    <p:sldId id="318" r:id="rId7"/>
    <p:sldId id="323" r:id="rId8"/>
    <p:sldId id="324" r:id="rId9"/>
    <p:sldId id="325" r:id="rId10"/>
    <p:sldId id="326" r:id="rId11"/>
    <p:sldId id="327" r:id="rId12"/>
    <p:sldId id="319" r:id="rId13"/>
    <p:sldId id="320" r:id="rId14"/>
    <p:sldId id="329" r:id="rId15"/>
    <p:sldId id="269" r:id="rId16"/>
    <p:sldId id="360" r:id="rId17"/>
    <p:sldId id="270" r:id="rId18"/>
    <p:sldId id="33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331" r:id="rId40"/>
    <p:sldId id="333" r:id="rId41"/>
    <p:sldId id="334" r:id="rId42"/>
    <p:sldId id="335" r:id="rId43"/>
    <p:sldId id="336" r:id="rId44"/>
    <p:sldId id="376" r:id="rId45"/>
    <p:sldId id="337" r:id="rId46"/>
    <p:sldId id="338" r:id="rId47"/>
    <p:sldId id="339" r:id="rId48"/>
    <p:sldId id="332" r:id="rId49"/>
    <p:sldId id="340" r:id="rId50"/>
    <p:sldId id="341" r:id="rId51"/>
    <p:sldId id="377" r:id="rId52"/>
    <p:sldId id="344" r:id="rId53"/>
    <p:sldId id="343" r:id="rId54"/>
    <p:sldId id="347" r:id="rId55"/>
    <p:sldId id="345" r:id="rId56"/>
    <p:sldId id="346" r:id="rId57"/>
    <p:sldId id="348" r:id="rId58"/>
    <p:sldId id="349" r:id="rId59"/>
    <p:sldId id="350" r:id="rId60"/>
    <p:sldId id="351" r:id="rId61"/>
    <p:sldId id="352" r:id="rId62"/>
    <p:sldId id="294" r:id="rId63"/>
    <p:sldId id="295" r:id="rId64"/>
    <p:sldId id="296" r:id="rId65"/>
    <p:sldId id="297" r:id="rId66"/>
    <p:sldId id="375" r:id="rId67"/>
    <p:sldId id="354" r:id="rId68"/>
    <p:sldId id="369" r:id="rId69"/>
    <p:sldId id="356" r:id="rId70"/>
    <p:sldId id="370" r:id="rId71"/>
    <p:sldId id="357" r:id="rId72"/>
    <p:sldId id="371" r:id="rId73"/>
    <p:sldId id="358" r:id="rId74"/>
    <p:sldId id="372" r:id="rId75"/>
    <p:sldId id="355" r:id="rId76"/>
    <p:sldId id="373" r:id="rId77"/>
    <p:sldId id="359" r:id="rId78"/>
    <p:sldId id="361" r:id="rId79"/>
    <p:sldId id="362" r:id="rId80"/>
    <p:sldId id="378" r:id="rId81"/>
    <p:sldId id="379" r:id="rId82"/>
    <p:sldId id="382" r:id="rId83"/>
    <p:sldId id="383" r:id="rId84"/>
    <p:sldId id="363" r:id="rId85"/>
    <p:sldId id="365" r:id="rId86"/>
    <p:sldId id="364" r:id="rId87"/>
    <p:sldId id="366" r:id="rId88"/>
    <p:sldId id="367" r:id="rId89"/>
    <p:sldId id="380" r:id="rId90"/>
    <p:sldId id="384" r:id="rId91"/>
    <p:sldId id="374" r:id="rId92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56" d="100"/>
          <a:sy n="56" d="100"/>
        </p:scale>
        <p:origin x="-1016" y="-2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8FEB72-F1DF-4A05-B0F3-0C484F814256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7F53F-71B8-482D-BA6E-CF14069EB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2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57F53F-71B8-482D-BA6E-CF14069EBC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68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18CD75-BC0A-4140-8880-2B77CBB74A69}" type="slidenum">
              <a:rPr lang="en-US" smtClean="0">
                <a:solidFill>
                  <a:prstClr val="black"/>
                </a:solidFill>
              </a:rPr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733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5F7536E-FE3A-4D9F-A514-0B430387F6F1}" type="slidenum">
              <a:rPr lang="en-US" altLang="en-US">
                <a:solidFill>
                  <a:prstClr val="black"/>
                </a:solidFill>
              </a:rPr>
              <a:t>3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2234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1pPr>
            <a:lvl2pPr marL="742950" indent="-28575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2pPr>
            <a:lvl3pPr marL="11430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3pPr>
            <a:lvl4pPr marL="16002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4pPr>
            <a:lvl5pPr marL="20574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9pPr>
          </a:lstStyle>
          <a:p>
            <a:pPr eaLnBrk="1" hangingPunct="1"/>
            <a:fld id="{14DFCB42-35A8-49C2-9102-0DD0C6E21DCB}" type="slidenum">
              <a:rPr lang="en-US" altLang="ko-KR" sz="1000">
                <a:solidFill>
                  <a:prstClr val="black"/>
                </a:solidFill>
                <a:ea typeface="돋움" pitchFamily="50" charset="-127"/>
              </a:rPr>
              <a:t>6</a:t>
            </a:fld>
            <a:endParaRPr lang="en-US" altLang="ko-KR" sz="1000">
              <a:solidFill>
                <a:prstClr val="black"/>
              </a:solidFill>
              <a:ea typeface="돋움" pitchFamily="50" charset="-127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31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1pPr>
            <a:lvl2pPr marL="742950" indent="-28575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2pPr>
            <a:lvl3pPr marL="11430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3pPr>
            <a:lvl4pPr marL="16002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4pPr>
            <a:lvl5pPr marL="20574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9pPr>
          </a:lstStyle>
          <a:p>
            <a:pPr eaLnBrk="1" hangingPunct="1"/>
            <a:fld id="{14DFCB42-35A8-49C2-9102-0DD0C6E21DCB}" type="slidenum">
              <a:rPr lang="en-US" altLang="ko-KR" sz="1000">
                <a:solidFill>
                  <a:prstClr val="black"/>
                </a:solidFill>
                <a:ea typeface="돋움" pitchFamily="50" charset="-127"/>
              </a:rPr>
              <a:t>7</a:t>
            </a:fld>
            <a:endParaRPr lang="en-US" altLang="ko-KR" sz="1000">
              <a:solidFill>
                <a:prstClr val="black"/>
              </a:solidFill>
              <a:ea typeface="돋움" pitchFamily="50" charset="-127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016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1pPr>
            <a:lvl2pPr marL="742950" indent="-28575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2pPr>
            <a:lvl3pPr marL="11430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3pPr>
            <a:lvl4pPr marL="16002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4pPr>
            <a:lvl5pPr marL="20574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9pPr>
          </a:lstStyle>
          <a:p>
            <a:pPr eaLnBrk="1" hangingPunct="1"/>
            <a:fld id="{14DFCB42-35A8-49C2-9102-0DD0C6E21DCB}" type="slidenum">
              <a:rPr lang="en-US" altLang="ko-KR" sz="1000">
                <a:solidFill>
                  <a:prstClr val="black"/>
                </a:solidFill>
                <a:ea typeface="돋움" pitchFamily="50" charset="-127"/>
              </a:rPr>
              <a:t>8</a:t>
            </a:fld>
            <a:endParaRPr lang="en-US" altLang="ko-KR" sz="1000">
              <a:solidFill>
                <a:prstClr val="black"/>
              </a:solidFill>
              <a:ea typeface="돋움" pitchFamily="50" charset="-127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235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1pPr>
            <a:lvl2pPr marL="742950" indent="-28575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2pPr>
            <a:lvl3pPr marL="11430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3pPr>
            <a:lvl4pPr marL="16002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4pPr>
            <a:lvl5pPr marL="20574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9pPr>
          </a:lstStyle>
          <a:p>
            <a:pPr eaLnBrk="1" hangingPunct="1"/>
            <a:fld id="{14DFCB42-35A8-49C2-9102-0DD0C6E21DCB}" type="slidenum">
              <a:rPr lang="en-US" altLang="ko-KR" sz="1000">
                <a:solidFill>
                  <a:prstClr val="black"/>
                </a:solidFill>
                <a:ea typeface="돋움" pitchFamily="50" charset="-127"/>
              </a:rPr>
              <a:t>9</a:t>
            </a:fld>
            <a:endParaRPr lang="en-US" altLang="ko-KR" sz="1000">
              <a:solidFill>
                <a:prstClr val="black"/>
              </a:solidFill>
              <a:ea typeface="돋움" pitchFamily="50" charset="-127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725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1pPr>
            <a:lvl2pPr marL="742950" indent="-28575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2pPr>
            <a:lvl3pPr marL="11430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3pPr>
            <a:lvl4pPr marL="16002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4pPr>
            <a:lvl5pPr marL="20574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9pPr>
          </a:lstStyle>
          <a:p>
            <a:pPr eaLnBrk="1" hangingPunct="1"/>
            <a:fld id="{14DFCB42-35A8-49C2-9102-0DD0C6E21DCB}" type="slidenum">
              <a:rPr lang="en-US" altLang="ko-KR" sz="1000">
                <a:solidFill>
                  <a:prstClr val="black"/>
                </a:solidFill>
                <a:ea typeface="돋움" pitchFamily="50" charset="-127"/>
              </a:rPr>
              <a:t>10</a:t>
            </a:fld>
            <a:endParaRPr lang="en-US" altLang="ko-KR" sz="1000">
              <a:solidFill>
                <a:prstClr val="black"/>
              </a:solidFill>
              <a:ea typeface="돋움" pitchFamily="50" charset="-127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9961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3087C-8109-4969-85FC-82D60FC5D0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34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9048" y="913841"/>
            <a:ext cx="10153903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04040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291" y="1737359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901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7817" y="1664751"/>
            <a:ext cx="8528685" cy="1590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404040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python.com/python-keywords/#the-break-keyword" TargetMode="External"/><Relationship Id="rId13" Type="http://schemas.openxmlformats.org/officeDocument/2006/relationships/hyperlink" Target="https://realpython.com/python-keywords/#the-finally-keyword" TargetMode="External"/><Relationship Id="rId18" Type="http://schemas.openxmlformats.org/officeDocument/2006/relationships/hyperlink" Target="https://realpython.com/python-keywords/#the-for-keyword" TargetMode="External"/><Relationship Id="rId26" Type="http://schemas.openxmlformats.org/officeDocument/2006/relationships/hyperlink" Target="https://realpython.com/python-keywords/#the-assert-keyword" TargetMode="External"/><Relationship Id="rId3" Type="http://schemas.openxmlformats.org/officeDocument/2006/relationships/hyperlink" Target="https://realpython.com/python-keywords/#the-await-keyword" TargetMode="External"/><Relationship Id="rId21" Type="http://schemas.openxmlformats.org/officeDocument/2006/relationships/hyperlink" Target="https://realpython.com/python-keywords/#the-as-keyword" TargetMode="External"/><Relationship Id="rId34" Type="http://schemas.openxmlformats.org/officeDocument/2006/relationships/hyperlink" Target="https://realpython.com/python-keywords/#the-or-keyword" TargetMode="External"/><Relationship Id="rId7" Type="http://schemas.openxmlformats.org/officeDocument/2006/relationships/hyperlink" Target="https://realpython.com/python-keywords/#the-none-keyword" TargetMode="External"/><Relationship Id="rId12" Type="http://schemas.openxmlformats.org/officeDocument/2006/relationships/hyperlink" Target="https://realpython.com/python-keywords/#the-class-keyword" TargetMode="External"/><Relationship Id="rId17" Type="http://schemas.openxmlformats.org/officeDocument/2006/relationships/hyperlink" Target="https://realpython.com/python-keywords/#the-continue-keyword" TargetMode="External"/><Relationship Id="rId25" Type="http://schemas.openxmlformats.org/officeDocument/2006/relationships/hyperlink" Target="https://realpython.com/python-keywords/#the-while-keyword" TargetMode="External"/><Relationship Id="rId33" Type="http://schemas.openxmlformats.org/officeDocument/2006/relationships/hyperlink" Target="https://realpython.com/python-keywords/#the-if-keyword" TargetMode="External"/><Relationship Id="rId2" Type="http://schemas.openxmlformats.org/officeDocument/2006/relationships/hyperlink" Target="https://realpython.com/python-keywords/#the-true-and-false-keywords" TargetMode="External"/><Relationship Id="rId16" Type="http://schemas.openxmlformats.org/officeDocument/2006/relationships/hyperlink" Target="https://realpython.com/python-keywords/#the-and-keyword" TargetMode="External"/><Relationship Id="rId20" Type="http://schemas.openxmlformats.org/officeDocument/2006/relationships/hyperlink" Target="https://realpython.com/python-keywords/#the-try-keyword" TargetMode="External"/><Relationship Id="rId29" Type="http://schemas.openxmlformats.org/officeDocument/2006/relationships/hyperlink" Target="https://realpython.com/python-keywords/#the-not-keywor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lpython.com/python-keywords/#the-pass-keyword" TargetMode="External"/><Relationship Id="rId11" Type="http://schemas.openxmlformats.org/officeDocument/2006/relationships/hyperlink" Target="https://realpython.com/python-keywords/#the-raise-keyword" TargetMode="External"/><Relationship Id="rId24" Type="http://schemas.openxmlformats.org/officeDocument/2006/relationships/hyperlink" Target="https://realpython.com/python-keywords/#the-nonlocal-keyword" TargetMode="External"/><Relationship Id="rId32" Type="http://schemas.openxmlformats.org/officeDocument/2006/relationships/hyperlink" Target="https://realpython.com/python-keywords/#the-elif-keyword" TargetMode="External"/><Relationship Id="rId5" Type="http://schemas.openxmlformats.org/officeDocument/2006/relationships/hyperlink" Target="https://realpython.com/python-keywords/#the-import-keyword" TargetMode="External"/><Relationship Id="rId15" Type="http://schemas.openxmlformats.org/officeDocument/2006/relationships/hyperlink" Target="https://realpython.com/python-keywords/#the-return-keyword" TargetMode="External"/><Relationship Id="rId23" Type="http://schemas.openxmlformats.org/officeDocument/2006/relationships/hyperlink" Target="https://realpython.com/python-keywords/#the-from-keyword" TargetMode="External"/><Relationship Id="rId28" Type="http://schemas.openxmlformats.org/officeDocument/2006/relationships/hyperlink" Target="https://realpython.com/python-keywords/#the-global-keyword" TargetMode="External"/><Relationship Id="rId10" Type="http://schemas.openxmlformats.org/officeDocument/2006/relationships/hyperlink" Target="https://realpython.com/python-keywords/#the-in-keyword" TargetMode="External"/><Relationship Id="rId19" Type="http://schemas.openxmlformats.org/officeDocument/2006/relationships/hyperlink" Target="https://realpython.com/python-keywords/#the-lambda-keyword" TargetMode="External"/><Relationship Id="rId31" Type="http://schemas.openxmlformats.org/officeDocument/2006/relationships/hyperlink" Target="https://realpython.com/python-keywords/#the-async-keyword" TargetMode="External"/><Relationship Id="rId4" Type="http://schemas.openxmlformats.org/officeDocument/2006/relationships/hyperlink" Target="https://realpython.com/python-keywords/#the-else-keyword" TargetMode="External"/><Relationship Id="rId9" Type="http://schemas.openxmlformats.org/officeDocument/2006/relationships/hyperlink" Target="https://realpython.com/python-keywords/#the-except-keyword" TargetMode="External"/><Relationship Id="rId14" Type="http://schemas.openxmlformats.org/officeDocument/2006/relationships/hyperlink" Target="https://realpython.com/python-keywords/#the-is-keyword" TargetMode="External"/><Relationship Id="rId22" Type="http://schemas.openxmlformats.org/officeDocument/2006/relationships/hyperlink" Target="https://realpython.com/python-keywords/#the-def-keyword" TargetMode="External"/><Relationship Id="rId27" Type="http://schemas.openxmlformats.org/officeDocument/2006/relationships/hyperlink" Target="https://realpython.com/python-keywords/#the-del-keyword" TargetMode="External"/><Relationship Id="rId30" Type="http://schemas.openxmlformats.org/officeDocument/2006/relationships/hyperlink" Target="https://realpython.com/python-keywords/#the-with-keyword" TargetMode="External"/><Relationship Id="rId35" Type="http://schemas.openxmlformats.org/officeDocument/2006/relationships/hyperlink" Target="https://realpython.com/python-keywords/#the-yield-keyword" TargetMode="Externa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1828800"/>
            <a:ext cx="9144000" cy="1159088"/>
          </a:xfrm>
        </p:spPr>
        <p:txBody>
          <a:bodyPr>
            <a:noAutofit/>
          </a:bodyPr>
          <a:lstStyle/>
          <a:p>
            <a:pPr algn="ctr"/>
            <a:r>
              <a:rPr lang="en-US" sz="6600" u="none" dirty="0" smtClean="0"/>
              <a:t>Python Course</a:t>
            </a:r>
            <a:br>
              <a:rPr lang="en-US" sz="6600" u="none" dirty="0" smtClean="0"/>
            </a:br>
            <a:r>
              <a:rPr lang="en-US" sz="6600" u="none" dirty="0" smtClean="0"/>
              <a:t>Phase-02</a:t>
            </a:r>
            <a:endParaRPr lang="en-US" sz="6600" u="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492155" y="4161596"/>
            <a:ext cx="9144000" cy="86078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sz="4000" dirty="0" smtClean="0"/>
              <a:t>By: Engr. Asif Ali</a:t>
            </a:r>
          </a:p>
          <a:p>
            <a:pPr algn="ctr"/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" y="0"/>
            <a:ext cx="1516176" cy="12725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6155" y="0"/>
            <a:ext cx="1555845" cy="11464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0" y="191742"/>
            <a:ext cx="8807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Peoples’ Information Technology Program (PITP)</a:t>
            </a:r>
          </a:p>
          <a:p>
            <a:pPr algn="ctr"/>
            <a:r>
              <a:rPr lang="en-US" sz="2400" b="1" dirty="0" smtClean="0"/>
              <a:t>An Initiative by Information Science &amp; Technology Department,</a:t>
            </a:r>
          </a:p>
          <a:p>
            <a:pPr algn="ctr"/>
            <a:r>
              <a:rPr lang="en-US" sz="2400" b="1" dirty="0" smtClean="0"/>
              <a:t>Government of Sindh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82388" y="265578"/>
            <a:ext cx="9857806" cy="801222"/>
          </a:xfrm>
        </p:spPr>
        <p:txBody>
          <a:bodyPr/>
          <a:lstStyle/>
          <a:p>
            <a:pPr algn="ctr"/>
            <a:r>
              <a:rPr lang="en-US" sz="3600" dirty="0" smtClean="0"/>
              <a:t>About Instructor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095233"/>
            <a:ext cx="4953000" cy="421913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026942" y="5582781"/>
            <a:ext cx="24176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Who am I?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en-US"/>
          </a:p>
          <a:p>
            <a:endParaRPr lang="en-US" altLang="en-US">
              <a:solidFill>
                <a:srgbClr val="006633"/>
              </a:solidFill>
            </a:endParaRP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29384"/>
            <a:ext cx="9229165" cy="553998"/>
          </a:xfrm>
          <a:noFill/>
        </p:spPr>
        <p:txBody>
          <a:bodyPr/>
          <a:lstStyle/>
          <a:p>
            <a:pPr algn="ctr"/>
            <a:r>
              <a:rPr lang="en-US" altLang="en-US" sz="3600" dirty="0" smtClean="0"/>
              <a:t>I don’t know about you!!!</a:t>
            </a:r>
            <a:endParaRPr lang="en-US" altLang="en-US" sz="3600" dirty="0"/>
          </a:p>
        </p:txBody>
      </p:sp>
      <p:graphicFrame>
        <p:nvGraphicFramePr>
          <p:cNvPr id="6149" name="Object 5"/>
          <p:cNvGraphicFramePr/>
          <p:nvPr/>
        </p:nvGraphicFramePr>
        <p:xfrm>
          <a:off x="4191000" y="1071005"/>
          <a:ext cx="23622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" name="ClipArt" r:id="rId4" imgW="1701165" imgH="3658870" progId="MS_ClipArt_Gallery.2">
                  <p:embed/>
                </p:oleObj>
              </mc:Choice>
              <mc:Fallback>
                <p:oleObj name="ClipArt" r:id="rId4" imgW="1701165" imgH="3658870" progId="MS_ClipArt_Gallery.2">
                  <p:embed/>
                  <p:pic>
                    <p:nvPicPr>
                      <p:cNvPr id="0" name="Picture 111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071005"/>
                        <a:ext cx="236220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209800" y="4905469"/>
            <a:ext cx="7772400" cy="1406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</a:defRPr>
            </a:lvl9pPr>
          </a:lstStyle>
          <a:p>
            <a:pPr algn="ctr"/>
            <a:r>
              <a:rPr lang="en-US" altLang="en-US" kern="0" dirty="0">
                <a:solidFill>
                  <a:srgbClr val="006633"/>
                </a:solidFill>
              </a:rPr>
              <a:t>Now its time to introduce yourself </a:t>
            </a:r>
          </a:p>
          <a:p>
            <a:pPr algn="ctr"/>
            <a:r>
              <a:rPr lang="en-US" altLang="en-US" sz="6000" kern="0" dirty="0">
                <a:solidFill>
                  <a:srgbClr val="006633"/>
                </a:solidFill>
                <a:sym typeface="Wingdings" panose="05000000000000000000" pitchFamily="2" charset="2"/>
              </a:rPr>
              <a:t></a:t>
            </a:r>
            <a:endParaRPr lang="en-US" altLang="en-US" sz="6000" kern="0" dirty="0">
              <a:solidFill>
                <a:srgbClr val="006633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81799" y="1775677"/>
            <a:ext cx="409687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Name?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Hometown?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xperience in IT?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 </a:t>
            </a: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interest in CS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(e.g. ML, Network, Security, etc.)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Expectation </a:t>
            </a: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this course?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553998"/>
          </a:xfrm>
        </p:spPr>
        <p:txBody>
          <a:bodyPr/>
          <a:lstStyle/>
          <a:p>
            <a:pPr algn="ctr"/>
            <a:r>
              <a:rPr lang="en-US" sz="3600" u="none" dirty="0" smtClean="0"/>
              <a:t>About Course!</a:t>
            </a:r>
            <a:endParaRPr lang="en-US" sz="3600" u="none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7360"/>
            <a:ext cx="12192000" cy="508755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938B7E4-D737-4E0A-A13C-4E46A95578CD}" type="slidenum">
              <a:rPr lang="en-US" altLang="en-US" smtClean="0"/>
              <a:t>4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About Python Course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133600"/>
            <a:ext cx="8528685" cy="3877945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 smtClean="0"/>
              <a:t>Introduction </a:t>
            </a:r>
            <a:r>
              <a:rPr lang="en-US" sz="2800" dirty="0"/>
              <a:t>to Python Basics and Control </a:t>
            </a:r>
            <a:r>
              <a:rPr lang="en-US" sz="2800" dirty="0" smtClean="0"/>
              <a:t>Flow. </a:t>
            </a:r>
            <a:endParaRPr lang="en-US" sz="28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 smtClean="0"/>
              <a:t>Lists</a:t>
            </a:r>
            <a:r>
              <a:rPr lang="en-US" sz="2800" dirty="0"/>
              <a:t>, Loops, and Basic </a:t>
            </a:r>
            <a:r>
              <a:rPr lang="en-US" sz="2800" dirty="0" smtClean="0"/>
              <a:t>Operations.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 smtClean="0"/>
              <a:t>Functions and Data Structures.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 smtClean="0"/>
              <a:t>File Handling and project structuring.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 smtClean="0"/>
              <a:t>Data Visualization and advanced features.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 smtClean="0"/>
              <a:t>Project finalization and deployment.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ko-KR" dirty="0" smtClean="0"/>
              <a:t>Recommended Books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337817" y="1664751"/>
            <a:ext cx="8528685" cy="2585323"/>
          </a:xfrm>
        </p:spPr>
        <p:txBody>
          <a:bodyPr/>
          <a:lstStyle/>
          <a:p>
            <a:r>
              <a:rPr lang="en-US" sz="2400" b="1" dirty="0" smtClean="0"/>
              <a:t>1. Python </a:t>
            </a:r>
            <a:r>
              <a:rPr lang="en-US" sz="2400" b="1" dirty="0"/>
              <a:t>Crash Course (2nd Edition) </a:t>
            </a:r>
            <a:r>
              <a:rPr lang="en-US" sz="2400" dirty="0"/>
              <a:t>– by Eric Matthes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Description: </a:t>
            </a:r>
            <a:r>
              <a:rPr lang="en-US" sz="2400" dirty="0"/>
              <a:t>A hands-on, project-based introduction to Python. This book is ideal for beginners and covers essential programming concepts using real-world projects.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Publisher: </a:t>
            </a:r>
            <a:r>
              <a:rPr lang="en-US" sz="2400" dirty="0"/>
              <a:t>No Starch Press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ISBN: </a:t>
            </a:r>
            <a:r>
              <a:rPr lang="en-US" sz="2400" dirty="0"/>
              <a:t>978-1593279288 </a:t>
            </a:r>
          </a:p>
          <a:p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ko-KR" dirty="0" smtClean="0"/>
              <a:t>Recommended Books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337817" y="1664751"/>
            <a:ext cx="8528685" cy="2585323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2. </a:t>
            </a:r>
            <a:r>
              <a:rPr lang="en-US" sz="2400" b="1" dirty="0"/>
              <a:t>Automate the Boring Stuff with Python </a:t>
            </a:r>
            <a:r>
              <a:rPr lang="en-US" sz="2400" dirty="0"/>
              <a:t>– by Al </a:t>
            </a:r>
            <a:r>
              <a:rPr lang="en-US" sz="2400" dirty="0" err="1"/>
              <a:t>Sweigart</a:t>
            </a:r>
            <a:r>
              <a:rPr lang="en-US" sz="2400" dirty="0"/>
              <a:t>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Description: </a:t>
            </a:r>
            <a:r>
              <a:rPr lang="en-US" sz="2400" dirty="0"/>
              <a:t>This book focuses on automating everyday tasks using Python. It’s suitable for both beginners and intermediate learners looking to apply Python in practical scenarios.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Publisher: </a:t>
            </a:r>
            <a:r>
              <a:rPr lang="en-US" sz="2400" dirty="0"/>
              <a:t>No Starch Press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ISBN: </a:t>
            </a:r>
            <a:r>
              <a:rPr lang="en-US" sz="2400" dirty="0"/>
              <a:t>978-1593279929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ko-KR" dirty="0" smtClean="0"/>
              <a:t>Recommended Books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337817" y="1664751"/>
            <a:ext cx="8528685" cy="2585323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3. </a:t>
            </a:r>
            <a:r>
              <a:rPr lang="en-US" sz="2400" b="1" dirty="0"/>
              <a:t>Python for Data Analysis (2nd Edition) </a:t>
            </a:r>
            <a:r>
              <a:rPr lang="en-US" sz="2400" dirty="0"/>
              <a:t>– by Wes McKinney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Description: </a:t>
            </a:r>
            <a:r>
              <a:rPr lang="en-US" sz="2400" dirty="0"/>
              <a:t>A comprehensive guide to using Python for data analysis, including an introduction to libraries such as Pandas, </a:t>
            </a:r>
            <a:r>
              <a:rPr lang="en-US" sz="2400" dirty="0" err="1"/>
              <a:t>NumPy</a:t>
            </a:r>
            <a:r>
              <a:rPr lang="en-US" sz="2400" dirty="0"/>
              <a:t>, and </a:t>
            </a:r>
            <a:r>
              <a:rPr lang="en-US" sz="2400" dirty="0" err="1"/>
              <a:t>Matplotlib</a:t>
            </a:r>
            <a:r>
              <a:rPr lang="en-US" sz="2400" dirty="0"/>
              <a:t>.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Publisher: </a:t>
            </a:r>
            <a:r>
              <a:rPr lang="en-US" sz="2400" dirty="0"/>
              <a:t>O'Reilly Media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ISBN: </a:t>
            </a:r>
            <a:r>
              <a:rPr lang="en-US" sz="2400" dirty="0"/>
              <a:t>978-1491957660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ko-KR" dirty="0" smtClean="0"/>
              <a:t>Online Resources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337817" y="1664751"/>
            <a:ext cx="8528685" cy="2215991"/>
          </a:xfrm>
        </p:spPr>
        <p:txBody>
          <a:bodyPr/>
          <a:lstStyle/>
          <a:p>
            <a:r>
              <a:rPr lang="en-US" sz="2400" b="1" dirty="0" smtClean="0"/>
              <a:t>1. W3Schools </a:t>
            </a:r>
            <a:r>
              <a:rPr lang="en-US" sz="2400" b="1" dirty="0"/>
              <a:t>– Python Tutorial </a:t>
            </a:r>
            <a:endParaRPr lang="en-US" sz="2400" dirty="0"/>
          </a:p>
          <a:p>
            <a:r>
              <a:rPr lang="en-US" sz="2400" dirty="0"/>
              <a:t>o </a:t>
            </a:r>
            <a:r>
              <a:rPr lang="en-US" sz="2400" i="1" dirty="0"/>
              <a:t>URL: </a:t>
            </a:r>
            <a:r>
              <a:rPr lang="en-US" sz="2400" dirty="0"/>
              <a:t>w3schools.com/python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Description: </a:t>
            </a:r>
            <a:r>
              <a:rPr lang="en-US" sz="2400" dirty="0"/>
              <a:t>A great beginner-friendly resource that offers interactive tutorials on basic Python concepts, control flow, data structures, and more </a:t>
            </a:r>
          </a:p>
          <a:p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1019048" y="855761"/>
            <a:ext cx="10153903" cy="89684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altLang="ko-KR" dirty="0" smtClean="0"/>
              <a:t>Online Resources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143000" y="1905000"/>
            <a:ext cx="8528685" cy="2215991"/>
          </a:xfrm>
        </p:spPr>
        <p:txBody>
          <a:bodyPr/>
          <a:lstStyle/>
          <a:p>
            <a:r>
              <a:rPr lang="en-US" sz="2400" b="1" dirty="0" smtClean="0"/>
              <a:t>2. Learn </a:t>
            </a:r>
            <a:r>
              <a:rPr lang="en-US" sz="2400" b="1" dirty="0"/>
              <a:t>Python – Python.org </a:t>
            </a:r>
            <a:endParaRPr lang="en-US" sz="2400" dirty="0"/>
          </a:p>
          <a:p>
            <a:r>
              <a:rPr lang="en-US" sz="2400" dirty="0"/>
              <a:t>o </a:t>
            </a:r>
            <a:r>
              <a:rPr lang="en-US" sz="2400" i="1" dirty="0"/>
              <a:t>URL: </a:t>
            </a:r>
            <a:r>
              <a:rPr lang="en-US" sz="2400" dirty="0"/>
              <a:t>docs.python.org/3/tutorial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Description: </a:t>
            </a:r>
            <a:r>
              <a:rPr lang="en-US" sz="2400" dirty="0"/>
              <a:t>The official Python documentation provides a thorough tutorial covering everything from Python syntax to advanced concepts such as object-oriented programming. </a:t>
            </a:r>
          </a:p>
          <a:p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dirty="0" smtClean="0"/>
              <a:t>Online Compilers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1019048" y="1981200"/>
            <a:ext cx="8528685" cy="677108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en-US" dirty="0" smtClean="0"/>
              <a:t>Python Compiler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sz="3600" dirty="0"/>
              <a:t>Marks </a:t>
            </a:r>
            <a:r>
              <a:rPr lang="en-US" sz="3600" dirty="0" smtClean="0"/>
              <a:t>Breakdown</a:t>
            </a:r>
            <a:endParaRPr lang="en-US" sz="3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2057400"/>
          <a:ext cx="89154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670560">
                <a:tc>
                  <a:txBody>
                    <a:bodyPr/>
                    <a:lstStyle/>
                    <a:p>
                      <a:r>
                        <a:rPr lang="en-US" dirty="0" smtClean="0"/>
                        <a:t>SNO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Marks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lang="en-US" dirty="0" smtClean="0"/>
                        <a:t>1.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Mid-Term Exam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 Marks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lang="en-US" dirty="0" smtClean="0"/>
                        <a:t>2.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 Marks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lang="en-US" dirty="0" smtClean="0"/>
                        <a:t>3.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Final-Term</a:t>
                      </a:r>
                      <a:r>
                        <a:rPr lang="en-US" baseline="0" dirty="0" smtClean="0"/>
                        <a:t> Exam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 Marks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lang="en-US" dirty="0" smtClean="0"/>
                        <a:t>4.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Online Earning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 Marks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096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My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87" y="1078236"/>
            <a:ext cx="11480800" cy="5381549"/>
          </a:xfrm>
        </p:spPr>
        <p:txBody>
          <a:bodyPr>
            <a:normAutofit fontScale="55000" lnSpcReduction="20000"/>
          </a:bodyPr>
          <a:lstStyle/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Ask questions (Through Discussion Forums), Feel free to ask any question</a:t>
            </a:r>
          </a:p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If </a:t>
            </a:r>
            <a:r>
              <a:rPr lang="en-US" dirty="0"/>
              <a:t>you have any question </a:t>
            </a:r>
            <a:r>
              <a:rPr lang="en-US" dirty="0" smtClean="0"/>
              <a:t>during class raise </a:t>
            </a:r>
            <a:r>
              <a:rPr lang="en-US" dirty="0"/>
              <a:t>your hand first and then ask </a:t>
            </a:r>
            <a:r>
              <a:rPr lang="en-US" dirty="0" smtClean="0"/>
              <a:t>question</a:t>
            </a:r>
          </a:p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Don’t take notes, these slides will be provided.</a:t>
            </a:r>
          </a:p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Correct me if I make a mistake (remember I am in continuous learning mode)</a:t>
            </a:r>
          </a:p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Respect </a:t>
            </a:r>
            <a:r>
              <a:rPr lang="en-US" dirty="0"/>
              <a:t>to other’s opinion in </a:t>
            </a:r>
            <a:r>
              <a:rPr lang="en-US" dirty="0" smtClean="0"/>
              <a:t>class</a:t>
            </a:r>
          </a:p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No </a:t>
            </a:r>
            <a:r>
              <a:rPr lang="en-US" dirty="0"/>
              <a:t>cross-talk during </a:t>
            </a:r>
            <a:r>
              <a:rPr lang="en-US" dirty="0" smtClean="0"/>
              <a:t>class </a:t>
            </a:r>
          </a:p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5 minutes late comers will have to pay penalty of Rs. 100.</a:t>
            </a:r>
            <a:endParaRPr lang="en-US" dirty="0"/>
          </a:p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Finally – use of mobile phones </a:t>
            </a:r>
            <a:r>
              <a:rPr lang="en-US" dirty="0"/>
              <a:t>in class is strictly prohibited without permission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938B7E4-D737-4E0A-A13C-4E46A95578CD}" type="slidenum">
              <a:rPr lang="en-US" altLang="en-US" smtClean="0"/>
              <a:t>13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015663"/>
          </a:xfrm>
        </p:spPr>
        <p:txBody>
          <a:bodyPr/>
          <a:lstStyle/>
          <a:p>
            <a:pPr algn="ctr"/>
            <a:r>
              <a:rPr lang="en-US" sz="6600" u="none" dirty="0" smtClean="0"/>
              <a:t>Python</a:t>
            </a:r>
            <a:endParaRPr lang="en-US" sz="6600" u="non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2057400"/>
            <a:ext cx="5181600" cy="3514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36565" y="0"/>
            <a:ext cx="1878964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u="none" spc="-55" dirty="0"/>
              <a:t>A</a:t>
            </a:r>
            <a:r>
              <a:rPr sz="4900" u="none" spc="-95" dirty="0"/>
              <a:t>g</a:t>
            </a:r>
            <a:r>
              <a:rPr sz="4900" u="none" spc="-50" dirty="0"/>
              <a:t>e</a:t>
            </a:r>
            <a:r>
              <a:rPr sz="4900" u="none" spc="-55" dirty="0"/>
              <a:t>nd</a:t>
            </a:r>
            <a:r>
              <a:rPr sz="4900" u="none" spc="-5" dirty="0"/>
              <a:t>a</a:t>
            </a:r>
            <a:endParaRPr sz="4900"/>
          </a:p>
        </p:txBody>
      </p:sp>
      <p:sp>
        <p:nvSpPr>
          <p:cNvPr id="4" name="object 4"/>
          <p:cNvSpPr txBox="1"/>
          <p:nvPr/>
        </p:nvSpPr>
        <p:spPr>
          <a:xfrm>
            <a:off x="301243" y="640461"/>
            <a:ext cx="9346565" cy="5118709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284480" indent="-272415">
              <a:lnSpc>
                <a:spcPct val="100000"/>
              </a:lnSpc>
              <a:spcBef>
                <a:spcPts val="1215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Introduction</a:t>
            </a:r>
            <a:r>
              <a:rPr sz="24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4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Python</a:t>
            </a:r>
            <a:r>
              <a:rPr sz="24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Programming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284480" indent="-272415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sz="24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Why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Python</a:t>
            </a:r>
            <a:r>
              <a:rPr sz="24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Programming</a:t>
            </a:r>
            <a:r>
              <a:rPr lang="en-US" sz="2400" spc="-1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?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284480" indent="-272415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Comparision</a:t>
            </a:r>
            <a:r>
              <a:rPr sz="24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Python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Programming</a:t>
            </a:r>
            <a:r>
              <a:rPr sz="24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programming</a:t>
            </a:r>
            <a:r>
              <a:rPr sz="24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languages.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284480" indent="-272415">
              <a:lnSpc>
                <a:spcPct val="100000"/>
              </a:lnSpc>
              <a:spcBef>
                <a:spcPts val="1105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Installation</a:t>
            </a:r>
            <a:r>
              <a:rPr sz="24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of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Python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Programming.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285115" indent="-273050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750" algn="l"/>
              </a:tabLst>
            </a:pP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First</a:t>
            </a:r>
            <a:r>
              <a:rPr sz="2400" spc="-5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program</a:t>
            </a:r>
            <a:r>
              <a:rPr sz="24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4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Python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284480" indent="-272415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sz="24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Variables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4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keywords</a:t>
            </a:r>
            <a:r>
              <a:rPr sz="2400" spc="-2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.</a:t>
            </a:r>
            <a:endParaRPr lang="en-US" sz="2400" spc="-20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284480" indent="-272415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lang="en-US" sz="2400" spc="-2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Data Types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284480" indent="-272415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sz="2400" spc="-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User-defined</a:t>
            </a:r>
            <a:r>
              <a:rPr sz="2400" spc="-3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Input</a:t>
            </a:r>
            <a:endParaRPr lang="en-US" sz="2400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284480" indent="-272415">
              <a:spcBef>
                <a:spcPts val="1120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lang="en-US" sz="2400" spc="-20" dirty="0" smtClean="0">
                <a:solidFill>
                  <a:srgbClr val="404040"/>
                </a:solidFill>
                <a:cs typeface="Calibri" panose="020F0502020204030204"/>
              </a:rPr>
              <a:t>Operators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285115" indent="-273050">
              <a:lnSpc>
                <a:spcPct val="100000"/>
              </a:lnSpc>
              <a:spcBef>
                <a:spcPts val="1105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750" algn="l"/>
              </a:tabLst>
            </a:pPr>
            <a:r>
              <a:rPr sz="2400" spc="-4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Tasks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1"/>
            <a:ext cx="10153903" cy="721580"/>
          </a:xfrm>
        </p:spPr>
        <p:txBody>
          <a:bodyPr/>
          <a:lstStyle/>
          <a:p>
            <a:pPr algn="ctr"/>
            <a:r>
              <a:rPr lang="en-US" sz="6600" u="none" dirty="0" smtClean="0"/>
              <a:t>Python</a:t>
            </a:r>
            <a:endParaRPr lang="en-US" sz="6600" u="none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6324600" y="1997392"/>
            <a:ext cx="5303520" cy="19697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High Level programming.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Easy syntax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Cross platform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Applications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09800"/>
            <a:ext cx="5181600" cy="3514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6800" y="1676400"/>
            <a:ext cx="99974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984105" algn="l"/>
              </a:tabLst>
            </a:pPr>
            <a:r>
              <a:rPr lang="en-US" spc="-50" dirty="0" smtClean="0"/>
              <a:t>                   </a:t>
            </a:r>
            <a:r>
              <a:rPr spc="-50" dirty="0" smtClean="0"/>
              <a:t>Brief</a:t>
            </a:r>
            <a:r>
              <a:rPr spc="-105" dirty="0" smtClean="0"/>
              <a:t> </a:t>
            </a:r>
            <a:r>
              <a:rPr spc="-55" dirty="0"/>
              <a:t>History</a:t>
            </a:r>
            <a:r>
              <a:rPr spc="-125" dirty="0"/>
              <a:t> </a:t>
            </a:r>
            <a:r>
              <a:rPr spc="-25" dirty="0"/>
              <a:t>of</a:t>
            </a:r>
            <a:r>
              <a:rPr spc="-105" dirty="0"/>
              <a:t> </a:t>
            </a:r>
            <a:r>
              <a:rPr spc="-50" dirty="0"/>
              <a:t>Python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04594" y="2590800"/>
            <a:ext cx="10835006" cy="2922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17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sz="24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Invented</a:t>
            </a:r>
            <a:r>
              <a:rPr sz="2400" spc="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4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4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Netherlands, early</a:t>
            </a:r>
            <a:r>
              <a:rPr sz="24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90s</a:t>
            </a:r>
            <a:r>
              <a:rPr sz="24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by Guido</a:t>
            </a:r>
            <a:r>
              <a:rPr sz="24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van</a:t>
            </a:r>
            <a:r>
              <a:rPr sz="2400" spc="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Rossum </a:t>
            </a:r>
            <a:r>
              <a:rPr sz="2400" spc="-7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Named</a:t>
            </a:r>
            <a:r>
              <a:rPr sz="24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after</a:t>
            </a:r>
            <a:r>
              <a:rPr sz="24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Monty</a:t>
            </a:r>
            <a:r>
              <a:rPr sz="24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Python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469900" indent="-457200">
              <a:lnSpc>
                <a:spcPct val="100000"/>
              </a:lnSpc>
              <a:spcBef>
                <a:spcPts val="625"/>
              </a:spcBef>
              <a:buFont typeface="Wingdings" panose="05000000000000000000" charset="0"/>
              <a:buChar char="Ø"/>
            </a:pP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Open</a:t>
            </a:r>
            <a:r>
              <a:rPr sz="24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source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469900" marR="1595755" indent="-457200">
              <a:lnSpc>
                <a:spcPct val="117000"/>
              </a:lnSpc>
              <a:buFont typeface="Wingdings" panose="05000000000000000000" charset="0"/>
              <a:buChar char="Ø"/>
            </a:pP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Considered</a:t>
            </a:r>
            <a:r>
              <a:rPr sz="24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4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scripting</a:t>
            </a:r>
            <a:r>
              <a:rPr sz="2400" spc="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language,</a:t>
            </a:r>
            <a:r>
              <a:rPr sz="2400" spc="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but</a:t>
            </a:r>
            <a:r>
              <a:rPr sz="24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24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it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4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much</a:t>
            </a:r>
            <a:r>
              <a:rPr sz="24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more </a:t>
            </a:r>
            <a:r>
              <a:rPr sz="2400" spc="-7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Object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Oriented.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469900" marR="4100195" indent="-457200">
              <a:lnSpc>
                <a:spcPts val="4480"/>
              </a:lnSpc>
              <a:spcBef>
                <a:spcPts val="85"/>
              </a:spcBef>
              <a:buFont typeface="Wingdings" panose="05000000000000000000" charset="0"/>
              <a:buChar char="Ø"/>
            </a:pP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Used 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by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Google 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from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lang="en-US"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beginning</a:t>
            </a:r>
            <a:r>
              <a:rPr lang="en-US" sz="2400" spc="-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i</a:t>
            </a:r>
            <a:r>
              <a:rPr sz="2400" spc="-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ncreasingly</a:t>
            </a:r>
            <a:r>
              <a:rPr sz="2400" spc="1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popular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7817" y="1664751"/>
            <a:ext cx="8528685" cy="3046988"/>
          </a:xfrm>
        </p:spPr>
        <p:txBody>
          <a:bodyPr/>
          <a:lstStyle/>
          <a:p>
            <a:pPr algn="ctr"/>
            <a:r>
              <a:rPr lang="en-US" sz="6600" dirty="0" smtClean="0"/>
              <a:t>Why Python Programming</a:t>
            </a:r>
          </a:p>
          <a:p>
            <a:pPr algn="ctr"/>
            <a:r>
              <a:rPr lang="en-US" sz="6600" dirty="0" smtClean="0"/>
              <a:t>??</a:t>
            </a:r>
            <a:endParaRPr lang="en-US" sz="6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67728"/>
            <a:ext cx="4686300" cy="220599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  <a:tabLst>
                <a:tab pos="756285" algn="l"/>
              </a:tabLst>
            </a:pPr>
            <a:r>
              <a:rPr sz="4000" spc="-5" dirty="0">
                <a:latin typeface="Calibri" panose="020F0502020204030204"/>
                <a:cs typeface="Calibri" panose="020F0502020204030204"/>
              </a:rPr>
              <a:t>1.</a:t>
            </a:r>
            <a:r>
              <a:rPr sz="4000" spc="-5" dirty="0">
                <a:solidFill>
                  <a:srgbClr val="E38312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40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Easy</a:t>
            </a:r>
            <a:r>
              <a:rPr sz="40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40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understand</a:t>
            </a:r>
            <a:endParaRPr sz="4000" dirty="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brackets</a:t>
            </a:r>
            <a:endParaRPr sz="4000" dirty="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Simple</a:t>
            </a:r>
            <a:r>
              <a:rPr sz="4000" spc="-5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Code</a:t>
            </a:r>
            <a:endParaRPr sz="40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67728"/>
            <a:ext cx="9368790" cy="148018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2.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Mature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supportive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Python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Community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Documentation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67728"/>
            <a:ext cx="9505315" cy="293306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3.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Support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40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Renowed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Corporate</a:t>
            </a:r>
            <a:r>
              <a:rPr sz="40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Sponsors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Facebook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Amazon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Google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67728"/>
            <a:ext cx="10047605" cy="293306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4.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Hundreds</a:t>
            </a:r>
            <a:r>
              <a:rPr sz="40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40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Python 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Libraries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Frameworks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Numpy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Matplotlib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Django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67728"/>
            <a:ext cx="8741410" cy="366014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5.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Versatility,</a:t>
            </a:r>
            <a:r>
              <a:rPr sz="40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Effiency,Reliability,and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Speed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Mobile</a:t>
            </a:r>
            <a:r>
              <a:rPr sz="4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Application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Desktop</a:t>
            </a:r>
            <a:r>
              <a:rPr sz="4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Application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Web</a:t>
            </a:r>
            <a:r>
              <a:rPr sz="40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Developement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Hardware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Programming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785950"/>
            <a:ext cx="8477885" cy="26365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6. Big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Data,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Learning,</a:t>
            </a:r>
            <a:r>
              <a:rPr sz="40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Cloud </a:t>
            </a:r>
            <a:r>
              <a:rPr sz="4000" spc="-88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Computing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86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OpenCV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Computer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Vision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Tensorflow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Neural Network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67728"/>
            <a:ext cx="4985385" cy="293306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7.</a:t>
            </a:r>
            <a:r>
              <a:rPr sz="40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First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Choice</a:t>
            </a:r>
            <a:r>
              <a:rPr sz="40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Language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Simple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User-friendly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Easy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understand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785950"/>
            <a:ext cx="74707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8.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flexibility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40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Python</a:t>
            </a:r>
            <a:r>
              <a:rPr sz="40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Language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67728"/>
            <a:ext cx="6238240" cy="293306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9.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Python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Academics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Artificial</a:t>
            </a:r>
            <a:r>
              <a:rPr sz="40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Intelligence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Deep</a:t>
            </a:r>
            <a:r>
              <a:rPr sz="40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40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81472"/>
            <a:ext cx="8696960" cy="380047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10.</a:t>
            </a:r>
            <a:r>
              <a:rPr sz="37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Automation</a:t>
            </a:r>
            <a:endParaRPr sz="3700">
              <a:latin typeface="Calibri" panose="020F0502020204030204"/>
              <a:cs typeface="Calibri" panose="020F0502020204030204"/>
            </a:endParaRPr>
          </a:p>
          <a:p>
            <a:pPr marL="431800" indent="-419735">
              <a:lnSpc>
                <a:spcPct val="100000"/>
              </a:lnSpc>
              <a:spcBef>
                <a:spcPts val="520"/>
              </a:spcBef>
              <a:buClr>
                <a:srgbClr val="E38312"/>
              </a:buClr>
              <a:buSzPct val="97000"/>
              <a:buFont typeface="Wingdings" panose="05000000000000000000"/>
              <a:buChar char=""/>
              <a:tabLst>
                <a:tab pos="431800" algn="l"/>
              </a:tabLst>
            </a:pP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Sending</a:t>
            </a:r>
            <a:r>
              <a:rPr sz="37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out,</a:t>
            </a:r>
            <a:r>
              <a:rPr sz="37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replying</a:t>
            </a:r>
            <a:r>
              <a:rPr sz="37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to,</a:t>
            </a:r>
            <a:r>
              <a:rPr sz="37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3700" spc="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sorting</a:t>
            </a:r>
            <a:r>
              <a:rPr sz="37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emails</a:t>
            </a:r>
            <a:endParaRPr sz="3700">
              <a:latin typeface="Calibri" panose="020F0502020204030204"/>
              <a:cs typeface="Calibri" panose="020F0502020204030204"/>
            </a:endParaRPr>
          </a:p>
          <a:p>
            <a:pPr marL="431800" indent="-419735">
              <a:lnSpc>
                <a:spcPct val="100000"/>
              </a:lnSpc>
              <a:spcBef>
                <a:spcPts val="500"/>
              </a:spcBef>
              <a:buClr>
                <a:srgbClr val="E38312"/>
              </a:buClr>
              <a:buSzPct val="97000"/>
              <a:buFont typeface="Wingdings" panose="05000000000000000000"/>
              <a:buChar char=""/>
              <a:tabLst>
                <a:tab pos="431800" algn="l"/>
              </a:tabLst>
            </a:pP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Filling</a:t>
            </a: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out</a:t>
            </a:r>
            <a:r>
              <a:rPr sz="37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PDFs</a:t>
            </a: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37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Excel</a:t>
            </a: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files</a:t>
            </a:r>
            <a:endParaRPr sz="3700">
              <a:latin typeface="Calibri" panose="020F0502020204030204"/>
              <a:cs typeface="Calibri" panose="020F0502020204030204"/>
            </a:endParaRPr>
          </a:p>
          <a:p>
            <a:pPr marL="431800" indent="-419735">
              <a:lnSpc>
                <a:spcPct val="100000"/>
              </a:lnSpc>
              <a:spcBef>
                <a:spcPts val="520"/>
              </a:spcBef>
              <a:buClr>
                <a:srgbClr val="E38312"/>
              </a:buClr>
              <a:buSzPct val="97000"/>
              <a:buFont typeface="Wingdings" panose="05000000000000000000"/>
              <a:buChar char=""/>
              <a:tabLst>
                <a:tab pos="431800" algn="l"/>
              </a:tabLst>
            </a:pP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Sending</a:t>
            </a:r>
            <a:r>
              <a:rPr sz="37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HTTP</a:t>
            </a:r>
            <a:r>
              <a:rPr sz="37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requests</a:t>
            </a:r>
            <a:endParaRPr sz="3700">
              <a:latin typeface="Calibri" panose="020F0502020204030204"/>
              <a:cs typeface="Calibri" panose="020F0502020204030204"/>
            </a:endParaRPr>
          </a:p>
          <a:p>
            <a:pPr marL="431800" indent="-419735">
              <a:lnSpc>
                <a:spcPct val="100000"/>
              </a:lnSpc>
              <a:spcBef>
                <a:spcPts val="515"/>
              </a:spcBef>
              <a:buClr>
                <a:srgbClr val="E38312"/>
              </a:buClr>
              <a:buSzPct val="97000"/>
              <a:buFont typeface="Wingdings" panose="05000000000000000000"/>
              <a:buChar char=""/>
              <a:tabLst>
                <a:tab pos="431800" algn="l"/>
              </a:tabLst>
            </a:pPr>
            <a:r>
              <a:rPr sz="37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Performing</a:t>
            </a:r>
            <a:r>
              <a:rPr sz="37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quick</a:t>
            </a:r>
            <a:r>
              <a:rPr sz="37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math</a:t>
            </a:r>
            <a:r>
              <a:rPr sz="37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equations</a:t>
            </a:r>
            <a:endParaRPr sz="3700">
              <a:latin typeface="Calibri" panose="020F0502020204030204"/>
              <a:cs typeface="Calibri" panose="020F0502020204030204"/>
            </a:endParaRPr>
          </a:p>
          <a:p>
            <a:pPr marL="431800" indent="-419735">
              <a:lnSpc>
                <a:spcPct val="100000"/>
              </a:lnSpc>
              <a:spcBef>
                <a:spcPts val="510"/>
              </a:spcBef>
              <a:buClr>
                <a:srgbClr val="E38312"/>
              </a:buClr>
              <a:buSzPct val="97000"/>
              <a:buFont typeface="Wingdings" panose="05000000000000000000"/>
              <a:buChar char=""/>
              <a:tabLst>
                <a:tab pos="431800" algn="l"/>
              </a:tabLst>
            </a:pP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Calculating</a:t>
            </a: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exchange</a:t>
            </a:r>
            <a:r>
              <a:rPr sz="37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rates</a:t>
            </a:r>
            <a:endParaRPr sz="37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292353"/>
            <a:ext cx="9997440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  <a:tabLst>
                <a:tab pos="9984105" algn="l"/>
              </a:tabLst>
            </a:pPr>
            <a:r>
              <a:rPr u="none" spc="-45" dirty="0"/>
              <a:t>Comparision </a:t>
            </a:r>
            <a:r>
              <a:rPr u="none" spc="-25" dirty="0"/>
              <a:t>of </a:t>
            </a:r>
            <a:r>
              <a:rPr u="none" spc="-50" dirty="0"/>
              <a:t>Python </a:t>
            </a:r>
            <a:r>
              <a:rPr u="none" spc="-40" dirty="0"/>
              <a:t>with other </a:t>
            </a:r>
            <a:r>
              <a:rPr u="none" spc="-35" dirty="0"/>
              <a:t> </a:t>
            </a:r>
            <a:r>
              <a:rPr spc="-65" dirty="0"/>
              <a:t>programming</a:t>
            </a:r>
            <a:r>
              <a:rPr spc="-150" dirty="0"/>
              <a:t> </a:t>
            </a:r>
            <a:r>
              <a:rPr spc="-50" dirty="0"/>
              <a:t>languages.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72899"/>
            <a:ext cx="1548130" cy="271208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756285" algn="l"/>
              </a:tabLst>
            </a:pPr>
            <a:r>
              <a:rPr sz="3600" dirty="0">
                <a:solidFill>
                  <a:srgbClr val="E38312"/>
                </a:solidFill>
                <a:latin typeface="Calibri" panose="020F0502020204030204"/>
                <a:cs typeface="Calibri" panose="020F0502020204030204"/>
              </a:rPr>
              <a:t>1.	</a:t>
            </a:r>
            <a:r>
              <a:rPr sz="36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756285" algn="l"/>
              </a:tabLst>
            </a:pPr>
            <a:r>
              <a:rPr sz="3600" dirty="0">
                <a:solidFill>
                  <a:srgbClr val="E38312"/>
                </a:solidFill>
                <a:latin typeface="Calibri" panose="020F0502020204030204"/>
                <a:cs typeface="Calibri" panose="020F0502020204030204"/>
              </a:rPr>
              <a:t>2.	</a:t>
            </a:r>
            <a:r>
              <a:rPr sz="36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C++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756285" indent="-744220">
              <a:lnSpc>
                <a:spcPct val="100000"/>
              </a:lnSpc>
              <a:spcBef>
                <a:spcPts val="975"/>
              </a:spcBef>
              <a:buClr>
                <a:srgbClr val="E38312"/>
              </a:buClr>
              <a:buAutoNum type="arabicPeriod" startAt="3"/>
              <a:tabLst>
                <a:tab pos="756285" algn="l"/>
                <a:tab pos="756920" algn="l"/>
              </a:tabLst>
            </a:pPr>
            <a:r>
              <a:rPr sz="36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J</a:t>
            </a:r>
            <a:r>
              <a:rPr sz="36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36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36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756285" indent="-744220">
              <a:lnSpc>
                <a:spcPct val="100000"/>
              </a:lnSpc>
              <a:spcBef>
                <a:spcPts val="970"/>
              </a:spcBef>
              <a:buClr>
                <a:srgbClr val="E38312"/>
              </a:buClr>
              <a:buAutoNum type="arabicPeriod" startAt="3"/>
              <a:tabLst>
                <a:tab pos="756285" algn="l"/>
                <a:tab pos="756920" algn="l"/>
              </a:tabLst>
            </a:pPr>
            <a:r>
              <a:rPr sz="36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PHP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102485" algn="l"/>
                <a:tab pos="10140315" algn="l"/>
              </a:tabLst>
            </a:pPr>
            <a:r>
              <a:rPr dirty="0"/>
              <a:t> 	</a:t>
            </a:r>
            <a:r>
              <a:rPr spc="-40" dirty="0"/>
              <a:t>Hello</a:t>
            </a:r>
            <a:r>
              <a:rPr spc="-110" dirty="0"/>
              <a:t> </a:t>
            </a:r>
            <a:r>
              <a:rPr spc="-85" dirty="0"/>
              <a:t>World</a:t>
            </a:r>
            <a:r>
              <a:rPr spc="-110" dirty="0"/>
              <a:t> </a:t>
            </a:r>
            <a:r>
              <a:rPr spc="-80" dirty="0"/>
              <a:t>Program</a:t>
            </a:r>
            <a:r>
              <a:rPr spc="-130" dirty="0"/>
              <a:t> </a:t>
            </a:r>
            <a:r>
              <a:rPr spc="-30" dirty="0"/>
              <a:t>in</a:t>
            </a:r>
            <a:r>
              <a:rPr spc="-100" dirty="0"/>
              <a:t> </a:t>
            </a:r>
            <a:r>
              <a:rPr dirty="0"/>
              <a:t>C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65756"/>
            <a:ext cx="9834245" cy="3669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69214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60ADED"/>
                </a:solidFill>
                <a:latin typeface="Arial MT"/>
                <a:cs typeface="Arial MT"/>
              </a:rPr>
              <a:t>#include</a:t>
            </a:r>
            <a:r>
              <a:rPr sz="4000" spc="-45" dirty="0">
                <a:solidFill>
                  <a:srgbClr val="60ADE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97C379"/>
                </a:solidFill>
                <a:latin typeface="Arial MT"/>
                <a:cs typeface="Arial MT"/>
              </a:rPr>
              <a:t>&lt;stdio.h&gt; </a:t>
            </a:r>
            <a:r>
              <a:rPr sz="4000" spc="-1095" dirty="0">
                <a:solidFill>
                  <a:srgbClr val="97C379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C578DD"/>
                </a:solidFill>
                <a:latin typeface="Arial MT"/>
                <a:cs typeface="Arial MT"/>
              </a:rPr>
              <a:t>int</a:t>
            </a:r>
            <a:r>
              <a:rPr sz="4000" dirty="0">
                <a:solidFill>
                  <a:srgbClr val="C578D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60ADED"/>
                </a:solidFill>
                <a:latin typeface="Arial MT"/>
                <a:cs typeface="Arial MT"/>
              </a:rPr>
              <a:t>main</a:t>
            </a: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()</a:t>
            </a:r>
            <a:r>
              <a:rPr sz="4000" spc="20" dirty="0">
                <a:solidFill>
                  <a:srgbClr val="D2D2D2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{</a:t>
            </a:r>
            <a:endParaRPr sz="4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4000" dirty="0">
                <a:solidFill>
                  <a:srgbClr val="FFDDBD"/>
                </a:solidFill>
                <a:latin typeface="Arial MT"/>
                <a:cs typeface="Arial MT"/>
              </a:rPr>
              <a:t>// printf()</a:t>
            </a:r>
            <a:r>
              <a:rPr sz="4000" spc="20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FFDDBD"/>
                </a:solidFill>
                <a:latin typeface="Arial MT"/>
                <a:cs typeface="Arial MT"/>
              </a:rPr>
              <a:t>displays</a:t>
            </a:r>
            <a:r>
              <a:rPr sz="4000" spc="5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DDBD"/>
                </a:solidFill>
                <a:latin typeface="Arial MT"/>
                <a:cs typeface="Arial MT"/>
              </a:rPr>
              <a:t>the</a:t>
            </a:r>
            <a:r>
              <a:rPr sz="4000" spc="20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FFDDBD"/>
                </a:solidFill>
                <a:latin typeface="Arial MT"/>
                <a:cs typeface="Arial MT"/>
              </a:rPr>
              <a:t>string</a:t>
            </a:r>
            <a:r>
              <a:rPr sz="4000" spc="-5" dirty="0">
                <a:solidFill>
                  <a:srgbClr val="FFDDBD"/>
                </a:solidFill>
                <a:latin typeface="Arial MT"/>
                <a:cs typeface="Arial MT"/>
              </a:rPr>
              <a:t> inside</a:t>
            </a:r>
            <a:r>
              <a:rPr sz="4000" spc="10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DDBD"/>
                </a:solidFill>
                <a:latin typeface="Arial MT"/>
                <a:cs typeface="Arial MT"/>
              </a:rPr>
              <a:t>quotation </a:t>
            </a:r>
            <a:r>
              <a:rPr sz="4000" spc="-1095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E6C07A"/>
                </a:solidFill>
                <a:latin typeface="Arial MT"/>
                <a:cs typeface="Arial MT"/>
              </a:rPr>
              <a:t>printf</a:t>
            </a: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(</a:t>
            </a:r>
            <a:r>
              <a:rPr sz="4000" spc="-5" dirty="0">
                <a:solidFill>
                  <a:srgbClr val="97C379"/>
                </a:solidFill>
                <a:latin typeface="Arial MT"/>
                <a:cs typeface="Arial MT"/>
              </a:rPr>
              <a:t>"Hello,</a:t>
            </a:r>
            <a:r>
              <a:rPr sz="4000" spc="25" dirty="0">
                <a:solidFill>
                  <a:srgbClr val="97C379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97C379"/>
                </a:solidFill>
                <a:latin typeface="Arial MT"/>
                <a:cs typeface="Arial MT"/>
              </a:rPr>
              <a:t>World!"</a:t>
            </a:r>
            <a:r>
              <a:rPr sz="4000" spc="-10" dirty="0">
                <a:solidFill>
                  <a:srgbClr val="D2D2D2"/>
                </a:solidFill>
                <a:latin typeface="Arial MT"/>
                <a:cs typeface="Arial MT"/>
              </a:rPr>
              <a:t>);</a:t>
            </a:r>
            <a:endParaRPr sz="4000">
              <a:latin typeface="Arial MT"/>
              <a:cs typeface="Arial MT"/>
            </a:endParaRPr>
          </a:p>
          <a:p>
            <a:pPr marL="12700">
              <a:lnSpc>
                <a:spcPts val="4745"/>
              </a:lnSpc>
            </a:pPr>
            <a:r>
              <a:rPr sz="4000" spc="-5" dirty="0">
                <a:solidFill>
                  <a:srgbClr val="C578DD"/>
                </a:solidFill>
                <a:latin typeface="Arial MT"/>
                <a:cs typeface="Arial MT"/>
              </a:rPr>
              <a:t>return</a:t>
            </a:r>
            <a:r>
              <a:rPr sz="4000" spc="-10" dirty="0">
                <a:solidFill>
                  <a:srgbClr val="C578D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D19A66"/>
                </a:solidFill>
                <a:latin typeface="Arial MT"/>
                <a:cs typeface="Arial MT"/>
              </a:rPr>
              <a:t>0</a:t>
            </a: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;</a:t>
            </a:r>
            <a:endParaRPr sz="4000">
              <a:latin typeface="Arial MT"/>
              <a:cs typeface="Arial MT"/>
            </a:endParaRPr>
          </a:p>
          <a:p>
            <a:pPr marL="12700">
              <a:lnSpc>
                <a:spcPts val="4745"/>
              </a:lnSpc>
            </a:pP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}</a:t>
            </a:r>
            <a:endParaRPr sz="40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1803400" algn="l"/>
                <a:tab pos="10140315" algn="l"/>
              </a:tabLst>
            </a:pPr>
            <a:r>
              <a:rPr dirty="0"/>
              <a:t> 	</a:t>
            </a:r>
            <a:r>
              <a:rPr spc="-40" dirty="0"/>
              <a:t>Hello</a:t>
            </a:r>
            <a:r>
              <a:rPr spc="-110" dirty="0"/>
              <a:t> </a:t>
            </a:r>
            <a:r>
              <a:rPr spc="-85" dirty="0"/>
              <a:t>World</a:t>
            </a:r>
            <a:r>
              <a:rPr spc="-105" dirty="0"/>
              <a:t> </a:t>
            </a:r>
            <a:r>
              <a:rPr spc="-80" dirty="0"/>
              <a:t>Program</a:t>
            </a:r>
            <a:r>
              <a:rPr spc="-130" dirty="0"/>
              <a:t> </a:t>
            </a:r>
            <a:r>
              <a:rPr spc="-30" dirty="0"/>
              <a:t>in</a:t>
            </a:r>
            <a:r>
              <a:rPr spc="-95" dirty="0"/>
              <a:t> </a:t>
            </a:r>
            <a:r>
              <a:rPr spc="-30" dirty="0"/>
              <a:t>C++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65756"/>
            <a:ext cx="6222365" cy="3669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3942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FFDDBD"/>
                </a:solidFill>
                <a:latin typeface="Arial MT"/>
                <a:cs typeface="Arial MT"/>
              </a:rPr>
              <a:t>//</a:t>
            </a:r>
            <a:r>
              <a:rPr sz="4000" spc="-75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100" dirty="0">
                <a:solidFill>
                  <a:srgbClr val="FFDDBD"/>
                </a:solidFill>
                <a:latin typeface="Arial MT"/>
                <a:cs typeface="Arial MT"/>
              </a:rPr>
              <a:t>Your</a:t>
            </a:r>
            <a:r>
              <a:rPr sz="4000" spc="10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DDBD"/>
                </a:solidFill>
                <a:latin typeface="Arial MT"/>
                <a:cs typeface="Arial MT"/>
              </a:rPr>
              <a:t>First</a:t>
            </a:r>
            <a:r>
              <a:rPr sz="4000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DDBD"/>
                </a:solidFill>
                <a:latin typeface="Arial MT"/>
                <a:cs typeface="Arial MT"/>
              </a:rPr>
              <a:t>C++</a:t>
            </a:r>
            <a:r>
              <a:rPr sz="4000" spc="10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DDBD"/>
                </a:solidFill>
                <a:latin typeface="Arial MT"/>
                <a:cs typeface="Arial MT"/>
              </a:rPr>
              <a:t>Program </a:t>
            </a:r>
            <a:r>
              <a:rPr sz="4000" spc="-1095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60ADED"/>
                </a:solidFill>
                <a:latin typeface="Arial MT"/>
                <a:cs typeface="Arial MT"/>
              </a:rPr>
              <a:t>#include</a:t>
            </a:r>
            <a:r>
              <a:rPr sz="4000" dirty="0">
                <a:solidFill>
                  <a:srgbClr val="60ADE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97C379"/>
                </a:solidFill>
                <a:latin typeface="Arial MT"/>
                <a:cs typeface="Arial MT"/>
              </a:rPr>
              <a:t>&lt;iostream&gt;</a:t>
            </a:r>
            <a:endParaRPr sz="4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C578DD"/>
                </a:solidFill>
                <a:latin typeface="Arial MT"/>
                <a:cs typeface="Arial MT"/>
              </a:rPr>
              <a:t>int</a:t>
            </a:r>
            <a:r>
              <a:rPr sz="4000" spc="-20" dirty="0">
                <a:solidFill>
                  <a:srgbClr val="C578D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60ADED"/>
                </a:solidFill>
                <a:latin typeface="Arial MT"/>
                <a:cs typeface="Arial MT"/>
              </a:rPr>
              <a:t>main</a:t>
            </a: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() {</a:t>
            </a:r>
            <a:endParaRPr sz="4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4000" spc="-5" dirty="0">
                <a:solidFill>
                  <a:srgbClr val="E6C07A"/>
                </a:solidFill>
                <a:latin typeface="Arial MT"/>
                <a:cs typeface="Arial MT"/>
              </a:rPr>
              <a:t>std</a:t>
            </a: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::</a:t>
            </a:r>
            <a:r>
              <a:rPr sz="4000" spc="-5" dirty="0">
                <a:solidFill>
                  <a:srgbClr val="E6C07A"/>
                </a:solidFill>
                <a:latin typeface="Arial MT"/>
                <a:cs typeface="Arial MT"/>
              </a:rPr>
              <a:t>cout </a:t>
            </a:r>
            <a:r>
              <a:rPr sz="4000" spc="-10" dirty="0">
                <a:solidFill>
                  <a:srgbClr val="D2D2D2"/>
                </a:solidFill>
                <a:latin typeface="Arial MT"/>
                <a:cs typeface="Arial MT"/>
              </a:rPr>
              <a:t>&lt;&lt;</a:t>
            </a:r>
            <a:r>
              <a:rPr sz="4000" spc="5" dirty="0">
                <a:solidFill>
                  <a:srgbClr val="D2D2D2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97C379"/>
                </a:solidFill>
                <a:latin typeface="Arial MT"/>
                <a:cs typeface="Arial MT"/>
              </a:rPr>
              <a:t>"Hello,</a:t>
            </a:r>
            <a:r>
              <a:rPr sz="4000" spc="15" dirty="0">
                <a:solidFill>
                  <a:srgbClr val="97C379"/>
                </a:solidFill>
                <a:latin typeface="Arial MT"/>
                <a:cs typeface="Arial MT"/>
              </a:rPr>
              <a:t> </a:t>
            </a:r>
            <a:r>
              <a:rPr sz="4000" spc="-15" dirty="0">
                <a:solidFill>
                  <a:srgbClr val="97C379"/>
                </a:solidFill>
                <a:latin typeface="Arial MT"/>
                <a:cs typeface="Arial MT"/>
              </a:rPr>
              <a:t>World!"</a:t>
            </a:r>
            <a:r>
              <a:rPr sz="4000" spc="-15" dirty="0">
                <a:solidFill>
                  <a:srgbClr val="D2D2D2"/>
                </a:solidFill>
                <a:latin typeface="Arial MT"/>
                <a:cs typeface="Arial MT"/>
              </a:rPr>
              <a:t>; </a:t>
            </a:r>
            <a:r>
              <a:rPr sz="4000" spc="-1095" dirty="0">
                <a:solidFill>
                  <a:srgbClr val="D2D2D2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C578DD"/>
                </a:solidFill>
                <a:latin typeface="Arial MT"/>
                <a:cs typeface="Arial MT"/>
              </a:rPr>
              <a:t>return</a:t>
            </a:r>
            <a:r>
              <a:rPr sz="4000" spc="20" dirty="0">
                <a:solidFill>
                  <a:srgbClr val="C578D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D19A66"/>
                </a:solidFill>
                <a:latin typeface="Arial MT"/>
                <a:cs typeface="Arial MT"/>
              </a:rPr>
              <a:t>0</a:t>
            </a: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;</a:t>
            </a:r>
            <a:endParaRPr sz="4000">
              <a:latin typeface="Arial MT"/>
              <a:cs typeface="Arial MT"/>
            </a:endParaRPr>
          </a:p>
          <a:p>
            <a:pPr marL="12700">
              <a:lnSpc>
                <a:spcPts val="4695"/>
              </a:lnSpc>
            </a:pP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}</a:t>
            </a:r>
            <a:endParaRPr sz="40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1768475" algn="l"/>
                <a:tab pos="10140315" algn="l"/>
              </a:tabLst>
            </a:pPr>
            <a:r>
              <a:rPr dirty="0"/>
              <a:t> 	</a:t>
            </a:r>
            <a:r>
              <a:rPr spc="-40" dirty="0"/>
              <a:t>Hello</a:t>
            </a:r>
            <a:r>
              <a:rPr spc="-110" dirty="0"/>
              <a:t> </a:t>
            </a:r>
            <a:r>
              <a:rPr spc="-85" dirty="0"/>
              <a:t>World</a:t>
            </a:r>
            <a:r>
              <a:rPr spc="-110" dirty="0"/>
              <a:t> </a:t>
            </a:r>
            <a:r>
              <a:rPr spc="-80" dirty="0"/>
              <a:t>Program</a:t>
            </a:r>
            <a:r>
              <a:rPr spc="-125" dirty="0"/>
              <a:t> </a:t>
            </a:r>
            <a:r>
              <a:rPr spc="-30" dirty="0"/>
              <a:t>in</a:t>
            </a:r>
            <a:r>
              <a:rPr spc="-100" dirty="0"/>
              <a:t> </a:t>
            </a:r>
            <a:r>
              <a:rPr spc="-80" dirty="0"/>
              <a:t>Java	</a:t>
            </a:r>
          </a:p>
        </p:txBody>
      </p:sp>
      <p:sp>
        <p:nvSpPr>
          <p:cNvPr id="3" name="object 3"/>
          <p:cNvSpPr/>
          <p:nvPr/>
        </p:nvSpPr>
        <p:spPr>
          <a:xfrm>
            <a:off x="1097280" y="1825751"/>
            <a:ext cx="9444355" cy="4063365"/>
          </a:xfrm>
          <a:custGeom>
            <a:avLst/>
            <a:gdLst/>
            <a:ahLst/>
            <a:cxnLst/>
            <a:rect l="l" t="t" r="r" b="b"/>
            <a:pathLst>
              <a:path w="9444355" h="4063365">
                <a:moveTo>
                  <a:pt x="9444228" y="0"/>
                </a:moveTo>
                <a:lnTo>
                  <a:pt x="0" y="0"/>
                </a:lnTo>
                <a:lnTo>
                  <a:pt x="0" y="4062984"/>
                </a:lnTo>
                <a:lnTo>
                  <a:pt x="9444228" y="4062984"/>
                </a:lnTo>
                <a:lnTo>
                  <a:pt x="9444228" y="0"/>
                </a:lnTo>
                <a:close/>
              </a:path>
            </a:pathLst>
          </a:custGeom>
          <a:solidFill>
            <a:srgbClr val="383A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4580" y="1818513"/>
            <a:ext cx="9225280" cy="405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19481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FFDDBD"/>
                </a:solidFill>
                <a:latin typeface="Arial MT"/>
                <a:cs typeface="Arial MT"/>
              </a:rPr>
              <a:t>/</a:t>
            </a:r>
            <a:r>
              <a:rPr sz="4400" dirty="0">
                <a:solidFill>
                  <a:srgbClr val="FFDDBD"/>
                </a:solidFill>
                <a:latin typeface="Arial MT"/>
                <a:cs typeface="Arial MT"/>
              </a:rPr>
              <a:t>/</a:t>
            </a:r>
            <a:r>
              <a:rPr sz="4400" spc="-80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400" spc="-409" dirty="0">
                <a:solidFill>
                  <a:srgbClr val="FFDDBD"/>
                </a:solidFill>
                <a:latin typeface="Arial MT"/>
                <a:cs typeface="Arial MT"/>
              </a:rPr>
              <a:t>Y</a:t>
            </a:r>
            <a:r>
              <a:rPr sz="4400" dirty="0">
                <a:solidFill>
                  <a:srgbClr val="FFDDBD"/>
                </a:solidFill>
                <a:latin typeface="Arial MT"/>
                <a:cs typeface="Arial MT"/>
              </a:rPr>
              <a:t>our</a:t>
            </a:r>
            <a:r>
              <a:rPr sz="4400" spc="15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DDBD"/>
                </a:solidFill>
                <a:latin typeface="Arial MT"/>
                <a:cs typeface="Arial MT"/>
              </a:rPr>
              <a:t>Fir</a:t>
            </a:r>
            <a:r>
              <a:rPr sz="4400" spc="10" dirty="0">
                <a:solidFill>
                  <a:srgbClr val="FFDDBD"/>
                </a:solidFill>
                <a:latin typeface="Arial MT"/>
                <a:cs typeface="Arial MT"/>
              </a:rPr>
              <a:t>s</a:t>
            </a:r>
            <a:r>
              <a:rPr sz="4400" dirty="0">
                <a:solidFill>
                  <a:srgbClr val="FFDDBD"/>
                </a:solidFill>
                <a:latin typeface="Arial MT"/>
                <a:cs typeface="Arial MT"/>
              </a:rPr>
              <a:t>t</a:t>
            </a:r>
            <a:r>
              <a:rPr sz="4400" spc="-25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DDBD"/>
                </a:solidFill>
                <a:latin typeface="Arial MT"/>
                <a:cs typeface="Arial MT"/>
              </a:rPr>
              <a:t>Program  </a:t>
            </a:r>
            <a:r>
              <a:rPr sz="4400" dirty="0">
                <a:solidFill>
                  <a:srgbClr val="C578DD"/>
                </a:solidFill>
                <a:latin typeface="Arial MT"/>
                <a:cs typeface="Arial MT"/>
              </a:rPr>
              <a:t>class</a:t>
            </a:r>
            <a:r>
              <a:rPr sz="4400" spc="-35" dirty="0">
                <a:solidFill>
                  <a:srgbClr val="C578DD"/>
                </a:solidFill>
                <a:latin typeface="Arial MT"/>
                <a:cs typeface="Arial MT"/>
              </a:rPr>
              <a:t> </a:t>
            </a:r>
            <a:r>
              <a:rPr sz="4400" spc="-10" dirty="0">
                <a:solidFill>
                  <a:srgbClr val="E6C07A"/>
                </a:solidFill>
                <a:latin typeface="Arial MT"/>
                <a:cs typeface="Arial MT"/>
              </a:rPr>
              <a:t>HelloWorld</a:t>
            </a:r>
            <a:r>
              <a:rPr sz="4400" spc="-20" dirty="0">
                <a:solidFill>
                  <a:srgbClr val="E6C07A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D2D2D2"/>
                </a:solidFill>
                <a:latin typeface="Arial MT"/>
                <a:cs typeface="Arial MT"/>
              </a:rPr>
              <a:t>{</a:t>
            </a:r>
            <a:endParaRPr sz="4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4400" dirty="0">
                <a:solidFill>
                  <a:srgbClr val="C578DD"/>
                </a:solidFill>
                <a:latin typeface="Arial MT"/>
                <a:cs typeface="Arial MT"/>
              </a:rPr>
              <a:t>public</a:t>
            </a:r>
            <a:r>
              <a:rPr sz="4400" spc="-25" dirty="0">
                <a:solidFill>
                  <a:srgbClr val="C578DD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C578DD"/>
                </a:solidFill>
                <a:latin typeface="Arial MT"/>
                <a:cs typeface="Arial MT"/>
              </a:rPr>
              <a:t>static void</a:t>
            </a:r>
            <a:r>
              <a:rPr sz="4400" spc="-10" dirty="0">
                <a:solidFill>
                  <a:srgbClr val="C578DD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60ADED"/>
                </a:solidFill>
                <a:latin typeface="Arial MT"/>
                <a:cs typeface="Arial MT"/>
              </a:rPr>
              <a:t>main</a:t>
            </a:r>
            <a:r>
              <a:rPr sz="4400" dirty="0">
                <a:solidFill>
                  <a:srgbClr val="D2D2D2"/>
                </a:solidFill>
                <a:latin typeface="Arial MT"/>
                <a:cs typeface="Arial MT"/>
              </a:rPr>
              <a:t>(String[]</a:t>
            </a:r>
            <a:r>
              <a:rPr sz="4400" spc="-30" dirty="0">
                <a:solidFill>
                  <a:srgbClr val="D2D2D2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D2D2D2"/>
                </a:solidFill>
                <a:latin typeface="Arial MT"/>
                <a:cs typeface="Arial MT"/>
              </a:rPr>
              <a:t>args)</a:t>
            </a:r>
            <a:r>
              <a:rPr sz="4400" spc="-5" dirty="0">
                <a:solidFill>
                  <a:srgbClr val="D2D2D2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D2D2D2"/>
                </a:solidFill>
                <a:latin typeface="Arial MT"/>
                <a:cs typeface="Arial MT"/>
              </a:rPr>
              <a:t>{ </a:t>
            </a:r>
            <a:r>
              <a:rPr sz="4400" spc="-1210" dirty="0">
                <a:solidFill>
                  <a:srgbClr val="D2D2D2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D2D2D2"/>
                </a:solidFill>
                <a:latin typeface="Arial MT"/>
                <a:cs typeface="Arial MT"/>
              </a:rPr>
              <a:t>System.out.println(</a:t>
            </a:r>
            <a:r>
              <a:rPr sz="4400" dirty="0">
                <a:solidFill>
                  <a:srgbClr val="97C379"/>
                </a:solidFill>
                <a:latin typeface="Arial MT"/>
                <a:cs typeface="Arial MT"/>
              </a:rPr>
              <a:t>"Hello,</a:t>
            </a:r>
            <a:r>
              <a:rPr sz="4400" spc="-60" dirty="0">
                <a:solidFill>
                  <a:srgbClr val="97C379"/>
                </a:solidFill>
                <a:latin typeface="Arial MT"/>
                <a:cs typeface="Arial MT"/>
              </a:rPr>
              <a:t> </a:t>
            </a:r>
            <a:r>
              <a:rPr sz="4400" spc="-10" dirty="0">
                <a:solidFill>
                  <a:srgbClr val="97C379"/>
                </a:solidFill>
                <a:latin typeface="Arial MT"/>
                <a:cs typeface="Arial MT"/>
              </a:rPr>
              <a:t>World!"</a:t>
            </a:r>
            <a:r>
              <a:rPr sz="4400" spc="-10" dirty="0">
                <a:solidFill>
                  <a:srgbClr val="D2D2D2"/>
                </a:solidFill>
                <a:latin typeface="Arial MT"/>
                <a:cs typeface="Arial MT"/>
              </a:rPr>
              <a:t>);</a:t>
            </a:r>
            <a:endParaRPr sz="44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4400" dirty="0">
                <a:solidFill>
                  <a:srgbClr val="D2D2D2"/>
                </a:solidFill>
                <a:latin typeface="Arial MT"/>
                <a:cs typeface="Arial MT"/>
              </a:rPr>
              <a:t>}</a:t>
            </a:r>
            <a:endParaRPr sz="4400">
              <a:latin typeface="Arial MT"/>
              <a:cs typeface="Arial MT"/>
            </a:endParaRPr>
          </a:p>
          <a:p>
            <a:pPr marL="168275">
              <a:lnSpc>
                <a:spcPct val="100000"/>
              </a:lnSpc>
            </a:pPr>
            <a:r>
              <a:rPr sz="4400" dirty="0">
                <a:solidFill>
                  <a:srgbClr val="D2D2D2"/>
                </a:solidFill>
                <a:latin typeface="Arial MT"/>
                <a:cs typeface="Arial MT"/>
              </a:rPr>
              <a:t>}</a:t>
            </a:r>
            <a:endParaRPr sz="4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0591" y="913841"/>
            <a:ext cx="99923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1630" algn="l"/>
                <a:tab pos="9979025" algn="l"/>
              </a:tabLst>
            </a:pPr>
            <a:r>
              <a:rPr sz="4800" u="sng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 	</a:t>
            </a:r>
            <a:r>
              <a:rPr sz="4800" u="sng" spc="-4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Hello</a:t>
            </a:r>
            <a:r>
              <a:rPr sz="4800" u="sng" spc="-11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800" u="sng" spc="-8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World</a:t>
            </a:r>
            <a:r>
              <a:rPr sz="4800" u="sng" spc="-11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800" u="sng" spc="-8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Program</a:t>
            </a:r>
            <a:r>
              <a:rPr sz="4800" u="sng" spc="-12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800" u="sng" spc="-3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in</a:t>
            </a:r>
            <a:r>
              <a:rPr sz="4800" u="sng" spc="-10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800" u="sng" spc="-3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PHP	</a:t>
            </a:r>
            <a:endParaRPr sz="480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1725548"/>
            <a:ext cx="7262495" cy="193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90">
              <a:lnSpc>
                <a:spcPts val="7525"/>
              </a:lnSpc>
              <a:spcBef>
                <a:spcPts val="100"/>
              </a:spcBef>
            </a:pPr>
            <a:r>
              <a:rPr sz="6600" u="none" spc="-5" dirty="0">
                <a:latin typeface="Calibri" panose="020F0502020204030204"/>
                <a:cs typeface="Calibri" panose="020F0502020204030204"/>
              </a:rPr>
              <a:t>&lt;?php</a:t>
            </a:r>
            <a:endParaRPr sz="6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7525"/>
              </a:lnSpc>
            </a:pPr>
            <a:r>
              <a:rPr sz="6600" u="none" dirty="0">
                <a:latin typeface="Calibri" panose="020F0502020204030204"/>
                <a:cs typeface="Calibri" panose="020F0502020204030204"/>
              </a:rPr>
              <a:t>echo</a:t>
            </a:r>
            <a:r>
              <a:rPr sz="6600" u="none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6600" u="none" spc="-25" dirty="0">
                <a:latin typeface="Calibri" panose="020F0502020204030204"/>
                <a:cs typeface="Calibri" panose="020F0502020204030204"/>
              </a:rPr>
              <a:t>"Hello,</a:t>
            </a:r>
            <a:r>
              <a:rPr sz="6600" u="none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6600" u="none" spc="-40" dirty="0">
                <a:latin typeface="Calibri" panose="020F0502020204030204"/>
                <a:cs typeface="Calibri" panose="020F0502020204030204"/>
              </a:rPr>
              <a:t>World!";</a:t>
            </a:r>
            <a:endParaRPr sz="6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019" y="3536137"/>
            <a:ext cx="83248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?&gt;</a:t>
            </a:r>
            <a:endParaRPr sz="6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560"/>
              </a:spcBef>
              <a:tabLst>
                <a:tab pos="1417955" algn="l"/>
                <a:tab pos="10140315" algn="l"/>
              </a:tabLst>
            </a:pPr>
            <a:r>
              <a:rPr dirty="0"/>
              <a:t> 	</a:t>
            </a:r>
            <a:r>
              <a:rPr spc="-40" dirty="0"/>
              <a:t>Hello</a:t>
            </a:r>
            <a:r>
              <a:rPr spc="-110" dirty="0"/>
              <a:t> </a:t>
            </a:r>
            <a:r>
              <a:rPr spc="-85" dirty="0"/>
              <a:t>World</a:t>
            </a:r>
            <a:r>
              <a:rPr spc="-105" dirty="0"/>
              <a:t> </a:t>
            </a:r>
            <a:r>
              <a:rPr spc="-80" dirty="0"/>
              <a:t>Program</a:t>
            </a:r>
            <a:r>
              <a:rPr spc="-125" dirty="0"/>
              <a:t> </a:t>
            </a:r>
            <a:r>
              <a:rPr spc="-30" dirty="0"/>
              <a:t>in</a:t>
            </a:r>
            <a:r>
              <a:rPr spc="-100" dirty="0"/>
              <a:t> </a:t>
            </a:r>
            <a:r>
              <a:rPr spc="-50" dirty="0"/>
              <a:t>Python	</a:t>
            </a:r>
          </a:p>
          <a:p>
            <a:pPr marL="266700">
              <a:lnSpc>
                <a:spcPct val="100000"/>
              </a:lnSpc>
              <a:spcBef>
                <a:spcPts val="625"/>
              </a:spcBef>
            </a:pPr>
            <a:r>
              <a:rPr sz="6600" u="none" spc="-10" dirty="0">
                <a:latin typeface="Calibri" panose="020F0502020204030204"/>
                <a:cs typeface="Calibri" panose="020F0502020204030204"/>
              </a:rPr>
              <a:t>print(“Hello</a:t>
            </a:r>
            <a:r>
              <a:rPr sz="6600" u="none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6600" u="none" spc="-45" dirty="0">
                <a:latin typeface="Calibri" panose="020F0502020204030204"/>
                <a:cs typeface="Calibri" panose="020F0502020204030204"/>
              </a:rPr>
              <a:t>World”)</a:t>
            </a:r>
            <a:endParaRPr sz="6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560"/>
              </a:spcBef>
              <a:tabLst>
                <a:tab pos="4250055" algn="l"/>
                <a:tab pos="10140315" algn="l"/>
              </a:tabLst>
            </a:pPr>
            <a:r>
              <a:rPr dirty="0"/>
              <a:t> 	</a:t>
            </a:r>
            <a:r>
              <a:rPr spc="-45" dirty="0"/>
              <a:t>Output	</a:t>
            </a:r>
          </a:p>
          <a:p>
            <a:pPr marL="266700">
              <a:lnSpc>
                <a:spcPct val="100000"/>
              </a:lnSpc>
              <a:spcBef>
                <a:spcPts val="625"/>
              </a:spcBef>
            </a:pPr>
            <a:r>
              <a:rPr sz="6600" u="none" spc="-25" dirty="0">
                <a:latin typeface="Calibri" panose="020F0502020204030204"/>
                <a:cs typeface="Calibri" panose="020F0502020204030204"/>
              </a:rPr>
              <a:t>Hello,</a:t>
            </a:r>
            <a:r>
              <a:rPr sz="6600" u="none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6600" u="none" spc="-65" dirty="0">
                <a:latin typeface="Calibri" panose="020F0502020204030204"/>
                <a:cs typeface="Calibri" panose="020F0502020204030204"/>
              </a:rPr>
              <a:t>World</a:t>
            </a:r>
            <a:endParaRPr sz="6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576195" algn="l"/>
                <a:tab pos="10140315" algn="l"/>
              </a:tabLst>
            </a:pPr>
            <a:r>
              <a:rPr dirty="0"/>
              <a:t> 	</a:t>
            </a:r>
            <a:r>
              <a:rPr spc="-65" dirty="0"/>
              <a:t>Installation</a:t>
            </a:r>
            <a:r>
              <a:rPr spc="-85" dirty="0"/>
              <a:t> </a:t>
            </a:r>
            <a:r>
              <a:rPr spc="-25" dirty="0"/>
              <a:t>of</a:t>
            </a:r>
            <a:r>
              <a:rPr spc="-110" dirty="0"/>
              <a:t> </a:t>
            </a:r>
            <a:r>
              <a:rPr spc="-50" dirty="0"/>
              <a:t>Python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174750" algn="ctr">
              <a:lnSpc>
                <a:spcPct val="100000"/>
              </a:lnSpc>
              <a:spcBef>
                <a:spcPts val="975"/>
              </a:spcBef>
            </a:pPr>
            <a:r>
              <a:rPr dirty="0"/>
              <a:t>?</a:t>
            </a:r>
          </a:p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u="heavy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hlinkClick r:id="rId2"/>
              </a:rPr>
              <a:t>https://www.python.org/downloads/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324735" algn="l"/>
                <a:tab pos="10140315" algn="l"/>
              </a:tabLst>
            </a:pPr>
            <a:r>
              <a:rPr dirty="0"/>
              <a:t> 	</a:t>
            </a:r>
            <a:r>
              <a:rPr spc="-75" dirty="0"/>
              <a:t>First</a:t>
            </a:r>
            <a:r>
              <a:rPr spc="-95" dirty="0"/>
              <a:t> </a:t>
            </a:r>
            <a:r>
              <a:rPr spc="-80" dirty="0"/>
              <a:t>Program</a:t>
            </a:r>
            <a:r>
              <a:rPr spc="-120" dirty="0"/>
              <a:t> </a:t>
            </a:r>
            <a:r>
              <a:rPr spc="-30" dirty="0"/>
              <a:t>in</a:t>
            </a:r>
            <a:r>
              <a:rPr spc="-90" dirty="0"/>
              <a:t> </a:t>
            </a:r>
            <a:r>
              <a:rPr spc="-50" dirty="0"/>
              <a:t>Python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804238"/>
            <a:ext cx="621538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print</a:t>
            </a:r>
            <a:r>
              <a:rPr sz="3200" spc="-1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(“</a:t>
            </a:r>
            <a:r>
              <a:rPr lang="en-US" sz="3200" spc="-1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Hello, I am Asif Ali</a:t>
            </a:r>
            <a:r>
              <a:rPr sz="32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”)</a:t>
            </a:r>
            <a:endParaRPr sz="32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3419475" algn="l"/>
                <a:tab pos="10140315" algn="l"/>
              </a:tabLst>
            </a:pPr>
            <a:r>
              <a:rPr dirty="0"/>
              <a:t> 	</a:t>
            </a:r>
            <a:r>
              <a:rPr spc="-45" dirty="0"/>
              <a:t>Basic</a:t>
            </a:r>
            <a:r>
              <a:rPr spc="-114" dirty="0"/>
              <a:t> </a:t>
            </a:r>
            <a:r>
              <a:rPr spc="-80" dirty="0"/>
              <a:t>Program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795" y="1845564"/>
            <a:ext cx="11751564" cy="4023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Data Types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2708434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en-US" dirty="0" smtClean="0"/>
              <a:t>Integer</a:t>
            </a:r>
          </a:p>
          <a:p>
            <a:pPr marL="742950" indent="-742950">
              <a:buAutoNum type="arabicPeriod"/>
            </a:pPr>
            <a:r>
              <a:rPr lang="en-US" dirty="0" smtClean="0"/>
              <a:t>Float</a:t>
            </a:r>
          </a:p>
          <a:p>
            <a:pPr marL="742950" indent="-742950">
              <a:buAutoNum type="arabicPeriod"/>
            </a:pPr>
            <a:r>
              <a:rPr lang="en-US" dirty="0" smtClean="0"/>
              <a:t>String</a:t>
            </a:r>
          </a:p>
          <a:p>
            <a:pPr marL="742950" indent="-742950">
              <a:buAutoNum type="arabicPeriod"/>
            </a:pPr>
            <a:r>
              <a:rPr lang="en-US" dirty="0" smtClean="0"/>
              <a:t>Boolean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Integer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1354217"/>
          </a:xfrm>
        </p:spPr>
        <p:txBody>
          <a:bodyPr/>
          <a:lstStyle/>
          <a:p>
            <a:r>
              <a:rPr lang="en-US" dirty="0" smtClean="0"/>
              <a:t>a = 5</a:t>
            </a:r>
          </a:p>
          <a:p>
            <a:r>
              <a:rPr lang="en-US" dirty="0" smtClean="0"/>
              <a:t>print(type(a))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Float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1354217"/>
          </a:xfrm>
        </p:spPr>
        <p:txBody>
          <a:bodyPr/>
          <a:lstStyle/>
          <a:p>
            <a:r>
              <a:rPr lang="en-US" dirty="0" smtClean="0"/>
              <a:t>a = 5.6</a:t>
            </a:r>
          </a:p>
          <a:p>
            <a:r>
              <a:rPr lang="en-US" dirty="0" smtClean="0"/>
              <a:t>print(type(a))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String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1354217"/>
          </a:xfrm>
        </p:spPr>
        <p:txBody>
          <a:bodyPr/>
          <a:lstStyle/>
          <a:p>
            <a:r>
              <a:rPr lang="en-US" dirty="0" smtClean="0"/>
              <a:t>a = “Asif”</a:t>
            </a:r>
          </a:p>
          <a:p>
            <a:r>
              <a:rPr lang="en-US" dirty="0" smtClean="0"/>
              <a:t>print(type(a))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Boolean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1354217"/>
          </a:xfrm>
        </p:spPr>
        <p:txBody>
          <a:bodyPr/>
          <a:lstStyle/>
          <a:p>
            <a:r>
              <a:rPr lang="en-US" dirty="0" smtClean="0"/>
              <a:t>a = True</a:t>
            </a:r>
          </a:p>
          <a:p>
            <a:r>
              <a:rPr lang="en-US" dirty="0" smtClean="0"/>
              <a:t>print(type(a))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Activity: What will be the output ?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1752600"/>
            <a:ext cx="8528685" cy="2031325"/>
          </a:xfrm>
        </p:spPr>
        <p:txBody>
          <a:bodyPr/>
          <a:lstStyle/>
          <a:p>
            <a:pPr algn="l"/>
            <a:r>
              <a:rPr lang="en-US" dirty="0" smtClean="0"/>
              <a:t>a = “5”</a:t>
            </a:r>
          </a:p>
          <a:p>
            <a:pPr algn="l"/>
            <a:r>
              <a:rPr lang="en-US" dirty="0" smtClean="0"/>
              <a:t>b = 10</a:t>
            </a:r>
          </a:p>
          <a:p>
            <a:pPr algn="l"/>
            <a:r>
              <a:rPr lang="en-US" dirty="0" smtClean="0"/>
              <a:t>print(</a:t>
            </a:r>
            <a:r>
              <a:rPr lang="en-US" dirty="0" err="1" smtClean="0"/>
              <a:t>a+b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719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What will be the result? 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1354217"/>
          </a:xfrm>
        </p:spPr>
        <p:txBody>
          <a:bodyPr/>
          <a:lstStyle/>
          <a:p>
            <a:r>
              <a:rPr lang="en-US" dirty="0" smtClean="0"/>
              <a:t>a = ‘2’</a:t>
            </a:r>
          </a:p>
          <a:p>
            <a:r>
              <a:rPr lang="en-US" dirty="0" smtClean="0"/>
              <a:t>print(type(a))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What will be the result? 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1354217"/>
          </a:xfrm>
        </p:spPr>
        <p:txBody>
          <a:bodyPr/>
          <a:lstStyle/>
          <a:p>
            <a:r>
              <a:rPr lang="en-US" dirty="0" smtClean="0"/>
              <a:t>a = 2.6</a:t>
            </a:r>
          </a:p>
          <a:p>
            <a:r>
              <a:rPr lang="en-US" dirty="0" smtClean="0"/>
              <a:t>print(type(a))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What will be the result? 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1354217"/>
          </a:xfrm>
        </p:spPr>
        <p:txBody>
          <a:bodyPr/>
          <a:lstStyle/>
          <a:p>
            <a:r>
              <a:rPr lang="en-US" dirty="0" smtClean="0"/>
              <a:t>a = 2.6.7</a:t>
            </a:r>
          </a:p>
          <a:p>
            <a:r>
              <a:rPr lang="en-US" dirty="0" smtClean="0"/>
              <a:t>print(type(a))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Data Types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4062651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en-US" dirty="0" smtClean="0"/>
              <a:t>Text Type: </a:t>
            </a:r>
            <a:r>
              <a:rPr lang="en-US" dirty="0" err="1" smtClean="0"/>
              <a:t>Str</a:t>
            </a:r>
            <a:endParaRPr lang="en-US" dirty="0" smtClean="0"/>
          </a:p>
          <a:p>
            <a:pPr marL="742950" indent="-742950">
              <a:buAutoNum type="arabicPeriod"/>
            </a:pPr>
            <a:r>
              <a:rPr lang="en-US" dirty="0" smtClean="0"/>
              <a:t>Numeric Types: </a:t>
            </a:r>
            <a:r>
              <a:rPr lang="en-US" dirty="0" err="1" smtClean="0"/>
              <a:t>int</a:t>
            </a:r>
            <a:r>
              <a:rPr lang="en-US" dirty="0" smtClean="0"/>
              <a:t>, float, complex</a:t>
            </a:r>
          </a:p>
          <a:p>
            <a:pPr marL="742950" indent="-742950">
              <a:buAutoNum type="arabicPeriod"/>
            </a:pPr>
            <a:r>
              <a:rPr lang="en-US" dirty="0" smtClean="0"/>
              <a:t>Sequence Types: list, tuple</a:t>
            </a:r>
          </a:p>
          <a:p>
            <a:pPr marL="742950" indent="-742950">
              <a:buAutoNum type="arabicPeriod"/>
            </a:pPr>
            <a:r>
              <a:rPr lang="en-US" dirty="0" smtClean="0"/>
              <a:t>Mapping Types: </a:t>
            </a:r>
            <a:r>
              <a:rPr lang="en-US" dirty="0" err="1" smtClean="0"/>
              <a:t>dict</a:t>
            </a:r>
            <a:endParaRPr lang="en-US" dirty="0" smtClean="0"/>
          </a:p>
          <a:p>
            <a:pPr marL="742950" indent="-742950">
              <a:buAutoNum type="arabicPeriod"/>
            </a:pPr>
            <a:r>
              <a:rPr lang="en-US" dirty="0" smtClean="0"/>
              <a:t>Boolean Type: </a:t>
            </a:r>
            <a:r>
              <a:rPr lang="en-US" dirty="0" err="1" smtClean="0"/>
              <a:t>Bool</a:t>
            </a:r>
            <a:endParaRPr lang="en-US" dirty="0" smtClean="0"/>
          </a:p>
          <a:p>
            <a:pPr marL="742950" indent="-742950">
              <a:buAutoNum type="arabicPeriod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Types Casting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437042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Type casting is used to convert one data type into another.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Example:</a:t>
            </a:r>
          </a:p>
          <a:p>
            <a:r>
              <a:rPr lang="en-US" sz="4000" dirty="0"/>
              <a:t>a = </a:t>
            </a:r>
            <a:r>
              <a:rPr lang="en-US" sz="4000" dirty="0" smtClean="0"/>
              <a:t>2.6</a:t>
            </a:r>
          </a:p>
          <a:p>
            <a:r>
              <a:rPr lang="en-US" sz="4000" dirty="0" smtClean="0"/>
              <a:t>print(type(a))</a:t>
            </a:r>
          </a:p>
          <a:p>
            <a:r>
              <a:rPr lang="en-US" sz="4000" dirty="0" smtClean="0"/>
              <a:t>b </a:t>
            </a:r>
            <a:r>
              <a:rPr lang="en-US" sz="4000" dirty="0"/>
              <a:t>= </a:t>
            </a:r>
            <a:r>
              <a:rPr lang="en-US" sz="4000" dirty="0" err="1"/>
              <a:t>int</a:t>
            </a:r>
            <a:r>
              <a:rPr lang="en-US" sz="4000" dirty="0"/>
              <a:t>(a</a:t>
            </a:r>
            <a:r>
              <a:rPr lang="en-US" sz="4000" dirty="0" smtClean="0"/>
              <a:t>)</a:t>
            </a:r>
          </a:p>
          <a:p>
            <a:r>
              <a:rPr lang="en-US" sz="4000" dirty="0" smtClean="0"/>
              <a:t>print(type(b))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Types Casting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3077766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Example:</a:t>
            </a:r>
          </a:p>
          <a:p>
            <a:r>
              <a:rPr lang="en-US" sz="4000" dirty="0"/>
              <a:t>a = </a:t>
            </a:r>
            <a:r>
              <a:rPr lang="en-US" sz="4000" dirty="0" smtClean="0"/>
              <a:t>“2”</a:t>
            </a:r>
          </a:p>
          <a:p>
            <a:r>
              <a:rPr lang="en-US" sz="4000" dirty="0" smtClean="0"/>
              <a:t>print(type(a))</a:t>
            </a:r>
          </a:p>
          <a:p>
            <a:r>
              <a:rPr lang="en-US" sz="4000" dirty="0" smtClean="0"/>
              <a:t>b </a:t>
            </a:r>
            <a:r>
              <a:rPr lang="en-US" sz="4000" dirty="0"/>
              <a:t>= </a:t>
            </a:r>
            <a:r>
              <a:rPr lang="en-US" sz="4000" dirty="0" err="1"/>
              <a:t>int</a:t>
            </a:r>
            <a:r>
              <a:rPr lang="en-US" sz="4000" dirty="0"/>
              <a:t>(a</a:t>
            </a:r>
            <a:r>
              <a:rPr lang="en-US" sz="4000" dirty="0" smtClean="0"/>
              <a:t>)</a:t>
            </a:r>
          </a:p>
          <a:p>
            <a:r>
              <a:rPr lang="en-US" sz="4000" dirty="0" smtClean="0"/>
              <a:t>print(type(b))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Activity: What will be the output ?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1846659"/>
          </a:xfrm>
        </p:spPr>
        <p:txBody>
          <a:bodyPr/>
          <a:lstStyle/>
          <a:p>
            <a:pPr algn="l"/>
            <a:r>
              <a:rPr lang="en-US" sz="4000" dirty="0" smtClean="0"/>
              <a:t>a =“a”</a:t>
            </a:r>
          </a:p>
          <a:p>
            <a:pPr algn="l"/>
            <a:r>
              <a:rPr lang="en-US" sz="4000" dirty="0" smtClean="0"/>
              <a:t>b = 5.6.7</a:t>
            </a:r>
          </a:p>
          <a:p>
            <a:pPr algn="l"/>
            <a:r>
              <a:rPr lang="en-US" sz="4000" dirty="0" smtClean="0"/>
              <a:t>print(</a:t>
            </a:r>
            <a:r>
              <a:rPr lang="en-US" sz="4000" dirty="0" err="1" smtClean="0"/>
              <a:t>a+b</a:t>
            </a:r>
            <a:r>
              <a:rPr lang="en-US" sz="4000" dirty="0" smtClean="0"/>
              <a:t>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7799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Activity-01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3693319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Write a python program that takes two numbers and add them. Finally display the result.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Sample Output:</a:t>
            </a:r>
          </a:p>
          <a:p>
            <a:r>
              <a:rPr lang="en-US" sz="4000" dirty="0" smtClean="0"/>
              <a:t>Enter first number:      2</a:t>
            </a:r>
          </a:p>
          <a:p>
            <a:r>
              <a:rPr lang="en-US" sz="4000" dirty="0" smtClean="0"/>
              <a:t>Enter second number: 4</a:t>
            </a:r>
          </a:p>
          <a:p>
            <a:r>
              <a:rPr lang="en-US" sz="4000" dirty="0" smtClean="0"/>
              <a:t>Addition result :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Activity-01 Solution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3077766"/>
          </a:xfrm>
        </p:spPr>
        <p:txBody>
          <a:bodyPr/>
          <a:lstStyle/>
          <a:p>
            <a:r>
              <a:rPr lang="en-US" sz="4000" dirty="0"/>
              <a:t>n1 = input("Enter first number</a:t>
            </a:r>
            <a:r>
              <a:rPr lang="en-US" sz="4000" dirty="0" smtClean="0"/>
              <a:t>:")</a:t>
            </a:r>
          </a:p>
          <a:p>
            <a:r>
              <a:rPr lang="en-US" sz="4000" dirty="0" smtClean="0"/>
              <a:t>n2 </a:t>
            </a:r>
            <a:r>
              <a:rPr lang="en-US" sz="4000" dirty="0"/>
              <a:t>= input("Enter second number</a:t>
            </a:r>
            <a:r>
              <a:rPr lang="en-US" sz="4000" dirty="0" smtClean="0"/>
              <a:t>:")</a:t>
            </a:r>
          </a:p>
          <a:p>
            <a:r>
              <a:rPr lang="en-US" sz="4000" dirty="0" smtClean="0"/>
              <a:t>n1 </a:t>
            </a:r>
            <a:r>
              <a:rPr lang="en-US" sz="4000" dirty="0"/>
              <a:t>= </a:t>
            </a:r>
            <a:r>
              <a:rPr lang="en-US" sz="4000" dirty="0" err="1"/>
              <a:t>int</a:t>
            </a:r>
            <a:r>
              <a:rPr lang="en-US" sz="4000" dirty="0"/>
              <a:t>(n1</a:t>
            </a:r>
            <a:r>
              <a:rPr lang="en-US" sz="4000" dirty="0" smtClean="0"/>
              <a:t>)</a:t>
            </a:r>
          </a:p>
          <a:p>
            <a:r>
              <a:rPr lang="en-US" sz="4000" dirty="0" smtClean="0"/>
              <a:t>n2 </a:t>
            </a:r>
            <a:r>
              <a:rPr lang="en-US" sz="4000" dirty="0"/>
              <a:t>= </a:t>
            </a:r>
            <a:r>
              <a:rPr lang="en-US" sz="4000" dirty="0" err="1"/>
              <a:t>int</a:t>
            </a:r>
            <a:r>
              <a:rPr lang="en-US" sz="4000" dirty="0"/>
              <a:t>(n2</a:t>
            </a:r>
            <a:r>
              <a:rPr lang="en-US" sz="4000" dirty="0" smtClean="0"/>
              <a:t>)</a:t>
            </a:r>
          </a:p>
          <a:p>
            <a:r>
              <a:rPr lang="en-US" sz="4000" dirty="0" smtClean="0"/>
              <a:t>print</a:t>
            </a:r>
            <a:r>
              <a:rPr lang="en-US" sz="4000" dirty="0"/>
              <a:t>("Addition result is:", n1+n2)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Activity-01 Optimized Solution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1846659"/>
          </a:xfrm>
        </p:spPr>
        <p:txBody>
          <a:bodyPr/>
          <a:lstStyle/>
          <a:p>
            <a:r>
              <a:rPr lang="en-US" sz="4000" dirty="0"/>
              <a:t>n1 = </a:t>
            </a:r>
            <a:r>
              <a:rPr lang="en-US" sz="4000" dirty="0" err="1" smtClean="0"/>
              <a:t>int</a:t>
            </a:r>
            <a:r>
              <a:rPr lang="en-US" sz="4000" dirty="0" smtClean="0"/>
              <a:t>(input</a:t>
            </a:r>
            <a:r>
              <a:rPr lang="en-US" sz="4000" dirty="0"/>
              <a:t>("Enter first number</a:t>
            </a:r>
            <a:r>
              <a:rPr lang="en-US" sz="4000" dirty="0" smtClean="0"/>
              <a:t>:"))</a:t>
            </a:r>
          </a:p>
          <a:p>
            <a:r>
              <a:rPr lang="en-US" sz="4000" dirty="0" smtClean="0"/>
              <a:t>n2 </a:t>
            </a:r>
            <a:r>
              <a:rPr lang="en-US" sz="4000" dirty="0"/>
              <a:t>= </a:t>
            </a:r>
            <a:r>
              <a:rPr lang="en-US" sz="4000" dirty="0" err="1" smtClean="0"/>
              <a:t>int</a:t>
            </a:r>
            <a:r>
              <a:rPr lang="en-US" sz="4000" dirty="0" smtClean="0"/>
              <a:t>(input</a:t>
            </a:r>
            <a:r>
              <a:rPr lang="en-US" sz="4000" dirty="0"/>
              <a:t>("Enter second number</a:t>
            </a:r>
            <a:r>
              <a:rPr lang="en-US" sz="4000" dirty="0" smtClean="0"/>
              <a:t>:"))</a:t>
            </a:r>
          </a:p>
          <a:p>
            <a:r>
              <a:rPr lang="en-US" sz="4000" dirty="0" smtClean="0"/>
              <a:t>print</a:t>
            </a:r>
            <a:r>
              <a:rPr lang="en-US" sz="4000" dirty="0"/>
              <a:t>("Addition result is:", n1+n2)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Activity-02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443198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Write a python program that swap the values of variables.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Sample Output:</a:t>
            </a:r>
          </a:p>
          <a:p>
            <a:r>
              <a:rPr lang="en-US" sz="3200" dirty="0"/>
              <a:t>Before swapping</a:t>
            </a:r>
          </a:p>
          <a:p>
            <a:r>
              <a:rPr lang="en-US" sz="3200" dirty="0"/>
              <a:t>Value of a is: 5</a:t>
            </a:r>
          </a:p>
          <a:p>
            <a:r>
              <a:rPr lang="en-US" sz="3200" dirty="0"/>
              <a:t>Value of b is: 10</a:t>
            </a:r>
          </a:p>
          <a:p>
            <a:r>
              <a:rPr lang="en-US" sz="3200" dirty="0"/>
              <a:t>After swapping</a:t>
            </a:r>
          </a:p>
          <a:p>
            <a:r>
              <a:rPr lang="en-US" sz="3200" dirty="0"/>
              <a:t>Value of a is: 10</a:t>
            </a:r>
          </a:p>
          <a:p>
            <a:r>
              <a:rPr lang="en-US" sz="3200" dirty="0"/>
              <a:t>Value of b is: 5</a:t>
            </a:r>
            <a:endParaRPr lang="en-US" sz="3200" dirty="0" smtClean="0"/>
          </a:p>
          <a:p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Activity-02 Solution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4739759"/>
          </a:xfrm>
        </p:spPr>
        <p:txBody>
          <a:bodyPr/>
          <a:lstStyle/>
          <a:p>
            <a:r>
              <a:rPr lang="en-US" sz="2800" dirty="0"/>
              <a:t>a = </a:t>
            </a:r>
            <a:r>
              <a:rPr lang="en-US" sz="2800" dirty="0" smtClean="0"/>
              <a:t>5</a:t>
            </a:r>
          </a:p>
          <a:p>
            <a:r>
              <a:rPr lang="en-US" sz="2800" dirty="0" smtClean="0"/>
              <a:t>b </a:t>
            </a:r>
            <a:r>
              <a:rPr lang="en-US" sz="2800" dirty="0"/>
              <a:t>= </a:t>
            </a:r>
            <a:r>
              <a:rPr lang="en-US" sz="2800" dirty="0" smtClean="0"/>
              <a:t>10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("Before swapping</a:t>
            </a:r>
            <a:r>
              <a:rPr lang="en-US" sz="2800" dirty="0" smtClean="0"/>
              <a:t>")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a </a:t>
            </a:r>
            <a:r>
              <a:rPr lang="en-US" sz="2800" dirty="0" err="1"/>
              <a:t>is:",a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b </a:t>
            </a:r>
            <a:r>
              <a:rPr lang="en-US" sz="2800" dirty="0" err="1"/>
              <a:t>is:",b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a </a:t>
            </a:r>
            <a:r>
              <a:rPr lang="en-US" sz="2800" dirty="0"/>
              <a:t>= a + </a:t>
            </a:r>
            <a:r>
              <a:rPr lang="en-US" sz="2800" dirty="0" smtClean="0"/>
              <a:t>b</a:t>
            </a:r>
          </a:p>
          <a:p>
            <a:r>
              <a:rPr lang="en-US" sz="2800" dirty="0" smtClean="0"/>
              <a:t>b </a:t>
            </a:r>
            <a:r>
              <a:rPr lang="en-US" sz="2800" dirty="0"/>
              <a:t>= a </a:t>
            </a:r>
            <a:r>
              <a:rPr lang="en-US" sz="2800" dirty="0" smtClean="0"/>
              <a:t>– b</a:t>
            </a:r>
          </a:p>
          <a:p>
            <a:r>
              <a:rPr lang="en-US" sz="2800" dirty="0" smtClean="0"/>
              <a:t>a </a:t>
            </a:r>
            <a:r>
              <a:rPr lang="en-US" sz="2800" dirty="0"/>
              <a:t>= a </a:t>
            </a:r>
            <a:r>
              <a:rPr lang="en-US" sz="2800" dirty="0" smtClean="0"/>
              <a:t>– b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("After swapping</a:t>
            </a:r>
            <a:r>
              <a:rPr lang="en-US" sz="2800" dirty="0" smtClean="0"/>
              <a:t>")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a </a:t>
            </a:r>
            <a:r>
              <a:rPr lang="en-US" sz="2800" dirty="0" err="1"/>
              <a:t>is:",a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b </a:t>
            </a:r>
            <a:r>
              <a:rPr lang="en-US" sz="2800" dirty="0" err="1"/>
              <a:t>is:",b</a:t>
            </a:r>
            <a:r>
              <a:rPr lang="en-US" sz="2800" dirty="0"/>
              <a:t>)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Activity-02 Optimized Solution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3877985"/>
          </a:xfrm>
        </p:spPr>
        <p:txBody>
          <a:bodyPr/>
          <a:lstStyle/>
          <a:p>
            <a:r>
              <a:rPr lang="en-US" sz="2800" dirty="0"/>
              <a:t>a = </a:t>
            </a:r>
            <a:r>
              <a:rPr lang="en-US" sz="2800" dirty="0" smtClean="0"/>
              <a:t>5</a:t>
            </a:r>
          </a:p>
          <a:p>
            <a:r>
              <a:rPr lang="en-US" sz="2800" dirty="0" smtClean="0"/>
              <a:t>b </a:t>
            </a:r>
            <a:r>
              <a:rPr lang="en-US" sz="2800" dirty="0"/>
              <a:t>= </a:t>
            </a:r>
            <a:r>
              <a:rPr lang="en-US" sz="2800" dirty="0" smtClean="0"/>
              <a:t>10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("Before swapping</a:t>
            </a:r>
            <a:r>
              <a:rPr lang="en-US" sz="2800" dirty="0" smtClean="0"/>
              <a:t>")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a </a:t>
            </a:r>
            <a:r>
              <a:rPr lang="en-US" sz="2800" dirty="0" err="1"/>
              <a:t>is:",a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b </a:t>
            </a:r>
            <a:r>
              <a:rPr lang="en-US" sz="2800" dirty="0" err="1"/>
              <a:t>is:",b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a, b = b, a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("After swapping</a:t>
            </a:r>
            <a:r>
              <a:rPr lang="en-US" sz="2800" dirty="0" smtClean="0"/>
              <a:t>")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a </a:t>
            </a:r>
            <a:r>
              <a:rPr lang="en-US" sz="2800" dirty="0" err="1"/>
              <a:t>is:",a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b </a:t>
            </a:r>
            <a:r>
              <a:rPr lang="en-US" sz="2800" dirty="0" err="1"/>
              <a:t>is:",b</a:t>
            </a:r>
            <a:r>
              <a:rPr lang="en-US" sz="2800" dirty="0"/>
              <a:t>)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Activity-03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3877985"/>
          </a:xfrm>
        </p:spPr>
        <p:txBody>
          <a:bodyPr/>
          <a:lstStyle/>
          <a:p>
            <a:pPr algn="ctr"/>
            <a:r>
              <a:rPr lang="en-US" sz="2800" dirty="0" smtClean="0"/>
              <a:t>Predict the outputs</a:t>
            </a:r>
          </a:p>
          <a:p>
            <a:pPr algn="l"/>
            <a:r>
              <a:rPr lang="en-US" sz="2800" dirty="0" smtClean="0"/>
              <a:t>x = “100”</a:t>
            </a:r>
          </a:p>
          <a:p>
            <a:pPr algn="l"/>
            <a:r>
              <a:rPr lang="en-US" sz="2800" dirty="0" smtClean="0"/>
              <a:t>y = 50</a:t>
            </a:r>
          </a:p>
          <a:p>
            <a:pPr algn="l"/>
            <a:r>
              <a:rPr lang="en-US" sz="2800" dirty="0" err="1" smtClean="0"/>
              <a:t>i</a:t>
            </a:r>
            <a:r>
              <a:rPr lang="en-US" sz="2800" dirty="0" smtClean="0"/>
              <a:t>. Predict the output.</a:t>
            </a:r>
          </a:p>
          <a:p>
            <a:pPr algn="l"/>
            <a:r>
              <a:rPr lang="en-US" sz="2800" dirty="0" smtClean="0"/>
              <a:t>Print(x + </a:t>
            </a:r>
            <a:r>
              <a:rPr lang="en-US" sz="2800" dirty="0" err="1" smtClean="0"/>
              <a:t>str</a:t>
            </a:r>
            <a:r>
              <a:rPr lang="en-US" sz="2800" dirty="0" smtClean="0"/>
              <a:t>(y))</a:t>
            </a:r>
          </a:p>
          <a:p>
            <a:pPr algn="l"/>
            <a:r>
              <a:rPr lang="en-US" sz="2800" dirty="0" smtClean="0"/>
              <a:t>ii. Predict the output</a:t>
            </a:r>
          </a:p>
          <a:p>
            <a:pPr algn="l"/>
            <a:r>
              <a:rPr lang="en-US" sz="2800" dirty="0" smtClean="0"/>
              <a:t>print(</a:t>
            </a:r>
            <a:r>
              <a:rPr lang="en-US" sz="2800" dirty="0" err="1" smtClean="0"/>
              <a:t>int</a:t>
            </a:r>
            <a:r>
              <a:rPr lang="en-US" sz="2800" dirty="0" smtClean="0"/>
              <a:t>(x) + y)</a:t>
            </a:r>
          </a:p>
          <a:p>
            <a:pPr algn="l"/>
            <a:r>
              <a:rPr lang="en-US" sz="2800" dirty="0" smtClean="0"/>
              <a:t>iii. Predict the output</a:t>
            </a:r>
          </a:p>
          <a:p>
            <a:pPr algn="l"/>
            <a:r>
              <a:rPr lang="en-US" sz="2800" dirty="0" smtClean="0"/>
              <a:t>print(float(x) * 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Activity-03 Solution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2585323"/>
          </a:xfrm>
        </p:spPr>
        <p:txBody>
          <a:bodyPr/>
          <a:lstStyle/>
          <a:p>
            <a:pPr algn="ctr"/>
            <a:r>
              <a:rPr lang="en-US" sz="2800" dirty="0" smtClean="0"/>
              <a:t>Predict the outputs</a:t>
            </a:r>
          </a:p>
          <a:p>
            <a:pPr algn="l"/>
            <a:r>
              <a:rPr lang="en-US" sz="2800" dirty="0" smtClean="0"/>
              <a:t>x = “100”</a:t>
            </a:r>
          </a:p>
          <a:p>
            <a:pPr algn="l"/>
            <a:r>
              <a:rPr lang="en-US" sz="2800" dirty="0" smtClean="0"/>
              <a:t>y = 50</a:t>
            </a:r>
          </a:p>
          <a:p>
            <a:pPr algn="l"/>
            <a:r>
              <a:rPr lang="en-US" sz="2800" dirty="0" err="1" smtClean="0"/>
              <a:t>i</a:t>
            </a:r>
            <a:r>
              <a:rPr lang="en-US" sz="2800" dirty="0" smtClean="0"/>
              <a:t>. Predict the output.</a:t>
            </a:r>
          </a:p>
          <a:p>
            <a:pPr algn="l"/>
            <a:r>
              <a:rPr lang="en-US" sz="2800" dirty="0" smtClean="0"/>
              <a:t>Print(x + </a:t>
            </a:r>
            <a:r>
              <a:rPr lang="en-US" sz="2800" dirty="0" err="1" smtClean="0"/>
              <a:t>str</a:t>
            </a:r>
            <a:r>
              <a:rPr lang="en-US" sz="2800" dirty="0" smtClean="0"/>
              <a:t>(y))</a:t>
            </a:r>
          </a:p>
          <a:p>
            <a:pPr algn="l"/>
            <a:r>
              <a:rPr lang="en-US" sz="2800" dirty="0" err="1" smtClean="0"/>
              <a:t>Ouput</a:t>
            </a:r>
            <a:r>
              <a:rPr lang="en-US" sz="2800" dirty="0" smtClean="0"/>
              <a:t>: 10050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Activity-03 Solution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2585323"/>
          </a:xfrm>
        </p:spPr>
        <p:txBody>
          <a:bodyPr/>
          <a:lstStyle/>
          <a:p>
            <a:pPr algn="ctr"/>
            <a:r>
              <a:rPr lang="en-US" sz="2800" dirty="0" smtClean="0"/>
              <a:t>Predict the outputs</a:t>
            </a:r>
          </a:p>
          <a:p>
            <a:pPr algn="l"/>
            <a:r>
              <a:rPr lang="en-US" sz="2800" dirty="0" smtClean="0"/>
              <a:t>x = “100”</a:t>
            </a:r>
          </a:p>
          <a:p>
            <a:pPr algn="l"/>
            <a:r>
              <a:rPr lang="en-US" sz="2800" dirty="0" smtClean="0"/>
              <a:t>y = 50</a:t>
            </a:r>
          </a:p>
          <a:p>
            <a:pPr algn="l"/>
            <a:r>
              <a:rPr lang="en-US" sz="2800" dirty="0" smtClean="0"/>
              <a:t>ii. Predict the output</a:t>
            </a:r>
          </a:p>
          <a:p>
            <a:pPr algn="l"/>
            <a:r>
              <a:rPr lang="en-US" sz="2800" dirty="0" smtClean="0"/>
              <a:t>print(</a:t>
            </a:r>
            <a:r>
              <a:rPr lang="en-US" sz="2800" dirty="0" err="1" smtClean="0"/>
              <a:t>int</a:t>
            </a:r>
            <a:r>
              <a:rPr lang="en-US" sz="2800" dirty="0" smtClean="0"/>
              <a:t>(x) + y)</a:t>
            </a:r>
          </a:p>
          <a:p>
            <a:pPr algn="l"/>
            <a:r>
              <a:rPr lang="en-US" sz="2800" dirty="0" smtClean="0"/>
              <a:t>150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Activity-03 Solution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2585323"/>
          </a:xfrm>
        </p:spPr>
        <p:txBody>
          <a:bodyPr/>
          <a:lstStyle/>
          <a:p>
            <a:pPr algn="ctr"/>
            <a:r>
              <a:rPr lang="en-US" sz="2800" dirty="0" smtClean="0"/>
              <a:t>Predict the outputs</a:t>
            </a:r>
          </a:p>
          <a:p>
            <a:pPr algn="l"/>
            <a:r>
              <a:rPr lang="en-US" sz="2800" dirty="0" smtClean="0"/>
              <a:t>x = “100”</a:t>
            </a:r>
          </a:p>
          <a:p>
            <a:pPr algn="l"/>
            <a:r>
              <a:rPr lang="en-US" sz="2800" dirty="0" smtClean="0"/>
              <a:t>y = 50</a:t>
            </a:r>
          </a:p>
          <a:p>
            <a:pPr algn="l"/>
            <a:r>
              <a:rPr lang="en-US" sz="2800" dirty="0" smtClean="0"/>
              <a:t>iii. Predict the output</a:t>
            </a:r>
          </a:p>
          <a:p>
            <a:pPr algn="l"/>
            <a:r>
              <a:rPr lang="en-US" sz="2800" dirty="0" smtClean="0"/>
              <a:t>print(float(x) * y)</a:t>
            </a:r>
          </a:p>
          <a:p>
            <a:pPr algn="l"/>
            <a:r>
              <a:rPr lang="en-US" sz="2800" dirty="0" smtClean="0"/>
              <a:t>500.0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3912870" algn="l"/>
                <a:tab pos="10140315" algn="l"/>
              </a:tabLst>
            </a:pPr>
            <a:r>
              <a:rPr dirty="0"/>
              <a:t> 	</a:t>
            </a:r>
            <a:r>
              <a:rPr spc="-75" dirty="0"/>
              <a:t>Operators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684502"/>
            <a:ext cx="4245610" cy="1836528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207010" indent="-194945">
              <a:lnSpc>
                <a:spcPct val="100000"/>
              </a:lnSpc>
              <a:spcBef>
                <a:spcPts val="1265"/>
              </a:spcBef>
              <a:buSzPct val="95000"/>
              <a:buAutoNum type="arabicPeriod"/>
              <a:tabLst>
                <a:tab pos="207645" algn="l"/>
              </a:tabLst>
            </a:pP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Arithematic</a:t>
            </a:r>
            <a:r>
              <a:rPr sz="20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Operators(+,</a:t>
            </a:r>
            <a:r>
              <a:rPr sz="2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-,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*, /, %)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48000"/>
              </a:lnSpc>
              <a:spcBef>
                <a:spcPts val="5"/>
              </a:spcBef>
              <a:buSzPct val="95000"/>
              <a:buAutoNum type="arabicPeriod"/>
              <a:tabLst>
                <a:tab pos="262890" algn="l"/>
              </a:tabLst>
            </a:pP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Assignment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Operators(=,+=,-=,%=,) 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3.Comparison Operators(==,!=,&lt;,&gt;,&lt;=,&gt;=) </a:t>
            </a:r>
            <a:r>
              <a:rPr sz="2000" spc="-4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4.Logical</a:t>
            </a:r>
            <a:r>
              <a:rPr sz="2000" spc="45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Operators(and</a:t>
            </a:r>
            <a:r>
              <a:rPr sz="2000" spc="-1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lang="en-US" sz="2000" spc="-1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or,</a:t>
            </a:r>
            <a:r>
              <a:rPr lang="en-US" sz="2000" spc="-1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not)</a:t>
            </a:r>
            <a:endParaRPr sz="20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3912870" algn="l"/>
                <a:tab pos="10140315" algn="l"/>
              </a:tabLst>
            </a:pPr>
            <a:r>
              <a:rPr dirty="0"/>
              <a:t> 	</a:t>
            </a:r>
            <a:r>
              <a:rPr spc="-75" dirty="0"/>
              <a:t>Operators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8" y="1676826"/>
            <a:ext cx="6443981" cy="2877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105"/>
              </a:spcBef>
            </a:pP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1.Arithematic</a:t>
            </a:r>
            <a:r>
              <a:rPr sz="2800" spc="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Operators(+,</a:t>
            </a:r>
            <a:r>
              <a:rPr sz="28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-,</a:t>
            </a:r>
            <a:r>
              <a:rPr sz="28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*,</a:t>
            </a:r>
            <a:r>
              <a:rPr sz="28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/,</a:t>
            </a:r>
            <a:r>
              <a:rPr sz="28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%) </a:t>
            </a:r>
            <a:r>
              <a:rPr sz="2800" spc="-6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endParaRPr lang="en-US" sz="2800" spc="-615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32000"/>
              </a:lnSpc>
              <a:spcBef>
                <a:spcPts val="105"/>
              </a:spcBef>
            </a:pPr>
            <a:r>
              <a:rPr sz="2800" spc="-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8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 3</a:t>
            </a:r>
            <a:endParaRPr sz="28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8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8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2800" dirty="0">
              <a:latin typeface="Calibri" panose="020F0502020204030204"/>
              <a:cs typeface="Calibri" panose="020F0502020204030204"/>
            </a:endParaRPr>
          </a:p>
          <a:p>
            <a:pPr marL="12700" marR="3552190">
              <a:lnSpc>
                <a:spcPts val="4430"/>
              </a:lnSpc>
              <a:spcBef>
                <a:spcPts val="115"/>
              </a:spcBef>
            </a:pPr>
            <a:r>
              <a:rPr sz="28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result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 </a:t>
            </a:r>
            <a:r>
              <a:rPr sz="2800" spc="-5" dirty="0" err="1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a+b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6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2800" spc="-1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print(result)</a:t>
            </a:r>
            <a:endParaRPr sz="28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048" y="855760"/>
            <a:ext cx="10153903" cy="810136"/>
          </a:xfrm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3835400" algn="l"/>
                <a:tab pos="10140315" algn="l"/>
              </a:tabLst>
            </a:pPr>
            <a:r>
              <a:rPr dirty="0"/>
              <a:t> 	</a:t>
            </a:r>
            <a:r>
              <a:rPr spc="-50" dirty="0" smtClean="0"/>
              <a:t>Activity-0</a:t>
            </a:r>
            <a:r>
              <a:rPr lang="en-US" spc="-50" dirty="0" smtClean="0"/>
              <a:t>4</a:t>
            </a:r>
            <a:r>
              <a:rPr spc="-50"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8" y="1684502"/>
            <a:ext cx="4996181" cy="2314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9000"/>
              </a:lnSpc>
              <a:spcBef>
                <a:spcPts val="95"/>
              </a:spcBef>
            </a:pP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1.</a:t>
            </a:r>
            <a:r>
              <a:rPr sz="2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Execute</a:t>
            </a:r>
            <a:r>
              <a:rPr sz="2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following</a:t>
            </a:r>
            <a:r>
              <a:rPr sz="2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statements </a:t>
            </a:r>
            <a:r>
              <a:rPr sz="2000" spc="-4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endParaRPr lang="en-US" sz="2000" spc="-440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12700" marR="5080" algn="just">
              <a:lnSpc>
                <a:spcPct val="149000"/>
              </a:lnSpc>
              <a:spcBef>
                <a:spcPts val="95"/>
              </a:spcBef>
            </a:pPr>
            <a:r>
              <a:rPr sz="20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0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10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 algn="just">
              <a:lnSpc>
                <a:spcPct val="100000"/>
              </a:lnSpc>
              <a:spcBef>
                <a:spcPts val="1155"/>
              </a:spcBef>
            </a:pP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 marR="2480310" algn="just">
              <a:lnSpc>
                <a:spcPct val="148000"/>
              </a:lnSpc>
              <a:spcBef>
                <a:spcPts val="5"/>
              </a:spcBef>
            </a:pP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a%b 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=? </a:t>
            </a:r>
            <a:endParaRPr lang="en-US" sz="2000" spc="-5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12700" marR="2480310" algn="just">
              <a:lnSpc>
                <a:spcPct val="148000"/>
              </a:lnSpc>
              <a:spcBef>
                <a:spcPts val="5"/>
              </a:spcBef>
            </a:pPr>
            <a:r>
              <a:rPr sz="2000" spc="-44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b%a</a:t>
            </a:r>
            <a:r>
              <a:rPr sz="20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0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? </a:t>
            </a:r>
            <a:r>
              <a:rPr sz="2000" spc="-4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2000" spc="-44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048" y="855760"/>
            <a:ext cx="10153903" cy="810136"/>
          </a:xfrm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3835400" algn="l"/>
                <a:tab pos="10140315" algn="l"/>
              </a:tabLst>
            </a:pPr>
            <a:r>
              <a:rPr dirty="0"/>
              <a:t> 	</a:t>
            </a:r>
            <a:r>
              <a:rPr spc="-50" dirty="0" smtClean="0"/>
              <a:t>Activity-0</a:t>
            </a:r>
            <a:r>
              <a:rPr lang="en-US" spc="-50" dirty="0" smtClean="0"/>
              <a:t>5</a:t>
            </a:r>
            <a:r>
              <a:rPr spc="-50"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680459"/>
            <a:ext cx="9996932" cy="2655342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1.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Execute</a:t>
            </a:r>
            <a:r>
              <a:rPr sz="24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following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statements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12700" marR="3173730">
              <a:lnSpc>
                <a:spcPct val="139000"/>
              </a:lnSpc>
              <a:spcBef>
                <a:spcPts val="5"/>
              </a:spcBef>
            </a:pP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400" spc="9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400" spc="9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? </a:t>
            </a:r>
            <a:r>
              <a:rPr sz="24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endParaRPr lang="en-US" sz="2400" spc="5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12700" marR="3173730">
              <a:lnSpc>
                <a:spcPct val="139000"/>
              </a:lnSpc>
              <a:spcBef>
                <a:spcPts val="5"/>
              </a:spcBef>
            </a:pPr>
            <a:r>
              <a:rPr sz="24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400" spc="-5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400" spc="-5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11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12700" marR="2978785" algn="just">
              <a:lnSpc>
                <a:spcPts val="4000"/>
              </a:lnSpc>
              <a:spcBef>
                <a:spcPts val="305"/>
              </a:spcBef>
            </a:pP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a%b =2 </a:t>
            </a:r>
            <a:endParaRPr lang="en-US" sz="2400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12700" marR="2978785" algn="just">
              <a:lnSpc>
                <a:spcPts val="4000"/>
              </a:lnSpc>
              <a:spcBef>
                <a:spcPts val="305"/>
              </a:spcBef>
            </a:pPr>
            <a:r>
              <a:rPr lang="en-US" sz="24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What will be the value of a?</a:t>
            </a:r>
            <a:endParaRPr lang="en-US" sz="2400" dirty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048" y="855760"/>
            <a:ext cx="10153903" cy="810136"/>
          </a:xfrm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 algn="ctr">
              <a:lnSpc>
                <a:spcPct val="100000"/>
              </a:lnSpc>
              <a:spcBef>
                <a:spcPts val="100"/>
              </a:spcBef>
              <a:tabLst>
                <a:tab pos="3835400" algn="l"/>
                <a:tab pos="10140315" algn="l"/>
              </a:tabLst>
            </a:pPr>
            <a:r>
              <a:rPr lang="en-US" u="none" dirty="0" smtClean="0"/>
              <a:t>Random Task</a:t>
            </a:r>
            <a:endParaRPr u="none"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1680459"/>
            <a:ext cx="9996932" cy="648896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20"/>
              </a:spcBef>
            </a:pPr>
            <a:r>
              <a:rPr lang="en-US" sz="32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?</a:t>
            </a:r>
            <a:endParaRPr lang="en-US" sz="3200" dirty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2891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923330"/>
          </a:xfrm>
        </p:spPr>
        <p:txBody>
          <a:bodyPr/>
          <a:lstStyle/>
          <a:p>
            <a:pPr algn="ctr"/>
            <a:r>
              <a:rPr lang="en-US" sz="6000" u="none" dirty="0" smtClean="0"/>
              <a:t>Task-01</a:t>
            </a:r>
            <a:endParaRPr lang="en-US" sz="6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1354217"/>
          </a:xfrm>
        </p:spPr>
        <p:txBody>
          <a:bodyPr/>
          <a:lstStyle/>
          <a:p>
            <a:r>
              <a:rPr lang="en-US" dirty="0" smtClean="0"/>
              <a:t>Write a program that converts grams into kilograms and kilograms into grams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533400"/>
            <a:ext cx="10153903" cy="984885"/>
          </a:xfrm>
        </p:spPr>
        <p:txBody>
          <a:bodyPr/>
          <a:lstStyle/>
          <a:p>
            <a:pPr algn="ctr"/>
            <a:r>
              <a:rPr lang="en-US" sz="3200" u="none" dirty="0" smtClean="0"/>
              <a:t>Task-01</a:t>
            </a:r>
            <a:br>
              <a:rPr lang="en-US" sz="3200" u="none" dirty="0" smtClean="0"/>
            </a:br>
            <a:r>
              <a:rPr lang="en-US" sz="3200" u="none" dirty="0" smtClean="0"/>
              <a:t>Solution</a:t>
            </a:r>
            <a:endParaRPr lang="en-US" sz="32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602" y="1676400"/>
            <a:ext cx="9648952" cy="3352800"/>
          </a:xfrm>
        </p:spPr>
        <p:txBody>
          <a:bodyPr/>
          <a:lstStyle/>
          <a:p>
            <a:r>
              <a:rPr lang="en-US" sz="3200" dirty="0" smtClean="0"/>
              <a:t>Write a program that converts grams into kilograms and kilograms into grams</a:t>
            </a:r>
          </a:p>
          <a:p>
            <a:r>
              <a:rPr lang="en-US" sz="3200" dirty="0" smtClean="0"/>
              <a:t>Solution</a:t>
            </a:r>
          </a:p>
          <a:p>
            <a:r>
              <a:rPr lang="en-US" sz="3200" dirty="0"/>
              <a:t>grams = </a:t>
            </a:r>
            <a:r>
              <a:rPr lang="en-US" sz="3200" dirty="0" err="1"/>
              <a:t>int</a:t>
            </a:r>
            <a:r>
              <a:rPr lang="en-US" sz="3200" dirty="0"/>
              <a:t>(input("Enter grams: </a:t>
            </a:r>
            <a:r>
              <a:rPr lang="en-US" sz="3200" dirty="0" smtClean="0"/>
              <a:t>"))</a:t>
            </a:r>
          </a:p>
          <a:p>
            <a:r>
              <a:rPr lang="en-US" sz="3200" dirty="0" smtClean="0"/>
              <a:t>kilograms </a:t>
            </a:r>
            <a:r>
              <a:rPr lang="en-US" sz="3200" dirty="0"/>
              <a:t>= grams / 1000</a:t>
            </a:r>
            <a:r>
              <a:rPr lang="en-US" sz="3200" dirty="0" smtClean="0"/>
              <a:t>;</a:t>
            </a:r>
          </a:p>
          <a:p>
            <a:r>
              <a:rPr lang="en-US" sz="3200" dirty="0" smtClean="0"/>
              <a:t>print</a:t>
            </a:r>
            <a:r>
              <a:rPr lang="en-US" sz="3200" dirty="0"/>
              <a:t>("Kilograms are: ", kilograms)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923330"/>
          </a:xfrm>
        </p:spPr>
        <p:txBody>
          <a:bodyPr/>
          <a:lstStyle/>
          <a:p>
            <a:pPr algn="ctr"/>
            <a:r>
              <a:rPr lang="en-US" sz="6000" u="none" dirty="0" smtClean="0"/>
              <a:t>Task-02</a:t>
            </a:r>
            <a:endParaRPr lang="en-US" sz="6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2031325"/>
          </a:xfrm>
        </p:spPr>
        <p:txBody>
          <a:bodyPr/>
          <a:lstStyle/>
          <a:p>
            <a:r>
              <a:rPr lang="en-US" dirty="0" smtClean="0"/>
              <a:t>Write a program that converts meters into kilometers and kilometers into meters.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477328"/>
          </a:xfrm>
        </p:spPr>
        <p:txBody>
          <a:bodyPr/>
          <a:lstStyle/>
          <a:p>
            <a:pPr algn="ctr"/>
            <a:r>
              <a:rPr lang="en-US" u="none" dirty="0" smtClean="0"/>
              <a:t>Task-02</a:t>
            </a:r>
            <a:br>
              <a:rPr lang="en-US" u="none" dirty="0" smtClean="0"/>
            </a:br>
            <a:r>
              <a:rPr lang="en-US" u="none" dirty="0" smtClean="0"/>
              <a:t>Solutions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2462213"/>
          </a:xfrm>
        </p:spPr>
        <p:txBody>
          <a:bodyPr/>
          <a:lstStyle/>
          <a:p>
            <a:r>
              <a:rPr lang="en-US" sz="3200" dirty="0" smtClean="0"/>
              <a:t>Write a program that converts meters into kilometers and kilometers into meters.</a:t>
            </a:r>
          </a:p>
          <a:p>
            <a:r>
              <a:rPr lang="en-US" sz="3200" dirty="0"/>
              <a:t>meters = </a:t>
            </a:r>
            <a:r>
              <a:rPr lang="en-US" sz="3200" dirty="0" err="1"/>
              <a:t>int</a:t>
            </a:r>
            <a:r>
              <a:rPr lang="en-US" sz="3200" dirty="0"/>
              <a:t>(input("Enter meters: </a:t>
            </a:r>
            <a:r>
              <a:rPr lang="en-US" sz="3200" dirty="0" smtClean="0"/>
              <a:t>"))</a:t>
            </a:r>
          </a:p>
          <a:p>
            <a:r>
              <a:rPr lang="en-US" sz="3200" dirty="0" smtClean="0"/>
              <a:t>kilometers </a:t>
            </a:r>
            <a:r>
              <a:rPr lang="en-US" sz="3200" dirty="0"/>
              <a:t>= meters / 1000</a:t>
            </a:r>
            <a:r>
              <a:rPr lang="en-US" sz="3200" dirty="0" smtClean="0"/>
              <a:t>;</a:t>
            </a:r>
          </a:p>
          <a:p>
            <a:r>
              <a:rPr lang="en-US" sz="3200" dirty="0" smtClean="0"/>
              <a:t>print</a:t>
            </a:r>
            <a:r>
              <a:rPr lang="en-US" sz="3200" dirty="0"/>
              <a:t>("Kilometers are: ", kilometers)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923330"/>
          </a:xfrm>
        </p:spPr>
        <p:txBody>
          <a:bodyPr/>
          <a:lstStyle/>
          <a:p>
            <a:pPr algn="ctr"/>
            <a:r>
              <a:rPr lang="en-US" sz="6000" u="none" dirty="0" smtClean="0"/>
              <a:t>Task-03</a:t>
            </a:r>
            <a:endParaRPr lang="en-US" sz="6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1354217"/>
          </a:xfrm>
        </p:spPr>
        <p:txBody>
          <a:bodyPr/>
          <a:lstStyle/>
          <a:p>
            <a:r>
              <a:rPr lang="en-US" dirty="0" smtClean="0"/>
              <a:t>Write a program that finds area of rectangle.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231106"/>
          </a:xfrm>
        </p:spPr>
        <p:txBody>
          <a:bodyPr/>
          <a:lstStyle/>
          <a:p>
            <a:pPr algn="ctr"/>
            <a:r>
              <a:rPr lang="en-US" sz="4000" u="none" dirty="0" smtClean="0"/>
              <a:t>Task-03</a:t>
            </a:r>
            <a:br>
              <a:rPr lang="en-US" sz="4000" u="none" dirty="0" smtClean="0"/>
            </a:br>
            <a:r>
              <a:rPr lang="en-US" sz="4000" u="none" dirty="0" smtClean="0"/>
              <a:t>Solution</a:t>
            </a:r>
            <a:endParaRPr lang="en-US" sz="4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3323987"/>
          </a:xfrm>
        </p:spPr>
        <p:txBody>
          <a:bodyPr/>
          <a:lstStyle/>
          <a:p>
            <a:r>
              <a:rPr lang="en-US" sz="3600" dirty="0" smtClean="0"/>
              <a:t>Write a program that finds area of rectangle.</a:t>
            </a:r>
          </a:p>
          <a:p>
            <a:r>
              <a:rPr lang="en-US" sz="3600" dirty="0" smtClean="0"/>
              <a:t>Solution:</a:t>
            </a:r>
          </a:p>
          <a:p>
            <a:r>
              <a:rPr lang="en-US" sz="3600" dirty="0" smtClean="0"/>
              <a:t>l </a:t>
            </a:r>
            <a:r>
              <a:rPr lang="en-US" sz="3600" dirty="0"/>
              <a:t>= </a:t>
            </a:r>
            <a:r>
              <a:rPr lang="en-US" sz="3600" dirty="0" err="1"/>
              <a:t>int</a:t>
            </a:r>
            <a:r>
              <a:rPr lang="en-US" sz="3600" dirty="0"/>
              <a:t>(input("Enter length: </a:t>
            </a:r>
            <a:r>
              <a:rPr lang="en-US" sz="3600" dirty="0" smtClean="0"/>
              <a:t>"))</a:t>
            </a:r>
          </a:p>
          <a:p>
            <a:r>
              <a:rPr lang="en-US" sz="3600" dirty="0" smtClean="0"/>
              <a:t>w </a:t>
            </a:r>
            <a:r>
              <a:rPr lang="en-US" sz="3600" dirty="0"/>
              <a:t>= </a:t>
            </a:r>
            <a:r>
              <a:rPr lang="en-US" sz="3600" dirty="0" err="1"/>
              <a:t>int</a:t>
            </a:r>
            <a:r>
              <a:rPr lang="en-US" sz="3600" dirty="0"/>
              <a:t>(input("Enter width: </a:t>
            </a:r>
            <a:r>
              <a:rPr lang="en-US" sz="3600" dirty="0" smtClean="0"/>
              <a:t>"))</a:t>
            </a:r>
          </a:p>
          <a:p>
            <a:r>
              <a:rPr lang="en-US" sz="3600" dirty="0" smtClean="0"/>
              <a:t>area </a:t>
            </a:r>
            <a:r>
              <a:rPr lang="en-US" sz="3600" dirty="0"/>
              <a:t>= l * w</a:t>
            </a:r>
            <a:r>
              <a:rPr lang="en-US" sz="3600" dirty="0" smtClean="0"/>
              <a:t>;</a:t>
            </a:r>
          </a:p>
          <a:p>
            <a:r>
              <a:rPr lang="en-US" sz="3600" dirty="0" smtClean="0"/>
              <a:t>print(“Area of rectangle </a:t>
            </a:r>
            <a:r>
              <a:rPr lang="en-US" sz="3600" dirty="0"/>
              <a:t>is: ", area)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923330"/>
          </a:xfrm>
        </p:spPr>
        <p:txBody>
          <a:bodyPr/>
          <a:lstStyle/>
          <a:p>
            <a:pPr algn="ctr"/>
            <a:r>
              <a:rPr lang="en-US" sz="6000" u="none" dirty="0" smtClean="0"/>
              <a:t>Task-04</a:t>
            </a:r>
            <a:endParaRPr lang="en-US" sz="6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677108"/>
          </a:xfrm>
        </p:spPr>
        <p:txBody>
          <a:bodyPr/>
          <a:lstStyle/>
          <a:p>
            <a:r>
              <a:rPr lang="en-US" dirty="0" smtClean="0"/>
              <a:t>Write a program that finds area of square.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846659"/>
          </a:xfrm>
        </p:spPr>
        <p:txBody>
          <a:bodyPr/>
          <a:lstStyle/>
          <a:p>
            <a:pPr algn="ctr"/>
            <a:r>
              <a:rPr lang="en-US" sz="6000" u="none" dirty="0" smtClean="0"/>
              <a:t>Task-04 </a:t>
            </a:r>
            <a:br>
              <a:rPr lang="en-US" sz="6000" u="none" dirty="0" smtClean="0"/>
            </a:br>
            <a:r>
              <a:rPr lang="en-US" sz="6000" u="none" dirty="0" smtClean="0"/>
              <a:t>Solution</a:t>
            </a:r>
            <a:endParaRPr lang="en-US" sz="6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4062651"/>
          </a:xfrm>
        </p:spPr>
        <p:txBody>
          <a:bodyPr/>
          <a:lstStyle/>
          <a:p>
            <a:r>
              <a:rPr lang="en-US" dirty="0" smtClean="0"/>
              <a:t>Write a program that finds area of square.</a:t>
            </a:r>
          </a:p>
          <a:p>
            <a:r>
              <a:rPr lang="en-US" dirty="0" smtClean="0"/>
              <a:t>Solution:</a:t>
            </a:r>
          </a:p>
          <a:p>
            <a:r>
              <a:rPr lang="en-US" dirty="0" smtClean="0"/>
              <a:t>l </a:t>
            </a:r>
            <a:r>
              <a:rPr lang="en-US" dirty="0"/>
              <a:t>= </a:t>
            </a:r>
            <a:r>
              <a:rPr lang="en-US" dirty="0" err="1"/>
              <a:t>int</a:t>
            </a:r>
            <a:r>
              <a:rPr lang="en-US" dirty="0"/>
              <a:t>(input("Enter length: "))</a:t>
            </a:r>
          </a:p>
          <a:p>
            <a:r>
              <a:rPr lang="en-US" dirty="0" smtClean="0"/>
              <a:t>area </a:t>
            </a:r>
            <a:r>
              <a:rPr lang="en-US" dirty="0"/>
              <a:t>= l * l</a:t>
            </a:r>
            <a:r>
              <a:rPr lang="en-US" dirty="0" smtClean="0"/>
              <a:t>;</a:t>
            </a:r>
          </a:p>
          <a:p>
            <a:r>
              <a:rPr lang="en-US" dirty="0" smtClean="0"/>
              <a:t>print(“Area of Square </a:t>
            </a:r>
            <a:r>
              <a:rPr lang="en-US" dirty="0"/>
              <a:t>is: ", area)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923330"/>
          </a:xfrm>
        </p:spPr>
        <p:txBody>
          <a:bodyPr/>
          <a:lstStyle/>
          <a:p>
            <a:pPr algn="ctr"/>
            <a:r>
              <a:rPr lang="en-US" sz="6000" u="none" dirty="0" smtClean="0"/>
              <a:t>Task-05</a:t>
            </a:r>
            <a:endParaRPr lang="en-US" sz="6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2708434"/>
          </a:xfrm>
        </p:spPr>
        <p:txBody>
          <a:bodyPr/>
          <a:lstStyle/>
          <a:p>
            <a:r>
              <a:rPr lang="en-US" dirty="0" smtClean="0"/>
              <a:t>Write a program that takes two input number and also it takes choice for operation like + or - . Finally perform the operations according to choice.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846659"/>
          </a:xfrm>
        </p:spPr>
        <p:txBody>
          <a:bodyPr/>
          <a:lstStyle/>
          <a:p>
            <a:pPr algn="ctr"/>
            <a:r>
              <a:rPr lang="en-US" sz="6000" u="none" dirty="0" smtClean="0"/>
              <a:t>Task-05 </a:t>
            </a:r>
            <a:br>
              <a:rPr lang="en-US" sz="6000" u="none" dirty="0" smtClean="0"/>
            </a:br>
            <a:r>
              <a:rPr lang="en-US" sz="6000" u="none" dirty="0" smtClean="0"/>
              <a:t>Solution</a:t>
            </a:r>
            <a:endParaRPr lang="en-US" sz="6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3447098"/>
          </a:xfrm>
        </p:spPr>
        <p:txBody>
          <a:bodyPr/>
          <a:lstStyle/>
          <a:p>
            <a:r>
              <a:rPr lang="en-US" sz="2800" dirty="0" smtClean="0"/>
              <a:t>Solution:</a:t>
            </a:r>
          </a:p>
          <a:p>
            <a:r>
              <a:rPr lang="en-US" sz="2800" dirty="0"/>
              <a:t>n1 = </a:t>
            </a:r>
            <a:r>
              <a:rPr lang="en-US" sz="2800" dirty="0" err="1"/>
              <a:t>int</a:t>
            </a:r>
            <a:r>
              <a:rPr lang="en-US" sz="2800" dirty="0"/>
              <a:t>(input("Enter first number: </a:t>
            </a:r>
            <a:r>
              <a:rPr lang="en-US" sz="2800" dirty="0" smtClean="0"/>
              <a:t>"))</a:t>
            </a:r>
          </a:p>
          <a:p>
            <a:r>
              <a:rPr lang="en-US" sz="2800" dirty="0" smtClean="0"/>
              <a:t>n2 </a:t>
            </a:r>
            <a:r>
              <a:rPr lang="en-US" sz="2800" dirty="0"/>
              <a:t>= </a:t>
            </a:r>
            <a:r>
              <a:rPr lang="en-US" sz="2800" dirty="0" err="1"/>
              <a:t>int</a:t>
            </a:r>
            <a:r>
              <a:rPr lang="en-US" sz="2800" dirty="0"/>
              <a:t>(input("Enter second number: </a:t>
            </a:r>
            <a:r>
              <a:rPr lang="en-US" sz="2800" dirty="0" smtClean="0"/>
              <a:t>"))</a:t>
            </a:r>
          </a:p>
          <a:p>
            <a:r>
              <a:rPr lang="en-US" sz="2800" dirty="0" smtClean="0"/>
              <a:t>choice </a:t>
            </a:r>
            <a:r>
              <a:rPr lang="en-US" sz="2800" dirty="0"/>
              <a:t>= input("Enter first number +, - </a:t>
            </a:r>
            <a:r>
              <a:rPr lang="en-US" sz="2800" dirty="0" smtClean="0"/>
              <a:t>:")</a:t>
            </a:r>
          </a:p>
          <a:p>
            <a:r>
              <a:rPr lang="en-US" sz="2800" dirty="0" smtClean="0"/>
              <a:t>if </a:t>
            </a:r>
            <a:r>
              <a:rPr lang="en-US" sz="2800" dirty="0"/>
              <a:t>choice == "+":    </a:t>
            </a:r>
            <a:endParaRPr lang="en-US" sz="2800" dirty="0" smtClean="0"/>
          </a:p>
          <a:p>
            <a:r>
              <a:rPr lang="en-US" sz="2800" dirty="0" smtClean="0"/>
              <a:t>print</a:t>
            </a:r>
            <a:r>
              <a:rPr lang="en-US" sz="2800" dirty="0"/>
              <a:t>("Addition result is:", n1 + n2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if </a:t>
            </a:r>
            <a:r>
              <a:rPr lang="en-US" sz="2800" dirty="0"/>
              <a:t>choice == "-":    </a:t>
            </a:r>
            <a:endParaRPr lang="en-US" sz="2800" dirty="0" smtClean="0"/>
          </a:p>
          <a:p>
            <a:r>
              <a:rPr lang="en-US" sz="2800" dirty="0" smtClean="0"/>
              <a:t>print</a:t>
            </a:r>
            <a:r>
              <a:rPr lang="en-US" sz="2800" dirty="0"/>
              <a:t>("Subtraction result is:", n1 - n2)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1231106"/>
          </a:xfrm>
        </p:spPr>
        <p:txBody>
          <a:bodyPr/>
          <a:lstStyle/>
          <a:p>
            <a:pPr algn="ctr"/>
            <a:r>
              <a:rPr lang="en-US" sz="8000" dirty="0" smtClean="0"/>
              <a:t>Thank you</a:t>
            </a:r>
            <a:endParaRPr lang="en-US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477328"/>
          </a:xfrm>
        </p:spPr>
        <p:txBody>
          <a:bodyPr/>
          <a:lstStyle/>
          <a:p>
            <a:pPr algn="ctr"/>
            <a:r>
              <a:rPr lang="en-US" u="none" dirty="0" smtClean="0"/>
              <a:t>Day-03</a:t>
            </a:r>
            <a:br>
              <a:rPr lang="en-US" u="none" dirty="0" smtClean="0"/>
            </a:br>
            <a:r>
              <a:rPr lang="en-US" u="none" dirty="0" smtClean="0"/>
              <a:t>Input, Output, and String Formatting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3352800"/>
            <a:ext cx="8528685" cy="677108"/>
          </a:xfrm>
        </p:spPr>
        <p:txBody>
          <a:bodyPr/>
          <a:lstStyle/>
          <a:p>
            <a:pPr algn="ctr"/>
            <a:r>
              <a:rPr lang="en-US" dirty="0" smtClean="0"/>
              <a:t>By: Engr. Asif</a:t>
            </a:r>
            <a:endParaRPr 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Contents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8800"/>
            <a:ext cx="8528685" cy="437042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How to take input from user?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How to display the result?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Working with variables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String </a:t>
            </a:r>
            <a:r>
              <a:rPr lang="en-US" sz="4000" dirty="0" smtClean="0"/>
              <a:t>data type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How to display string ?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String concatenation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String using f-string</a:t>
            </a:r>
            <a:endParaRPr lang="en-US" sz="4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2971800"/>
            <a:ext cx="8528685" cy="677108"/>
          </a:xfrm>
        </p:spPr>
        <p:txBody>
          <a:bodyPr/>
          <a:lstStyle/>
          <a:p>
            <a:pPr algn="ctr"/>
            <a:r>
              <a:rPr lang="en-US" dirty="0" smtClean="0"/>
              <a:t>How to take input from user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35093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2971800"/>
            <a:ext cx="8528685" cy="677108"/>
          </a:xfrm>
        </p:spPr>
        <p:txBody>
          <a:bodyPr/>
          <a:lstStyle/>
          <a:p>
            <a:pPr algn="ctr"/>
            <a:r>
              <a:rPr lang="en-US" dirty="0" smtClean="0"/>
              <a:t>How to display the result?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2325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533650" algn="l"/>
                <a:tab pos="10140315" algn="l"/>
              </a:tabLst>
            </a:pPr>
            <a:r>
              <a:rPr dirty="0"/>
              <a:t> 	</a:t>
            </a:r>
            <a:r>
              <a:rPr spc="-80" dirty="0"/>
              <a:t>Variable</a:t>
            </a:r>
            <a:r>
              <a:rPr spc="-120" dirty="0"/>
              <a:t> </a:t>
            </a:r>
            <a:r>
              <a:rPr spc="-45" dirty="0"/>
              <a:t>naming</a:t>
            </a:r>
            <a:r>
              <a:rPr spc="-95" dirty="0"/>
              <a:t> </a:t>
            </a:r>
            <a:r>
              <a:rPr spc="-40" dirty="0"/>
              <a:t>rules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676543"/>
            <a:ext cx="9996170" cy="3370579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Same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rules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like</a:t>
            </a:r>
            <a:r>
              <a:rPr sz="32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programming</a:t>
            </a:r>
            <a:r>
              <a:rPr sz="32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language.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3460"/>
              </a:lnSpc>
              <a:spcBef>
                <a:spcPts val="1440"/>
              </a:spcBef>
              <a:buAutoNum type="arabicPeriod"/>
              <a:tabLst>
                <a:tab pos="512445" algn="l"/>
                <a:tab pos="513080" algn="l"/>
                <a:tab pos="1478915" algn="l"/>
                <a:tab pos="2984500" algn="l"/>
                <a:tab pos="4286250" algn="l"/>
                <a:tab pos="4894580" algn="l"/>
                <a:tab pos="5845810" algn="l"/>
                <a:tab pos="6772275" algn="l"/>
                <a:tab pos="7948930" algn="l"/>
                <a:tab pos="8496300" algn="l"/>
                <a:tab pos="9625330" algn="l"/>
              </a:tabLst>
            </a:pPr>
            <a:r>
              <a:rPr sz="32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ach	</a:t>
            </a:r>
            <a:r>
              <a:rPr sz="32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ariab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	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shoul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	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	</a:t>
            </a:r>
            <a:r>
              <a:rPr sz="32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st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art	with	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uppe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	or	lo</a:t>
            </a:r>
            <a:r>
              <a:rPr sz="32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er	or 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underscore</a:t>
            </a:r>
            <a:r>
              <a:rPr sz="32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signe.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3460"/>
              </a:lnSpc>
              <a:spcBef>
                <a:spcPts val="1400"/>
              </a:spcBef>
              <a:buAutoNum type="arabicPeriod"/>
              <a:tabLst>
                <a:tab pos="322580" algn="l"/>
              </a:tabLst>
            </a:pP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3200" spc="7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variable</a:t>
            </a:r>
            <a:r>
              <a:rPr sz="3200" spc="7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3200" spc="7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contain</a:t>
            </a:r>
            <a:r>
              <a:rPr sz="3200" spc="9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upper</a:t>
            </a:r>
            <a:r>
              <a:rPr sz="3200" spc="8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3200" spc="7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lower</a:t>
            </a:r>
            <a:r>
              <a:rPr sz="3200" spc="6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3200" spc="6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undersocre</a:t>
            </a:r>
            <a:r>
              <a:rPr sz="3200" spc="9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 </a:t>
            </a:r>
            <a:r>
              <a:rPr sz="3200" spc="-7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number</a:t>
            </a:r>
            <a:r>
              <a:rPr sz="32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any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other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symbols.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321945" indent="-309880">
              <a:lnSpc>
                <a:spcPct val="100000"/>
              </a:lnSpc>
              <a:spcBef>
                <a:spcPts val="965"/>
              </a:spcBef>
              <a:buAutoNum type="arabicPeriod"/>
              <a:tabLst>
                <a:tab pos="322580" algn="l"/>
              </a:tabLst>
            </a:pPr>
            <a:r>
              <a:rPr sz="32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Variable</a:t>
            </a:r>
            <a:r>
              <a:rPr sz="3200" spc="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name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cannot </a:t>
            </a:r>
            <a:r>
              <a:rPr sz="32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start</a:t>
            </a:r>
            <a:r>
              <a:rPr sz="32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space.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8391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1938655" algn="l"/>
                <a:tab pos="10140315" algn="l"/>
              </a:tabLst>
            </a:pPr>
            <a:r>
              <a:rPr dirty="0"/>
              <a:t> 	</a:t>
            </a:r>
            <a:r>
              <a:rPr spc="-75" dirty="0"/>
              <a:t>Keyword</a:t>
            </a:r>
            <a:r>
              <a:rPr spc="-140" dirty="0"/>
              <a:t> </a:t>
            </a:r>
            <a:r>
              <a:rPr spc="-25" dirty="0"/>
              <a:t>or</a:t>
            </a:r>
            <a:r>
              <a:rPr spc="-130" dirty="0"/>
              <a:t> </a:t>
            </a:r>
            <a:r>
              <a:rPr spc="-55" dirty="0"/>
              <a:t>Reserve</a:t>
            </a:r>
            <a:r>
              <a:rPr spc="-130" dirty="0"/>
              <a:t> </a:t>
            </a:r>
            <a:r>
              <a:rPr spc="-65" dirty="0"/>
              <a:t>words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9183" y="1892236"/>
          <a:ext cx="11873229" cy="4089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8925"/>
                <a:gridCol w="2503170"/>
                <a:gridCol w="2272665"/>
                <a:gridCol w="2463799"/>
                <a:gridCol w="3074670"/>
              </a:tblGrid>
              <a:tr h="62788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"/>
                        </a:rPr>
                        <a:t>False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"/>
                        </a:rPr>
                        <a:t>await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4"/>
                        </a:rPr>
                        <a:t>else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5"/>
                        </a:rPr>
                        <a:t>import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6"/>
                        </a:rPr>
                        <a:t>pass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76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7"/>
                        </a:rPr>
                        <a:t>None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8"/>
                        </a:rPr>
                        <a:t>break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9"/>
                        </a:rPr>
                        <a:t>except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0"/>
                        </a:rPr>
                        <a:t>in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1"/>
                        </a:rPr>
                        <a:t>raise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3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"/>
                        </a:rPr>
                        <a:t>True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2"/>
                        </a:rPr>
                        <a:t>class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3"/>
                        </a:rPr>
                        <a:t>finally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4"/>
                        </a:rPr>
                        <a:t>is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5"/>
                        </a:rPr>
                        <a:t>return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76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6"/>
                        </a:rPr>
                        <a:t>and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7"/>
                        </a:rPr>
                        <a:t>continue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8"/>
                        </a:rPr>
                        <a:t>for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9"/>
                        </a:rPr>
                        <a:t>lambda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0"/>
                        </a:rPr>
                        <a:t>try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1"/>
                        </a:rPr>
                        <a:t>as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2"/>
                        </a:rPr>
                        <a:t>def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1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3"/>
                        </a:rPr>
                        <a:t>from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4"/>
                        </a:rPr>
                        <a:t>nonlocal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5"/>
                        </a:rPr>
                        <a:t>while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76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6"/>
                        </a:rPr>
                        <a:t>assert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7"/>
                        </a:rPr>
                        <a:t>del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8"/>
                        </a:rPr>
                        <a:t>global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9"/>
                        </a:rPr>
                        <a:t>not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0"/>
                        </a:rPr>
                        <a:t>with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322300">
                <a:tc>
                  <a:txBody>
                    <a:bodyPr/>
                    <a:lstStyle/>
                    <a:p>
                      <a:pPr marL="90805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1"/>
                        </a:rPr>
                        <a:t>async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2"/>
                        </a:rPr>
                        <a:t>elif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3"/>
                        </a:rPr>
                        <a:t>if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4"/>
                        </a:rPr>
                        <a:t>or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5"/>
                        </a:rPr>
                        <a:t>yield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42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String concatenation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4217" y="1905000"/>
            <a:ext cx="8528685" cy="344709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It is used to combine string.</a:t>
            </a:r>
          </a:p>
          <a:p>
            <a:r>
              <a:rPr lang="en-US" sz="3200" dirty="0" smtClean="0"/>
              <a:t>Example: </a:t>
            </a:r>
          </a:p>
          <a:p>
            <a:r>
              <a:rPr lang="en-US" sz="3200" dirty="0"/>
              <a:t>name = "Asif </a:t>
            </a:r>
            <a:r>
              <a:rPr lang="en-US" sz="3200" dirty="0" smtClean="0"/>
              <a:t>Ali“</a:t>
            </a:r>
          </a:p>
          <a:p>
            <a:r>
              <a:rPr lang="en-US" sz="3200" dirty="0" smtClean="0"/>
              <a:t>city </a:t>
            </a:r>
            <a:r>
              <a:rPr lang="en-US" sz="3200" dirty="0"/>
              <a:t>= "</a:t>
            </a:r>
            <a:r>
              <a:rPr lang="en-US" sz="3200" dirty="0" err="1" smtClean="0"/>
              <a:t>Daharki</a:t>
            </a:r>
            <a:r>
              <a:rPr lang="en-US" sz="3200" dirty="0" smtClean="0"/>
              <a:t>“</a:t>
            </a:r>
          </a:p>
          <a:p>
            <a:r>
              <a:rPr lang="en-US" sz="3200" dirty="0" smtClean="0"/>
              <a:t>print</a:t>
            </a:r>
            <a:r>
              <a:rPr lang="en-US" sz="3200" dirty="0"/>
              <a:t>("My name </a:t>
            </a:r>
            <a:r>
              <a:rPr lang="en-US" sz="3200" dirty="0" err="1"/>
              <a:t>is,"+name</a:t>
            </a:r>
            <a:r>
              <a:rPr lang="en-US" sz="3200" dirty="0"/>
              <a:t>+" my city </a:t>
            </a:r>
            <a:r>
              <a:rPr lang="en-US" sz="3200" dirty="0" err="1"/>
              <a:t>is,"+city</a:t>
            </a:r>
            <a:r>
              <a:rPr lang="en-US" sz="3200" dirty="0" smtClean="0"/>
              <a:t>)</a:t>
            </a:r>
          </a:p>
          <a:p>
            <a:r>
              <a:rPr lang="en-US" sz="3200" dirty="0" smtClean="0"/>
              <a:t>Sample Output:</a:t>
            </a:r>
          </a:p>
          <a:p>
            <a:r>
              <a:rPr lang="en-US" sz="3200" dirty="0"/>
              <a:t>My name </a:t>
            </a:r>
            <a:r>
              <a:rPr lang="en-US" sz="3200" dirty="0" err="1"/>
              <a:t>is,Asif</a:t>
            </a:r>
            <a:r>
              <a:rPr lang="en-US" sz="3200" dirty="0"/>
              <a:t> Ali my city </a:t>
            </a:r>
            <a:r>
              <a:rPr lang="en-US" sz="3200" dirty="0" err="1"/>
              <a:t>is,Daharki</a:t>
            </a:r>
            <a:endParaRPr lang="en-US" sz="3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String data type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4217" y="1905000"/>
            <a:ext cx="8528685" cy="1354217"/>
          </a:xfrm>
        </p:spPr>
        <p:txBody>
          <a:bodyPr/>
          <a:lstStyle/>
          <a:p>
            <a:r>
              <a:rPr lang="en-US" dirty="0" smtClean="0"/>
              <a:t>name = “Asif Ali”;</a:t>
            </a:r>
          </a:p>
          <a:p>
            <a:r>
              <a:rPr lang="en-US" dirty="0" smtClean="0"/>
              <a:t>print(name);</a:t>
            </a:r>
            <a:endParaRPr 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Activity-01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8528685" cy="4924425"/>
          </a:xfrm>
        </p:spPr>
        <p:txBody>
          <a:bodyPr/>
          <a:lstStyle/>
          <a:p>
            <a:r>
              <a:rPr lang="en-US" sz="3200" dirty="0" smtClean="0"/>
              <a:t>Write a python that takes name, city, and country. Display the result.</a:t>
            </a:r>
          </a:p>
          <a:p>
            <a:endParaRPr lang="en-US" sz="3200" dirty="0" smtClean="0"/>
          </a:p>
          <a:p>
            <a:r>
              <a:rPr lang="en-US" sz="3200" dirty="0" smtClean="0"/>
              <a:t>Sample Output:</a:t>
            </a:r>
          </a:p>
          <a:p>
            <a:r>
              <a:rPr lang="en-US" sz="3200" dirty="0"/>
              <a:t>Enter your name: Asif Ali</a:t>
            </a:r>
          </a:p>
          <a:p>
            <a:r>
              <a:rPr lang="en-US" sz="3200" dirty="0"/>
              <a:t>Enter your city: </a:t>
            </a:r>
            <a:r>
              <a:rPr lang="en-US" sz="3200" dirty="0" err="1"/>
              <a:t>Daharki</a:t>
            </a:r>
            <a:endParaRPr lang="en-US" sz="3200" dirty="0"/>
          </a:p>
          <a:p>
            <a:r>
              <a:rPr lang="en-US" sz="3200" dirty="0"/>
              <a:t>Enter your country: Pakistan</a:t>
            </a:r>
          </a:p>
          <a:p>
            <a:r>
              <a:rPr lang="en-US" sz="3200" dirty="0"/>
              <a:t>Hello, my name is Asif Ali my city is my country is Pakistan</a:t>
            </a:r>
            <a:endParaRPr lang="en-US" sz="3200" dirty="0" smtClean="0"/>
          </a:p>
          <a:p>
            <a:endParaRPr lang="en-US" sz="3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String using f-string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8528685" cy="3447098"/>
          </a:xfrm>
        </p:spPr>
        <p:txBody>
          <a:bodyPr/>
          <a:lstStyle/>
          <a:p>
            <a:r>
              <a:rPr lang="en-US" sz="3200" dirty="0" smtClean="0"/>
              <a:t>f-string is used to display string with the variables.</a:t>
            </a:r>
          </a:p>
          <a:p>
            <a:r>
              <a:rPr lang="en-US" sz="3200" dirty="0" smtClean="0"/>
              <a:t>Example:</a:t>
            </a:r>
          </a:p>
          <a:p>
            <a:r>
              <a:rPr lang="en-US" sz="3200" dirty="0"/>
              <a:t>name = "Asif </a:t>
            </a:r>
            <a:r>
              <a:rPr lang="en-US" sz="3200" dirty="0" smtClean="0"/>
              <a:t>Ali“</a:t>
            </a:r>
          </a:p>
          <a:p>
            <a:r>
              <a:rPr lang="en-US" sz="3200" dirty="0" smtClean="0"/>
              <a:t>city </a:t>
            </a:r>
            <a:r>
              <a:rPr lang="en-US" sz="3200" dirty="0"/>
              <a:t>= "</a:t>
            </a:r>
            <a:r>
              <a:rPr lang="en-US" sz="3200" dirty="0" err="1" smtClean="0"/>
              <a:t>Daharki</a:t>
            </a:r>
            <a:r>
              <a:rPr lang="en-US" sz="3200" dirty="0" smtClean="0"/>
              <a:t>“</a:t>
            </a:r>
          </a:p>
          <a:p>
            <a:r>
              <a:rPr lang="en-US" sz="3200" dirty="0" smtClean="0"/>
              <a:t>print(</a:t>
            </a:r>
            <a:r>
              <a:rPr lang="en-US" sz="3200" dirty="0" err="1" smtClean="0"/>
              <a:t>f'Hello</a:t>
            </a:r>
            <a:r>
              <a:rPr lang="en-US" sz="3200" dirty="0" smtClean="0"/>
              <a:t> </a:t>
            </a:r>
            <a:r>
              <a:rPr lang="en-US" sz="3200" dirty="0"/>
              <a:t>my is {name}, and my city is {city</a:t>
            </a:r>
            <a:r>
              <a:rPr lang="en-US" sz="3200" dirty="0" smtClean="0"/>
              <a:t>}')</a:t>
            </a:r>
          </a:p>
          <a:p>
            <a:r>
              <a:rPr lang="en-US" sz="3200" dirty="0" smtClean="0"/>
              <a:t>Sample Output:</a:t>
            </a:r>
          </a:p>
          <a:p>
            <a:r>
              <a:rPr lang="en-US" sz="3200" dirty="0"/>
              <a:t>Hello my is Asif Ali, and my city is </a:t>
            </a:r>
            <a:r>
              <a:rPr lang="en-US" sz="3200" dirty="0" err="1" smtClean="0"/>
              <a:t>Daharki</a:t>
            </a:r>
            <a:endParaRPr lang="en-US" sz="3200" dirty="0" smtClean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Activity-02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8528685" cy="4308872"/>
          </a:xfrm>
        </p:spPr>
        <p:txBody>
          <a:bodyPr/>
          <a:lstStyle/>
          <a:p>
            <a:r>
              <a:rPr lang="en-US" sz="2800" dirty="0" smtClean="0"/>
              <a:t>Write a python that takes name, semester, department, and University. Display the result using f-string</a:t>
            </a:r>
          </a:p>
          <a:p>
            <a:r>
              <a:rPr lang="en-US" sz="2800" dirty="0" smtClean="0"/>
              <a:t>Sample Output:</a:t>
            </a:r>
          </a:p>
          <a:p>
            <a:r>
              <a:rPr lang="en-US" sz="2800" dirty="0"/>
              <a:t>Enter your </a:t>
            </a:r>
            <a:r>
              <a:rPr lang="en-US" sz="2800" dirty="0" smtClean="0"/>
              <a:t>Name</a:t>
            </a:r>
            <a:r>
              <a:rPr lang="en-US" sz="2800" dirty="0"/>
              <a:t>: Asif Ali</a:t>
            </a:r>
          </a:p>
          <a:p>
            <a:r>
              <a:rPr lang="en-US" sz="2800" dirty="0"/>
              <a:t>Enter your </a:t>
            </a:r>
            <a:r>
              <a:rPr lang="en-US" sz="2800" dirty="0" smtClean="0"/>
              <a:t>Semester: 2</a:t>
            </a:r>
            <a:endParaRPr lang="en-US" sz="2800" dirty="0"/>
          </a:p>
          <a:p>
            <a:r>
              <a:rPr lang="en-US" sz="2800" dirty="0"/>
              <a:t>Enter your </a:t>
            </a:r>
            <a:r>
              <a:rPr lang="en-US" sz="2800" dirty="0" smtClean="0"/>
              <a:t>Department: CSE</a:t>
            </a:r>
          </a:p>
          <a:p>
            <a:r>
              <a:rPr lang="en-US" sz="2800" dirty="0"/>
              <a:t>Enter your </a:t>
            </a:r>
            <a:r>
              <a:rPr lang="en-US" sz="2800" dirty="0" smtClean="0"/>
              <a:t>University: SIBAU</a:t>
            </a:r>
            <a:endParaRPr lang="en-US" sz="2800" dirty="0"/>
          </a:p>
          <a:p>
            <a:r>
              <a:rPr lang="en-US" sz="2800" dirty="0"/>
              <a:t>Hello, my name is Asif </a:t>
            </a:r>
            <a:r>
              <a:rPr lang="en-US" sz="2800" dirty="0" smtClean="0"/>
              <a:t>Ali, I am in semester 2, my department </a:t>
            </a:r>
            <a:r>
              <a:rPr lang="en-US" sz="2800" dirty="0"/>
              <a:t>is </a:t>
            </a:r>
            <a:r>
              <a:rPr lang="en-US" sz="2800" dirty="0" smtClean="0"/>
              <a:t>CSE and my University </a:t>
            </a:r>
            <a:r>
              <a:rPr lang="en-US" sz="2800" dirty="0"/>
              <a:t>is </a:t>
            </a:r>
            <a:r>
              <a:rPr lang="en-US" sz="2800" dirty="0" smtClean="0"/>
              <a:t>SIBAU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2031325"/>
          </a:xfrm>
        </p:spPr>
        <p:txBody>
          <a:bodyPr/>
          <a:lstStyle/>
          <a:p>
            <a:pPr algn="ctr"/>
            <a:r>
              <a:rPr lang="en-US" sz="4400" u="none" dirty="0" smtClean="0"/>
              <a:t>Activity-03: Write a python program that takes two numbers and perform addition, subtraction, multiplication, and division.</a:t>
            </a:r>
            <a:endParaRPr lang="en-US" sz="44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3352800"/>
            <a:ext cx="8528685" cy="2585323"/>
          </a:xfrm>
        </p:spPr>
        <p:txBody>
          <a:bodyPr/>
          <a:lstStyle/>
          <a:p>
            <a:r>
              <a:rPr lang="en-US" sz="2800" dirty="0" smtClean="0"/>
              <a:t>Enter any number: 10</a:t>
            </a:r>
          </a:p>
          <a:p>
            <a:r>
              <a:rPr lang="en-US" sz="2800" dirty="0" smtClean="0"/>
              <a:t>Enter any number: 10</a:t>
            </a:r>
          </a:p>
          <a:p>
            <a:r>
              <a:rPr lang="en-US" sz="2800" dirty="0" smtClean="0"/>
              <a:t>Sum: 20</a:t>
            </a:r>
          </a:p>
          <a:p>
            <a:r>
              <a:rPr lang="en-US" sz="2800" dirty="0" smtClean="0"/>
              <a:t>Difference: 0</a:t>
            </a:r>
          </a:p>
          <a:p>
            <a:r>
              <a:rPr lang="en-US" sz="2800" dirty="0" smtClean="0"/>
              <a:t>Product: 100</a:t>
            </a:r>
          </a:p>
          <a:p>
            <a:r>
              <a:rPr lang="en-US" sz="2800" dirty="0" smtClean="0"/>
              <a:t>Division:  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027507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2708434"/>
          </a:xfrm>
        </p:spPr>
        <p:txBody>
          <a:bodyPr/>
          <a:lstStyle/>
          <a:p>
            <a:pPr algn="ctr"/>
            <a:r>
              <a:rPr lang="en-US" sz="4400" u="none" dirty="0" smtClean="0"/>
              <a:t>Activity-04: Write a python program that takes two numbers, your choice, and perform operation according to user’s choice.</a:t>
            </a:r>
            <a:endParaRPr lang="en-US" sz="44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3352800"/>
            <a:ext cx="8528685" cy="2154436"/>
          </a:xfrm>
        </p:spPr>
        <p:txBody>
          <a:bodyPr/>
          <a:lstStyle/>
          <a:p>
            <a:r>
              <a:rPr lang="en-US" sz="2800" dirty="0" smtClean="0"/>
              <a:t>Enter any number: 10</a:t>
            </a:r>
          </a:p>
          <a:p>
            <a:r>
              <a:rPr lang="en-US" sz="2800" dirty="0" smtClean="0"/>
              <a:t>Enter any number: 10</a:t>
            </a:r>
          </a:p>
          <a:p>
            <a:r>
              <a:rPr lang="en-US" sz="2800" dirty="0" smtClean="0"/>
              <a:t>Enter your choice: +, -, *, /</a:t>
            </a:r>
          </a:p>
          <a:p>
            <a:r>
              <a:rPr lang="en-US" sz="2800" dirty="0" smtClean="0"/>
              <a:t>Your choice: +</a:t>
            </a:r>
          </a:p>
          <a:p>
            <a:r>
              <a:rPr lang="en-US" sz="2800" dirty="0" smtClean="0"/>
              <a:t>Sum : 20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4107462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1231106"/>
          </a:xfrm>
        </p:spPr>
        <p:txBody>
          <a:bodyPr/>
          <a:lstStyle/>
          <a:p>
            <a:pPr algn="ctr"/>
            <a:r>
              <a:rPr lang="en-US" sz="8000" dirty="0" smtClean="0"/>
              <a:t>Thank you</a:t>
            </a:r>
            <a:endParaRPr lang="en-US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2182</Words>
  <Application>Microsoft Office PowerPoint</Application>
  <PresentationFormat>Custom</PresentationFormat>
  <Paragraphs>491</Paragraphs>
  <Slides>91</Slides>
  <Notes>9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3" baseType="lpstr">
      <vt:lpstr>Office Theme</vt:lpstr>
      <vt:lpstr>ClipArt</vt:lpstr>
      <vt:lpstr>Python Course Phase-02</vt:lpstr>
      <vt:lpstr>About Instructor</vt:lpstr>
      <vt:lpstr>I don’t know about you!!!</vt:lpstr>
      <vt:lpstr>About Course!</vt:lpstr>
      <vt:lpstr>About Python Course</vt:lpstr>
      <vt:lpstr>Recommended Books</vt:lpstr>
      <vt:lpstr>Recommended Books</vt:lpstr>
      <vt:lpstr>Recommended Books</vt:lpstr>
      <vt:lpstr>Online Resources</vt:lpstr>
      <vt:lpstr>Online Resources</vt:lpstr>
      <vt:lpstr>Online Compilers</vt:lpstr>
      <vt:lpstr>Marks Breakdown</vt:lpstr>
      <vt:lpstr>My Rules</vt:lpstr>
      <vt:lpstr>Python</vt:lpstr>
      <vt:lpstr>Agenda</vt:lpstr>
      <vt:lpstr>Python</vt:lpstr>
      <vt:lpstr>                   Brief History of Python </vt:lpstr>
      <vt:lpstr>PowerPoint Presentation</vt:lpstr>
      <vt:lpstr>  10 reasons why Python? </vt:lpstr>
      <vt:lpstr>  10 reasons why Python? </vt:lpstr>
      <vt:lpstr>  10 reasons why Python? </vt:lpstr>
      <vt:lpstr>  10 reasons why Python? </vt:lpstr>
      <vt:lpstr>  10 reasons why Python? </vt:lpstr>
      <vt:lpstr>  10 reasons why Python? </vt:lpstr>
      <vt:lpstr>  10 reasons why Python? </vt:lpstr>
      <vt:lpstr>  10 reasons why Python? </vt:lpstr>
      <vt:lpstr>  10 reasons why Python? </vt:lpstr>
      <vt:lpstr>  10 reasons why Python? </vt:lpstr>
      <vt:lpstr>Comparision of Python with other  programming languages. </vt:lpstr>
      <vt:lpstr>  Hello World Program in C </vt:lpstr>
      <vt:lpstr>  Hello World Program in C++ </vt:lpstr>
      <vt:lpstr>  Hello World Program in Java </vt:lpstr>
      <vt:lpstr>&lt;?php echo "Hello, World!";</vt:lpstr>
      <vt:lpstr>  Hello World Program in Python  print(“Hello World”)</vt:lpstr>
      <vt:lpstr>  Output  Hello, World</vt:lpstr>
      <vt:lpstr>  Installation of Python </vt:lpstr>
      <vt:lpstr>  First Program in Python </vt:lpstr>
      <vt:lpstr>  Basic Program </vt:lpstr>
      <vt:lpstr>Data Types</vt:lpstr>
      <vt:lpstr>Integer</vt:lpstr>
      <vt:lpstr>Float</vt:lpstr>
      <vt:lpstr>String</vt:lpstr>
      <vt:lpstr>Boolean</vt:lpstr>
      <vt:lpstr>Activity: What will be the output ?</vt:lpstr>
      <vt:lpstr>What will be the result? </vt:lpstr>
      <vt:lpstr>What will be the result? </vt:lpstr>
      <vt:lpstr>What will be the result? </vt:lpstr>
      <vt:lpstr>Data Types</vt:lpstr>
      <vt:lpstr>Types Casting</vt:lpstr>
      <vt:lpstr>Types Casting</vt:lpstr>
      <vt:lpstr>Activity: What will be the output ?</vt:lpstr>
      <vt:lpstr>Activity-01</vt:lpstr>
      <vt:lpstr>Activity-01 Solution</vt:lpstr>
      <vt:lpstr>Activity-01 Optimized Solution</vt:lpstr>
      <vt:lpstr>Activity-02</vt:lpstr>
      <vt:lpstr>Activity-02 Solution</vt:lpstr>
      <vt:lpstr>Activity-02 Optimized Solution</vt:lpstr>
      <vt:lpstr>Activity-03</vt:lpstr>
      <vt:lpstr>Activity-03 Solution</vt:lpstr>
      <vt:lpstr>Activity-03 Solution</vt:lpstr>
      <vt:lpstr>Activity-03 Solution</vt:lpstr>
      <vt:lpstr>  Operators </vt:lpstr>
      <vt:lpstr>  Operators </vt:lpstr>
      <vt:lpstr>  Activity-04 </vt:lpstr>
      <vt:lpstr>  Activity-05 </vt:lpstr>
      <vt:lpstr>Random Task</vt:lpstr>
      <vt:lpstr>Task-01</vt:lpstr>
      <vt:lpstr>Task-01 Solution</vt:lpstr>
      <vt:lpstr>Task-02</vt:lpstr>
      <vt:lpstr>Task-02 Solutions</vt:lpstr>
      <vt:lpstr>Task-03</vt:lpstr>
      <vt:lpstr>Task-03 Solution</vt:lpstr>
      <vt:lpstr>Task-04</vt:lpstr>
      <vt:lpstr>Task-04  Solution</vt:lpstr>
      <vt:lpstr>Task-05</vt:lpstr>
      <vt:lpstr>Task-05  Solution</vt:lpstr>
      <vt:lpstr>PowerPoint Presentation</vt:lpstr>
      <vt:lpstr>Day-03 Input, Output, and String Formatting</vt:lpstr>
      <vt:lpstr>Contents</vt:lpstr>
      <vt:lpstr>PowerPoint Presentation</vt:lpstr>
      <vt:lpstr>PowerPoint Presentation</vt:lpstr>
      <vt:lpstr>  Variable naming rules </vt:lpstr>
      <vt:lpstr>  Keyword or Reserve words </vt:lpstr>
      <vt:lpstr>String concatenation</vt:lpstr>
      <vt:lpstr>String data type</vt:lpstr>
      <vt:lpstr>Activity-01</vt:lpstr>
      <vt:lpstr>String using f-string</vt:lpstr>
      <vt:lpstr>Activity-02</vt:lpstr>
      <vt:lpstr>Activity-03: Write a python program that takes two numbers and perform addition, subtraction, multiplication, and division.</vt:lpstr>
      <vt:lpstr>Activity-04: Write a python program that takes two numbers, your choice, and perform operation according to user’s choice.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Programming</dc:title>
  <dc:creator>Asif Ali</dc:creator>
  <cp:lastModifiedBy>Asad Computers</cp:lastModifiedBy>
  <cp:revision>113</cp:revision>
  <dcterms:created xsi:type="dcterms:W3CDTF">2024-11-28T17:57:00Z</dcterms:created>
  <dcterms:modified xsi:type="dcterms:W3CDTF">2025-09-27T15:29:18Z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2022-03-09T10:00:00Z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2024-11-28T10:00:00Z</vt:filetime>
  </property>
  <property fmtid="{D5CDD505-2E9C-101B-9397-08002B2CF9AE}" pid="5" name="ICV">
    <vt:lpwstr>A12AD32ACB224BFF847B65E4E943D686_12</vt:lpwstr>
  </property>
  <property fmtid="{D5CDD505-2E9C-101B-9397-08002B2CF9AE}" pid="6" name="KSOProductBuildVer">
    <vt:lpwstr>1033-12.2.0.20326</vt:lpwstr>
  </property>
</Properties>
</file>