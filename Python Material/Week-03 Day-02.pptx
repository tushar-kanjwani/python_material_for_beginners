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687" r:id="rId2"/>
  </p:sldMasterIdLst>
  <p:sldIdLst>
    <p:sldId id="269" r:id="rId3"/>
    <p:sldId id="270" r:id="rId4"/>
    <p:sldId id="271" r:id="rId5"/>
    <p:sldId id="272" r:id="rId6"/>
    <p:sldId id="273" r:id="rId7"/>
    <p:sldId id="286" r:id="rId8"/>
    <p:sldId id="287" r:id="rId9"/>
    <p:sldId id="274" r:id="rId10"/>
    <p:sldId id="275" r:id="rId11"/>
    <p:sldId id="276" r:id="rId12"/>
    <p:sldId id="278" r:id="rId13"/>
    <p:sldId id="279" r:id="rId14"/>
    <p:sldId id="280" r:id="rId15"/>
    <p:sldId id="281" r:id="rId16"/>
    <p:sldId id="283" r:id="rId17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1" d="100"/>
          <a:sy n="71" d="100"/>
        </p:scale>
        <p:origin x="-456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CustomShape 2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Line 3"/>
          <p:cNvSpPr/>
          <p:nvPr/>
        </p:nvSpPr>
        <p:spPr>
          <a:xfrm>
            <a:off x="1193400" y="1737720"/>
            <a:ext cx="9966960" cy="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CustomShape 4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CustomShape 5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" name="Line 6"/>
          <p:cNvSpPr/>
          <p:nvPr/>
        </p:nvSpPr>
        <p:spPr>
          <a:xfrm>
            <a:off x="1207440" y="4343400"/>
            <a:ext cx="9875520" cy="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PlaceHolder 7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92" name="PlaceHolder 8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0" name="CustomShape 2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" name="Line 3"/>
          <p:cNvSpPr/>
          <p:nvPr/>
        </p:nvSpPr>
        <p:spPr>
          <a:xfrm>
            <a:off x="1193400" y="1737720"/>
            <a:ext cx="9966960" cy="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ustomShape 1"/>
          <p:cNvSpPr/>
          <p:nvPr/>
        </p:nvSpPr>
        <p:spPr>
          <a:xfrm>
            <a:off x="1097280" y="758880"/>
            <a:ext cx="10057680" cy="3565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8000" b="0" strike="noStrike" spc="-52" dirty="0" smtClean="0">
                <a:solidFill>
                  <a:srgbClr val="262626"/>
                </a:solidFill>
                <a:latin typeface="Calibri Light"/>
              </a:rPr>
              <a:t>Week-03 Day-02</a:t>
            </a:r>
          </a:p>
          <a:p>
            <a:pPr algn="ctr">
              <a:lnSpc>
                <a:spcPct val="85000"/>
              </a:lnSpc>
            </a:pPr>
            <a:r>
              <a:rPr lang="en-US" sz="8000" b="0" strike="noStrike" spc="-52" dirty="0" smtClean="0">
                <a:solidFill>
                  <a:srgbClr val="262626"/>
                </a:solidFill>
                <a:latin typeface="Calibri Light"/>
              </a:rPr>
              <a:t>Lists </a:t>
            </a:r>
            <a:r>
              <a:rPr lang="en-US" sz="8000" b="0" strike="noStrike" spc="-52" dirty="0">
                <a:solidFill>
                  <a:srgbClr val="262626"/>
                </a:solidFill>
                <a:latin typeface="Calibri Light"/>
              </a:rPr>
              <a:t>in Python</a:t>
            </a:r>
            <a:endParaRPr lang="en-US" sz="8000" b="0" strike="noStrike" spc="-1" dirty="0">
              <a:latin typeface="Arial"/>
            </a:endParaRPr>
          </a:p>
        </p:txBody>
      </p:sp>
      <p:sp>
        <p:nvSpPr>
          <p:cNvPr id="196" name="CustomShape 2"/>
          <p:cNvSpPr/>
          <p:nvPr/>
        </p:nvSpPr>
        <p:spPr>
          <a:xfrm>
            <a:off x="1100160" y="4455720"/>
            <a:ext cx="100576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r>
              <a:rPr lang="en-US" sz="4800" b="1" strike="noStrike" cap="all" spc="197" dirty="0">
                <a:solidFill>
                  <a:srgbClr val="637052"/>
                </a:solidFill>
                <a:latin typeface="Calibri Light"/>
              </a:rPr>
              <a:t>By</a:t>
            </a:r>
            <a:r>
              <a:rPr lang="en-US" sz="4800" b="1" strike="noStrike" cap="all" spc="197" dirty="0" smtClean="0">
                <a:solidFill>
                  <a:srgbClr val="637052"/>
                </a:solidFill>
                <a:latin typeface="Calibri Light"/>
              </a:rPr>
              <a:t>: Engr. Asif </a:t>
            </a:r>
            <a:r>
              <a:rPr lang="en-US" sz="4800" b="1" strike="noStrike" cap="all" spc="197" dirty="0">
                <a:solidFill>
                  <a:srgbClr val="637052"/>
                </a:solidFill>
                <a:latin typeface="Calibri Light"/>
              </a:rPr>
              <a:t>Ali</a:t>
            </a:r>
            <a:endParaRPr lang="en-US" sz="48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1172520" y="-109080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 smtClean="0">
                <a:solidFill>
                  <a:srgbClr val="404040"/>
                </a:solidFill>
                <a:latin typeface="Calibri Light"/>
              </a:rPr>
              <a:t>Contents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424911" y="2031148"/>
            <a:ext cx="11545200" cy="36240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3200" b="0" strike="noStrike" spc="-1" dirty="0">
                <a:solidFill>
                  <a:srgbClr val="404040"/>
                </a:solidFill>
                <a:latin typeface="Calibri"/>
              </a:rPr>
              <a:t>List</a:t>
            </a: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3200" b="0" strike="noStrike" spc="-1" dirty="0">
                <a:solidFill>
                  <a:srgbClr val="404040"/>
                </a:solidFill>
                <a:latin typeface="Calibri"/>
              </a:rPr>
              <a:t>Lists are mutable.</a:t>
            </a: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b="0" strike="noStrike" spc="-1" dirty="0">
                <a:solidFill>
                  <a:srgbClr val="404040"/>
                </a:solidFill>
                <a:latin typeface="Calibri"/>
              </a:rPr>
              <a:t>Traversing a list.</a:t>
            </a: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b="0" strike="noStrike" spc="-1" dirty="0">
                <a:solidFill>
                  <a:srgbClr val="404040"/>
                </a:solidFill>
                <a:latin typeface="Calibri"/>
              </a:rPr>
              <a:t>List operations</a:t>
            </a: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b="0" strike="noStrike" spc="-1" dirty="0" smtClean="0">
                <a:latin typeface="Arial"/>
              </a:rPr>
              <a:t>Activities</a:t>
            </a: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spc="-1" dirty="0" smtClean="0">
                <a:latin typeface="Arial"/>
              </a:rPr>
              <a:t>Tasks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1064943" y="572238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List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00" name="CustomShape 2"/>
          <p:cNvSpPr/>
          <p:nvPr/>
        </p:nvSpPr>
        <p:spPr>
          <a:xfrm>
            <a:off x="368640" y="736920"/>
            <a:ext cx="11545200" cy="526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18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18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2400" b="0" strike="noStrike" spc="-1" dirty="0" smtClean="0">
              <a:solidFill>
                <a:srgbClr val="404040"/>
              </a:solidFill>
              <a:latin typeface="Calibri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400" b="0" strike="noStrike" spc="-1" dirty="0" smtClean="0">
                <a:solidFill>
                  <a:srgbClr val="404040"/>
                </a:solidFill>
                <a:latin typeface="Calibri"/>
              </a:rPr>
              <a:t>A </a:t>
            </a:r>
            <a:r>
              <a:rPr lang="en-US" sz="2400" b="0" strike="noStrike" spc="-1" dirty="0">
                <a:solidFill>
                  <a:srgbClr val="404040"/>
                </a:solidFill>
                <a:latin typeface="Calibri"/>
              </a:rPr>
              <a:t>list is sequence of values.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</a:rPr>
              <a:t>It can contain different </a:t>
            </a:r>
            <a:r>
              <a:rPr lang="en-US" sz="2400" b="0" strike="noStrike" spc="-1" dirty="0" smtClean="0">
                <a:solidFill>
                  <a:srgbClr val="404040"/>
                </a:solidFill>
                <a:latin typeface="Calibri"/>
              </a:rPr>
              <a:t>types </a:t>
            </a:r>
            <a:r>
              <a:rPr lang="en-US" sz="2400" b="0" strike="noStrike" spc="-1" dirty="0">
                <a:solidFill>
                  <a:srgbClr val="404040"/>
                </a:solidFill>
                <a:latin typeface="Calibri"/>
              </a:rPr>
              <a:t>of data.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</a:rPr>
              <a:t>Example: numbers = [2,3,4]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</a:rPr>
              <a:t>print(numbers)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</a:rPr>
              <a:t>Example: values = [1,2,”Asif”,”Ali”]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</a:rPr>
              <a:t>print(values)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1145225" y="218466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Lists are mutable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368640" y="736920"/>
            <a:ext cx="11545200" cy="526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4000" b="0" strike="noStrike" spc="-1" dirty="0" smtClean="0">
              <a:solidFill>
                <a:srgbClr val="404040"/>
              </a:solidFill>
              <a:latin typeface="Calibri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 smtClean="0">
                <a:solidFill>
                  <a:srgbClr val="404040"/>
                </a:solidFill>
                <a:latin typeface="Calibri"/>
              </a:rPr>
              <a:t>The </a:t>
            </a:r>
            <a:r>
              <a:rPr lang="en-US" sz="4000" b="0" strike="noStrike" spc="-1" dirty="0">
                <a:solidFill>
                  <a:srgbClr val="404040"/>
                </a:solidFill>
                <a:latin typeface="Calibri"/>
              </a:rPr>
              <a:t>values of list can be modified</a:t>
            </a:r>
            <a:endParaRPr lang="en-US" sz="40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>
                <a:solidFill>
                  <a:srgbClr val="404040"/>
                </a:solidFill>
                <a:latin typeface="Calibri"/>
              </a:rPr>
              <a:t>Example: </a:t>
            </a:r>
            <a:endParaRPr lang="en-US" sz="4000" b="0" strike="noStrike" spc="-1" dirty="0">
              <a:latin typeface="Arial"/>
            </a:endParaRPr>
          </a:p>
          <a:p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values = [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3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"Asif"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(values)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values[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]=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"Shoaib Ali"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(values)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1145224" y="314280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Traversing a List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04" name="CustomShape 2"/>
          <p:cNvSpPr/>
          <p:nvPr/>
        </p:nvSpPr>
        <p:spPr>
          <a:xfrm>
            <a:off x="368640" y="736920"/>
            <a:ext cx="11545200" cy="526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40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40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4800" b="0" strike="noStrike" spc="-1" dirty="0" smtClean="0">
              <a:solidFill>
                <a:srgbClr val="404040"/>
              </a:solidFill>
              <a:latin typeface="Calibri"/>
            </a:endParaRPr>
          </a:p>
          <a:p>
            <a:pPr marL="4579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panose="05000000000000000000" pitchFamily="2" charset="2"/>
              <a:buChar char="q"/>
            </a:pPr>
            <a:r>
              <a:rPr lang="en-US" sz="4800" b="0" strike="noStrike" spc="-1" dirty="0" smtClean="0">
                <a:solidFill>
                  <a:srgbClr val="404040"/>
                </a:solidFill>
                <a:latin typeface="Calibri"/>
              </a:rPr>
              <a:t>Example</a:t>
            </a:r>
            <a:r>
              <a:rPr lang="en-US" sz="4800" b="0" strike="noStrike" spc="-1" dirty="0">
                <a:solidFill>
                  <a:srgbClr val="404040"/>
                </a:solidFill>
                <a:latin typeface="Calibri"/>
              </a:rPr>
              <a:t>: </a:t>
            </a:r>
            <a:endParaRPr lang="en-US" sz="4800" b="0" strike="noStrike" spc="-1" dirty="0">
              <a:latin typeface="Arial"/>
            </a:endParaRPr>
          </a:p>
          <a:p>
            <a:r>
              <a:rPr lang="en-US" sz="32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values = [3,4,1,"Asif","Ali"]</a:t>
            </a:r>
            <a:r>
              <a:rPr sz="4000" dirty="0"/>
              <a:t/>
            </a:r>
            <a:br>
              <a:rPr sz="4000" dirty="0"/>
            </a:br>
            <a:r>
              <a:rPr lang="en-US" sz="32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for a in values:</a:t>
            </a:r>
            <a:r>
              <a:rPr sz="4000" dirty="0"/>
              <a:t/>
            </a:r>
            <a:br>
              <a:rPr sz="4000" dirty="0"/>
            </a:br>
            <a:r>
              <a:rPr lang="en-US" sz="32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    print(a)</a:t>
            </a:r>
            <a:r>
              <a:rPr sz="4000" dirty="0"/>
              <a:t/>
            </a:r>
            <a:br>
              <a:rPr sz="4000" dirty="0"/>
            </a:br>
            <a:endParaRPr lang="en-US" sz="3200" b="0" strike="noStrike" spc="-1" dirty="0">
              <a:solidFill>
                <a:srgbClr val="6A8759"/>
              </a:solidFill>
              <a:latin typeface="JetBrains Mono"/>
              <a:ea typeface="JetBrains Mono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Activity-01: Write </a:t>
            </a:r>
            <a:r>
              <a:rPr lang="en-US" dirty="0"/>
              <a:t>a python program which search an element in the list.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30186" y="2855435"/>
            <a:ext cx="10972440" cy="1144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Sample </a:t>
            </a:r>
            <a:r>
              <a:rPr lang="en-US" dirty="0" smtClean="0"/>
              <a:t>Output:</a:t>
            </a:r>
          </a:p>
          <a:p>
            <a:pPr marL="0" indent="0">
              <a:buNone/>
            </a:pPr>
            <a:r>
              <a:rPr lang="en-US" dirty="0"/>
              <a:t>['Asif', 'Ali', '</a:t>
            </a:r>
            <a:r>
              <a:rPr lang="en-US" dirty="0" err="1"/>
              <a:t>Kashif</a:t>
            </a:r>
            <a:r>
              <a:rPr lang="en-US" dirty="0"/>
              <a:t>', '</a:t>
            </a:r>
            <a:r>
              <a:rPr lang="en-US" dirty="0" err="1"/>
              <a:t>Shoaib</a:t>
            </a:r>
            <a:r>
              <a:rPr lang="en-US" dirty="0"/>
              <a:t>']</a:t>
            </a:r>
          </a:p>
          <a:p>
            <a:pPr marL="0" indent="0">
              <a:buNone/>
            </a:pPr>
            <a:r>
              <a:rPr lang="en-US" dirty="0"/>
              <a:t>Enter any name: Ali</a:t>
            </a:r>
          </a:p>
          <a:p>
            <a:pPr marL="0" indent="0">
              <a:buNone/>
            </a:pPr>
            <a:r>
              <a:rPr lang="en-US" dirty="0"/>
              <a:t>Found</a:t>
            </a:r>
          </a:p>
        </p:txBody>
      </p:sp>
    </p:spTree>
    <p:extLst>
      <p:ext uri="{BB962C8B-B14F-4D97-AF65-F5344CB8AC3E}">
        <p14:creationId xmlns:p14="http://schemas.microsoft.com/office/powerpoint/2010/main" val="132183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Activity-01 Solution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68803" y="1814732"/>
            <a:ext cx="10972440" cy="4431323"/>
          </a:xfrm>
        </p:spPr>
        <p:txBody>
          <a:bodyPr/>
          <a:lstStyle/>
          <a:p>
            <a:r>
              <a:rPr lang="en-US" sz="2800" dirty="0" smtClean="0"/>
              <a:t>names = ['Asif','Ali','</a:t>
            </a:r>
            <a:r>
              <a:rPr lang="en-US" sz="2800" dirty="0" err="1" smtClean="0"/>
              <a:t>Kashif</a:t>
            </a:r>
            <a:r>
              <a:rPr lang="en-US" sz="2800" dirty="0" smtClean="0"/>
              <a:t>','</a:t>
            </a:r>
            <a:r>
              <a:rPr lang="en-US" sz="2800" dirty="0" err="1" smtClean="0"/>
              <a:t>Shoaib</a:t>
            </a:r>
            <a:r>
              <a:rPr lang="en-US" sz="2800" dirty="0" smtClean="0"/>
              <a:t>']</a:t>
            </a:r>
          </a:p>
          <a:p>
            <a:r>
              <a:rPr lang="en-US" sz="2800" dirty="0" smtClean="0"/>
              <a:t>print(names)</a:t>
            </a:r>
          </a:p>
          <a:p>
            <a:r>
              <a:rPr lang="en-US" sz="2800" dirty="0" smtClean="0"/>
              <a:t>c = input("Enter any name: ")</a:t>
            </a:r>
          </a:p>
          <a:p>
            <a:r>
              <a:rPr lang="en-US" sz="2800" dirty="0" smtClean="0"/>
              <a:t>found = False</a:t>
            </a:r>
          </a:p>
          <a:p>
            <a:r>
              <a:rPr lang="en-US" sz="2800" dirty="0" smtClean="0"/>
              <a:t>for a in names:    </a:t>
            </a:r>
          </a:p>
          <a:p>
            <a:r>
              <a:rPr lang="en-US" sz="2800" dirty="0" smtClean="0"/>
              <a:t>	if a==c:        </a:t>
            </a:r>
          </a:p>
          <a:p>
            <a:r>
              <a:rPr lang="en-US" sz="2800" dirty="0" smtClean="0"/>
              <a:t>		print("Found")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	found = True</a:t>
            </a:r>
            <a:r>
              <a:rPr lang="en-US" sz="2800" dirty="0" smtClean="0"/>
              <a:t>        </a:t>
            </a:r>
          </a:p>
          <a:p>
            <a:r>
              <a:rPr lang="en-US" sz="2800" dirty="0" smtClean="0"/>
              <a:t>		break</a:t>
            </a:r>
          </a:p>
          <a:p>
            <a:r>
              <a:rPr lang="en-US" sz="2800" dirty="0" smtClean="0"/>
              <a:t>if not found</a:t>
            </a:r>
            <a:r>
              <a:rPr lang="en-US" sz="2800" dirty="0" smtClean="0"/>
              <a:t>: 	   </a:t>
            </a:r>
          </a:p>
          <a:p>
            <a:r>
              <a:rPr lang="en-US" sz="2800" dirty="0" smtClean="0"/>
              <a:t>	print("Not found")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9570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1240758" y="491421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70000" lnSpcReduction="20000"/>
          </a:bodyPr>
          <a:lstStyle/>
          <a:p>
            <a:pPr algn="ctr">
              <a:lnSpc>
                <a:spcPct val="85000"/>
              </a:lnSpc>
            </a:pPr>
            <a:endParaRPr lang="en-US" sz="5400" b="0" strike="noStrike" spc="-52" dirty="0" smtClean="0">
              <a:solidFill>
                <a:srgbClr val="404040"/>
              </a:solidFill>
              <a:latin typeface="Calibri Light"/>
            </a:endParaRPr>
          </a:p>
          <a:p>
            <a:pPr algn="ctr">
              <a:lnSpc>
                <a:spcPct val="85000"/>
              </a:lnSpc>
            </a:pPr>
            <a:r>
              <a:rPr lang="en-US" sz="5400" b="0" strike="noStrike" spc="-52" dirty="0" smtClean="0">
                <a:solidFill>
                  <a:srgbClr val="404040"/>
                </a:solidFill>
                <a:latin typeface="Calibri Light"/>
              </a:rPr>
              <a:t>List </a:t>
            </a: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Operations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06" name="CustomShape 2"/>
          <p:cNvSpPr/>
          <p:nvPr/>
        </p:nvSpPr>
        <p:spPr>
          <a:xfrm>
            <a:off x="368640" y="736920"/>
            <a:ext cx="11545200" cy="526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</a:pPr>
            <a:endParaRPr lang="en-US" sz="4000" b="0" strike="noStrike" spc="-1" dirty="0" smtClean="0">
              <a:solidFill>
                <a:srgbClr val="404040"/>
              </a:solidFill>
              <a:latin typeface="Calibri"/>
            </a:endParaRPr>
          </a:p>
          <a:p>
            <a:pPr marL="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</a:pPr>
            <a:endParaRPr lang="en-US" sz="4000" b="0" strike="noStrike" spc="-1" dirty="0" smtClean="0">
              <a:solidFill>
                <a:srgbClr val="404040"/>
              </a:solidFill>
              <a:latin typeface="Calibri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 smtClean="0">
                <a:solidFill>
                  <a:srgbClr val="404040"/>
                </a:solidFill>
                <a:latin typeface="Calibri"/>
              </a:rPr>
              <a:t>Combining </a:t>
            </a:r>
            <a:r>
              <a:rPr lang="en-US" sz="4000" b="0" strike="noStrike" spc="-1" dirty="0">
                <a:solidFill>
                  <a:srgbClr val="404040"/>
                </a:solidFill>
                <a:latin typeface="Calibri"/>
              </a:rPr>
              <a:t>two lists</a:t>
            </a:r>
            <a:endParaRPr lang="en-US" sz="4000" b="0" strike="noStrike" spc="-1" dirty="0">
              <a:latin typeface="Arial"/>
            </a:endParaRPr>
          </a:p>
          <a:p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list1 = [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3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list2 = [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5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6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combine = list1+list2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(combine)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>
                <a:solidFill>
                  <a:srgbClr val="404040"/>
                </a:solidFill>
                <a:latin typeface="Calibri"/>
                <a:ea typeface="JetBrains Mono"/>
              </a:rPr>
              <a:t>Multiplication of two lists</a:t>
            </a:r>
            <a:endParaRPr lang="en-US" sz="4000" b="0" strike="noStrike" spc="-1" dirty="0">
              <a:latin typeface="Arial"/>
            </a:endParaRPr>
          </a:p>
          <a:p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for 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a 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in 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range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len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(list1)):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    list1[a] = list1[a]*list2[a]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    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(list1[a]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AA4926"/>
                </a:solidFill>
                <a:latin typeface="JetBrains Mono"/>
                <a:ea typeface="JetBrains Mono"/>
              </a:rPr>
              <a:t>end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=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" "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)</a:t>
            </a:r>
            <a:r>
              <a:rPr sz="3200" dirty="0"/>
              <a:t/>
            </a:r>
            <a:br>
              <a:rPr sz="3200" dirty="0"/>
            </a:b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1"/>
          <p:cNvSpPr/>
          <p:nvPr/>
        </p:nvSpPr>
        <p:spPr>
          <a:xfrm>
            <a:off x="872269" y="559660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70000" lnSpcReduction="20000"/>
          </a:bodyPr>
          <a:lstStyle/>
          <a:p>
            <a:pPr algn="ctr">
              <a:lnSpc>
                <a:spcPct val="85000"/>
              </a:lnSpc>
            </a:pPr>
            <a:endParaRPr lang="en-US" sz="5400" b="0" strike="noStrike" spc="-52" dirty="0" smtClean="0">
              <a:solidFill>
                <a:srgbClr val="404040"/>
              </a:solidFill>
              <a:latin typeface="Calibri Light"/>
            </a:endParaRPr>
          </a:p>
          <a:p>
            <a:pPr algn="ctr">
              <a:lnSpc>
                <a:spcPct val="85000"/>
              </a:lnSpc>
            </a:pPr>
            <a:r>
              <a:rPr lang="en-US" sz="5400" b="0" strike="noStrike" spc="-52" dirty="0" smtClean="0">
                <a:solidFill>
                  <a:srgbClr val="404040"/>
                </a:solidFill>
                <a:latin typeface="Calibri Light"/>
              </a:rPr>
              <a:t>List </a:t>
            </a: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Slices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08" name="CustomShape 2"/>
          <p:cNvSpPr/>
          <p:nvPr/>
        </p:nvSpPr>
        <p:spPr>
          <a:xfrm>
            <a:off x="368640" y="1610436"/>
            <a:ext cx="11545200" cy="43936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</a:pPr>
            <a:endParaRPr lang="en-US" sz="3600" spc="-1" dirty="0">
              <a:latin typeface="Arial"/>
            </a:endParaRPr>
          </a:p>
          <a:p>
            <a:pPr marL="572220" indent="-5715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panose="05000000000000000000" pitchFamily="2" charset="2"/>
              <a:buChar char="q"/>
            </a:pPr>
            <a:r>
              <a:rPr lang="en-US" sz="4400" b="0" strike="noStrike" spc="-1" dirty="0" smtClean="0">
                <a:solidFill>
                  <a:srgbClr val="404040"/>
                </a:solidFill>
                <a:latin typeface="Calibri"/>
              </a:rPr>
              <a:t>You </a:t>
            </a:r>
            <a:r>
              <a:rPr lang="en-US" sz="4400" b="0" strike="noStrike" spc="-1" dirty="0">
                <a:solidFill>
                  <a:srgbClr val="404040"/>
                </a:solidFill>
                <a:latin typeface="Calibri"/>
              </a:rPr>
              <a:t>can select particular range of elements available in list</a:t>
            </a:r>
            <a:endParaRPr lang="en-US" sz="4400" b="0" strike="noStrike" spc="-1" dirty="0">
              <a:latin typeface="Arial"/>
            </a:endParaRPr>
          </a:p>
          <a:p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my_list = [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3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5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r>
              <a:rPr sz="3600" dirty="0"/>
              <a:t/>
            </a:r>
            <a:br>
              <a:rPr sz="3600" dirty="0"/>
            </a:br>
            <a:r>
              <a:rPr lang="en-US" sz="28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(my_list[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: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])</a:t>
            </a:r>
            <a:r>
              <a:rPr sz="3600" dirty="0"/>
              <a:t/>
            </a:r>
            <a:br>
              <a:rPr sz="3600" dirty="0"/>
            </a:br>
            <a:r>
              <a:rPr lang="en-US" sz="28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(my_list[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0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:])</a:t>
            </a:r>
            <a:r>
              <a:rPr sz="3600" dirty="0"/>
              <a:t/>
            </a:r>
            <a:br>
              <a:rPr sz="3600" dirty="0"/>
            </a:br>
            <a:r>
              <a:rPr lang="en-US" sz="28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(my_list[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0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:-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])</a:t>
            </a:r>
            <a:r>
              <a:rPr sz="3600" dirty="0"/>
              <a:t/>
            </a:r>
            <a:br>
              <a:rPr sz="3600" dirty="0"/>
            </a:b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1"/>
          <p:cNvSpPr/>
          <p:nvPr/>
        </p:nvSpPr>
        <p:spPr>
          <a:xfrm>
            <a:off x="995099" y="590702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 smtClean="0">
                <a:solidFill>
                  <a:srgbClr val="404040"/>
                </a:solidFill>
                <a:latin typeface="Calibri Light"/>
              </a:rPr>
              <a:t>List </a:t>
            </a: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Methods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10" name="CustomShape 2"/>
          <p:cNvSpPr/>
          <p:nvPr/>
        </p:nvSpPr>
        <p:spPr>
          <a:xfrm>
            <a:off x="368640" y="1856096"/>
            <a:ext cx="11545200" cy="41479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343620" indent="-3429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panose="05000000000000000000" pitchFamily="2" charset="2"/>
              <a:buChar char="q"/>
            </a:pPr>
            <a:r>
              <a:rPr lang="en-US" sz="3600" b="0" strike="noStrike" spc="-1" dirty="0" smtClean="0">
                <a:solidFill>
                  <a:srgbClr val="404040"/>
                </a:solidFill>
                <a:latin typeface="Calibri"/>
              </a:rPr>
              <a:t>There </a:t>
            </a:r>
            <a:r>
              <a:rPr lang="en-US" sz="3600" b="0" strike="noStrike" spc="-1" dirty="0">
                <a:solidFill>
                  <a:srgbClr val="404040"/>
                </a:solidFill>
                <a:latin typeface="Calibri"/>
              </a:rPr>
              <a:t>are several methods are available for list.</a:t>
            </a:r>
            <a:endParaRPr lang="en-US" sz="36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3600" b="0" strike="noStrike" spc="-1" dirty="0">
                <a:solidFill>
                  <a:srgbClr val="404040"/>
                </a:solidFill>
                <a:latin typeface="Calibri"/>
              </a:rPr>
              <a:t>Example: append,extend,sort,reverse,max,min etc.</a:t>
            </a:r>
            <a:endParaRPr lang="en-US" sz="3600" b="0" strike="noStrike" spc="-1" dirty="0">
              <a:latin typeface="Arial"/>
            </a:endParaRPr>
          </a:p>
          <a:p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my_list = [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3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5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r>
              <a:rPr sz="3600" dirty="0"/>
              <a:t/>
            </a:r>
            <a:br>
              <a:rPr sz="3600" dirty="0"/>
            </a:b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my_list.append(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12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)</a:t>
            </a:r>
            <a:r>
              <a:rPr sz="3600" dirty="0"/>
              <a:t/>
            </a:r>
            <a:br>
              <a:rPr sz="3600" dirty="0"/>
            </a:br>
            <a:r>
              <a:rPr lang="en-US" sz="28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(my_list)</a:t>
            </a:r>
            <a:endParaRPr lang="en-US" sz="2800" b="0" strike="noStrike" spc="-1" dirty="0">
              <a:latin typeface="Arial"/>
            </a:endParaRPr>
          </a:p>
          <a:p>
            <a:r>
              <a:rPr sz="2800" dirty="0"/>
              <a:t/>
            </a:r>
            <a:br>
              <a:rPr sz="2800" dirty="0"/>
            </a:b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1"/>
          <p:cNvSpPr/>
          <p:nvPr/>
        </p:nvSpPr>
        <p:spPr>
          <a:xfrm>
            <a:off x="1036042" y="354944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List Methods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14" name="CustomShape 2"/>
          <p:cNvSpPr/>
          <p:nvPr/>
        </p:nvSpPr>
        <p:spPr>
          <a:xfrm>
            <a:off x="368640" y="1433014"/>
            <a:ext cx="11545200" cy="457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600" b="0" strike="noStrike" spc="-1" dirty="0">
              <a:latin typeface="Arial"/>
            </a:endParaRPr>
          </a:p>
          <a:p>
            <a:pPr marL="286470" indent="-28575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panose="05000000000000000000" pitchFamily="2" charset="2"/>
              <a:buChar char="q"/>
            </a:pPr>
            <a:r>
              <a:rPr lang="en-US" sz="3600" spc="-1" dirty="0" smtClean="0">
                <a:latin typeface="Arial"/>
              </a:rPr>
              <a:t>T</a:t>
            </a:r>
            <a:r>
              <a:rPr lang="en-US" sz="4400" b="0" strike="noStrike" spc="-1" dirty="0" smtClean="0">
                <a:solidFill>
                  <a:srgbClr val="404040"/>
                </a:solidFill>
                <a:latin typeface="Calibri"/>
              </a:rPr>
              <a:t>here </a:t>
            </a:r>
            <a:r>
              <a:rPr lang="en-US" sz="4400" b="0" strike="noStrike" spc="-1" dirty="0">
                <a:solidFill>
                  <a:srgbClr val="404040"/>
                </a:solidFill>
                <a:latin typeface="Calibri"/>
              </a:rPr>
              <a:t>are several methods are available for list.</a:t>
            </a:r>
            <a:endParaRPr lang="en-US" sz="4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400" b="0" strike="noStrike" spc="-1" dirty="0">
                <a:solidFill>
                  <a:srgbClr val="404040"/>
                </a:solidFill>
                <a:latin typeface="Calibri"/>
              </a:rPr>
              <a:t>Example: sort</a:t>
            </a:r>
            <a:endParaRPr lang="en-US" sz="4400" b="0" strike="noStrike" spc="-1" dirty="0">
              <a:latin typeface="Arial"/>
            </a:endParaRPr>
          </a:p>
          <a:p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numbers = [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5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42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r>
              <a:rPr sz="3600" dirty="0"/>
              <a:t/>
            </a:r>
            <a:br>
              <a:rPr sz="3600" dirty="0"/>
            </a:br>
            <a:r>
              <a:rPr lang="en-US" sz="28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</a:t>
            </a:r>
            <a:r>
              <a:rPr sz="3600" dirty="0"/>
              <a:t/>
            </a:r>
            <a:br>
              <a:rPr sz="3600" dirty="0"/>
            </a:b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numbers.sort()</a:t>
            </a:r>
            <a:r>
              <a:rPr sz="3600" dirty="0"/>
              <a:t/>
            </a:r>
            <a:br>
              <a:rPr sz="3600" dirty="0"/>
            </a:br>
            <a:r>
              <a:rPr lang="en-US" sz="28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</a:t>
            </a:r>
            <a:endParaRPr lang="en-US" sz="2800" b="0" strike="noStrike" spc="-1" dirty="0">
              <a:latin typeface="Arial"/>
            </a:endParaRPr>
          </a:p>
          <a:p>
            <a:r>
              <a:rPr sz="3600" dirty="0"/>
              <a:t/>
            </a:r>
            <a:br>
              <a:rPr sz="3600" dirty="0"/>
            </a:b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ustomShape 1"/>
          <p:cNvSpPr/>
          <p:nvPr/>
        </p:nvSpPr>
        <p:spPr>
          <a:xfrm>
            <a:off x="1104281" y="219186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List Methods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16" name="CustomShape 2"/>
          <p:cNvSpPr/>
          <p:nvPr/>
        </p:nvSpPr>
        <p:spPr>
          <a:xfrm>
            <a:off x="532413" y="996227"/>
            <a:ext cx="11545200" cy="526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6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6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400" b="0" strike="noStrike" spc="-1" dirty="0">
                <a:solidFill>
                  <a:srgbClr val="404040"/>
                </a:solidFill>
                <a:latin typeface="Calibri"/>
              </a:rPr>
              <a:t>There are several methods are available for list.</a:t>
            </a:r>
            <a:endParaRPr lang="en-US" sz="4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400" b="0" strike="noStrike" spc="-1" dirty="0">
                <a:solidFill>
                  <a:srgbClr val="404040"/>
                </a:solidFill>
                <a:latin typeface="Calibri"/>
              </a:rPr>
              <a:t>Example: reverse</a:t>
            </a:r>
            <a:endParaRPr lang="en-US" sz="4400" b="0" strike="noStrike" spc="-1" dirty="0">
              <a:latin typeface="Arial"/>
            </a:endParaRPr>
          </a:p>
          <a:p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numbers = [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5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42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r>
              <a:rPr sz="3600" dirty="0"/>
              <a:t/>
            </a:r>
            <a:br>
              <a:rPr sz="3600" dirty="0"/>
            </a:br>
            <a:r>
              <a:rPr lang="en-US" sz="28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</a:t>
            </a:r>
            <a:r>
              <a:rPr sz="3600" dirty="0"/>
              <a:t/>
            </a:r>
            <a:br>
              <a:rPr sz="3600" dirty="0"/>
            </a:b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numbers.sort()</a:t>
            </a:r>
            <a:endParaRPr lang="en-US" sz="2800" b="0" strike="noStrike" spc="-1" dirty="0">
              <a:latin typeface="Arial"/>
            </a:endParaRPr>
          </a:p>
          <a:p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numbers.reverse()</a:t>
            </a:r>
            <a:r>
              <a:rPr sz="3600" dirty="0"/>
              <a:t/>
            </a:r>
            <a:br>
              <a:rPr sz="3600" dirty="0"/>
            </a:br>
            <a:r>
              <a:rPr lang="en-US" sz="28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</a:t>
            </a:r>
            <a:endParaRPr lang="en-US" sz="2800" b="0" strike="noStrike" spc="-1" dirty="0">
              <a:latin typeface="Arial"/>
            </a:endParaRPr>
          </a:p>
          <a:p>
            <a:r>
              <a:rPr sz="3600" dirty="0"/>
              <a:t/>
            </a:r>
            <a:br>
              <a:rPr sz="3600" dirty="0"/>
            </a:b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ustomShape 1"/>
          <p:cNvSpPr/>
          <p:nvPr/>
        </p:nvSpPr>
        <p:spPr>
          <a:xfrm>
            <a:off x="1145224" y="96357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Deleting elements in List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18" name="CustomShape 2"/>
          <p:cNvSpPr/>
          <p:nvPr/>
        </p:nvSpPr>
        <p:spPr>
          <a:xfrm>
            <a:off x="368640" y="941637"/>
            <a:ext cx="11545200" cy="526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>
                <a:solidFill>
                  <a:srgbClr val="404040"/>
                </a:solidFill>
                <a:latin typeface="Calibri"/>
              </a:rPr>
              <a:t>Following methods are used to delete elements in list</a:t>
            </a:r>
            <a:endParaRPr lang="en-US" sz="40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en-US" sz="4000" b="0" strike="noStrike" spc="-1" dirty="0">
                <a:solidFill>
                  <a:srgbClr val="404040"/>
                </a:solidFill>
                <a:latin typeface="Calibri"/>
              </a:rPr>
              <a:t>Example: </a:t>
            </a:r>
            <a:endParaRPr lang="en-US" sz="4000" b="0" strike="noStrike" spc="-1" dirty="0">
              <a:latin typeface="Arial"/>
            </a:endParaRPr>
          </a:p>
          <a:p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values =[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5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(values)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808080"/>
                </a:solidFill>
                <a:latin typeface="JetBrains Mono"/>
                <a:ea typeface="JetBrains Mono"/>
              </a:rPr>
              <a:t>#</a:t>
            </a:r>
            <a:r>
              <a:rPr lang="en-US" sz="2400" b="0" strike="noStrike" spc="-1" dirty="0" err="1">
                <a:solidFill>
                  <a:srgbClr val="808080"/>
                </a:solidFill>
                <a:latin typeface="JetBrains Mono"/>
                <a:ea typeface="JetBrains Mono"/>
              </a:rPr>
              <a:t>values.pop</a:t>
            </a:r>
            <a:r>
              <a:rPr lang="en-US" sz="2400" b="0" strike="noStrike" spc="-1" dirty="0">
                <a:solidFill>
                  <a:srgbClr val="808080"/>
                </a:solidFill>
                <a:latin typeface="JetBrains Mono"/>
                <a:ea typeface="JetBrains Mono"/>
              </a:rPr>
              <a:t>(2</a:t>
            </a:r>
            <a:r>
              <a:rPr lang="en-US" sz="2400" b="0" strike="noStrike" spc="-1" dirty="0" smtClean="0">
                <a:solidFill>
                  <a:srgbClr val="808080"/>
                </a:solidFill>
                <a:latin typeface="JetBrains Mono"/>
                <a:ea typeface="JetBrains Mono"/>
              </a:rPr>
              <a:t>) # It will be used for deleting an element from list from particular index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808080"/>
                </a:solidFill>
                <a:latin typeface="JetBrains Mono"/>
                <a:ea typeface="JetBrains Mono"/>
              </a:rPr>
              <a:t>#del values[1</a:t>
            </a:r>
            <a:r>
              <a:rPr lang="en-US" sz="2400" spc="-1" dirty="0">
                <a:solidFill>
                  <a:srgbClr val="808080"/>
                </a:solidFill>
                <a:latin typeface="JetBrains Mono"/>
                <a:ea typeface="JetBrains Mono"/>
              </a:rPr>
              <a:t>] # It will be used for deleting an element from list from particular </a:t>
            </a:r>
            <a:r>
              <a:rPr lang="en-US" sz="2400" spc="-1" dirty="0" smtClean="0">
                <a:solidFill>
                  <a:srgbClr val="808080"/>
                </a:solidFill>
                <a:latin typeface="JetBrains Mono"/>
                <a:ea typeface="JetBrains Mono"/>
              </a:rPr>
              <a:t>index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values.remove(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)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(values)</a:t>
            </a:r>
            <a:endParaRPr lang="en-US" sz="2400" b="0" strike="noStrike" spc="-1" dirty="0">
              <a:latin typeface="Arial"/>
            </a:endParaRPr>
          </a:p>
          <a:p>
            <a:r>
              <a:rPr sz="3200" dirty="0"/>
              <a:t/>
            </a:r>
            <a:br>
              <a:rPr sz="3200" dirty="0"/>
            </a:b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stomShape 1"/>
          <p:cNvSpPr/>
          <p:nvPr/>
        </p:nvSpPr>
        <p:spPr>
          <a:xfrm>
            <a:off x="1145224" y="219187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Lists and functions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20" name="CustomShape 2"/>
          <p:cNvSpPr/>
          <p:nvPr/>
        </p:nvSpPr>
        <p:spPr>
          <a:xfrm>
            <a:off x="354992" y="982580"/>
            <a:ext cx="11545200" cy="526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>
                <a:solidFill>
                  <a:srgbClr val="404040"/>
                </a:solidFill>
                <a:latin typeface="Calibri"/>
              </a:rPr>
              <a:t>Following functions are used in list</a:t>
            </a:r>
            <a:endParaRPr lang="en-US" sz="40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>
                <a:solidFill>
                  <a:srgbClr val="404040"/>
                </a:solidFill>
                <a:latin typeface="Calibri"/>
              </a:rPr>
              <a:t>Example: </a:t>
            </a:r>
            <a:endParaRPr lang="en-US" sz="4000" b="0" strike="noStrike" spc="-1" dirty="0">
              <a:latin typeface="Arial"/>
            </a:endParaRPr>
          </a:p>
          <a:p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numbers = [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10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20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40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30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50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"Maximum value :"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max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(numbers))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"Minimum value :"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min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(numbers))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"Length of list :"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len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(numbers))</a:t>
            </a:r>
            <a:r>
              <a:rPr sz="3200" dirty="0"/>
              <a:t/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"Sum of list :"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sum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(numbers))</a:t>
            </a:r>
            <a:r>
              <a:rPr sz="3200" dirty="0"/>
              <a:t/>
            </a:r>
            <a:br>
              <a:rPr sz="3200" dirty="0"/>
            </a:b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ustomShape 1"/>
          <p:cNvSpPr/>
          <p:nvPr/>
        </p:nvSpPr>
        <p:spPr>
          <a:xfrm>
            <a:off x="1003707" y="720914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 smtClean="0">
                <a:solidFill>
                  <a:srgbClr val="404040"/>
                </a:solidFill>
                <a:latin typeface="Calibri Light"/>
              </a:rPr>
              <a:t>Activity-02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24" name="CustomShape 2"/>
          <p:cNvSpPr/>
          <p:nvPr/>
        </p:nvSpPr>
        <p:spPr>
          <a:xfrm>
            <a:off x="426170" y="2391508"/>
            <a:ext cx="11545200" cy="29542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343620" indent="-3429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panose="05000000000000000000" pitchFamily="2" charset="2"/>
              <a:buChar char="q"/>
            </a:pPr>
            <a:r>
              <a:rPr lang="en-US" sz="2400" b="0" strike="noStrike" spc="-1" dirty="0" smtClean="0">
                <a:solidFill>
                  <a:srgbClr val="404040"/>
                </a:solidFill>
                <a:latin typeface="Calibri"/>
                <a:ea typeface="JetBrains Mono"/>
              </a:rPr>
              <a:t>Write </a:t>
            </a: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JetBrains Mono"/>
              </a:rPr>
              <a:t>a python program which can delete multiple values from </a:t>
            </a:r>
            <a:r>
              <a:rPr lang="en-US" sz="2400" b="0" strike="noStrike" spc="-1" dirty="0" smtClean="0">
                <a:solidFill>
                  <a:srgbClr val="404040"/>
                </a:solidFill>
                <a:latin typeface="Calibri"/>
                <a:ea typeface="JetBrains Mono"/>
              </a:rPr>
              <a:t>list at odd position.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JetBrains Mono"/>
              </a:rPr>
              <a:t>Example</a:t>
            </a: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JetBrains Mono"/>
              </a:rPr>
              <a:t>Input: </a:t>
            </a:r>
            <a:r>
              <a:rPr lang="en-US" sz="2400" b="0" strike="noStrike" spc="-1" dirty="0" smtClean="0">
                <a:solidFill>
                  <a:srgbClr val="404040"/>
                </a:solidFill>
                <a:latin typeface="Calibri"/>
                <a:ea typeface="JetBrains Mono"/>
              </a:rPr>
              <a:t>[0,1,2,3,4,5,6,7,8]</a:t>
            </a: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JetBrains Mono"/>
              </a:rPr>
              <a:t>Output: </a:t>
            </a:r>
            <a:r>
              <a:rPr lang="en-US" sz="2400" b="0" strike="noStrike" spc="-1" dirty="0" smtClean="0">
                <a:solidFill>
                  <a:srgbClr val="404040"/>
                </a:solidFill>
                <a:latin typeface="Calibri"/>
                <a:ea typeface="JetBrains Mono"/>
              </a:rPr>
              <a:t>[0,2,4,6,7]</a:t>
            </a:r>
            <a:endParaRPr lang="en-US" sz="2400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solidFill>
                <a:srgbClr val="404040"/>
              </a:solidFill>
              <a:latin typeface="Arial"/>
              <a:ea typeface="JetBrains Mono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 smtClean="0">
              <a:solidFill>
                <a:srgbClr val="404040"/>
              </a:solidFill>
              <a:latin typeface="Calibri"/>
              <a:ea typeface="JetBrains Mon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1581</TotalTime>
  <Words>294</Words>
  <Application>Microsoft Office PowerPoint</Application>
  <PresentationFormat>Custom</PresentationFormat>
  <Paragraphs>107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Activity-01: Write a python program which search an element in the list. </vt:lpstr>
      <vt:lpstr>Activity-01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Programming</dc:title>
  <dc:subject/>
  <dc:creator>Asif Ali</dc:creator>
  <dc:description/>
  <cp:lastModifiedBy>Asad Computers</cp:lastModifiedBy>
  <cp:revision>277</cp:revision>
  <dcterms:created xsi:type="dcterms:W3CDTF">2022-03-01T10:07:48Z</dcterms:created>
  <dcterms:modified xsi:type="dcterms:W3CDTF">2025-10-11T14:19:40Z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10</vt:i4>
  </property>
</Properties>
</file>