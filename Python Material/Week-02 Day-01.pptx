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90" r:id="rId12"/>
    <p:sldId id="291" r:id="rId13"/>
    <p:sldId id="292" r:id="rId14"/>
    <p:sldId id="293" r:id="rId15"/>
    <p:sldId id="301" r:id="rId16"/>
    <p:sldId id="302" r:id="rId17"/>
    <p:sldId id="304" r:id="rId18"/>
    <p:sldId id="305" r:id="rId19"/>
    <p:sldId id="306" r:id="rId20"/>
    <p:sldId id="307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88973" y="1955114"/>
            <a:ext cx="8879840" cy="2282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2997E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 u="sng">
                <a:solidFill>
                  <a:srgbClr val="2997E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76019" y="1690903"/>
            <a:ext cx="2858135" cy="412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562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2997E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9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12188952" y="6400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526030" marR="5080" indent="-2513965">
              <a:lnSpc>
                <a:spcPts val="8159"/>
              </a:lnSpc>
              <a:spcBef>
                <a:spcPts val="1575"/>
              </a:spcBef>
            </a:pPr>
            <a:r>
              <a:rPr lang="en-US" sz="8000" spc="-60" dirty="0" smtClean="0">
                <a:solidFill>
                  <a:srgbClr val="252525"/>
                </a:solidFill>
              </a:rPr>
              <a:t>Control Flow and Looping</a:t>
            </a:r>
            <a:endParaRPr sz="8000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4"/>
          </p:nvPr>
        </p:nvSpPr>
        <p:spPr>
          <a:xfrm>
            <a:off x="1752600" y="4375649"/>
            <a:ext cx="8534400" cy="553998"/>
          </a:xfrm>
        </p:spPr>
        <p:txBody>
          <a:bodyPr/>
          <a:lstStyle/>
          <a:p>
            <a:pPr algn="ctr"/>
            <a:r>
              <a:rPr lang="en-US" sz="3600" u="none" dirty="0" smtClean="0">
                <a:solidFill>
                  <a:schemeClr val="tx1"/>
                </a:solidFill>
              </a:rPr>
              <a:t>By: Engr. Asif Ali</a:t>
            </a:r>
            <a:endParaRPr lang="en-US" sz="3600" u="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0040" y="245744"/>
            <a:ext cx="2948560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900" spc="-50" dirty="0" smtClean="0"/>
              <a:t>Contents</a:t>
            </a:r>
            <a:endParaRPr sz="4900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1752600"/>
            <a:ext cx="7383679" cy="3587521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5833"/>
              <a:buFont typeface="Wingdings"/>
              <a:buChar char=""/>
              <a:tabLst>
                <a:tab pos="28321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Conditional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statements</a:t>
            </a:r>
            <a:endParaRPr sz="2400" dirty="0">
              <a:latin typeface="Calibri"/>
              <a:cs typeface="Calibri"/>
            </a:endParaRPr>
          </a:p>
          <a:p>
            <a:pPr marL="254000" indent="-244475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5833"/>
              <a:buFont typeface="Wingdings"/>
              <a:buChar char=""/>
              <a:tabLst>
                <a:tab pos="254000" algn="l"/>
              </a:tabLst>
            </a:pP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Conditional</a:t>
            </a:r>
            <a:r>
              <a:rPr sz="2400" spc="-7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statement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(if</a:t>
            </a:r>
            <a:r>
              <a:rPr sz="2400" spc="-7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satement)</a:t>
            </a:r>
            <a:endParaRPr sz="2400" dirty="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spcBef>
                <a:spcPts val="1110"/>
              </a:spcBef>
              <a:buClr>
                <a:srgbClr val="E38312"/>
              </a:buClr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Conditional </a:t>
            </a:r>
            <a:r>
              <a:rPr lang="en-US" sz="2400" spc="-20" dirty="0" smtClean="0">
                <a:solidFill>
                  <a:srgbClr val="404040"/>
                </a:solidFill>
                <a:latin typeface="Calibri"/>
                <a:cs typeface="Calibri"/>
              </a:rPr>
              <a:t>statement</a:t>
            </a:r>
            <a:r>
              <a:rPr sz="2400" spc="-20" dirty="0" smtClean="0">
                <a:solidFill>
                  <a:srgbClr val="404040"/>
                </a:solidFill>
                <a:latin typeface="Calibri"/>
                <a:cs typeface="Calibri"/>
              </a:rPr>
              <a:t>(if-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else</a:t>
            </a:r>
            <a:r>
              <a:rPr sz="2400" spc="1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statement)</a:t>
            </a:r>
            <a:endParaRPr sz="2400" dirty="0">
              <a:latin typeface="Calibri"/>
              <a:cs typeface="Calibri"/>
            </a:endParaRPr>
          </a:p>
          <a:p>
            <a:pPr marL="254000" indent="-244475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5833"/>
              <a:buFont typeface="Wingdings"/>
              <a:buChar char=""/>
              <a:tabLst>
                <a:tab pos="2540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Conditional</a:t>
            </a:r>
            <a:r>
              <a:rPr sz="24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execution(if-</a:t>
            </a:r>
            <a:r>
              <a:rPr sz="2400" spc="-20" dirty="0" err="1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else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5833"/>
              <a:buFont typeface="Wingdings"/>
              <a:buChar char=""/>
              <a:tabLst>
                <a:tab pos="283210" algn="l"/>
              </a:tabLst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Iterations</a:t>
            </a:r>
            <a:endParaRPr sz="2400" dirty="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While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 smtClean="0">
                <a:solidFill>
                  <a:srgbClr val="404040"/>
                </a:solidFill>
                <a:latin typeface="Calibri"/>
                <a:cs typeface="Calibri"/>
              </a:rPr>
              <a:t>loop</a:t>
            </a:r>
            <a:endParaRPr sz="2400" dirty="0">
              <a:latin typeface="Calibri"/>
              <a:cs typeface="Calibri"/>
            </a:endParaRPr>
          </a:p>
          <a:p>
            <a:pPr marL="283845" indent="-273050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5833"/>
              <a:buFont typeface="Wingdings"/>
              <a:buChar char=""/>
              <a:tabLst>
                <a:tab pos="283845" algn="l"/>
              </a:tabLst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Tasks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8090" y="437134"/>
            <a:ext cx="5452110" cy="124136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047750" marR="5080" indent="-1035050">
              <a:lnSpc>
                <a:spcPts val="4390"/>
              </a:lnSpc>
              <a:spcBef>
                <a:spcPts val="880"/>
              </a:spcBef>
            </a:pPr>
            <a:r>
              <a:rPr sz="4300" spc="-55" dirty="0"/>
              <a:t>Conditional</a:t>
            </a:r>
            <a:r>
              <a:rPr sz="4300" spc="-165" dirty="0"/>
              <a:t> </a:t>
            </a:r>
            <a:r>
              <a:rPr lang="en-US" sz="4300" spc="-55" dirty="0" smtClean="0"/>
              <a:t>Statement</a:t>
            </a:r>
            <a:r>
              <a:rPr sz="4300" spc="-55" dirty="0" smtClean="0"/>
              <a:t> </a:t>
            </a:r>
            <a:r>
              <a:rPr lang="en-US" sz="4300" spc="-55" dirty="0" smtClean="0"/>
              <a:t/>
            </a:r>
            <a:br>
              <a:rPr lang="en-US" sz="4300" spc="-55" dirty="0" smtClean="0"/>
            </a:br>
            <a:r>
              <a:rPr sz="4300" dirty="0" smtClean="0"/>
              <a:t>if</a:t>
            </a:r>
            <a:r>
              <a:rPr sz="4300" spc="-175" dirty="0" smtClean="0"/>
              <a:t> </a:t>
            </a:r>
            <a:r>
              <a:rPr sz="4300" spc="-10" dirty="0"/>
              <a:t>statement</a:t>
            </a:r>
            <a:endParaRPr sz="43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811" y="2257106"/>
            <a:ext cx="6390705" cy="3082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5592" y="292353"/>
            <a:ext cx="9629775" cy="842024"/>
          </a:xfrm>
          <a:prstGeom prst="rect">
            <a:avLst/>
          </a:prstGeom>
        </p:spPr>
        <p:txBody>
          <a:bodyPr vert="horz" wrap="square" lIns="0" tIns="102361" rIns="0" bIns="0" rtlCol="0">
            <a:spAutoFit/>
          </a:bodyPr>
          <a:lstStyle/>
          <a:p>
            <a:pPr marL="221170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Conditional</a:t>
            </a:r>
            <a:r>
              <a:rPr spc="-180" dirty="0"/>
              <a:t> </a:t>
            </a:r>
            <a:r>
              <a:rPr lang="en-US" spc="-40" dirty="0" smtClean="0"/>
              <a:t>Statement</a:t>
            </a:r>
            <a:endParaRPr spc="-4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7680" rIns="0" bIns="0" rtlCol="0">
            <a:spAutoFit/>
          </a:bodyPr>
          <a:lstStyle/>
          <a:p>
            <a:pPr marL="92075" marR="5080" indent="-92710">
              <a:lnSpc>
                <a:spcPts val="3460"/>
              </a:lnSpc>
              <a:spcBef>
                <a:spcPts val="535"/>
              </a:spcBef>
              <a:buClr>
                <a:srgbClr val="E38312"/>
              </a:buClr>
              <a:buSzPct val="96875"/>
              <a:buFont typeface="Wingdings"/>
              <a:buChar char=""/>
              <a:tabLst>
                <a:tab pos="92710" algn="l"/>
                <a:tab pos="363855" algn="l"/>
              </a:tabLst>
            </a:pPr>
            <a:r>
              <a:rPr sz="3200" u="none" dirty="0">
                <a:solidFill>
                  <a:srgbClr val="404040"/>
                </a:solidFill>
              </a:rPr>
              <a:t>	Conditon</a:t>
            </a:r>
            <a:r>
              <a:rPr sz="3200" u="none" spc="-2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will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be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checked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if</a:t>
            </a:r>
            <a:r>
              <a:rPr sz="3200" u="none" spc="-5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the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condition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is</a:t>
            </a:r>
            <a:r>
              <a:rPr sz="3200" u="none" spc="-6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true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then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spc="-20" dirty="0">
                <a:solidFill>
                  <a:srgbClr val="404040"/>
                </a:solidFill>
              </a:rPr>
              <a:t>body </a:t>
            </a:r>
            <a:r>
              <a:rPr sz="3200" u="none" dirty="0">
                <a:solidFill>
                  <a:srgbClr val="404040"/>
                </a:solidFill>
              </a:rPr>
              <a:t>of</a:t>
            </a:r>
            <a:r>
              <a:rPr sz="3200" u="none" spc="-4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the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if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spc="-10" dirty="0">
                <a:solidFill>
                  <a:srgbClr val="404040"/>
                </a:solidFill>
              </a:rPr>
              <a:t>statement</a:t>
            </a:r>
            <a:r>
              <a:rPr sz="3200" u="none" spc="-3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will</a:t>
            </a:r>
            <a:r>
              <a:rPr sz="3200" u="none" spc="-4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be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executed</a:t>
            </a:r>
            <a:r>
              <a:rPr sz="3200" u="none" spc="-4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otherwise</a:t>
            </a:r>
            <a:r>
              <a:rPr sz="3200" u="none" spc="-4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it</a:t>
            </a:r>
            <a:r>
              <a:rPr sz="3200" u="none" spc="-4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will</a:t>
            </a:r>
            <a:r>
              <a:rPr sz="3200" u="none" spc="-2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not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spc="-25" dirty="0">
                <a:solidFill>
                  <a:srgbClr val="404040"/>
                </a:solidFill>
              </a:rPr>
              <a:t>be </a:t>
            </a:r>
            <a:r>
              <a:rPr sz="3200" u="none" spc="-10" dirty="0">
                <a:solidFill>
                  <a:srgbClr val="404040"/>
                </a:solidFill>
              </a:rPr>
              <a:t>executed.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5592" y="292353"/>
            <a:ext cx="9629775" cy="842024"/>
          </a:xfrm>
          <a:prstGeom prst="rect">
            <a:avLst/>
          </a:prstGeom>
        </p:spPr>
        <p:txBody>
          <a:bodyPr vert="horz" wrap="square" lIns="0" tIns="102361" rIns="0" bIns="0" rtlCol="0">
            <a:spAutoFit/>
          </a:bodyPr>
          <a:lstStyle/>
          <a:p>
            <a:pPr marL="1108075" algn="ctr">
              <a:lnSpc>
                <a:spcPct val="100000"/>
              </a:lnSpc>
              <a:spcBef>
                <a:spcPts val="100"/>
              </a:spcBef>
            </a:pPr>
            <a:r>
              <a:rPr lang="en-US" spc="-50" dirty="0" smtClean="0"/>
              <a:t>Activity-01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684502"/>
            <a:ext cx="9278620" cy="31188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85085">
              <a:lnSpc>
                <a:spcPct val="148600"/>
              </a:lnSpc>
              <a:spcBef>
                <a:spcPts val="95"/>
              </a:spcBef>
            </a:pPr>
            <a:r>
              <a:rPr sz="48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4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4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spc="-50" dirty="0">
                <a:solidFill>
                  <a:srgbClr val="404040"/>
                </a:solidFill>
                <a:latin typeface="Calibri"/>
                <a:cs typeface="Calibri"/>
              </a:rPr>
              <a:t>5 </a:t>
            </a:r>
            <a:endParaRPr lang="en-US" sz="4800" spc="-50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2585085">
              <a:lnSpc>
                <a:spcPct val="148600"/>
              </a:lnSpc>
              <a:spcBef>
                <a:spcPts val="95"/>
              </a:spcBef>
            </a:pPr>
            <a:r>
              <a:rPr lang="en-US" sz="4800" dirty="0" smtClean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800" dirty="0" smtClean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48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spc="-20" dirty="0">
                <a:solidFill>
                  <a:srgbClr val="404040"/>
                </a:solidFill>
                <a:latin typeface="Calibri"/>
                <a:cs typeface="Calibri"/>
              </a:rPr>
              <a:t>x&gt;5:</a:t>
            </a:r>
            <a:endParaRPr sz="48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</a:pPr>
            <a:r>
              <a:rPr sz="4800" dirty="0">
                <a:solidFill>
                  <a:srgbClr val="404040"/>
                </a:solidFill>
                <a:latin typeface="Calibri"/>
                <a:cs typeface="Calibri"/>
              </a:rPr>
              <a:t>print(“It</a:t>
            </a:r>
            <a:r>
              <a:rPr sz="4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4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404040"/>
                </a:solidFill>
                <a:latin typeface="Calibri"/>
                <a:cs typeface="Calibri"/>
              </a:rPr>
              <a:t>positive</a:t>
            </a:r>
            <a:r>
              <a:rPr sz="4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404040"/>
                </a:solidFill>
                <a:latin typeface="Calibri"/>
                <a:cs typeface="Calibri"/>
              </a:rPr>
              <a:t>number”)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4038" y="913841"/>
            <a:ext cx="40335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70" dirty="0">
                <a:solidFill>
                  <a:srgbClr val="404040"/>
                </a:solidFill>
                <a:latin typeface="Calibri Light"/>
                <a:cs typeface="Calibri Light"/>
              </a:rPr>
              <a:t>if-</a:t>
            </a:r>
            <a:r>
              <a:rPr sz="4800" spc="-20" dirty="0">
                <a:solidFill>
                  <a:srgbClr val="404040"/>
                </a:solidFill>
                <a:latin typeface="Calibri Light"/>
                <a:cs typeface="Calibri Light"/>
              </a:rPr>
              <a:t>else</a:t>
            </a:r>
            <a:r>
              <a:rPr sz="4800" spc="-2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800" spc="-65" dirty="0">
                <a:solidFill>
                  <a:srgbClr val="404040"/>
                </a:solidFill>
                <a:latin typeface="Calibri Light"/>
                <a:cs typeface="Calibri Light"/>
              </a:rPr>
              <a:t>statement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51242" y="2408698"/>
            <a:ext cx="8462645" cy="2800985"/>
            <a:chOff x="1951242" y="2408698"/>
            <a:chExt cx="8462645" cy="28009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1242" y="2408698"/>
              <a:ext cx="8462105" cy="28007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84008" y="3619500"/>
              <a:ext cx="1050290" cy="314325"/>
            </a:xfrm>
            <a:custGeom>
              <a:avLst/>
              <a:gdLst/>
              <a:ahLst/>
              <a:cxnLst/>
              <a:rect l="l" t="t" r="r" b="b"/>
              <a:pathLst>
                <a:path w="1050290" h="314325">
                  <a:moveTo>
                    <a:pt x="0" y="313944"/>
                  </a:moveTo>
                  <a:lnTo>
                    <a:pt x="1050036" y="313944"/>
                  </a:lnTo>
                  <a:lnTo>
                    <a:pt x="1050036" y="0"/>
                  </a:lnTo>
                  <a:lnTo>
                    <a:pt x="0" y="0"/>
                  </a:lnTo>
                  <a:lnTo>
                    <a:pt x="0" y="313944"/>
                  </a:lnTo>
                  <a:close/>
                </a:path>
              </a:pathLst>
            </a:custGeom>
            <a:ln w="15240">
              <a:solidFill>
                <a:srgbClr val="939F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910321" y="3527805"/>
            <a:ext cx="598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else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8830" rIns="0" bIns="0" rtlCol="0">
            <a:spAutoFit/>
          </a:bodyPr>
          <a:lstStyle/>
          <a:p>
            <a:pPr marL="2364105" algn="l">
              <a:lnSpc>
                <a:spcPct val="100000"/>
              </a:lnSpc>
              <a:spcBef>
                <a:spcPts val="105"/>
              </a:spcBef>
            </a:pPr>
            <a:r>
              <a:rPr lang="en-US" sz="4400" spc="-30" dirty="0" smtClean="0"/>
              <a:t>           Activity-02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1684502"/>
            <a:ext cx="3110230" cy="2287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61260">
              <a:lnSpc>
                <a:spcPct val="148600"/>
              </a:lnSpc>
              <a:spcBef>
                <a:spcPts val="9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5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x&gt;0: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print("Number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positive")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else: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16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print("Number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negative")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539490">
              <a:lnSpc>
                <a:spcPct val="100000"/>
              </a:lnSpc>
              <a:spcBef>
                <a:spcPts val="100"/>
              </a:spcBef>
            </a:pPr>
            <a:r>
              <a:rPr spc="-65" dirty="0" smtClean="0"/>
              <a:t>Activity-</a:t>
            </a:r>
            <a:r>
              <a:rPr spc="-25" dirty="0" smtClean="0"/>
              <a:t>0</a:t>
            </a:r>
            <a:r>
              <a:rPr lang="en-US" spc="-25" dirty="0" smtClean="0"/>
              <a:t>3</a:t>
            </a:r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0723" rIns="0" bIns="0" rtlCol="0">
            <a:spAutoFit/>
          </a:bodyPr>
          <a:lstStyle/>
          <a:p>
            <a:pPr marL="92710">
              <a:lnSpc>
                <a:spcPts val="2735"/>
              </a:lnSpc>
              <a:spcBef>
                <a:spcPts val="100"/>
              </a:spcBef>
            </a:pPr>
            <a:r>
              <a:rPr sz="2400" u="none" spc="-10" dirty="0">
                <a:solidFill>
                  <a:srgbClr val="404040"/>
                </a:solidFill>
              </a:rPr>
              <a:t>Write</a:t>
            </a:r>
            <a:r>
              <a:rPr sz="2400" u="none" spc="-55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a</a:t>
            </a:r>
            <a:r>
              <a:rPr sz="2400" u="none" spc="-45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python</a:t>
            </a:r>
            <a:r>
              <a:rPr sz="2400" u="none" spc="-5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code</a:t>
            </a:r>
            <a:r>
              <a:rPr sz="2400" u="none" spc="-45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which</a:t>
            </a:r>
            <a:r>
              <a:rPr sz="2400" u="none" spc="-6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check</a:t>
            </a:r>
            <a:r>
              <a:rPr sz="2400" u="none" spc="-7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you’r</a:t>
            </a:r>
            <a:r>
              <a:rPr sz="2400" u="none" spc="-6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department.If</a:t>
            </a:r>
            <a:r>
              <a:rPr sz="2400" u="none" spc="-55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your</a:t>
            </a:r>
            <a:r>
              <a:rPr sz="2400" u="none" spc="-45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department</a:t>
            </a:r>
            <a:r>
              <a:rPr sz="2400" u="none" spc="-6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is</a:t>
            </a:r>
            <a:r>
              <a:rPr sz="2400" u="none" spc="-60" dirty="0">
                <a:solidFill>
                  <a:srgbClr val="404040"/>
                </a:solidFill>
              </a:rPr>
              <a:t> </a:t>
            </a:r>
            <a:r>
              <a:rPr sz="2400" u="none" spc="-25" dirty="0">
                <a:solidFill>
                  <a:srgbClr val="404040"/>
                </a:solidFill>
              </a:rPr>
              <a:t>CSE</a:t>
            </a:r>
            <a:endParaRPr sz="2400"/>
          </a:p>
          <a:p>
            <a:pPr marL="92710">
              <a:lnSpc>
                <a:spcPts val="2735"/>
              </a:lnSpc>
            </a:pPr>
            <a:r>
              <a:rPr sz="2400" u="none" dirty="0">
                <a:solidFill>
                  <a:srgbClr val="404040"/>
                </a:solidFill>
              </a:rPr>
              <a:t>then</a:t>
            </a:r>
            <a:r>
              <a:rPr sz="2400" u="none" spc="-5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It’s</a:t>
            </a:r>
            <a:r>
              <a:rPr sz="2400" u="none" spc="-55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OK</a:t>
            </a:r>
            <a:r>
              <a:rPr sz="2400" u="none" spc="-4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otherwise</a:t>
            </a:r>
            <a:r>
              <a:rPr sz="2400" u="none" spc="-4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It’s</a:t>
            </a:r>
            <a:r>
              <a:rPr sz="2400" u="none" spc="-55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not</a:t>
            </a:r>
            <a:r>
              <a:rPr sz="2400" u="none" spc="-45" dirty="0">
                <a:solidFill>
                  <a:srgbClr val="404040"/>
                </a:solidFill>
              </a:rPr>
              <a:t> </a:t>
            </a:r>
            <a:r>
              <a:rPr sz="2400" u="none" spc="-25" dirty="0">
                <a:solidFill>
                  <a:srgbClr val="404040"/>
                </a:solidFill>
              </a:rPr>
              <a:t>OK.</a:t>
            </a:r>
            <a:endParaRPr sz="2400"/>
          </a:p>
          <a:p>
            <a:pPr marL="92710">
              <a:lnSpc>
                <a:spcPct val="100000"/>
              </a:lnSpc>
              <a:spcBef>
                <a:spcPts val="1115"/>
              </a:spcBef>
            </a:pPr>
            <a:r>
              <a:rPr sz="2400" u="none" spc="-10" dirty="0">
                <a:solidFill>
                  <a:srgbClr val="404040"/>
                </a:solidFill>
              </a:rPr>
              <a:t>Output:</a:t>
            </a:r>
            <a:endParaRPr sz="2400"/>
          </a:p>
          <a:p>
            <a:pPr marL="92710">
              <a:lnSpc>
                <a:spcPct val="100000"/>
              </a:lnSpc>
              <a:spcBef>
                <a:spcPts val="1120"/>
              </a:spcBef>
            </a:pPr>
            <a:r>
              <a:rPr sz="2400" u="none" dirty="0">
                <a:solidFill>
                  <a:srgbClr val="404040"/>
                </a:solidFill>
              </a:rPr>
              <a:t>Enter</a:t>
            </a:r>
            <a:r>
              <a:rPr sz="2400" u="none" spc="-8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your</a:t>
            </a:r>
            <a:r>
              <a:rPr sz="2400" u="none" spc="-70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Department:</a:t>
            </a:r>
            <a:r>
              <a:rPr sz="2400" u="none" spc="-105" dirty="0">
                <a:solidFill>
                  <a:srgbClr val="404040"/>
                </a:solidFill>
              </a:rPr>
              <a:t> </a:t>
            </a:r>
            <a:r>
              <a:rPr sz="2400" u="none" spc="-25" dirty="0">
                <a:solidFill>
                  <a:srgbClr val="404040"/>
                </a:solidFill>
              </a:rPr>
              <a:t>CSE</a:t>
            </a:r>
            <a:endParaRPr sz="2400"/>
          </a:p>
          <a:p>
            <a:pPr marL="92710" marR="8286750">
              <a:lnSpc>
                <a:spcPts val="4000"/>
              </a:lnSpc>
              <a:spcBef>
                <a:spcPts val="105"/>
              </a:spcBef>
            </a:pPr>
            <a:r>
              <a:rPr sz="2400" u="none" dirty="0">
                <a:solidFill>
                  <a:srgbClr val="404040"/>
                </a:solidFill>
              </a:rPr>
              <a:t>It’s</a:t>
            </a:r>
            <a:r>
              <a:rPr sz="2400" u="none" spc="-95" dirty="0">
                <a:solidFill>
                  <a:srgbClr val="404040"/>
                </a:solidFill>
              </a:rPr>
              <a:t> </a:t>
            </a:r>
            <a:r>
              <a:rPr sz="2400" u="none" spc="-25" dirty="0">
                <a:solidFill>
                  <a:srgbClr val="404040"/>
                </a:solidFill>
              </a:rPr>
              <a:t>OK </a:t>
            </a:r>
            <a:r>
              <a:rPr sz="2400" u="none" spc="-10" dirty="0">
                <a:solidFill>
                  <a:srgbClr val="404040"/>
                </a:solidFill>
              </a:rPr>
              <a:t>Otherwise </a:t>
            </a:r>
            <a:r>
              <a:rPr sz="2400" u="none" dirty="0">
                <a:solidFill>
                  <a:srgbClr val="404040"/>
                </a:solidFill>
              </a:rPr>
              <a:t>It’s</a:t>
            </a:r>
            <a:r>
              <a:rPr sz="2400" u="none" spc="-55" dirty="0">
                <a:solidFill>
                  <a:srgbClr val="404040"/>
                </a:solidFill>
              </a:rPr>
              <a:t> </a:t>
            </a:r>
            <a:r>
              <a:rPr sz="2400" u="none" dirty="0">
                <a:solidFill>
                  <a:srgbClr val="404040"/>
                </a:solidFill>
              </a:rPr>
              <a:t>not</a:t>
            </a:r>
            <a:r>
              <a:rPr sz="2400" u="none" spc="-45" dirty="0">
                <a:solidFill>
                  <a:srgbClr val="404040"/>
                </a:solidFill>
              </a:rPr>
              <a:t> </a:t>
            </a:r>
            <a:r>
              <a:rPr sz="2400" u="none" spc="-25" dirty="0">
                <a:solidFill>
                  <a:srgbClr val="404040"/>
                </a:solidFill>
              </a:rPr>
              <a:t>OK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63982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if-</a:t>
            </a:r>
            <a:r>
              <a:rPr spc="-75" dirty="0"/>
              <a:t>elif-</a:t>
            </a:r>
            <a:r>
              <a:rPr spc="-20" dirty="0"/>
              <a:t>else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84502"/>
            <a:ext cx="1761489" cy="364490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condition:</a:t>
            </a:r>
            <a:endParaRPr sz="2000">
              <a:latin typeface="Calibri"/>
              <a:cs typeface="Calibri"/>
            </a:endParaRPr>
          </a:p>
          <a:p>
            <a:pPr marL="12700" marR="244475" indent="513715">
              <a:lnSpc>
                <a:spcPct val="148000"/>
              </a:lnSpc>
              <a:spcBef>
                <a:spcPts val="1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Body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if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elif: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condition:</a:t>
            </a:r>
            <a:endParaRPr sz="2000">
              <a:latin typeface="Calibri"/>
              <a:cs typeface="Calibri"/>
            </a:endParaRPr>
          </a:p>
          <a:p>
            <a:pPr marL="526415">
              <a:lnSpc>
                <a:spcPct val="100000"/>
              </a:lnSpc>
              <a:spcBef>
                <a:spcPts val="116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Body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elif: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condition:</a:t>
            </a:r>
            <a:endParaRPr sz="2000">
              <a:latin typeface="Calibri"/>
              <a:cs typeface="Calibri"/>
            </a:endParaRPr>
          </a:p>
          <a:p>
            <a:pPr marL="526415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Body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else:</a:t>
            </a:r>
            <a:endParaRPr sz="2000">
              <a:latin typeface="Calibri"/>
              <a:cs typeface="Calibri"/>
            </a:endParaRPr>
          </a:p>
          <a:p>
            <a:pPr marL="492759">
              <a:lnSpc>
                <a:spcPct val="100000"/>
              </a:lnSpc>
              <a:spcBef>
                <a:spcPts val="116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Body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else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0" y="228600"/>
            <a:ext cx="470217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60" dirty="0" smtClean="0"/>
              <a:t>Activity-04</a:t>
            </a:r>
            <a:br>
              <a:rPr lang="en-US" spc="-60" dirty="0" smtClean="0"/>
            </a:br>
            <a:r>
              <a:rPr lang="en-US" spc="-60" dirty="0" smtClean="0"/>
              <a:t>Week days choice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1684502"/>
            <a:ext cx="9339581" cy="44798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number = </a:t>
            </a:r>
            <a:r>
              <a:rPr lang="en-US" sz="1100" dirty="0" err="1" smtClean="0">
                <a:solidFill>
                  <a:srgbClr val="404040"/>
                </a:solidFill>
                <a:latin typeface="Calibri"/>
                <a:cs typeface="Calibri"/>
              </a:rPr>
              <a:t>int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(input("Enter any number:"))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if number==1:    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	print("Monday")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err="1" smtClean="0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 number==2:    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	print("Tuesday")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err="1" smtClean="0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 number==3:    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print("Wednesday")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err="1" smtClean="0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 number==4:    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print("Thursday")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err="1" smtClean="0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 number==5:    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print("Friday")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err="1" smtClean="0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 number==6:    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	print("Saturday")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err="1" smtClean="0">
                <a:solidFill>
                  <a:srgbClr val="404040"/>
                </a:solidFill>
                <a:latin typeface="Calibri"/>
                <a:cs typeface="Calibri"/>
              </a:rPr>
              <a:t>elif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 number==7:    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	print("Sunday")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else:    </a:t>
            </a:r>
          </a:p>
          <a:p>
            <a:pPr marL="12700" marR="2550160">
              <a:lnSpc>
                <a:spcPct val="148600"/>
              </a:lnSpc>
              <a:spcBef>
                <a:spcPts val="95"/>
              </a:spcBef>
            </a:pPr>
            <a:r>
              <a:rPr lang="en-US" sz="11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lang="en-US" sz="1100" dirty="0" smtClean="0">
                <a:solidFill>
                  <a:srgbClr val="404040"/>
                </a:solidFill>
                <a:latin typeface="Calibri"/>
                <a:cs typeface="Calibri"/>
              </a:rPr>
              <a:t>print("Invalid choice")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67665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Iterations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7923" y="1983350"/>
            <a:ext cx="9228341" cy="38396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67665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Iterations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04238"/>
            <a:ext cx="9900285" cy="1392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03505" marR="5080" indent="-92710">
              <a:lnSpc>
                <a:spcPts val="3460"/>
              </a:lnSpc>
              <a:spcBef>
                <a:spcPts val="535"/>
              </a:spcBef>
              <a:buClr>
                <a:srgbClr val="E38312"/>
              </a:buClr>
              <a:buSzPct val="96875"/>
              <a:buFont typeface="Wingdings"/>
              <a:buChar char=""/>
              <a:tabLst>
                <a:tab pos="103505" algn="l"/>
                <a:tab pos="374650" algn="l"/>
              </a:tabLst>
            </a:pP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	Control</a:t>
            </a:r>
            <a:r>
              <a:rPr sz="32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/>
                <a:cs typeface="Calibri"/>
              </a:rPr>
              <a:t>statement:</a:t>
            </a:r>
            <a:r>
              <a:rPr sz="32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2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this,code</a:t>
            </a:r>
            <a:r>
              <a:rPr sz="32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2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first</a:t>
            </a:r>
            <a:r>
              <a:rPr sz="32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/>
                <a:cs typeface="Calibri"/>
              </a:rPr>
              <a:t>tested.If</a:t>
            </a:r>
            <a:r>
              <a:rPr sz="32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conditon</a:t>
            </a:r>
            <a:r>
              <a:rPr sz="3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true</a:t>
            </a:r>
            <a:r>
              <a:rPr sz="3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3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code</a:t>
            </a:r>
            <a:r>
              <a:rPr sz="3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3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executed</a:t>
            </a:r>
            <a:r>
              <a:rPr sz="3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again</a:t>
            </a:r>
            <a:r>
              <a:rPr sz="3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/>
                <a:cs typeface="Calibri"/>
              </a:rPr>
              <a:t>again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untill</a:t>
            </a:r>
            <a:r>
              <a:rPr sz="3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unless</a:t>
            </a:r>
            <a:r>
              <a:rPr sz="3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condition</a:t>
            </a:r>
            <a:r>
              <a:rPr sz="3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becomes</a:t>
            </a:r>
            <a:r>
              <a:rPr sz="3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/>
                <a:cs typeface="Calibri"/>
              </a:rPr>
              <a:t>false.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57124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while</a:t>
            </a:r>
            <a:r>
              <a:rPr spc="-225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84502"/>
            <a:ext cx="1216025" cy="18351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ct val="148200"/>
              </a:lnSpc>
              <a:spcBef>
                <a:spcPts val="1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while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a&lt;=5: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print(a) a=a+1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539490">
              <a:lnSpc>
                <a:spcPct val="100000"/>
              </a:lnSpc>
              <a:spcBef>
                <a:spcPts val="100"/>
              </a:spcBef>
            </a:pPr>
            <a:r>
              <a:rPr spc="-65" dirty="0" smtClean="0"/>
              <a:t>Activity-</a:t>
            </a:r>
            <a:r>
              <a:rPr spc="-25" dirty="0" smtClean="0"/>
              <a:t>0</a:t>
            </a:r>
            <a:r>
              <a:rPr lang="en-US" spc="-25" dirty="0" smtClean="0"/>
              <a:t>4</a:t>
            </a:r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9204" rIns="0" bIns="0" rtlCol="0">
            <a:spAutoFit/>
          </a:bodyPr>
          <a:lstStyle/>
          <a:p>
            <a:pPr marL="92710" marR="5080">
              <a:lnSpc>
                <a:spcPts val="3030"/>
              </a:lnSpc>
              <a:spcBef>
                <a:spcPts val="475"/>
              </a:spcBef>
            </a:pPr>
            <a:r>
              <a:rPr sz="2800" u="none" dirty="0">
                <a:solidFill>
                  <a:srgbClr val="404040"/>
                </a:solidFill>
              </a:rPr>
              <a:t>Write</a:t>
            </a:r>
            <a:r>
              <a:rPr sz="2800" u="none" spc="-8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a</a:t>
            </a:r>
            <a:r>
              <a:rPr sz="2800" u="none" spc="-7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python</a:t>
            </a:r>
            <a:r>
              <a:rPr sz="2800" u="none" spc="-55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program</a:t>
            </a:r>
            <a:r>
              <a:rPr sz="2800" u="none" spc="-6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which</a:t>
            </a:r>
            <a:r>
              <a:rPr sz="2800" u="none" spc="-6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print</a:t>
            </a:r>
            <a:r>
              <a:rPr sz="2800" u="none" spc="-55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number</a:t>
            </a:r>
            <a:r>
              <a:rPr sz="2800" u="none" spc="-5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of</a:t>
            </a:r>
            <a:r>
              <a:rPr sz="2800" u="none" spc="-80" dirty="0">
                <a:solidFill>
                  <a:srgbClr val="404040"/>
                </a:solidFill>
              </a:rPr>
              <a:t> </a:t>
            </a:r>
            <a:r>
              <a:rPr sz="2800" u="none" spc="-10" dirty="0">
                <a:solidFill>
                  <a:srgbClr val="404040"/>
                </a:solidFill>
              </a:rPr>
              <a:t>Pakistan</a:t>
            </a:r>
            <a:r>
              <a:rPr sz="2800" u="none" spc="-4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by</a:t>
            </a:r>
            <a:r>
              <a:rPr sz="2800" u="none" spc="-70" dirty="0">
                <a:solidFill>
                  <a:srgbClr val="404040"/>
                </a:solidFill>
              </a:rPr>
              <a:t> </a:t>
            </a:r>
            <a:r>
              <a:rPr sz="2800" u="none" spc="-10" dirty="0">
                <a:solidFill>
                  <a:srgbClr val="404040"/>
                </a:solidFill>
              </a:rPr>
              <a:t>taking </a:t>
            </a:r>
            <a:r>
              <a:rPr sz="2800" u="none" dirty="0">
                <a:solidFill>
                  <a:srgbClr val="404040"/>
                </a:solidFill>
              </a:rPr>
              <a:t>user’s</a:t>
            </a:r>
            <a:r>
              <a:rPr sz="2800" u="none" spc="-85" dirty="0">
                <a:solidFill>
                  <a:srgbClr val="404040"/>
                </a:solidFill>
              </a:rPr>
              <a:t> </a:t>
            </a:r>
            <a:r>
              <a:rPr sz="2800" u="none" spc="-10" dirty="0">
                <a:solidFill>
                  <a:srgbClr val="404040"/>
                </a:solidFill>
              </a:rPr>
              <a:t>choice.</a:t>
            </a:r>
            <a:endParaRPr sz="2800"/>
          </a:p>
          <a:p>
            <a:pPr marL="92710" marR="6611620">
              <a:lnSpc>
                <a:spcPts val="4430"/>
              </a:lnSpc>
              <a:spcBef>
                <a:spcPts val="270"/>
              </a:spcBef>
            </a:pPr>
            <a:r>
              <a:rPr sz="2800" u="none" dirty="0">
                <a:solidFill>
                  <a:srgbClr val="404040"/>
                </a:solidFill>
              </a:rPr>
              <a:t>Enter</a:t>
            </a:r>
            <a:r>
              <a:rPr sz="2800" u="none" spc="-85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any</a:t>
            </a:r>
            <a:r>
              <a:rPr sz="2800" u="none" spc="-85" dirty="0">
                <a:solidFill>
                  <a:srgbClr val="404040"/>
                </a:solidFill>
              </a:rPr>
              <a:t> </a:t>
            </a:r>
            <a:r>
              <a:rPr sz="2800" u="none" spc="-10" dirty="0">
                <a:solidFill>
                  <a:srgbClr val="404040"/>
                </a:solidFill>
              </a:rPr>
              <a:t>number:2 Pakistan</a:t>
            </a:r>
            <a:endParaRPr sz="2800"/>
          </a:p>
          <a:p>
            <a:pPr marL="92710">
              <a:lnSpc>
                <a:spcPct val="100000"/>
              </a:lnSpc>
              <a:spcBef>
                <a:spcPts val="735"/>
              </a:spcBef>
            </a:pPr>
            <a:r>
              <a:rPr sz="2800" u="none" spc="-10" dirty="0">
                <a:solidFill>
                  <a:srgbClr val="404040"/>
                </a:solidFill>
              </a:rPr>
              <a:t>Pakistan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Activity-05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693319"/>
          </a:xfrm>
        </p:spPr>
        <p:txBody>
          <a:bodyPr/>
          <a:lstStyle/>
          <a:p>
            <a:r>
              <a:rPr lang="en-US" u="none" dirty="0" smtClean="0">
                <a:solidFill>
                  <a:schemeClr val="tx1"/>
                </a:solidFill>
              </a:rPr>
              <a:t>Write a python program which display numbers from 10 to 1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Sample Output: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10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9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8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7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6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5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4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3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2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34154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Activity-06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693319"/>
          </a:xfrm>
        </p:spPr>
        <p:txBody>
          <a:bodyPr/>
          <a:lstStyle/>
          <a:p>
            <a:r>
              <a:rPr lang="en-US" u="none" dirty="0" smtClean="0">
                <a:solidFill>
                  <a:schemeClr val="tx1"/>
                </a:solidFill>
              </a:rPr>
              <a:t>Write a python program which display numbers from 10 to 1 but it should skip 5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Sample Output: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10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9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8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7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6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4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3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2</a:t>
            </a:r>
          </a:p>
          <a:p>
            <a:r>
              <a:rPr lang="en-US" u="none" dirty="0">
                <a:solidFill>
                  <a:schemeClr val="tx1"/>
                </a:solidFill>
              </a:rPr>
              <a:t>1</a:t>
            </a:r>
            <a:endParaRPr lang="en-US" u="none" dirty="0" smtClean="0">
              <a:solidFill>
                <a:schemeClr val="tx1"/>
              </a:solidFill>
            </a:endParaRPr>
          </a:p>
          <a:p>
            <a:endParaRPr lang="en-US" u="none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125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Nested While Loop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2462213"/>
          </a:xfrm>
        </p:spPr>
        <p:txBody>
          <a:bodyPr/>
          <a:lstStyle/>
          <a:p>
            <a:r>
              <a:rPr lang="en-US" u="none" dirty="0">
                <a:solidFill>
                  <a:schemeClr val="tx1"/>
                </a:solidFill>
              </a:rPr>
              <a:t>a = </a:t>
            </a:r>
            <a:r>
              <a:rPr lang="en-US" u="none" dirty="0" smtClean="0">
                <a:solidFill>
                  <a:schemeClr val="tx1"/>
                </a:solidFill>
              </a:rPr>
              <a:t>1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b </a:t>
            </a:r>
            <a:r>
              <a:rPr lang="en-US" u="none" dirty="0">
                <a:solidFill>
                  <a:schemeClr val="tx1"/>
                </a:solidFill>
              </a:rPr>
              <a:t>= </a:t>
            </a:r>
            <a:r>
              <a:rPr lang="en-US" u="none" dirty="0" smtClean="0">
                <a:solidFill>
                  <a:schemeClr val="tx1"/>
                </a:solidFill>
              </a:rPr>
              <a:t>1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while </a:t>
            </a:r>
            <a:r>
              <a:rPr lang="en-US" u="none" dirty="0">
                <a:solidFill>
                  <a:schemeClr val="tx1"/>
                </a:solidFill>
              </a:rPr>
              <a:t>a&lt;=5:    </a:t>
            </a:r>
            <a:endParaRPr lang="en-US" u="none" dirty="0" smtClean="0">
              <a:solidFill>
                <a:schemeClr val="tx1"/>
              </a:solidFill>
            </a:endParaRPr>
          </a:p>
          <a:p>
            <a:r>
              <a:rPr lang="en-US" u="none" dirty="0">
                <a:solidFill>
                  <a:schemeClr val="tx1"/>
                </a:solidFill>
              </a:rPr>
              <a:t>	</a:t>
            </a:r>
            <a:r>
              <a:rPr lang="en-US" u="none" dirty="0" smtClean="0">
                <a:solidFill>
                  <a:schemeClr val="tx1"/>
                </a:solidFill>
              </a:rPr>
              <a:t>b </a:t>
            </a:r>
            <a:r>
              <a:rPr lang="en-US" u="none" dirty="0">
                <a:solidFill>
                  <a:schemeClr val="tx1"/>
                </a:solidFill>
              </a:rPr>
              <a:t>= 1    </a:t>
            </a:r>
            <a:endParaRPr lang="en-US" u="none" dirty="0" smtClean="0">
              <a:solidFill>
                <a:schemeClr val="tx1"/>
              </a:solidFill>
            </a:endParaRPr>
          </a:p>
          <a:p>
            <a:r>
              <a:rPr lang="en-US" u="none" dirty="0">
                <a:solidFill>
                  <a:schemeClr val="tx1"/>
                </a:solidFill>
              </a:rPr>
              <a:t>	</a:t>
            </a:r>
            <a:r>
              <a:rPr lang="en-US" u="none" dirty="0" smtClean="0">
                <a:solidFill>
                  <a:schemeClr val="tx1"/>
                </a:solidFill>
              </a:rPr>
              <a:t>while </a:t>
            </a:r>
            <a:r>
              <a:rPr lang="en-US" u="none" dirty="0">
                <a:solidFill>
                  <a:schemeClr val="tx1"/>
                </a:solidFill>
              </a:rPr>
              <a:t>b&lt;=5:        </a:t>
            </a:r>
            <a:endParaRPr lang="en-US" u="none" dirty="0" smtClean="0">
              <a:solidFill>
                <a:schemeClr val="tx1"/>
              </a:solidFill>
            </a:endParaRPr>
          </a:p>
          <a:p>
            <a:r>
              <a:rPr lang="en-US" u="none" dirty="0">
                <a:solidFill>
                  <a:schemeClr val="tx1"/>
                </a:solidFill>
              </a:rPr>
              <a:t>	</a:t>
            </a:r>
            <a:r>
              <a:rPr lang="en-US" u="none" dirty="0" smtClean="0">
                <a:solidFill>
                  <a:schemeClr val="tx1"/>
                </a:solidFill>
              </a:rPr>
              <a:t>	print(</a:t>
            </a:r>
            <a:r>
              <a:rPr lang="en-US" u="none" dirty="0" err="1" smtClean="0">
                <a:solidFill>
                  <a:schemeClr val="tx1"/>
                </a:solidFill>
              </a:rPr>
              <a:t>f'a</a:t>
            </a:r>
            <a:r>
              <a:rPr lang="en-US" u="none" dirty="0" smtClean="0">
                <a:solidFill>
                  <a:schemeClr val="tx1"/>
                </a:solidFill>
              </a:rPr>
              <a:t> </a:t>
            </a:r>
            <a:r>
              <a:rPr lang="en-US" u="none" dirty="0">
                <a:solidFill>
                  <a:schemeClr val="tx1"/>
                </a:solidFill>
              </a:rPr>
              <a:t>: {a} b : {b}')        </a:t>
            </a:r>
            <a:endParaRPr lang="en-US" u="none" dirty="0" smtClean="0">
              <a:solidFill>
                <a:schemeClr val="tx1"/>
              </a:solidFill>
            </a:endParaRPr>
          </a:p>
          <a:p>
            <a:r>
              <a:rPr lang="en-US" u="none" dirty="0">
                <a:solidFill>
                  <a:schemeClr val="tx1"/>
                </a:solidFill>
              </a:rPr>
              <a:t>	</a:t>
            </a:r>
            <a:r>
              <a:rPr lang="en-US" u="none" dirty="0" smtClean="0">
                <a:solidFill>
                  <a:schemeClr val="tx1"/>
                </a:solidFill>
              </a:rPr>
              <a:t>	b </a:t>
            </a:r>
            <a:r>
              <a:rPr lang="en-US" u="none" dirty="0">
                <a:solidFill>
                  <a:schemeClr val="tx1"/>
                </a:solidFill>
              </a:rPr>
              <a:t>+=1    </a:t>
            </a:r>
            <a:endParaRPr lang="en-US" u="none" dirty="0" smtClean="0">
              <a:solidFill>
                <a:schemeClr val="tx1"/>
              </a:solidFill>
            </a:endParaRPr>
          </a:p>
          <a:p>
            <a:r>
              <a:rPr lang="en-US" u="none" dirty="0">
                <a:solidFill>
                  <a:schemeClr val="tx1"/>
                </a:solidFill>
              </a:rPr>
              <a:t>	</a:t>
            </a:r>
            <a:r>
              <a:rPr lang="en-US" u="none" dirty="0" smtClean="0">
                <a:solidFill>
                  <a:schemeClr val="tx1"/>
                </a:solidFill>
              </a:rPr>
              <a:t>a </a:t>
            </a:r>
            <a:r>
              <a:rPr lang="en-US" u="none" dirty="0">
                <a:solidFill>
                  <a:schemeClr val="tx1"/>
                </a:solidFill>
              </a:rPr>
              <a:t>+= 1</a:t>
            </a:r>
          </a:p>
        </p:txBody>
      </p:sp>
    </p:spTree>
    <p:extLst>
      <p:ext uri="{BB962C8B-B14F-4D97-AF65-F5344CB8AC3E}">
        <p14:creationId xmlns:p14="http://schemas.microsoft.com/office/powerpoint/2010/main" val="1369852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Random Number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538883"/>
          </a:xfrm>
        </p:spPr>
        <p:txBody>
          <a:bodyPr/>
          <a:lstStyle/>
          <a:p>
            <a:r>
              <a:rPr lang="en-US" u="none" dirty="0" smtClean="0">
                <a:solidFill>
                  <a:schemeClr val="tx1"/>
                </a:solidFill>
              </a:rPr>
              <a:t>Random number is used to generate random numbers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Example:</a:t>
            </a:r>
          </a:p>
          <a:p>
            <a:r>
              <a:rPr lang="en-US" u="none" dirty="0">
                <a:solidFill>
                  <a:schemeClr val="tx1"/>
                </a:solidFill>
              </a:rPr>
              <a:t>import </a:t>
            </a:r>
            <a:r>
              <a:rPr lang="en-US" u="none" dirty="0" smtClean="0">
                <a:solidFill>
                  <a:schemeClr val="tx1"/>
                </a:solidFill>
              </a:rPr>
              <a:t>random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n </a:t>
            </a:r>
            <a:r>
              <a:rPr lang="en-US" u="none" dirty="0">
                <a:solidFill>
                  <a:schemeClr val="tx1"/>
                </a:solidFill>
              </a:rPr>
              <a:t>= random.random</a:t>
            </a:r>
            <a:r>
              <a:rPr lang="en-US" u="none" dirty="0" smtClean="0">
                <a:solidFill>
                  <a:schemeClr val="tx1"/>
                </a:solidFill>
              </a:rPr>
              <a:t>()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print(n</a:t>
            </a:r>
            <a:r>
              <a:rPr lang="en-US" u="none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0322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Activity-07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923330"/>
          </a:xfrm>
        </p:spPr>
        <p:txBody>
          <a:bodyPr/>
          <a:lstStyle/>
          <a:p>
            <a:r>
              <a:rPr lang="en-US" u="none" dirty="0" smtClean="0">
                <a:solidFill>
                  <a:schemeClr val="tx1"/>
                </a:solidFill>
              </a:rPr>
              <a:t>Create random from 1 to 10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Sample Output:</a:t>
            </a:r>
          </a:p>
          <a:p>
            <a:r>
              <a:rPr lang="en-US" u="none" dirty="0" smtClean="0">
                <a:solidFill>
                  <a:schemeClr val="tx1"/>
                </a:solidFill>
              </a:rPr>
              <a:t>Random number: 5</a:t>
            </a:r>
          </a:p>
        </p:txBody>
      </p:sp>
    </p:spTree>
    <p:extLst>
      <p:ext uri="{BB962C8B-B14F-4D97-AF65-F5344CB8AC3E}">
        <p14:creationId xmlns:p14="http://schemas.microsoft.com/office/powerpoint/2010/main" val="3725460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539490">
              <a:lnSpc>
                <a:spcPct val="100000"/>
              </a:lnSpc>
              <a:spcBef>
                <a:spcPts val="100"/>
              </a:spcBef>
            </a:pPr>
            <a:r>
              <a:rPr spc="-65" dirty="0" smtClean="0"/>
              <a:t>Activity-</a:t>
            </a:r>
            <a:r>
              <a:rPr spc="-25" dirty="0" smtClean="0"/>
              <a:t>0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1756994"/>
            <a:ext cx="9754235" cy="37096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040"/>
              </a:spcBef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Write</a:t>
            </a:r>
            <a:r>
              <a:rPr sz="2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python</a:t>
            </a:r>
            <a:r>
              <a:rPr sz="2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sz="2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takes</a:t>
            </a:r>
            <a:r>
              <a:rPr sz="2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even</a:t>
            </a:r>
            <a:r>
              <a:rPr sz="2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2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until</a:t>
            </a:r>
            <a:r>
              <a:rPr sz="2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does</a:t>
            </a:r>
            <a:r>
              <a:rPr sz="2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not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2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odd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2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finaly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display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sum.If</a:t>
            </a:r>
            <a:r>
              <a:rPr sz="2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odd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then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terminated.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Output:</a:t>
            </a:r>
            <a:endParaRPr sz="2600" dirty="0">
              <a:latin typeface="Calibri"/>
              <a:cs typeface="Calibri"/>
            </a:endParaRPr>
          </a:p>
          <a:p>
            <a:pPr marL="12700" marR="7065645" algn="just">
              <a:lnSpc>
                <a:spcPct val="114900"/>
              </a:lnSpc>
              <a:spcBef>
                <a:spcPts val="5"/>
              </a:spcBef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2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number:2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2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number:6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2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number:4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2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number:1 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Total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Sum</a:t>
            </a:r>
            <a:r>
              <a:rPr sz="2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is: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12</a:t>
            </a:r>
            <a:endParaRPr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56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338</Words>
  <Application>Microsoft Office PowerPoint</Application>
  <PresentationFormat>Widescreen</PresentationFormat>
  <Paragraphs>114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Calibri Light</vt:lpstr>
      <vt:lpstr>Wingdings</vt:lpstr>
      <vt:lpstr>Office Theme</vt:lpstr>
      <vt:lpstr>Control Flow and Looping</vt:lpstr>
      <vt:lpstr>Contents</vt:lpstr>
      <vt:lpstr>Conditional Statement  if statement</vt:lpstr>
      <vt:lpstr>Conditional Statement</vt:lpstr>
      <vt:lpstr>Activity-01</vt:lpstr>
      <vt:lpstr>PowerPoint Presentation</vt:lpstr>
      <vt:lpstr>           Activity-02</vt:lpstr>
      <vt:lpstr>Activity-03</vt:lpstr>
      <vt:lpstr>if-elif-else</vt:lpstr>
      <vt:lpstr>Activity-04 Week days choice</vt:lpstr>
      <vt:lpstr>Iterations</vt:lpstr>
      <vt:lpstr>Iterations</vt:lpstr>
      <vt:lpstr>while loop</vt:lpstr>
      <vt:lpstr>Activity-04</vt:lpstr>
      <vt:lpstr>Activity-05</vt:lpstr>
      <vt:lpstr>Activity-06</vt:lpstr>
      <vt:lpstr>Nested While Loop</vt:lpstr>
      <vt:lpstr>Random Number</vt:lpstr>
      <vt:lpstr>Activity-07</vt:lpstr>
      <vt:lpstr>Activity-08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creator>Asif Ali</dc:creator>
  <cp:lastModifiedBy>Engr Asif Ali</cp:lastModifiedBy>
  <cp:revision>25</cp:revision>
  <dcterms:created xsi:type="dcterms:W3CDTF">2025-01-12T08:42:22Z</dcterms:created>
  <dcterms:modified xsi:type="dcterms:W3CDTF">2025-01-21T07:00:40Z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2025-01-12T00:00:00Z</vt:filetime>
  </property>
  <property fmtid="{D5CDD505-2E9C-101B-9397-08002B2CF9AE}" pid="5" name="Producer">
    <vt:lpwstr>Microsoft® PowerPoint® 2013</vt:lpwstr>
  </property>
</Properties>
</file>