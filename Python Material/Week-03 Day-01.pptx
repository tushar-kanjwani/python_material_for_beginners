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52"/>
  </p:notesMasterIdLst>
  <p:sldIdLst>
    <p:sldId id="256" r:id="rId2"/>
    <p:sldId id="257" r:id="rId3"/>
    <p:sldId id="263" r:id="rId4"/>
    <p:sldId id="259" r:id="rId5"/>
    <p:sldId id="264" r:id="rId6"/>
    <p:sldId id="286" r:id="rId7"/>
    <p:sldId id="265" r:id="rId8"/>
    <p:sldId id="266" r:id="rId9"/>
    <p:sldId id="295" r:id="rId10"/>
    <p:sldId id="267" r:id="rId11"/>
    <p:sldId id="287" r:id="rId12"/>
    <p:sldId id="296" r:id="rId13"/>
    <p:sldId id="297" r:id="rId14"/>
    <p:sldId id="298" r:id="rId15"/>
    <p:sldId id="299" r:id="rId16"/>
    <p:sldId id="300" r:id="rId17"/>
    <p:sldId id="269" r:id="rId18"/>
    <p:sldId id="271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8" r:id="rId29"/>
    <p:sldId id="289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270" r:id="rId38"/>
    <p:sldId id="308" r:id="rId39"/>
    <p:sldId id="309" r:id="rId40"/>
    <p:sldId id="273" r:id="rId41"/>
    <p:sldId id="310" r:id="rId42"/>
    <p:sldId id="274" r:id="rId43"/>
    <p:sldId id="313" r:id="rId44"/>
    <p:sldId id="314" r:id="rId45"/>
    <p:sldId id="315" r:id="rId46"/>
    <p:sldId id="316" r:id="rId47"/>
    <p:sldId id="317" r:id="rId48"/>
    <p:sldId id="283" r:id="rId49"/>
    <p:sldId id="318" r:id="rId50"/>
    <p:sldId id="319" r:id="rId51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51E00-F602-4101-B875-80570583460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F93AD-2A6B-4DF8-8A45-6F56D043A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6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375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494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092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947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362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3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401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719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96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098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6767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9401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59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fld id="{ADAE3F50-6075-43D9-B0BB-475C964C61C5}" type="datetime">
              <a:rPr lang="en-US" sz="900" b="0" strike="noStrike" spc="-1" smtClean="0">
                <a:solidFill>
                  <a:srgbClr val="FFFFFF"/>
                </a:solidFill>
                <a:latin typeface="Calibri"/>
              </a:rPr>
              <a:t>1/29/2026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E0ED8AB2-510E-46F1-AB78-540A72A956F9}" type="slidenum">
              <a:rPr lang="en-US" sz="1050" b="0" strike="noStrike" spc="-1" smtClean="0">
                <a:solidFill>
                  <a:srgbClr val="FFFFFF"/>
                </a:solidFill>
                <a:latin typeface="Calibri"/>
              </a:rPr>
              <a:t>‹#›</a:t>
            </a:fld>
            <a:endParaRPr lang="en-US" sz="105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402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func_bin.asp" TargetMode="External"/><Relationship Id="rId2" Type="http://schemas.openxmlformats.org/officeDocument/2006/relationships/hyperlink" Target="https://www.w3schools.com/python/ref_func_abs.asp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w3schools.com/python/ref_func_eval.asp" TargetMode="External"/><Relationship Id="rId4" Type="http://schemas.openxmlformats.org/officeDocument/2006/relationships/hyperlink" Target="https://www.w3schools.com/python/ref_func_bool.as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func_ord.asp" TargetMode="External"/><Relationship Id="rId2" Type="http://schemas.openxmlformats.org/officeDocument/2006/relationships/hyperlink" Target="https://www.w3schools.com/python/ref_func_pow.asp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w3schools.com/python/ref_func_type.asp" TargetMode="External"/><Relationship Id="rId4" Type="http://schemas.openxmlformats.org/officeDocument/2006/relationships/hyperlink" Target="https://www.w3schools.com/python/ref_func_round.asp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 dirty="0">
                <a:solidFill>
                  <a:srgbClr val="262626"/>
                </a:solidFill>
                <a:latin typeface="Calibri Light"/>
              </a:rPr>
              <a:t>Week-03</a:t>
            </a:r>
          </a:p>
          <a:p>
            <a:pPr algn="ctr">
              <a:lnSpc>
                <a:spcPct val="85000"/>
              </a:lnSpc>
            </a:pPr>
            <a:r>
              <a:rPr lang="en-US" sz="4800" spc="-52" dirty="0">
                <a:solidFill>
                  <a:srgbClr val="262626"/>
                </a:solidFill>
                <a:latin typeface="Calibri Light"/>
              </a:rPr>
              <a:t>Functions and More Data Structure</a:t>
            </a:r>
          </a:p>
          <a:p>
            <a:pPr algn="ctr">
              <a:lnSpc>
                <a:spcPct val="85000"/>
              </a:lnSpc>
            </a:pPr>
            <a:r>
              <a:rPr lang="en-US" sz="4800" b="0" strike="noStrike" spc="-52" dirty="0">
                <a:solidFill>
                  <a:srgbClr val="262626"/>
                </a:solidFill>
                <a:latin typeface="Calibri Light"/>
              </a:rPr>
              <a:t>Functions</a:t>
            </a:r>
          </a:p>
          <a:p>
            <a:pPr algn="ctr">
              <a:lnSpc>
                <a:spcPct val="85000"/>
              </a:lnSpc>
            </a:pPr>
            <a:r>
              <a:rPr lang="en-US" sz="4800" spc="-52" dirty="0">
                <a:solidFill>
                  <a:srgbClr val="262626"/>
                </a:solidFill>
                <a:latin typeface="Calibri Light"/>
              </a:rPr>
              <a:t>By: Engr. Tushar Kanjwani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Shape 1"/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0" strike="noStrike" spc="-52">
                <a:latin typeface="+mj-lt"/>
                <a:ea typeface="+mj-ea"/>
                <a:cs typeface="+mj-cs"/>
              </a:rPr>
              <a:t>Agenda</a:t>
            </a:r>
            <a:endParaRPr lang="en-US" sz="5400" b="0" strike="noStrike" spc="-1">
              <a:latin typeface="+mj-lt"/>
              <a:ea typeface="+mj-ea"/>
              <a:cs typeface="+mj-cs"/>
            </a:endParaRPr>
          </a:p>
        </p:txBody>
      </p:sp>
      <p:sp>
        <p:nvSpPr>
          <p:cNvPr id="10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Shape 2"/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Function calls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Parameters and Arguments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Built-In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Type conversion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Math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Random Numbers</a:t>
            </a:r>
          </a:p>
          <a:p>
            <a:pPr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200" b="0" strike="noStrike" spc="-1"/>
          </a:p>
          <a:p>
            <a:pPr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200" b="0" strike="noStrike" spc="-1"/>
          </a:p>
        </p:txBody>
      </p:sp>
      <p:pic>
        <p:nvPicPr>
          <p:cNvPr id="96" name="Picture 95" descr="Computer script on a screen">
            <a:extLst>
              <a:ext uri="{FF2B5EF4-FFF2-40B4-BE49-F238E27FC236}">
                <a16:creationId xmlns:a16="http://schemas.microsoft.com/office/drawing/2014/main" id="{550EAAA1-8B03-8091-C899-AA8E1A2E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Shape 1"/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strike="noStrike" kern="1200" spc="-52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 in Programming Languages</a:t>
            </a:r>
            <a:endParaRPr lang="en-US" sz="4800" b="0" strike="noStrike" kern="1200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400" b="0" strike="noStrike" spc="-1"/>
              <a:t>A function is simply a “chunk” of code that you can use over and over again, rather than writing it out multiple times. Functions enable programmers to break down or </a:t>
            </a:r>
            <a:r>
              <a:rPr lang="en-US" sz="2400" b="1" strike="noStrike" spc="-1"/>
              <a:t>decompose</a:t>
            </a:r>
            <a:r>
              <a:rPr lang="en-US" sz="2400" b="0" strike="noStrike" spc="-1"/>
              <a:t> a problem into smaller chunks, each of which performs a particular task.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400" b="0" strike="noStrike" spc="-1"/>
              <a:t>Once a function is created, the details of how it works can almost be forgotten about. In this way the detail is </a:t>
            </a:r>
            <a:r>
              <a:rPr lang="en-US" sz="2400" b="1" strike="noStrike" spc="-1"/>
              <a:t>abstracted</a:t>
            </a:r>
            <a:r>
              <a:rPr lang="en-US" sz="2400" b="0" strike="noStrike" spc="-1"/>
              <a:t>, allowing the programmer to focus on the bigger picture.</a:t>
            </a:r>
          </a:p>
          <a:p>
            <a:pPr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Font typeface="Arial" panose="020B0604020202020204" pitchFamily="34" charset="0"/>
              <a:buChar char="•"/>
            </a:pPr>
            <a:endParaRPr lang="en-US" sz="2400" b="0" strike="noStrike" spc="-1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28646" y="-791961"/>
            <a:ext cx="4072850" cy="900116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Functions?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C10204-9D90-A072-D5E4-637C4A7B5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06" y="2092578"/>
            <a:ext cx="3627475" cy="3752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1376FB-8864-9347-CF83-BF4E51832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280" y="2358886"/>
            <a:ext cx="571500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Shape 1"/>
          <p:cNvSpPr txBox="1"/>
          <p:nvPr/>
        </p:nvSpPr>
        <p:spPr>
          <a:xfrm>
            <a:off x="841248" y="426720"/>
            <a:ext cx="10506456" cy="1919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0" strike="noStrike" kern="1200" spc="-52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Simple program of Python using Function</a:t>
            </a:r>
            <a:endParaRPr lang="en-US" sz="6000" b="0" strike="noStrike" kern="1200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89706-E6BF-8197-8A0F-6DB27CBB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73236"/>
            <a:ext cx="3324601" cy="1888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35C6A6-D224-ED2E-331F-BC26E934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410" y="3343360"/>
            <a:ext cx="4149950" cy="2025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Shape 1"/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strike="noStrike" kern="1200" spc="-52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Simple program of Python using Function</a:t>
            </a:r>
            <a:endParaRPr lang="en-US" sz="4800" b="0" strike="noStrike" kern="1200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E2F5FE6-52EC-305A-F469-71F30899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04" y="3234167"/>
            <a:ext cx="4382112" cy="1028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13E901-C606-F178-00BE-1065497F4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6654"/>
            <a:ext cx="5781745" cy="115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4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Shape 1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1" strike="noStrike" spc="-1"/>
              <a:t>Function calls</a:t>
            </a:r>
            <a:endParaRPr lang="en-US" sz="2200" b="0" strike="noStrike" spc="-1"/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Parameters and Arguments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Built-In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Type conversion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Math Functions</a:t>
            </a:r>
          </a:p>
          <a:p>
            <a:pPr marL="91440"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Arial" panose="020B0604020202020204" pitchFamily="34" charset="0"/>
              <a:buChar char="•"/>
            </a:pPr>
            <a:r>
              <a:rPr lang="en-US" sz="2200" b="0" strike="noStrike" spc="-1"/>
              <a:t>Random Numbers</a:t>
            </a:r>
          </a:p>
          <a:p>
            <a:pPr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200" b="0" strike="noStrike" spc="-1"/>
          </a:p>
          <a:p>
            <a:pPr indent="-2286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200" b="0" strike="noStrike" spc="-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Function Calls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BE1AD4-97CE-6606-3C67-419F5D509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312" y="4411900"/>
            <a:ext cx="5249008" cy="1143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313BF0-D6F5-CDA4-9521-F62013C8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2" y="2050608"/>
            <a:ext cx="7878274" cy="1781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183A-3DF7-D05A-F771-6D283E32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Return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4E8CA-2199-CAE2-5EDB-DC1415CA1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644" y="4127705"/>
            <a:ext cx="3905795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85A5D-2C1F-A3A9-1B25-3C821A8F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95" y="1737000"/>
            <a:ext cx="6516009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9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368640" y="736920"/>
            <a:ext cx="11545560" cy="52675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Function calls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1" strike="noStrike" spc="-1">
                <a:solidFill>
                  <a:srgbClr val="404040"/>
                </a:solidFill>
                <a:latin typeface="Calibri"/>
              </a:rPr>
              <a:t>Parameters and Arguments</a:t>
            </a:r>
            <a:endParaRPr lang="en-US" sz="3200" b="0" strike="noStrike" spc="-1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Built-In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Type conversion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Math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Random Numbers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Parameters and arguments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1" y="2089317"/>
            <a:ext cx="10870130" cy="394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0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01A0-6947-19BC-A597-52197E1B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Default Argument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3E7F5-9147-4620-4991-D7892978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314" y="2511980"/>
            <a:ext cx="2526436" cy="1826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E6E7A1-4C4F-DE62-DF30-AB06438E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04" y="2511980"/>
            <a:ext cx="4736752" cy="145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50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9015-1A47-5B80-3745-ABDB93B6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Keyword Arguments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283D7-C638-D4C5-152F-78AFABEFE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264" y="2396913"/>
            <a:ext cx="3518259" cy="1292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1360F9-A778-7698-D016-6C03EA19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842" y="2351193"/>
            <a:ext cx="5048955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66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D39D-0EA7-F1DB-BF19-F863FFD3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Returning Multiple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544140-9702-700A-D492-BE2FB185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198" y="3423920"/>
            <a:ext cx="5973745" cy="129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DF7275-64C8-005C-215D-8E46DA83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97" y="1977200"/>
            <a:ext cx="625879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0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FD19-087E-B390-90E6-FF78073C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with Variable Number of Arguments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576F7-0360-B029-EF7E-08DB2578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77" y="2138288"/>
            <a:ext cx="3149152" cy="1450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55346A-C9FF-7D53-0ED0-0788AF548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71" y="2337324"/>
            <a:ext cx="4817892" cy="137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45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655C-C8FB-3F76-957F-F678D609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031BA-B72D-F3CC-FC7E-5491FEF1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968" y="3057472"/>
            <a:ext cx="3105583" cy="1181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4205A6-FD7B-BE9F-5F53-6628AD71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76" y="2028628"/>
            <a:ext cx="5068007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8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368640" y="736920"/>
            <a:ext cx="11545560" cy="52675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 calls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600" b="0" strike="noStrike" spc="-1" dirty="0">
                <a:solidFill>
                  <a:srgbClr val="404040"/>
                </a:solidFill>
                <a:latin typeface="Calibri"/>
              </a:rPr>
              <a:t>Parameters and Arguments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600" b="1" strike="noStrike" spc="-1" dirty="0">
                <a:solidFill>
                  <a:srgbClr val="404040"/>
                </a:solidFill>
                <a:latin typeface="Calibri"/>
              </a:rPr>
              <a:t>Built-In Functions</a:t>
            </a:r>
            <a:endParaRPr lang="en-US" sz="36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Type conversion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Math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Random Numbers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List of Built-In Functions in Python.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18" name="Table 2"/>
          <p:cNvGraphicFramePr/>
          <p:nvPr>
            <p:extLst>
              <p:ext uri="{D42A27DB-BD31-4B8C-83A1-F6EECF244321}">
                <p14:modId xmlns:p14="http://schemas.microsoft.com/office/powerpoint/2010/main" val="2547551703"/>
              </p:ext>
            </p:extLst>
          </p:nvPr>
        </p:nvGraphicFramePr>
        <p:xfrm>
          <a:off x="204840" y="1910520"/>
          <a:ext cx="11154960" cy="2770920"/>
        </p:xfrm>
        <a:graphic>
          <a:graphicData uri="http://schemas.openxmlformats.org/drawingml/2006/table">
            <a:tbl>
              <a:tblPr/>
              <a:tblGrid>
                <a:gridCol w="557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2"/>
                        </a:rPr>
                        <a:t>abs()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Returns the absolute value (Positive Value) of a number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 dirty="0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3"/>
                        </a:rPr>
                        <a:t>bin()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Returns the binary version of a number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4"/>
                        </a:rPr>
                        <a:t>bool()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Returns the boolean value of the specified object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5"/>
                        </a:rPr>
                        <a:t>eval()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Evaluates and executes an expression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hash()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Returns the hash value of a specified object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List of Built-In Functions in Python.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20" name="Table 2"/>
          <p:cNvGraphicFramePr/>
          <p:nvPr/>
        </p:nvGraphicFramePr>
        <p:xfrm>
          <a:off x="204840" y="1910520"/>
          <a:ext cx="11154960" cy="2353320"/>
        </p:xfrm>
        <a:graphic>
          <a:graphicData uri="http://schemas.openxmlformats.org/drawingml/2006/table">
            <a:tbl>
              <a:tblPr/>
              <a:tblGrid>
                <a:gridCol w="557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2"/>
                        </a:rPr>
                        <a:t>pow()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Returns the value of x to the power of y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3"/>
                        </a:rPr>
                        <a:t>ord()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Convert an integer representing the Unicode of the specified character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4"/>
                        </a:rPr>
                        <a:t>round()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Rounds a numbers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sng" strike="noStrike" spc="-1">
                          <a:solidFill>
                            <a:srgbClr val="2998E3"/>
                          </a:solidFill>
                          <a:uFillTx/>
                          <a:latin typeface="Calibri"/>
                          <a:hlinkClick r:id="rId5"/>
                        </a:rPr>
                        <a:t>type()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5228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Returns the type of an object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16124" y="2083939"/>
            <a:ext cx="11545560" cy="52675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 calls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Built-In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1" strike="noStrike" spc="-1" dirty="0">
                <a:solidFill>
                  <a:srgbClr val="404040"/>
                </a:solidFill>
                <a:latin typeface="Calibri"/>
              </a:rPr>
              <a:t>Type conversion Functions</a:t>
            </a:r>
            <a:endParaRPr lang="en-US" sz="32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Math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Random Numbers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Type conversion function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a = 2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print(type(a))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&lt;class ‘int’&gt;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spc="-1" dirty="0">
                <a:solidFill>
                  <a:srgbClr val="404040"/>
                </a:solidFill>
                <a:latin typeface="Calibri"/>
              </a:rPr>
              <a:t>  b= 3.0</a:t>
            </a: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print(type(b))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&lt;class ‘float’&gt;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646440" y="2044610"/>
            <a:ext cx="11545560" cy="52675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 calls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Built-In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Type conversion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1" strike="noStrike" spc="-1" dirty="0">
                <a:solidFill>
                  <a:srgbClr val="404040"/>
                </a:solidFill>
                <a:latin typeface="Calibri"/>
              </a:rPr>
              <a:t>Math Functions</a:t>
            </a:r>
            <a:endParaRPr lang="en-US" sz="32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Random Numbers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Math Functions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import math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print(math.pi)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print(math.sqrt(9))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print(math.pow(2,2))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476795" y="2182262"/>
            <a:ext cx="11545560" cy="526752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Function calls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404040"/>
                </a:solidFill>
                <a:latin typeface="Calibri"/>
              </a:rPr>
              <a:t>Built-In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Type conversion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Math Functions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1" strike="noStrike" spc="-1" dirty="0">
                <a:solidFill>
                  <a:srgbClr val="404040"/>
                </a:solidFill>
                <a:latin typeface="Calibri"/>
              </a:rPr>
              <a:t>Random Numbers</a:t>
            </a:r>
            <a:endParaRPr lang="en-US" sz="32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32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3200" b="0" strike="noStrike" spc="-1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Random Numbers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import random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for a in range(2):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    x = random.random()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    print(x)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Random Integer Numbers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import random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for a in range(1):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    x = random.randint(1,6)</a:t>
            </a:r>
          </a:p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    print(x)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4800" b="0" strike="noStrike" spc="-52" dirty="0">
                <a:solidFill>
                  <a:srgbClr val="404040"/>
                </a:solidFill>
                <a:latin typeface="Calibri Light"/>
              </a:rPr>
              <a:t>Activity-03</a:t>
            </a:r>
            <a:endParaRPr lang="en-US" sz="4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>
            <a:noFill/>
          </a:ln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Write a python code which display random numbers and also find their sum. </a:t>
            </a:r>
            <a:r>
              <a:rPr lang="en-US" sz="2000" b="0" strike="noStrike" spc="-1" dirty="0" err="1">
                <a:solidFill>
                  <a:srgbClr val="404040"/>
                </a:solidFill>
                <a:latin typeface="Calibri"/>
              </a:rPr>
              <a:t>Finaly</a:t>
            </a: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 display the total sum.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Sample output: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spc="-1" dirty="0">
                <a:solidFill>
                  <a:srgbClr val="404040"/>
                </a:solidFill>
                <a:latin typeface="Calibri"/>
              </a:rPr>
              <a:t>Enter total rolls: 3</a:t>
            </a:r>
            <a:endParaRPr lang="en-US" sz="2000" b="0" strike="noStrike" spc="-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spc="-1" dirty="0">
                <a:solidFill>
                  <a:srgbClr val="404040"/>
                </a:solidFill>
                <a:latin typeface="Calibri"/>
              </a:rPr>
              <a:t>Roll 2: 2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Roll 2: 5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spc="-1" dirty="0">
                <a:solidFill>
                  <a:srgbClr val="404040"/>
                </a:solidFill>
                <a:latin typeface="Calibri"/>
              </a:rPr>
              <a:t>Roll 3: 6</a:t>
            </a: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</a:rPr>
              <a:t>Total sum: 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249679" y="1863969"/>
            <a:ext cx="10778197" cy="4707471"/>
          </a:xfrm>
        </p:spPr>
        <p:txBody>
          <a:bodyPr/>
          <a:lstStyle/>
          <a:p>
            <a:r>
              <a:rPr lang="en-US" dirty="0"/>
              <a:t>def calculator(a, b, operator): </a:t>
            </a:r>
          </a:p>
          <a:p>
            <a:r>
              <a:rPr lang="en-US" dirty="0"/>
              <a:t>	if operator == '+’: </a:t>
            </a:r>
          </a:p>
          <a:p>
            <a:r>
              <a:rPr lang="en-US" dirty="0"/>
              <a:t>		return a + b </a:t>
            </a:r>
          </a:p>
          <a:p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operator == '-’: </a:t>
            </a:r>
          </a:p>
          <a:p>
            <a:r>
              <a:rPr lang="en-US" dirty="0"/>
              <a:t>		return a - b </a:t>
            </a:r>
          </a:p>
          <a:p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operator == '*’: </a:t>
            </a:r>
          </a:p>
          <a:p>
            <a:r>
              <a:rPr lang="en-US" dirty="0"/>
              <a:t>		return a * b </a:t>
            </a:r>
          </a:p>
          <a:p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operator == '/’: </a:t>
            </a:r>
          </a:p>
          <a:p>
            <a:r>
              <a:rPr lang="en-US" dirty="0"/>
              <a:t>		return a / b </a:t>
            </a:r>
          </a:p>
          <a:p>
            <a:r>
              <a:rPr lang="en-US" dirty="0"/>
              <a:t>	else: </a:t>
            </a:r>
          </a:p>
          <a:p>
            <a:r>
              <a:rPr lang="en-US" dirty="0"/>
              <a:t>		return 'Invalid operator' print(calculator(10, 2, '*'))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Calculator Function</a:t>
            </a:r>
          </a:p>
        </p:txBody>
      </p:sp>
    </p:spTree>
    <p:extLst>
      <p:ext uri="{BB962C8B-B14F-4D97-AF65-F5344CB8AC3E}">
        <p14:creationId xmlns:p14="http://schemas.microsoft.com/office/powerpoint/2010/main" val="3882823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097280" y="2326306"/>
            <a:ext cx="10058040" cy="3379902"/>
          </a:xfrm>
        </p:spPr>
        <p:txBody>
          <a:bodyPr/>
          <a:lstStyle/>
          <a:p>
            <a:r>
              <a:rPr lang="en-US" sz="3600" dirty="0"/>
              <a:t>def </a:t>
            </a:r>
            <a:r>
              <a:rPr lang="en-US" sz="3600" dirty="0" err="1"/>
              <a:t>print_items</a:t>
            </a:r>
            <a:r>
              <a:rPr lang="en-US" sz="3600" dirty="0"/>
              <a:t>(items): </a:t>
            </a:r>
          </a:p>
          <a:p>
            <a:r>
              <a:rPr lang="en-US" sz="3600" dirty="0"/>
              <a:t>	for item in items: </a:t>
            </a:r>
          </a:p>
          <a:p>
            <a:r>
              <a:rPr lang="en-US" sz="3600" dirty="0"/>
              <a:t>		print(item) </a:t>
            </a:r>
          </a:p>
          <a:p>
            <a:endParaRPr lang="en-US" sz="3600" dirty="0"/>
          </a:p>
          <a:p>
            <a:r>
              <a:rPr lang="en-US" sz="3600" dirty="0"/>
              <a:t>fruits = ['apple', 'banana', 'cherry'] </a:t>
            </a:r>
            <a:r>
              <a:rPr lang="en-US" sz="3600" dirty="0" err="1"/>
              <a:t>print_items</a:t>
            </a:r>
            <a:r>
              <a:rPr lang="en-US" sz="3600" dirty="0"/>
              <a:t>(fruits)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Function with a List Argument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37301-FDBE-EE7A-1F6C-925218B7E956}"/>
              </a:ext>
            </a:extLst>
          </p:cNvPr>
          <p:cNvSpPr txBox="1"/>
          <p:nvPr/>
        </p:nvSpPr>
        <p:spPr>
          <a:xfrm>
            <a:off x="1097279" y="1956974"/>
            <a:ext cx="10391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Write a function `</a:t>
            </a:r>
            <a:r>
              <a:rPr lang="en-US" dirty="0" err="1"/>
              <a:t>print_items</a:t>
            </a:r>
            <a:r>
              <a:rPr lang="en-US" dirty="0"/>
              <a:t>(items)` that takes a list and prints each item.</a:t>
            </a:r>
          </a:p>
        </p:txBody>
      </p:sp>
    </p:spTree>
    <p:extLst>
      <p:ext uri="{BB962C8B-B14F-4D97-AF65-F5344CB8AC3E}">
        <p14:creationId xmlns:p14="http://schemas.microsoft.com/office/powerpoint/2010/main" val="2434974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421AF-ACAD-D9A4-982F-CFFBC5A421CC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find_max</a:t>
            </a:r>
            <a:r>
              <a:rPr lang="en-US" dirty="0"/>
              <a:t>(a, b, c)` that returns the largest of three numbers.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find_max</a:t>
            </a:r>
            <a:r>
              <a:rPr lang="en-US" dirty="0"/>
              <a:t>(a, b, c): </a:t>
            </a:r>
          </a:p>
          <a:p>
            <a:pPr marL="0" indent="0">
              <a:buNone/>
            </a:pPr>
            <a:r>
              <a:rPr lang="en-US" dirty="0"/>
              <a:t>	return max(a, b, c)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find_max</a:t>
            </a:r>
            <a:r>
              <a:rPr lang="en-US" dirty="0"/>
              <a:t>(10, 15, 5)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89B74-31A9-ADB0-37D3-CB9BC360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to Find Maximum</a:t>
            </a:r>
          </a:p>
        </p:txBody>
      </p:sp>
    </p:spTree>
    <p:extLst>
      <p:ext uri="{BB962C8B-B14F-4D97-AF65-F5344CB8AC3E}">
        <p14:creationId xmlns:p14="http://schemas.microsoft.com/office/powerpoint/2010/main" val="1049004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9DCDD-D083-522D-C33E-4C77066DEDC4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recursive function `factorial(n)` that returns the factorial of a number.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factorial(n): </a:t>
            </a:r>
          </a:p>
          <a:p>
            <a:pPr marL="0" indent="0">
              <a:buNone/>
            </a:pPr>
            <a:r>
              <a:rPr lang="en-US" dirty="0"/>
              <a:t>	if n == 0: </a:t>
            </a:r>
          </a:p>
          <a:p>
            <a:pPr marL="0" indent="0">
              <a:buNone/>
            </a:pPr>
            <a:r>
              <a:rPr lang="en-US" dirty="0"/>
              <a:t>		return 1 </a:t>
            </a:r>
          </a:p>
          <a:p>
            <a:pPr marL="0" indent="0">
              <a:buNone/>
            </a:pPr>
            <a:r>
              <a:rPr lang="en-US" dirty="0"/>
              <a:t>	else: </a:t>
            </a:r>
          </a:p>
          <a:p>
            <a:pPr marL="0" indent="0">
              <a:buNone/>
            </a:pPr>
            <a:r>
              <a:rPr lang="en-US" dirty="0"/>
              <a:t>		return n * factorial(n - 1) </a:t>
            </a:r>
          </a:p>
          <a:p>
            <a:pPr marL="0" indent="0">
              <a:buNone/>
            </a:pPr>
            <a:r>
              <a:rPr lang="en-US" dirty="0"/>
              <a:t>print(factorial(5))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805CC-379F-8A44-C9A0-38A8E6FB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</a:t>
            </a:r>
          </a:p>
        </p:txBody>
      </p:sp>
    </p:spTree>
    <p:extLst>
      <p:ext uri="{BB962C8B-B14F-4D97-AF65-F5344CB8AC3E}">
        <p14:creationId xmlns:p14="http://schemas.microsoft.com/office/powerpoint/2010/main" val="4156155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9E170-15B4-878D-5D78-7A22F278F45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A lambda function can take any number of arguments, but can only have one expression.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/>
              <a:t>lambda </a:t>
            </a:r>
            <a:r>
              <a:rPr lang="en-US" i="1" dirty="0"/>
              <a:t>arguments </a:t>
            </a:r>
            <a:r>
              <a:rPr lang="en-US" dirty="0"/>
              <a:t>: </a:t>
            </a:r>
            <a:r>
              <a:rPr lang="en-US" i="1" dirty="0"/>
              <a:t>expression</a:t>
            </a:r>
            <a:endParaRPr lang="en-U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addition</a:t>
            </a:r>
            <a:r>
              <a:rPr lang="es-ES" dirty="0"/>
              <a:t> = lambda x: x + 10 </a:t>
            </a:r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add_lambda</a:t>
            </a:r>
            <a:r>
              <a:rPr lang="es-ES" dirty="0"/>
              <a:t>(5))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0DAC8-899B-AF18-B2C4-377928A1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3530069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F0A6-28ED-49A8-81AB-4D78BA80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EAC5E-FDC4-DC56-8450-98FB76EBF1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66980" y="2244313"/>
            <a:ext cx="10058040" cy="2876687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r>
              <a:rPr lang="es-ES" dirty="0"/>
              <a:t>x = </a:t>
            </a:r>
            <a:r>
              <a:rPr lang="pt-BR" dirty="0"/>
              <a:t> lambda a, b : a * b</a:t>
            </a:r>
            <a:br>
              <a:rPr lang="pt-BR" dirty="0"/>
            </a:br>
            <a:r>
              <a:rPr lang="pt-BR" dirty="0"/>
              <a:t>print(x(5, 6))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32D7B-F928-6017-0329-C7EBE22E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1764828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7926F-C7CB-E7E0-264D-4B1271DA51C3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Write a function `</a:t>
            </a:r>
            <a:r>
              <a:rPr lang="en-US" dirty="0" err="1"/>
              <a:t>is_even</a:t>
            </a:r>
            <a:r>
              <a:rPr lang="en-US" dirty="0"/>
              <a:t>(n)` that returns `True` if the number is even and `False` otherwise.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is_even</a:t>
            </a:r>
            <a:r>
              <a:rPr lang="en-US" dirty="0"/>
              <a:t>(n): </a:t>
            </a:r>
          </a:p>
          <a:p>
            <a:pPr marL="0" indent="0">
              <a:buNone/>
            </a:pPr>
            <a:r>
              <a:rPr lang="en-US" dirty="0"/>
              <a:t>	return n % 2 == 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is_even</a:t>
            </a:r>
            <a:r>
              <a:rPr lang="en-US" dirty="0"/>
              <a:t>(4))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is_even</a:t>
            </a:r>
            <a:r>
              <a:rPr lang="en-US" dirty="0"/>
              <a:t>(5))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877F0-EDD1-7BDA-C51E-2827D10C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to Check Even or Odd</a:t>
            </a:r>
          </a:p>
        </p:txBody>
      </p:sp>
    </p:spTree>
    <p:extLst>
      <p:ext uri="{BB962C8B-B14F-4D97-AF65-F5344CB8AC3E}">
        <p14:creationId xmlns:p14="http://schemas.microsoft.com/office/powerpoint/2010/main" val="2326592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47845-F954-885B-BBA3-8CB0858A006F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Banking System</a:t>
            </a:r>
          </a:p>
          <a:p>
            <a:r>
              <a:rPr lang="en-US" dirty="0"/>
              <a:t>Write a Python function `</a:t>
            </a:r>
            <a:r>
              <a:rPr lang="en-US" dirty="0" err="1"/>
              <a:t>bank_system</a:t>
            </a:r>
            <a:r>
              <a:rPr lang="en-US" dirty="0"/>
              <a:t>()` that simulates a simple banking system. The user can perform the following actions:</a:t>
            </a:r>
          </a:p>
          <a:p>
            <a:pPr lvl="1"/>
            <a:r>
              <a:rPr lang="en-US" dirty="0"/>
              <a:t>Check Balance </a:t>
            </a:r>
          </a:p>
          <a:p>
            <a:pPr lvl="1"/>
            <a:r>
              <a:rPr lang="en-US" dirty="0"/>
              <a:t>Deposit Money </a:t>
            </a:r>
          </a:p>
          <a:p>
            <a:pPr lvl="1"/>
            <a:r>
              <a:rPr lang="en-US" dirty="0"/>
              <a:t>Withdraw Money </a:t>
            </a:r>
          </a:p>
          <a:p>
            <a:pPr lvl="1"/>
            <a:r>
              <a:rPr lang="en-US" dirty="0"/>
              <a:t>Exit the program</a:t>
            </a:r>
          </a:p>
          <a:p>
            <a:r>
              <a:rPr lang="en-US" dirty="0"/>
              <a:t>The balance should start at $0 and update after each transaction</a:t>
            </a:r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8E40B-EE0E-D94F-E8C0-E7D9011E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</p:spTree>
    <p:extLst>
      <p:ext uri="{BB962C8B-B14F-4D97-AF65-F5344CB8AC3E}">
        <p14:creationId xmlns:p14="http://schemas.microsoft.com/office/powerpoint/2010/main" val="4004545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8000" b="0" strike="noStrike" spc="-52" dirty="0">
                <a:solidFill>
                  <a:srgbClr val="262626"/>
                </a:solidFill>
                <a:latin typeface="Calibri Light"/>
              </a:rPr>
              <a:t>Week-03 Day-02</a:t>
            </a:r>
          </a:p>
          <a:p>
            <a:pPr algn="ctr">
              <a:lnSpc>
                <a:spcPct val="85000"/>
              </a:lnSpc>
            </a:pPr>
            <a:r>
              <a:rPr lang="en-US" sz="8000" b="0" strike="noStrike" spc="-52" dirty="0">
                <a:solidFill>
                  <a:srgbClr val="262626"/>
                </a:solidFill>
                <a:latin typeface="Calibri Light"/>
              </a:rPr>
              <a:t>Lists in Python</a:t>
            </a:r>
            <a:endParaRPr lang="en-US" sz="8000" b="0" strike="noStrike" spc="-1" dirty="0"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1100160" y="4455720"/>
            <a:ext cx="100576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r>
              <a:rPr lang="en-US" sz="4800" b="1" strike="noStrike" cap="all" spc="197" dirty="0">
                <a:solidFill>
                  <a:srgbClr val="637052"/>
                </a:solidFill>
                <a:latin typeface="Calibri Light"/>
              </a:rPr>
              <a:t>By: Engr. Tushar Kanjwani</a:t>
            </a:r>
            <a:endParaRPr lang="en-US" sz="4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1172520" y="-99248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Contents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424911" y="2040980"/>
            <a:ext cx="11545200" cy="36240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Lists are mutable.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Traversing a list.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rgbClr val="404040"/>
                </a:solidFill>
                <a:latin typeface="Calibri"/>
              </a:rPr>
              <a:t>List operations</a:t>
            </a: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b="0" strike="noStrike" spc="-1" dirty="0">
                <a:latin typeface="Arial"/>
              </a:rPr>
              <a:t>Activities</a:t>
            </a: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"/>
            </a:pPr>
            <a:r>
              <a:rPr lang="en-US" sz="3200" spc="-1" dirty="0">
                <a:latin typeface="Arial"/>
              </a:rPr>
              <a:t>Tasks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1064943" y="572238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18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18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A list is sequence of values.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It can contain different types of data.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Example: numbers = [2,3,4]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print(numbers)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Example: values = [1,2,”Tushar”,”Kanjwani”]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</a:rPr>
              <a:t>print(values)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1135393" y="431280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Lists are mutable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40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The values of list can be modified</a:t>
            </a: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“Tushar"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]=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“Kanjwani"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1145224" y="314280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Traversing a 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368640" y="2063262"/>
            <a:ext cx="11545200" cy="39408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spc="-1" dirty="0">
                <a:latin typeface="Arial"/>
              </a:rPr>
              <a:t>Traversing (access each element one by one)</a:t>
            </a:r>
            <a:endParaRPr lang="en-US" sz="4000" b="0" strike="noStrike" spc="-1" dirty="0">
              <a:latin typeface="Arial"/>
            </a:endParaRPr>
          </a:p>
          <a:p>
            <a:pPr marL="4579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48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800" b="0" strike="noStrike" spc="-1" dirty="0">
              <a:latin typeface="Arial"/>
            </a:endParaRPr>
          </a:p>
          <a:p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values = [3,4,1,“Tushar",“Kanjwani"]</a:t>
            </a:r>
            <a:br>
              <a:rPr sz="4000" dirty="0"/>
            </a:br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for a in values:</a:t>
            </a:r>
            <a:br>
              <a:rPr sz="4000" dirty="0"/>
            </a:br>
            <a:r>
              <a:rPr lang="en-US" sz="32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    print(a)</a:t>
            </a:r>
            <a:br>
              <a:rPr sz="4000" dirty="0"/>
            </a:br>
            <a:endParaRPr lang="en-US" sz="3200" b="0" strike="noStrike" spc="-1" dirty="0">
              <a:solidFill>
                <a:srgbClr val="6A8759"/>
              </a:solidFill>
              <a:latin typeface="JetBrains Mono"/>
              <a:ea typeface="JetBrains Mono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30186" y="2285999"/>
            <a:ext cx="10972440" cy="3845169"/>
          </a:xfrm>
        </p:spPr>
        <p:txBody>
          <a:bodyPr/>
          <a:lstStyle/>
          <a:p>
            <a:r>
              <a:rPr lang="en-US" dirty="0"/>
              <a:t>Create a list of numbers and print the element at index 3. </a:t>
            </a:r>
          </a:p>
          <a:p>
            <a:endParaRPr lang="en-US" dirty="0"/>
          </a:p>
          <a:p>
            <a:r>
              <a:rPr lang="en-US" dirty="0"/>
              <a:t>numbers = [10, 20, 30, 40, 50] print(numbers[3]) </a:t>
            </a:r>
          </a:p>
          <a:p>
            <a:r>
              <a:rPr lang="en-US" dirty="0"/>
              <a:t>print(numbers[-1]) </a:t>
            </a:r>
          </a:p>
          <a:p>
            <a:r>
              <a:rPr lang="en-US" dirty="0"/>
              <a:t>print(numbers[:3])</a:t>
            </a:r>
          </a:p>
          <a:p>
            <a:r>
              <a:rPr lang="en-US" dirty="0"/>
              <a:t>print(numbers[2:]) </a:t>
            </a:r>
          </a:p>
          <a:p>
            <a:r>
              <a:rPr lang="en-US" dirty="0"/>
              <a:t>print(numbers[::2])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 by Index</a:t>
            </a:r>
          </a:p>
        </p:txBody>
      </p:sp>
    </p:spTree>
    <p:extLst>
      <p:ext uri="{BB962C8B-B14F-4D97-AF65-F5344CB8AC3E}">
        <p14:creationId xmlns:p14="http://schemas.microsoft.com/office/powerpoint/2010/main" val="1321839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1240758" y="491421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62500" lnSpcReduction="20000"/>
          </a:bodyPr>
          <a:lstStyle/>
          <a:p>
            <a:pPr algn="ctr">
              <a:lnSpc>
                <a:spcPct val="85000"/>
              </a:lnSpc>
            </a:pPr>
            <a:endParaRPr lang="en-US" sz="5400" b="0" strike="noStrike" spc="-52" dirty="0">
              <a:solidFill>
                <a:srgbClr val="404040"/>
              </a:solidFill>
              <a:latin typeface="Calibri Light"/>
            </a:endParaRPr>
          </a:p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Operations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368640" y="73692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4000" b="0" strike="noStrike" spc="-1" dirty="0">
              <a:solidFill>
                <a:srgbClr val="404040"/>
              </a:solidFill>
              <a:latin typeface="Calibri"/>
            </a:endParaRPr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4000" b="0" strike="noStrike" spc="-1" dirty="0">
              <a:solidFill>
                <a:srgbClr val="404040"/>
              </a:solidFill>
              <a:latin typeface="Calibri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Combining two lists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list1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list2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6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combine = list1+list2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(combine)</a:t>
            </a:r>
            <a:endParaRPr lang="en-US" sz="24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  <a:ea typeface="JetBrains Mono"/>
              </a:rPr>
              <a:t>Multiplication of two lists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for 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a 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in 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range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len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(list1)):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    list1[a] = list1[a]*list2[a]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    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(list1[a]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AA4926"/>
                </a:solidFill>
                <a:latin typeface="JetBrains Mono"/>
                <a:ea typeface="JetBrains Mono"/>
              </a:rPr>
              <a:t>end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=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 "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  <a:br>
              <a:rPr sz="3200" dirty="0"/>
            </a:b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995099" y="590702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368640" y="1856096"/>
            <a:ext cx="11545200" cy="41479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343620" indent="-3429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3600" b="0" strike="noStrike" spc="-1" dirty="0">
                <a:solidFill>
                  <a:srgbClr val="404040"/>
                </a:solidFill>
                <a:latin typeface="Calibri"/>
              </a:rPr>
              <a:t>There are several methods are available for list.</a:t>
            </a: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3600" b="0" strike="noStrike" spc="-1" dirty="0">
                <a:solidFill>
                  <a:srgbClr val="404040"/>
                </a:solidFill>
                <a:latin typeface="Calibri"/>
              </a:rPr>
              <a:t>Example: append,extend,sort,reverse,max,min etc.</a:t>
            </a:r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endParaRPr lang="en-US" sz="36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my_list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my_list.append(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12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</a:p>
          <a:p>
            <a:r>
              <a:rPr lang="en-US" sz="2800" b="0" strike="noStrike" spc="-1" dirty="0" err="1">
                <a:solidFill>
                  <a:srgbClr val="A9B7C6"/>
                </a:solidFill>
                <a:latin typeface="JetBrains Mono"/>
                <a:ea typeface="JetBrains Mono"/>
              </a:rPr>
              <a:t>my_list.insert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(2,10)</a:t>
            </a:r>
          </a:p>
          <a:p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(my_list)</a:t>
            </a:r>
            <a:endParaRPr lang="en-US" sz="2800" b="0" strike="noStrike" spc="-1" dirty="0">
              <a:latin typeface="Arial"/>
            </a:endParaRPr>
          </a:p>
          <a:p>
            <a:br>
              <a:rPr sz="2800" dirty="0"/>
            </a:b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1036042" y="354944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368640" y="1433014"/>
            <a:ext cx="11545200" cy="457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Example: sort</a:t>
            </a:r>
          </a:p>
          <a:p>
            <a:endParaRPr lang="en-US" sz="2800" b="0" strike="noStrike" spc="-1" dirty="0">
              <a:solidFill>
                <a:srgbClr val="A9B7C6"/>
              </a:solidFill>
              <a:latin typeface="JetBrains Mono"/>
              <a:ea typeface="JetBrains Mono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numbers.sort()</a:t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endParaRPr lang="en-US" sz="2800" b="0" strike="noStrike" spc="-1" dirty="0">
              <a:latin typeface="Arial"/>
            </a:endParaRPr>
          </a:p>
          <a:p>
            <a:br>
              <a:rPr sz="3600" dirty="0"/>
            </a:b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1104281" y="219186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 Methods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532413" y="100795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6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400" b="0" strike="noStrike" spc="-1" dirty="0">
                <a:solidFill>
                  <a:srgbClr val="404040"/>
                </a:solidFill>
                <a:latin typeface="Calibri"/>
              </a:rPr>
              <a:t>Example: reverse</a:t>
            </a:r>
            <a:endParaRPr lang="en-US" sz="4400" b="0" strike="noStrike" spc="-1" dirty="0">
              <a:latin typeface="Arial"/>
            </a:endParaRPr>
          </a:p>
          <a:p>
            <a:endParaRPr lang="en-US" sz="2800" b="0" strike="noStrike" spc="-1" dirty="0">
              <a:solidFill>
                <a:srgbClr val="A9B7C6"/>
              </a:solidFill>
              <a:latin typeface="JetBrains Mono"/>
              <a:ea typeface="JetBrains Mono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8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8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br>
              <a:rPr sz="3600" dirty="0"/>
            </a:b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numbers.sort()</a:t>
            </a:r>
            <a:endParaRPr lang="en-US" sz="2800" b="0" strike="noStrike" spc="-1" dirty="0">
              <a:latin typeface="Arial"/>
            </a:endParaRPr>
          </a:p>
          <a:p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numbers.reverse()</a:t>
            </a:r>
            <a:br>
              <a:rPr sz="3600" dirty="0"/>
            </a:br>
            <a:r>
              <a:rPr lang="en-US" sz="28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8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endParaRPr lang="en-US" sz="2800" b="0" strike="noStrike" spc="-1" dirty="0">
              <a:latin typeface="Arial"/>
            </a:endParaRPr>
          </a:p>
          <a:p>
            <a:br>
              <a:rPr sz="3600" dirty="0"/>
            </a:b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1145224" y="96357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Deleting elements in 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368640" y="941637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latin typeface="Arial"/>
              </a:rPr>
              <a:t>Example:</a:t>
            </a:r>
          </a:p>
          <a:p>
            <a:endParaRPr lang="en-US" sz="2400" b="0" strike="noStrike" spc="-1" dirty="0">
              <a:solidFill>
                <a:srgbClr val="A9B7C6"/>
              </a:solidFill>
              <a:latin typeface="JetBrains Mono"/>
              <a:ea typeface="JetBrains Mono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 =[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08080"/>
                </a:solidFill>
                <a:latin typeface="JetBrains Mono"/>
                <a:ea typeface="JetBrains Mono"/>
              </a:rPr>
              <a:t>#values.pop(2) # It will be used for deleting an element from list from particular index</a:t>
            </a:r>
            <a:br>
              <a:rPr sz="3200" dirty="0"/>
            </a:br>
            <a:r>
              <a:rPr lang="en-US" sz="2400" b="0" strike="noStrike" spc="-1" dirty="0">
                <a:solidFill>
                  <a:srgbClr val="808080"/>
                </a:solidFill>
                <a:latin typeface="JetBrains Mono"/>
                <a:ea typeface="JetBrains Mono"/>
              </a:rPr>
              <a:t>#del values[1</a:t>
            </a:r>
            <a:r>
              <a:rPr lang="en-US" sz="2400" spc="-1" dirty="0">
                <a:solidFill>
                  <a:srgbClr val="808080"/>
                </a:solidFill>
                <a:latin typeface="JetBrains Mono"/>
                <a:ea typeface="JetBrains Mono"/>
              </a:rPr>
              <a:t>] # It will be used for deleting an element from list from particular index</a:t>
            </a:r>
            <a:br>
              <a:rPr sz="3200" dirty="0"/>
            </a:b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values.remove(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(values)</a:t>
            </a:r>
            <a:endParaRPr lang="en-US" sz="2400" b="0" strike="noStrike" spc="-1" dirty="0">
              <a:latin typeface="Arial"/>
            </a:endParaRPr>
          </a:p>
          <a:p>
            <a:br>
              <a:rPr sz="3200" dirty="0"/>
            </a:b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1145224" y="219187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0" strike="noStrike" spc="-52" dirty="0">
                <a:solidFill>
                  <a:srgbClr val="404040"/>
                </a:solidFill>
                <a:latin typeface="Calibri Light"/>
              </a:rPr>
              <a:t>Lists and functions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354992" y="982580"/>
            <a:ext cx="11545200" cy="526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endParaRPr lang="en-US" sz="32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Following functions are used in list</a:t>
            </a:r>
            <a:endParaRPr lang="en-US" sz="4000" b="0" strike="noStrike" spc="-1" dirty="0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lang="en-US" sz="4000" b="0" strike="noStrike" spc="-1" dirty="0">
                <a:solidFill>
                  <a:srgbClr val="404040"/>
                </a:solidFill>
                <a:latin typeface="Calibri"/>
              </a:rPr>
              <a:t>Example: </a:t>
            </a:r>
            <a:endParaRPr lang="en-US" sz="4000" b="0" strike="noStrike" spc="-1" dirty="0">
              <a:latin typeface="Arial"/>
            </a:endParaRPr>
          </a:p>
          <a:p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numbers = [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10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20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40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30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6897BB"/>
                </a:solidFill>
                <a:latin typeface="JetBrains Mono"/>
                <a:ea typeface="JetBrains Mono"/>
              </a:rPr>
              <a:t>50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]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"Maximum value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max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"Minimum value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min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"Length of list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len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br>
              <a:rPr sz="3200" dirty="0"/>
            </a:b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print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</a:t>
            </a:r>
            <a:r>
              <a:rPr lang="en-US" sz="2400" b="0" strike="noStrike" spc="-1" dirty="0">
                <a:solidFill>
                  <a:srgbClr val="6A8759"/>
                </a:solidFill>
                <a:latin typeface="JetBrains Mono"/>
                <a:ea typeface="JetBrains Mono"/>
              </a:rPr>
              <a:t>"Sum of list :"</a:t>
            </a:r>
            <a:r>
              <a:rPr lang="en-US" sz="2400" b="0" strike="noStrike" spc="-1" dirty="0">
                <a:solidFill>
                  <a:srgbClr val="CC7832"/>
                </a:solidFill>
                <a:latin typeface="JetBrains Mono"/>
                <a:ea typeface="JetBrains Mono"/>
              </a:rPr>
              <a:t>,</a:t>
            </a:r>
            <a:r>
              <a:rPr lang="en-US" sz="2400" b="0" strike="noStrike" spc="-1" dirty="0">
                <a:solidFill>
                  <a:srgbClr val="8888C6"/>
                </a:solidFill>
                <a:latin typeface="JetBrains Mono"/>
                <a:ea typeface="JetBrains Mono"/>
              </a:rPr>
              <a:t>sum</a:t>
            </a:r>
            <a:r>
              <a:rPr lang="en-US" sz="2400" b="0" strike="noStrike" spc="-1" dirty="0">
                <a:solidFill>
                  <a:srgbClr val="A9B7C6"/>
                </a:solidFill>
                <a:latin typeface="JetBrains Mono"/>
                <a:ea typeface="JetBrains Mono"/>
              </a:rPr>
              <a:t>(numbers))</a:t>
            </a:r>
            <a:br>
              <a:rPr sz="3200" dirty="0"/>
            </a:b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1003707" y="720914"/>
            <a:ext cx="9600480" cy="84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dirty="0"/>
              <a:t>Checking if an Item Exists in a List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426170" y="2391508"/>
            <a:ext cx="11545200" cy="29542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343620" indent="-3429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Write a program to check if 'banana' is in the list of fruits. </a:t>
            </a:r>
          </a:p>
          <a:p>
            <a:pPr marL="343620" indent="-3429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r>
              <a:rPr lang="en-US" sz="2400" dirty="0"/>
              <a:t>fruits = ['apple', 'banana', 'cherry’] </a:t>
            </a:r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r>
              <a:rPr lang="en-US" sz="2400" dirty="0"/>
              <a:t>if 'banana' in fruits: </a:t>
            </a:r>
          </a:p>
          <a:p>
            <a:pPr marL="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</a:pPr>
            <a:r>
              <a:rPr lang="en-US" sz="2400" dirty="0"/>
              <a:t>	print('Banana is in the list') </a:t>
            </a:r>
            <a:endParaRPr lang="en-US" sz="2400" b="0" strike="noStrike" spc="-1" dirty="0">
              <a:solidFill>
                <a:srgbClr val="404040"/>
              </a:solidFill>
              <a:latin typeface="Arial"/>
              <a:ea typeface="JetBrains Mono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en-US" sz="2400" b="0" strike="noStrike" spc="-1" dirty="0">
              <a:solidFill>
                <a:srgbClr val="404040"/>
              </a:solidFill>
              <a:latin typeface="Calibri"/>
              <a:ea typeface="JetBrains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560F4-D33E-6CAB-BC46-59A82A824208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Create a nested list and print the elements of each </a:t>
            </a:r>
            <a:r>
              <a:rPr lang="en-US" dirty="0" err="1"/>
              <a:t>sublist</a:t>
            </a:r>
            <a:r>
              <a:rPr lang="en-US" dirty="0"/>
              <a:t> using a loop.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nested_list</a:t>
            </a:r>
            <a:r>
              <a:rPr lang="en-US" dirty="0"/>
              <a:t> = [[1, 2], [3, 4], [5, 6]] 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sublist</a:t>
            </a:r>
            <a:r>
              <a:rPr lang="en-US" dirty="0"/>
              <a:t> in </a:t>
            </a:r>
            <a:r>
              <a:rPr lang="en-US" dirty="0" err="1"/>
              <a:t>nested_list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sublist</a:t>
            </a:r>
            <a:r>
              <a:rPr lang="en-US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E9EC5-1714-1179-90C6-78EE9A51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Lists </a:t>
            </a:r>
          </a:p>
        </p:txBody>
      </p:sp>
    </p:spTree>
    <p:extLst>
      <p:ext uri="{BB962C8B-B14F-4D97-AF65-F5344CB8AC3E}">
        <p14:creationId xmlns:p14="http://schemas.microsoft.com/office/powerpoint/2010/main" val="2454116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50E19-91BA-46E6-DFEB-40F9BDE72127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b="1" dirty="0"/>
              <a:t>Shopping List Application</a:t>
            </a:r>
          </a:p>
          <a:p>
            <a:r>
              <a:rPr lang="en-US" dirty="0"/>
              <a:t>Write a Python program to create a shopping list. The program should allow the user to: </a:t>
            </a:r>
          </a:p>
          <a:p>
            <a:pPr lvl="1"/>
            <a:r>
              <a:rPr lang="en-US" dirty="0"/>
              <a:t>Add items to the list. </a:t>
            </a:r>
          </a:p>
          <a:p>
            <a:pPr lvl="1"/>
            <a:r>
              <a:rPr lang="en-US" dirty="0"/>
              <a:t>Remove items from the list. </a:t>
            </a:r>
          </a:p>
          <a:p>
            <a:pPr lvl="1"/>
            <a:r>
              <a:rPr lang="en-US" dirty="0"/>
              <a:t>View all items in the list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EB16B-CD37-2045-BE15-3D34752B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</p:spTree>
    <p:extLst>
      <p:ext uri="{BB962C8B-B14F-4D97-AF65-F5344CB8AC3E}">
        <p14:creationId xmlns:p14="http://schemas.microsoft.com/office/powerpoint/2010/main" val="54565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1567</Words>
  <Application>Microsoft Office PowerPoint</Application>
  <PresentationFormat>Widescreen</PresentationFormat>
  <Paragraphs>293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Arial</vt:lpstr>
      <vt:lpstr>Calibri</vt:lpstr>
      <vt:lpstr>Calibri Light</vt:lpstr>
      <vt:lpstr>JetBrains Mono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 with Return Value</vt:lpstr>
      <vt:lpstr>PowerPoint Presentation</vt:lpstr>
      <vt:lpstr>PowerPoint Presentation</vt:lpstr>
      <vt:lpstr>Function with Default Argument</vt:lpstr>
      <vt:lpstr>Function with Keyword Arguments</vt:lpstr>
      <vt:lpstr>Function Returning Multiple Values</vt:lpstr>
      <vt:lpstr>Function with Variable Number of Arguments</vt:lpstr>
      <vt:lpstr>Nested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Calculator Function</vt:lpstr>
      <vt:lpstr>Function with a List Argument</vt:lpstr>
      <vt:lpstr>Function to Find Maximum</vt:lpstr>
      <vt:lpstr>Recursive Function</vt:lpstr>
      <vt:lpstr>Lambda Functions</vt:lpstr>
      <vt:lpstr>Lambda Functions</vt:lpstr>
      <vt:lpstr>Function to Check Even or Odd</vt:lpstr>
      <vt:lpstr>Assignment 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Accessing Elements by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Nested Lists </vt:lpstr>
      <vt:lpstr>Assignment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subject/>
  <dc:creator>Asif Ali</dc:creator>
  <dc:description/>
  <cp:lastModifiedBy>Barkha Teekam</cp:lastModifiedBy>
  <cp:revision>221</cp:revision>
  <dcterms:created xsi:type="dcterms:W3CDTF">2022-03-01T10:07:48Z</dcterms:created>
  <dcterms:modified xsi:type="dcterms:W3CDTF">2026-01-30T13:40:34Z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29</vt:i4>
  </property>
</Properties>
</file>