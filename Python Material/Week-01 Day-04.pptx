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3" r:id="rId9"/>
    <p:sldId id="274" r:id="rId10"/>
    <p:sldId id="279" r:id="rId11"/>
    <p:sldId id="275" r:id="rId12"/>
    <p:sldId id="276" r:id="rId13"/>
    <p:sldId id="277" r:id="rId14"/>
    <p:sldId id="278" r:id="rId15"/>
    <p:sldId id="280" r:id="rId16"/>
    <p:sldId id="281" r:id="rId17"/>
    <p:sldId id="282" r:id="rId18"/>
    <p:sldId id="283" r:id="rId19"/>
    <p:sldId id="284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-284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6B7E-7C30-493C-A98D-489F501512A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FD98-49E5-4764-8B08-CE2FA2CB450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2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6B7E-7C30-493C-A98D-489F501512A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FD98-49E5-4764-8B08-CE2FA2CB4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0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6B7E-7C30-493C-A98D-489F501512A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FD98-49E5-4764-8B08-CE2FA2CB450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44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6B7E-7C30-493C-A98D-489F501512A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FD98-49E5-4764-8B08-CE2FA2CB4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2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6B7E-7C30-493C-A98D-489F501512A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FD98-49E5-4764-8B08-CE2FA2CB4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6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6B7E-7C30-493C-A98D-489F501512A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FD98-49E5-4764-8B08-CE2FA2CB4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8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6B7E-7C30-493C-A98D-489F501512A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FD98-49E5-4764-8B08-CE2FA2CB4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6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1D26B7E-7C30-493C-A98D-489F501512A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3ECFD98-49E5-4764-8B08-CE2FA2CB4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32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6B7E-7C30-493C-A98D-489F501512A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FD98-49E5-4764-8B08-CE2FA2CB4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89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6B7E-7C30-493C-A98D-489F501512A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FD98-49E5-4764-8B08-CE2FA2CB4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85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6B7E-7C30-493C-A98D-489F501512A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CFD98-49E5-4764-8B08-CE2FA2CB4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66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1D26B7E-7C30-493C-A98D-489F501512A9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3ECFD98-49E5-4764-8B08-CE2FA2CB450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7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Week-01</a:t>
            </a:r>
            <a:br>
              <a:rPr lang="en-US" dirty="0" smtClean="0"/>
            </a:br>
            <a:r>
              <a:rPr lang="en-US" dirty="0" smtClean="0"/>
              <a:t>Day-04</a:t>
            </a:r>
            <a:br>
              <a:rPr lang="en-US" dirty="0" smtClean="0"/>
            </a:br>
            <a:r>
              <a:rPr lang="en-US" dirty="0" smtClean="0"/>
              <a:t>Conditional statements and Loops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 smtClean="0"/>
              <a:t>By: Engr. Asif </a:t>
            </a:r>
            <a:r>
              <a:rPr lang="en-US" dirty="0" err="1" smtClean="0"/>
              <a:t>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715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Contents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If statement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If-else statement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For loop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While loop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Break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Continue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Activities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316055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8090" y="437134"/>
            <a:ext cx="4665980" cy="123825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047750" marR="5080" indent="-1035050">
              <a:lnSpc>
                <a:spcPts val="4390"/>
              </a:lnSpc>
              <a:spcBef>
                <a:spcPts val="880"/>
              </a:spcBef>
            </a:pPr>
            <a:r>
              <a:rPr sz="4300" spc="-55" dirty="0"/>
              <a:t>Conditional</a:t>
            </a:r>
            <a:r>
              <a:rPr sz="4300" spc="-165" dirty="0"/>
              <a:t> </a:t>
            </a:r>
            <a:r>
              <a:rPr sz="4300" spc="-55" dirty="0"/>
              <a:t>Execution </a:t>
            </a:r>
            <a:r>
              <a:rPr sz="4300" dirty="0"/>
              <a:t>if</a:t>
            </a:r>
            <a:r>
              <a:rPr sz="4300" spc="-175" dirty="0"/>
              <a:t> </a:t>
            </a:r>
            <a:r>
              <a:rPr sz="4300" spc="-10" dirty="0"/>
              <a:t>statement</a:t>
            </a:r>
            <a:endParaRPr sz="4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8811" y="2257106"/>
            <a:ext cx="6390705" cy="308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41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5592" y="292353"/>
            <a:ext cx="9629775" cy="842024"/>
          </a:xfrm>
          <a:prstGeom prst="rect">
            <a:avLst/>
          </a:prstGeom>
        </p:spPr>
        <p:txBody>
          <a:bodyPr vert="horz" wrap="square" lIns="0" tIns="102361" rIns="0" bIns="0" rtlCol="0">
            <a:spAutoFit/>
          </a:bodyPr>
          <a:lstStyle/>
          <a:p>
            <a:pPr marL="221170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Conditional</a:t>
            </a:r>
            <a:r>
              <a:rPr spc="-180" dirty="0"/>
              <a:t> </a:t>
            </a:r>
            <a:r>
              <a:rPr lang="en-US" spc="-40" dirty="0" smtClean="0"/>
              <a:t>Statement</a:t>
            </a:r>
            <a:endParaRPr spc="-4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7680" rIns="0" bIns="0" rtlCol="0">
            <a:spAutoFit/>
          </a:bodyPr>
          <a:lstStyle/>
          <a:p>
            <a:pPr marL="92075" marR="5080" indent="-92710">
              <a:lnSpc>
                <a:spcPts val="3460"/>
              </a:lnSpc>
              <a:spcBef>
                <a:spcPts val="535"/>
              </a:spcBef>
              <a:buClr>
                <a:srgbClr val="E38312"/>
              </a:buClr>
              <a:buSzPct val="97000"/>
              <a:buFont typeface="Wingdings" panose="05000000000000000000"/>
              <a:buChar char=""/>
              <a:tabLst>
                <a:tab pos="92710" algn="l"/>
                <a:tab pos="363855" algn="l"/>
              </a:tabLst>
            </a:pPr>
            <a:r>
              <a:rPr sz="3200" u="none" dirty="0">
                <a:solidFill>
                  <a:srgbClr val="404040"/>
                </a:solidFill>
              </a:rPr>
              <a:t>	Conditon</a:t>
            </a:r>
            <a:r>
              <a:rPr sz="3200" u="none" spc="-2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will</a:t>
            </a:r>
            <a:r>
              <a:rPr sz="3200" u="none" spc="-5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be</a:t>
            </a:r>
            <a:r>
              <a:rPr sz="3200" u="none" spc="-5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checked</a:t>
            </a:r>
            <a:r>
              <a:rPr sz="3200" u="none" spc="-5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if</a:t>
            </a:r>
            <a:r>
              <a:rPr sz="3200" u="none" spc="-55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the</a:t>
            </a:r>
            <a:r>
              <a:rPr sz="3200" u="none" spc="-5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condition</a:t>
            </a:r>
            <a:r>
              <a:rPr sz="3200" u="none" spc="-35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is</a:t>
            </a:r>
            <a:r>
              <a:rPr sz="3200" u="none" spc="-6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true</a:t>
            </a:r>
            <a:r>
              <a:rPr sz="3200" u="none" spc="-5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then</a:t>
            </a:r>
            <a:r>
              <a:rPr sz="3200" u="none" spc="-50" dirty="0">
                <a:solidFill>
                  <a:srgbClr val="404040"/>
                </a:solidFill>
              </a:rPr>
              <a:t> </a:t>
            </a:r>
            <a:r>
              <a:rPr sz="3200" u="none" spc="-20" dirty="0">
                <a:solidFill>
                  <a:srgbClr val="404040"/>
                </a:solidFill>
              </a:rPr>
              <a:t>body </a:t>
            </a:r>
            <a:r>
              <a:rPr sz="3200" u="none" dirty="0">
                <a:solidFill>
                  <a:srgbClr val="404040"/>
                </a:solidFill>
              </a:rPr>
              <a:t>of</a:t>
            </a:r>
            <a:r>
              <a:rPr sz="3200" u="none" spc="-4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the</a:t>
            </a:r>
            <a:r>
              <a:rPr sz="3200" u="none" spc="-35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if</a:t>
            </a:r>
            <a:r>
              <a:rPr sz="3200" u="none" spc="-35" dirty="0">
                <a:solidFill>
                  <a:srgbClr val="404040"/>
                </a:solidFill>
              </a:rPr>
              <a:t> </a:t>
            </a:r>
            <a:r>
              <a:rPr sz="3200" u="none" spc="-10" dirty="0">
                <a:solidFill>
                  <a:srgbClr val="404040"/>
                </a:solidFill>
              </a:rPr>
              <a:t>statement</a:t>
            </a:r>
            <a:r>
              <a:rPr sz="3200" u="none" spc="-3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will</a:t>
            </a:r>
            <a:r>
              <a:rPr sz="3200" u="none" spc="-4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be</a:t>
            </a:r>
            <a:r>
              <a:rPr sz="3200" u="none" spc="-35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executed</a:t>
            </a:r>
            <a:r>
              <a:rPr sz="3200" u="none" spc="-45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otherwise</a:t>
            </a:r>
            <a:r>
              <a:rPr sz="3200" u="none" spc="-4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it</a:t>
            </a:r>
            <a:r>
              <a:rPr sz="3200" u="none" spc="-4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will</a:t>
            </a:r>
            <a:r>
              <a:rPr sz="3200" u="none" spc="-20" dirty="0">
                <a:solidFill>
                  <a:srgbClr val="404040"/>
                </a:solidFill>
              </a:rPr>
              <a:t> </a:t>
            </a:r>
            <a:r>
              <a:rPr sz="3200" u="none" dirty="0">
                <a:solidFill>
                  <a:srgbClr val="404040"/>
                </a:solidFill>
              </a:rPr>
              <a:t>not</a:t>
            </a:r>
            <a:r>
              <a:rPr sz="3200" u="none" spc="-35" dirty="0">
                <a:solidFill>
                  <a:srgbClr val="404040"/>
                </a:solidFill>
              </a:rPr>
              <a:t> </a:t>
            </a:r>
            <a:r>
              <a:rPr sz="3200" u="none" spc="-25" dirty="0">
                <a:solidFill>
                  <a:srgbClr val="404040"/>
                </a:solidFill>
              </a:rPr>
              <a:t>be </a:t>
            </a:r>
            <a:r>
              <a:rPr sz="3200" u="none" spc="-10" dirty="0">
                <a:solidFill>
                  <a:srgbClr val="404040"/>
                </a:solidFill>
              </a:rPr>
              <a:t>executed.</a:t>
            </a: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98670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5592" y="292353"/>
            <a:ext cx="9629775" cy="842024"/>
          </a:xfrm>
          <a:prstGeom prst="rect">
            <a:avLst/>
          </a:prstGeom>
        </p:spPr>
        <p:txBody>
          <a:bodyPr vert="horz" wrap="square" lIns="0" tIns="102361" rIns="0" bIns="0" rtlCol="0">
            <a:spAutoFit/>
          </a:bodyPr>
          <a:lstStyle/>
          <a:p>
            <a:pPr marL="1108075" algn="ctr">
              <a:lnSpc>
                <a:spcPct val="100000"/>
              </a:lnSpc>
              <a:spcBef>
                <a:spcPts val="100"/>
              </a:spcBef>
            </a:pPr>
            <a:r>
              <a:rPr lang="en-US" spc="-50" dirty="0" smtClean="0"/>
              <a:t>Activity-01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684502"/>
            <a:ext cx="9278620" cy="31188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85085">
              <a:lnSpc>
                <a:spcPct val="149000"/>
              </a:lnSpc>
              <a:spcBef>
                <a:spcPts val="95"/>
              </a:spcBef>
            </a:pPr>
            <a:r>
              <a:rPr sz="48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48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8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4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800" spc="-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5 </a:t>
            </a:r>
            <a:endParaRPr lang="en-US" sz="4800" spc="-50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12700" marR="2585085">
              <a:lnSpc>
                <a:spcPct val="149000"/>
              </a:lnSpc>
              <a:spcBef>
                <a:spcPts val="95"/>
              </a:spcBef>
            </a:pPr>
            <a:r>
              <a:rPr lang="en-US" sz="48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48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4800" spc="-1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8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x&gt;5:</a:t>
            </a:r>
            <a:endParaRPr sz="480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ct val="100000"/>
              </a:lnSpc>
              <a:spcBef>
                <a:spcPts val="1155"/>
              </a:spcBef>
            </a:pPr>
            <a:r>
              <a:rPr sz="48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print(“It</a:t>
            </a:r>
            <a:r>
              <a:rPr sz="48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8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4800" spc="-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8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positive</a:t>
            </a:r>
            <a:r>
              <a:rPr sz="48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8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number”)</a:t>
            </a:r>
            <a:endParaRPr sz="4800" dirty="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68775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2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92000" y="4571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92000" cy="67310"/>
            </a:xfrm>
            <a:custGeom>
              <a:avLst/>
              <a:gdLst/>
              <a:ahLst/>
              <a:cxnLst/>
              <a:rect l="l" t="t" r="r" b="b"/>
              <a:pathLst>
                <a:path w="12192000" h="67310">
                  <a:moveTo>
                    <a:pt x="12192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12192000" y="6705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14038" y="913841"/>
            <a:ext cx="40335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70" dirty="0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rPr>
              <a:t>if-</a:t>
            </a:r>
            <a:r>
              <a:rPr sz="4800" spc="-20" dirty="0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rPr>
              <a:t>else</a:t>
            </a:r>
            <a:r>
              <a:rPr sz="4800" spc="-225" dirty="0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800" spc="-65" dirty="0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rPr>
              <a:t>statement</a:t>
            </a:r>
            <a:endParaRPr sz="4800">
              <a:latin typeface="Calibri Light" panose="020F0302020204030204"/>
              <a:cs typeface="Calibri Light" panose="020F030202020403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268" y="2408698"/>
            <a:ext cx="11056760" cy="343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9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8830" rIns="0" bIns="0" rtlCol="0">
            <a:spAutoFit/>
          </a:bodyPr>
          <a:lstStyle/>
          <a:p>
            <a:pPr marL="2364105" algn="l">
              <a:lnSpc>
                <a:spcPct val="100000"/>
              </a:lnSpc>
              <a:spcBef>
                <a:spcPts val="105"/>
              </a:spcBef>
            </a:pPr>
            <a:r>
              <a:rPr lang="en-US" sz="4400" spc="-30" dirty="0" smtClean="0"/>
              <a:t>           Activity-02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1684502"/>
            <a:ext cx="3110230" cy="2287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61260">
              <a:lnSpc>
                <a:spcPct val="149000"/>
              </a:lnSpc>
              <a:spcBef>
                <a:spcPts val="95"/>
              </a:spcBef>
            </a:pP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2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5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if</a:t>
            </a:r>
            <a:r>
              <a:rPr sz="2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x&gt;0: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ct val="100000"/>
              </a:lnSpc>
              <a:spcBef>
                <a:spcPts val="1155"/>
              </a:spcBef>
            </a:pP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print("Number</a:t>
            </a:r>
            <a:r>
              <a:rPr sz="20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positive")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else: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ct val="100000"/>
              </a:lnSpc>
              <a:spcBef>
                <a:spcPts val="1165"/>
              </a:spcBef>
            </a:pP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print("Number</a:t>
            </a:r>
            <a:r>
              <a:rPr sz="20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negative")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99658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87" rIns="0" bIns="0" rtlCol="0">
            <a:spAutoFit/>
          </a:bodyPr>
          <a:lstStyle/>
          <a:p>
            <a:pPr marL="367665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Iterations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7923" y="1983350"/>
            <a:ext cx="9228341" cy="383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35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87" rIns="0" bIns="0" rtlCol="0">
            <a:spAutoFit/>
          </a:bodyPr>
          <a:lstStyle/>
          <a:p>
            <a:pPr marL="367665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Iterations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04238"/>
            <a:ext cx="9900285" cy="13925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03505" marR="5080" indent="-92710">
              <a:lnSpc>
                <a:spcPts val="3460"/>
              </a:lnSpc>
              <a:spcBef>
                <a:spcPts val="535"/>
              </a:spcBef>
              <a:buClr>
                <a:srgbClr val="E38312"/>
              </a:buClr>
              <a:buSzPct val="97000"/>
              <a:buFont typeface="Wingdings" panose="05000000000000000000"/>
              <a:buChar char=""/>
              <a:tabLst>
                <a:tab pos="103505" algn="l"/>
                <a:tab pos="374650" algn="l"/>
              </a:tabLst>
            </a:pP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Control</a:t>
            </a:r>
            <a:r>
              <a:rPr sz="3200" spc="-1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statement:</a:t>
            </a:r>
            <a:r>
              <a:rPr sz="3200" spc="-1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3200" spc="-9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this,code</a:t>
            </a:r>
            <a:r>
              <a:rPr sz="3200" spc="-1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3200" spc="-9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first</a:t>
            </a:r>
            <a:r>
              <a:rPr sz="3200" spc="-9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tested.If</a:t>
            </a:r>
            <a:r>
              <a:rPr sz="3200" spc="-8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conditon</a:t>
            </a:r>
            <a:r>
              <a:rPr sz="32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3200" spc="-6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true</a:t>
            </a:r>
            <a:r>
              <a:rPr sz="32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then</a:t>
            </a:r>
            <a:r>
              <a:rPr sz="3200" spc="-6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code</a:t>
            </a:r>
            <a:r>
              <a:rPr sz="3200" spc="-6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3200" spc="-6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3200" spc="-6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executed</a:t>
            </a:r>
            <a:r>
              <a:rPr sz="3200" spc="-7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again</a:t>
            </a:r>
            <a:r>
              <a:rPr sz="3200" spc="-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32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again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untill</a:t>
            </a:r>
            <a:r>
              <a:rPr sz="3200" spc="-6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3200" spc="-6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unless</a:t>
            </a:r>
            <a:r>
              <a:rPr sz="3200" spc="-6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condition</a:t>
            </a:r>
            <a:r>
              <a:rPr sz="3200" spc="-6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becomes</a:t>
            </a:r>
            <a:r>
              <a:rPr sz="3200" spc="-7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false.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6317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358316"/>
            <a:ext cx="10058400" cy="1379044"/>
          </a:xfrm>
          <a:prstGeom prst="rect">
            <a:avLst/>
          </a:prstGeom>
        </p:spPr>
        <p:txBody>
          <a:bodyPr vert="horz" wrap="square" lIns="0" tIns="634187" rIns="0" bIns="0" rtlCol="0">
            <a:spAutoFit/>
          </a:bodyPr>
          <a:lstStyle/>
          <a:p>
            <a:pPr marL="3571240">
              <a:lnSpc>
                <a:spcPct val="100000"/>
              </a:lnSpc>
              <a:spcBef>
                <a:spcPts val="100"/>
              </a:spcBef>
            </a:pPr>
            <a:r>
              <a:rPr lang="en-US" spc="-30" dirty="0" smtClean="0"/>
              <a:t>for</a:t>
            </a:r>
            <a:r>
              <a:rPr spc="-225" dirty="0" smtClean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8" y="1684502"/>
            <a:ext cx="9896535" cy="944489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lang="en-US" sz="20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for a in range(1,11):</a:t>
            </a: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lang="en-US"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lang="en-US" sz="20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print(a)</a:t>
            </a:r>
            <a:endParaRPr sz="2000" dirty="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05249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87" rIns="0" bIns="0" rtlCol="0">
            <a:spAutoFit/>
          </a:bodyPr>
          <a:lstStyle/>
          <a:p>
            <a:pPr marL="357124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while</a:t>
            </a:r>
            <a:r>
              <a:rPr spc="-225" dirty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84502"/>
            <a:ext cx="1216025" cy="18351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1300" marR="5080" indent="-229235">
              <a:lnSpc>
                <a:spcPct val="148000"/>
              </a:lnSpc>
              <a:spcBef>
                <a:spcPts val="10"/>
              </a:spcBef>
            </a:pP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while </a:t>
            </a:r>
            <a:r>
              <a:rPr sz="2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a&lt;=5: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print(a) a=a+1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65093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358316"/>
            <a:ext cx="10058400" cy="1379044"/>
          </a:xfrm>
          <a:prstGeom prst="rect">
            <a:avLst/>
          </a:prstGeom>
        </p:spPr>
        <p:txBody>
          <a:bodyPr vert="horz" wrap="square" lIns="0" tIns="634187" rIns="0" bIns="0" rtlCol="0">
            <a:spAutoFit/>
          </a:bodyPr>
          <a:lstStyle/>
          <a:p>
            <a:pPr marL="3539490">
              <a:lnSpc>
                <a:spcPct val="100000"/>
              </a:lnSpc>
              <a:spcBef>
                <a:spcPts val="100"/>
              </a:spcBef>
            </a:pPr>
            <a:r>
              <a:rPr spc="-65" dirty="0" smtClean="0"/>
              <a:t>Activity-</a:t>
            </a:r>
            <a:r>
              <a:rPr spc="-25" dirty="0" smtClean="0"/>
              <a:t>0</a:t>
            </a:r>
            <a:r>
              <a:rPr lang="en-US" spc="-25" dirty="0" smtClean="0"/>
              <a:t>3</a:t>
            </a:r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9204" rIns="0" bIns="0" rtlCol="0">
            <a:spAutoFit/>
          </a:bodyPr>
          <a:lstStyle/>
          <a:p>
            <a:pPr marL="92710" marR="5080">
              <a:lnSpc>
                <a:spcPts val="3030"/>
              </a:lnSpc>
              <a:spcBef>
                <a:spcPts val="475"/>
              </a:spcBef>
            </a:pPr>
            <a:r>
              <a:rPr sz="2800" u="none" dirty="0">
                <a:solidFill>
                  <a:srgbClr val="404040"/>
                </a:solidFill>
              </a:rPr>
              <a:t>Write</a:t>
            </a:r>
            <a:r>
              <a:rPr sz="2800" u="none" spc="-80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a</a:t>
            </a:r>
            <a:r>
              <a:rPr sz="2800" u="none" spc="-70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python</a:t>
            </a:r>
            <a:r>
              <a:rPr sz="2800" u="none" spc="-55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program</a:t>
            </a:r>
            <a:r>
              <a:rPr sz="2800" u="none" spc="-60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which</a:t>
            </a:r>
            <a:r>
              <a:rPr sz="2800" u="none" spc="-60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print</a:t>
            </a:r>
            <a:r>
              <a:rPr sz="2800" u="none" spc="-55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number</a:t>
            </a:r>
            <a:r>
              <a:rPr sz="2800" u="none" spc="-50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of</a:t>
            </a:r>
            <a:r>
              <a:rPr sz="2800" u="none" spc="-80" dirty="0">
                <a:solidFill>
                  <a:srgbClr val="404040"/>
                </a:solidFill>
              </a:rPr>
              <a:t> </a:t>
            </a:r>
            <a:r>
              <a:rPr sz="2800" u="none" spc="-10" dirty="0">
                <a:solidFill>
                  <a:srgbClr val="404040"/>
                </a:solidFill>
              </a:rPr>
              <a:t>Pakistan</a:t>
            </a:r>
            <a:r>
              <a:rPr sz="2800" u="none" spc="-40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by</a:t>
            </a:r>
            <a:r>
              <a:rPr sz="2800" u="none" spc="-70" dirty="0">
                <a:solidFill>
                  <a:srgbClr val="404040"/>
                </a:solidFill>
              </a:rPr>
              <a:t> </a:t>
            </a:r>
            <a:r>
              <a:rPr sz="2800" u="none" spc="-10" dirty="0">
                <a:solidFill>
                  <a:srgbClr val="404040"/>
                </a:solidFill>
              </a:rPr>
              <a:t>taking </a:t>
            </a:r>
            <a:r>
              <a:rPr sz="2800" u="none" dirty="0">
                <a:solidFill>
                  <a:srgbClr val="404040"/>
                </a:solidFill>
              </a:rPr>
              <a:t>user’s</a:t>
            </a:r>
            <a:r>
              <a:rPr sz="2800" u="none" spc="-85" dirty="0">
                <a:solidFill>
                  <a:srgbClr val="404040"/>
                </a:solidFill>
              </a:rPr>
              <a:t> </a:t>
            </a:r>
            <a:r>
              <a:rPr sz="2800" u="none" spc="-10" dirty="0">
                <a:solidFill>
                  <a:srgbClr val="404040"/>
                </a:solidFill>
              </a:rPr>
              <a:t>choice.</a:t>
            </a:r>
            <a:endParaRPr sz="2800"/>
          </a:p>
          <a:p>
            <a:pPr marL="92710" marR="6611620">
              <a:lnSpc>
                <a:spcPts val="4430"/>
              </a:lnSpc>
              <a:spcBef>
                <a:spcPts val="270"/>
              </a:spcBef>
            </a:pPr>
            <a:r>
              <a:rPr sz="2800" u="none" dirty="0">
                <a:solidFill>
                  <a:srgbClr val="404040"/>
                </a:solidFill>
              </a:rPr>
              <a:t>Enter</a:t>
            </a:r>
            <a:r>
              <a:rPr sz="2800" u="none" spc="-85" dirty="0">
                <a:solidFill>
                  <a:srgbClr val="404040"/>
                </a:solidFill>
              </a:rPr>
              <a:t> </a:t>
            </a:r>
            <a:r>
              <a:rPr sz="2800" u="none" dirty="0">
                <a:solidFill>
                  <a:srgbClr val="404040"/>
                </a:solidFill>
              </a:rPr>
              <a:t>any</a:t>
            </a:r>
            <a:r>
              <a:rPr sz="2800" u="none" spc="-85" dirty="0">
                <a:solidFill>
                  <a:srgbClr val="404040"/>
                </a:solidFill>
              </a:rPr>
              <a:t> </a:t>
            </a:r>
            <a:r>
              <a:rPr sz="2800" u="none" spc="-10" dirty="0">
                <a:solidFill>
                  <a:srgbClr val="404040"/>
                </a:solidFill>
              </a:rPr>
              <a:t>number:2 Pakistan</a:t>
            </a:r>
            <a:endParaRPr sz="2800"/>
          </a:p>
          <a:p>
            <a:pPr marL="92710">
              <a:lnSpc>
                <a:spcPct val="100000"/>
              </a:lnSpc>
              <a:spcBef>
                <a:spcPts val="735"/>
              </a:spcBef>
            </a:pPr>
            <a:r>
              <a:rPr sz="2800" u="none" spc="-10" dirty="0">
                <a:solidFill>
                  <a:srgbClr val="404040"/>
                </a:solidFill>
              </a:rPr>
              <a:t>Pakistan</a:t>
            </a:r>
            <a:endParaRPr sz="2800"/>
          </a:p>
        </p:txBody>
      </p:sp>
    </p:spTree>
    <p:extLst>
      <p:ext uri="{BB962C8B-B14F-4D97-AF65-F5344CB8AC3E}">
        <p14:creationId xmlns:p14="http://schemas.microsoft.com/office/powerpoint/2010/main" val="715330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7125" y="893487"/>
            <a:ext cx="9629775" cy="738664"/>
          </a:xfrm>
        </p:spPr>
        <p:txBody>
          <a:bodyPr>
            <a:noAutofit/>
          </a:bodyPr>
          <a:lstStyle/>
          <a:p>
            <a:pPr algn="ctr"/>
            <a:r>
              <a:rPr lang="en-US" sz="2800" dirty="0" smtClean="0"/>
              <a:t>Activity-04</a:t>
            </a:r>
            <a:br>
              <a:rPr lang="en-US" sz="2800" dirty="0" smtClean="0"/>
            </a:br>
            <a:r>
              <a:rPr lang="en-US" sz="2800" dirty="0">
                <a:solidFill>
                  <a:schemeClr val="tx1"/>
                </a:solidFill>
              </a:rPr>
              <a:t>Write a python program which display numbers from 10 to 1</a:t>
            </a:r>
            <a:br>
              <a:rPr lang="en-US" sz="2800" dirty="0">
                <a:solidFill>
                  <a:schemeClr val="tx1"/>
                </a:solidFill>
              </a:rPr>
            </a:b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854" y="1867382"/>
            <a:ext cx="10001249" cy="3693319"/>
          </a:xfrm>
        </p:spPr>
        <p:txBody>
          <a:bodyPr>
            <a:noAutofit/>
          </a:bodyPr>
          <a:lstStyle/>
          <a:p>
            <a:r>
              <a:rPr lang="en-US" sz="1200" u="none" dirty="0" smtClean="0">
                <a:solidFill>
                  <a:schemeClr val="tx1"/>
                </a:solidFill>
              </a:rPr>
              <a:t>Sample </a:t>
            </a:r>
            <a:r>
              <a:rPr lang="en-US" sz="1200" u="none" dirty="0" smtClean="0">
                <a:solidFill>
                  <a:schemeClr val="tx1"/>
                </a:solidFill>
              </a:rPr>
              <a:t>Output:</a:t>
            </a:r>
          </a:p>
          <a:p>
            <a:r>
              <a:rPr lang="en-US" sz="1200" u="none" dirty="0" smtClean="0">
                <a:solidFill>
                  <a:schemeClr val="tx1"/>
                </a:solidFill>
              </a:rPr>
              <a:t>10</a:t>
            </a:r>
          </a:p>
          <a:p>
            <a:r>
              <a:rPr lang="en-US" sz="1200" u="none" dirty="0" smtClean="0">
                <a:solidFill>
                  <a:schemeClr val="tx1"/>
                </a:solidFill>
              </a:rPr>
              <a:t>9</a:t>
            </a:r>
          </a:p>
          <a:p>
            <a:r>
              <a:rPr lang="en-US" sz="1200" u="none" dirty="0" smtClean="0">
                <a:solidFill>
                  <a:schemeClr val="tx1"/>
                </a:solidFill>
              </a:rPr>
              <a:t>8</a:t>
            </a:r>
          </a:p>
          <a:p>
            <a:r>
              <a:rPr lang="en-US" sz="1200" u="none" dirty="0" smtClean="0">
                <a:solidFill>
                  <a:schemeClr val="tx1"/>
                </a:solidFill>
              </a:rPr>
              <a:t>7</a:t>
            </a:r>
          </a:p>
          <a:p>
            <a:r>
              <a:rPr lang="en-US" sz="1200" u="none" dirty="0" smtClean="0">
                <a:solidFill>
                  <a:schemeClr val="tx1"/>
                </a:solidFill>
              </a:rPr>
              <a:t>6</a:t>
            </a:r>
          </a:p>
          <a:p>
            <a:r>
              <a:rPr lang="en-US" sz="1200" u="none" dirty="0" smtClean="0">
                <a:solidFill>
                  <a:schemeClr val="tx1"/>
                </a:solidFill>
              </a:rPr>
              <a:t>5</a:t>
            </a:r>
          </a:p>
          <a:p>
            <a:r>
              <a:rPr lang="en-US" sz="1200" u="none" dirty="0" smtClean="0">
                <a:solidFill>
                  <a:schemeClr val="tx1"/>
                </a:solidFill>
              </a:rPr>
              <a:t>4</a:t>
            </a:r>
          </a:p>
          <a:p>
            <a:r>
              <a:rPr lang="en-US" sz="1200" u="none" dirty="0" smtClean="0">
                <a:solidFill>
                  <a:schemeClr val="tx1"/>
                </a:solidFill>
              </a:rPr>
              <a:t>3</a:t>
            </a:r>
          </a:p>
          <a:p>
            <a:r>
              <a:rPr lang="en-US" sz="1200" u="none" dirty="0" smtClean="0">
                <a:solidFill>
                  <a:schemeClr val="tx1"/>
                </a:solidFill>
              </a:rPr>
              <a:t>2</a:t>
            </a:r>
          </a:p>
          <a:p>
            <a:r>
              <a:rPr lang="en-US" sz="1200" u="none" dirty="0" smtClean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37259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5526" y="944286"/>
            <a:ext cx="9629775" cy="738664"/>
          </a:xfrm>
        </p:spPr>
        <p:txBody>
          <a:bodyPr>
            <a:noAutofit/>
          </a:bodyPr>
          <a:lstStyle/>
          <a:p>
            <a:pPr algn="ctr"/>
            <a:r>
              <a:rPr lang="en-US" sz="2800" dirty="0" smtClean="0"/>
              <a:t>Activity-05</a:t>
            </a:r>
            <a:br>
              <a:rPr lang="en-US" sz="2800" dirty="0" smtClean="0"/>
            </a:br>
            <a:r>
              <a:rPr lang="en-US" sz="2800" dirty="0">
                <a:solidFill>
                  <a:schemeClr val="tx1"/>
                </a:solidFill>
              </a:rPr>
              <a:t>Write a python program which display numbers from 10 to 1 but it should skip 5</a:t>
            </a:r>
            <a:br>
              <a:rPr lang="en-US" sz="2800" dirty="0">
                <a:solidFill>
                  <a:schemeClr val="tx1"/>
                </a:solidFill>
              </a:rPr>
            </a:b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854" y="2000385"/>
            <a:ext cx="10001249" cy="3693319"/>
          </a:xfrm>
        </p:spPr>
        <p:txBody>
          <a:bodyPr>
            <a:noAutofit/>
          </a:bodyPr>
          <a:lstStyle/>
          <a:p>
            <a:r>
              <a:rPr lang="en-US" sz="1600" u="none" dirty="0" smtClean="0">
                <a:solidFill>
                  <a:schemeClr val="tx1"/>
                </a:solidFill>
              </a:rPr>
              <a:t>Sample </a:t>
            </a:r>
            <a:r>
              <a:rPr lang="en-US" sz="1600" u="none" dirty="0" smtClean="0">
                <a:solidFill>
                  <a:schemeClr val="tx1"/>
                </a:solidFill>
              </a:rPr>
              <a:t>Output:</a:t>
            </a:r>
          </a:p>
          <a:p>
            <a:r>
              <a:rPr lang="en-US" sz="1600" u="none" dirty="0" smtClean="0">
                <a:solidFill>
                  <a:schemeClr val="tx1"/>
                </a:solidFill>
              </a:rPr>
              <a:t>10</a:t>
            </a:r>
          </a:p>
          <a:p>
            <a:r>
              <a:rPr lang="en-US" sz="1600" u="none" dirty="0" smtClean="0">
                <a:solidFill>
                  <a:schemeClr val="tx1"/>
                </a:solidFill>
              </a:rPr>
              <a:t>9</a:t>
            </a:r>
          </a:p>
          <a:p>
            <a:r>
              <a:rPr lang="en-US" sz="1600" u="none" dirty="0" smtClean="0">
                <a:solidFill>
                  <a:schemeClr val="tx1"/>
                </a:solidFill>
              </a:rPr>
              <a:t>8</a:t>
            </a:r>
          </a:p>
          <a:p>
            <a:r>
              <a:rPr lang="en-US" sz="1600" u="none" dirty="0" smtClean="0">
                <a:solidFill>
                  <a:schemeClr val="tx1"/>
                </a:solidFill>
              </a:rPr>
              <a:t>7</a:t>
            </a:r>
          </a:p>
          <a:p>
            <a:r>
              <a:rPr lang="en-US" sz="1600" u="none" dirty="0" smtClean="0">
                <a:solidFill>
                  <a:schemeClr val="tx1"/>
                </a:solidFill>
              </a:rPr>
              <a:t>6</a:t>
            </a:r>
          </a:p>
          <a:p>
            <a:r>
              <a:rPr lang="en-US" sz="1600" u="none" dirty="0" smtClean="0">
                <a:solidFill>
                  <a:schemeClr val="tx1"/>
                </a:solidFill>
              </a:rPr>
              <a:t>4</a:t>
            </a:r>
          </a:p>
          <a:p>
            <a:r>
              <a:rPr lang="en-US" sz="1600" u="none" dirty="0" smtClean="0">
                <a:solidFill>
                  <a:schemeClr val="tx1"/>
                </a:solidFill>
              </a:rPr>
              <a:t>3</a:t>
            </a:r>
          </a:p>
          <a:p>
            <a:r>
              <a:rPr lang="en-US" sz="1600" u="none" dirty="0" smtClean="0">
                <a:solidFill>
                  <a:schemeClr val="tx1"/>
                </a:solidFill>
              </a:rPr>
              <a:t>2</a:t>
            </a:r>
          </a:p>
          <a:p>
            <a:r>
              <a:rPr lang="en-US" sz="1600" u="none" dirty="0">
                <a:solidFill>
                  <a:schemeClr val="tx1"/>
                </a:solidFill>
              </a:rPr>
              <a:t>1</a:t>
            </a:r>
            <a:endParaRPr lang="en-US" sz="1600" u="none" dirty="0" smtClean="0">
              <a:solidFill>
                <a:schemeClr val="tx1"/>
              </a:solidFill>
            </a:endParaRPr>
          </a:p>
          <a:p>
            <a:endParaRPr lang="en-US" sz="1600" u="none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428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dirty="0" smtClean="0"/>
              <a:t>Task-01: Write a python program that display table according to user input.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Sample Output:</a:t>
            </a:r>
          </a:p>
          <a:p>
            <a:r>
              <a:rPr lang="en-US" dirty="0" smtClean="0"/>
              <a:t>Enter any number: 4</a:t>
            </a:r>
          </a:p>
          <a:p>
            <a:r>
              <a:rPr lang="en-US" dirty="0" smtClean="0"/>
              <a:t>4X1=4</a:t>
            </a:r>
          </a:p>
          <a:p>
            <a:r>
              <a:rPr lang="en-US" dirty="0" smtClean="0"/>
              <a:t>4X2=8</a:t>
            </a:r>
          </a:p>
          <a:p>
            <a:r>
              <a:rPr lang="en-US" dirty="0" smtClean="0"/>
              <a:t>4X3=12</a:t>
            </a:r>
          </a:p>
          <a:p>
            <a:r>
              <a:rPr lang="en-US" dirty="0" smtClean="0"/>
              <a:t>4X4=16</a:t>
            </a:r>
          </a:p>
          <a:p>
            <a:r>
              <a:rPr lang="en-US" dirty="0" smtClean="0"/>
              <a:t>4X5=20</a:t>
            </a:r>
          </a:p>
          <a:p>
            <a:r>
              <a:rPr lang="en-US" dirty="0" smtClean="0"/>
              <a:t>.</a:t>
            </a:r>
          </a:p>
          <a:p>
            <a:r>
              <a:rPr lang="en-US" dirty="0" smtClean="0"/>
              <a:t>.</a:t>
            </a:r>
          </a:p>
          <a:p>
            <a:r>
              <a:rPr lang="en-US" dirty="0"/>
              <a:t>.</a:t>
            </a:r>
            <a:endParaRPr lang="en-US" dirty="0" smtClean="0"/>
          </a:p>
          <a:p>
            <a:r>
              <a:rPr lang="en-US" dirty="0" smtClean="0"/>
              <a:t>4X10=40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45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528" y="973997"/>
            <a:ext cx="9629775" cy="738664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/>
              <a:t>Task-02: Write a python program that count sum of even and odd numbers from 1 to 100. Finally display sum separately on the screen.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35616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dirty="0" smtClean="0"/>
              <a:t>Task-03: </a:t>
            </a:r>
            <a:r>
              <a:rPr lang="en-US" sz="4000" dirty="0" smtClean="0"/>
              <a:t>Write a python program that </a:t>
            </a:r>
            <a:r>
              <a:rPr lang="en-US" sz="4000" dirty="0" smtClean="0"/>
              <a:t>takes input from user and check that the entered number is leap year 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Sample Output: </a:t>
            </a:r>
          </a:p>
          <a:p>
            <a:r>
              <a:rPr lang="en-US" dirty="0" smtClean="0"/>
              <a:t>Enter any year: 2004</a:t>
            </a:r>
          </a:p>
          <a:p>
            <a:r>
              <a:rPr lang="en-US" dirty="0" smtClean="0"/>
              <a:t>Enter year 2004 is the leap 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59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dirty="0" smtClean="0"/>
              <a:t>Task-04: </a:t>
            </a:r>
            <a:r>
              <a:rPr lang="en-US" sz="4000" dirty="0" smtClean="0"/>
              <a:t>Write a python program that </a:t>
            </a:r>
            <a:r>
              <a:rPr lang="en-US" sz="4000" dirty="0" smtClean="0"/>
              <a:t>takes three input from user and check which number is greater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Sample Output: </a:t>
            </a:r>
          </a:p>
          <a:p>
            <a:r>
              <a:rPr lang="en-US" dirty="0"/>
              <a:t>Enter any number: </a:t>
            </a:r>
            <a:r>
              <a:rPr lang="en-US" dirty="0" smtClean="0"/>
              <a:t>55</a:t>
            </a:r>
          </a:p>
          <a:p>
            <a:r>
              <a:rPr lang="en-US" dirty="0" smtClean="0"/>
              <a:t>Enter </a:t>
            </a:r>
            <a:r>
              <a:rPr lang="en-US" dirty="0"/>
              <a:t>any number: </a:t>
            </a:r>
            <a:r>
              <a:rPr lang="en-US" dirty="0" smtClean="0"/>
              <a:t>4</a:t>
            </a:r>
          </a:p>
          <a:p>
            <a:r>
              <a:rPr lang="en-US" dirty="0" smtClean="0"/>
              <a:t>Enter </a:t>
            </a:r>
            <a:r>
              <a:rPr lang="en-US" dirty="0"/>
              <a:t>any number: </a:t>
            </a:r>
            <a:r>
              <a:rPr lang="en-US" dirty="0" smtClean="0"/>
              <a:t>3</a:t>
            </a:r>
          </a:p>
          <a:p>
            <a:r>
              <a:rPr lang="en-US" dirty="0" smtClean="0"/>
              <a:t>55 </a:t>
            </a:r>
            <a:r>
              <a:rPr lang="en-US" dirty="0"/>
              <a:t>is greater number</a:t>
            </a:r>
          </a:p>
        </p:txBody>
      </p:sp>
    </p:spTree>
    <p:extLst>
      <p:ext uri="{BB962C8B-B14F-4D97-AF65-F5344CB8AC3E}">
        <p14:creationId xmlns:p14="http://schemas.microsoft.com/office/powerpoint/2010/main" val="2390228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dirty="0" smtClean="0"/>
              <a:t>Task-05: </a:t>
            </a:r>
            <a:r>
              <a:rPr lang="en-US" sz="4000" dirty="0" smtClean="0"/>
              <a:t>Write a python program that </a:t>
            </a:r>
            <a:r>
              <a:rPr lang="en-US" sz="4000" dirty="0" smtClean="0"/>
              <a:t>display output as given below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Sample Output: </a:t>
            </a:r>
          </a:p>
          <a:p>
            <a:r>
              <a:rPr lang="en-US" dirty="0" smtClean="0"/>
              <a:t>A</a:t>
            </a:r>
          </a:p>
          <a:p>
            <a:r>
              <a:rPr lang="en-US" dirty="0" smtClean="0"/>
              <a:t>AA</a:t>
            </a:r>
          </a:p>
          <a:p>
            <a:r>
              <a:rPr lang="en-US" dirty="0" smtClean="0"/>
              <a:t>AAA</a:t>
            </a:r>
          </a:p>
          <a:p>
            <a:r>
              <a:rPr lang="en-US" dirty="0" smtClean="0"/>
              <a:t>AAAA</a:t>
            </a:r>
          </a:p>
          <a:p>
            <a:r>
              <a:rPr lang="en-US" dirty="0" smtClean="0"/>
              <a:t>AAAAA</a:t>
            </a:r>
          </a:p>
          <a:p>
            <a:r>
              <a:rPr lang="en-US" dirty="0" smtClean="0"/>
              <a:t>AAAAAAA</a:t>
            </a:r>
          </a:p>
        </p:txBody>
      </p:sp>
    </p:spTree>
    <p:extLst>
      <p:ext uri="{BB962C8B-B14F-4D97-AF65-F5344CB8AC3E}">
        <p14:creationId xmlns:p14="http://schemas.microsoft.com/office/powerpoint/2010/main" val="1536519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dirty="0" smtClean="0"/>
              <a:t>Task-06: </a:t>
            </a:r>
            <a:r>
              <a:rPr lang="en-US" sz="4000" dirty="0" smtClean="0"/>
              <a:t>Write a python program that </a:t>
            </a:r>
            <a:r>
              <a:rPr lang="en-US" sz="4000" dirty="0" smtClean="0"/>
              <a:t>display output as given below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Sample Output: </a:t>
            </a:r>
          </a:p>
          <a:p>
            <a:r>
              <a:rPr lang="en-US" dirty="0" smtClean="0"/>
              <a:t>AAAAA</a:t>
            </a:r>
          </a:p>
          <a:p>
            <a:r>
              <a:rPr lang="en-US" dirty="0" smtClean="0"/>
              <a:t>AAAA</a:t>
            </a:r>
          </a:p>
          <a:p>
            <a:r>
              <a:rPr lang="en-US" dirty="0" smtClean="0"/>
              <a:t>AAA</a:t>
            </a:r>
          </a:p>
          <a:p>
            <a:r>
              <a:rPr lang="en-US" dirty="0" smtClean="0"/>
              <a:t>AA</a:t>
            </a:r>
          </a:p>
          <a:p>
            <a:r>
              <a:rPr lang="en-US" dirty="0" smtClean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6384761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172</TotalTime>
  <Words>309</Words>
  <Application>Microsoft Office PowerPoint</Application>
  <PresentationFormat>Custom</PresentationFormat>
  <Paragraphs>98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Retrospect</vt:lpstr>
      <vt:lpstr>Week-01 Day-04 Conditional statements and Loops</vt:lpstr>
      <vt:lpstr>Contents </vt:lpstr>
      <vt:lpstr>Conditional Execution if statement</vt:lpstr>
      <vt:lpstr>Conditional Statement</vt:lpstr>
      <vt:lpstr>Activity-01</vt:lpstr>
      <vt:lpstr>PowerPoint Presentation</vt:lpstr>
      <vt:lpstr>           Activity-02</vt:lpstr>
      <vt:lpstr>Iterations</vt:lpstr>
      <vt:lpstr>Iterations</vt:lpstr>
      <vt:lpstr>for loop</vt:lpstr>
      <vt:lpstr>while loop</vt:lpstr>
      <vt:lpstr>Activity-03</vt:lpstr>
      <vt:lpstr>Activity-04 Write a python program which display numbers from 10 to 1 </vt:lpstr>
      <vt:lpstr>Activity-05 Write a python program which display numbers from 10 to 1 but it should skip 5 </vt:lpstr>
      <vt:lpstr>Task-01: Write a python program that display table according to user input.</vt:lpstr>
      <vt:lpstr>Task-02: Write a python program that count sum of even and odd numbers from 1 to 100. Finally display sum separately on the screen.</vt:lpstr>
      <vt:lpstr>Task-03: Write a python program that takes input from user and check that the entered number is leap year  </vt:lpstr>
      <vt:lpstr>Task-04: Write a python program that takes three input from user and check which number is greater </vt:lpstr>
      <vt:lpstr>Task-05: Write a python program that display output as given below</vt:lpstr>
      <vt:lpstr>Task-06: Write a python program that display output as given below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Week-01 Day-04 Conditional statements and Loops</dc:title>
  <dc:creator>Engr Asif Ali</dc:creator>
  <cp:lastModifiedBy>Asad Computers</cp:lastModifiedBy>
  <cp:revision>26</cp:revision>
  <dcterms:created xsi:type="dcterms:W3CDTF">2025-03-14T05:12:14Z</dcterms:created>
  <dcterms:modified xsi:type="dcterms:W3CDTF">2025-09-27T16:59:04Z</dcterms:modified>
</cp:coreProperties>
</file>