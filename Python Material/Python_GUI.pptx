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9" r:id="rId14"/>
    <p:sldId id="280" r:id="rId15"/>
    <p:sldId id="268" r:id="rId16"/>
    <p:sldId id="281" r:id="rId17"/>
    <p:sldId id="282" r:id="rId18"/>
    <p:sldId id="283" r:id="rId19"/>
    <p:sldId id="269" r:id="rId20"/>
    <p:sldId id="270" r:id="rId21"/>
    <p:sldId id="271" r:id="rId22"/>
    <p:sldId id="272" r:id="rId23"/>
    <p:sldId id="273" r:id="rId24"/>
    <p:sldId id="275" r:id="rId25"/>
    <p:sldId id="274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76830-3E99-722B-DF74-1D9BF67A4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16E21-0BB0-6154-ABD7-2AE04F18E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EE367-3789-177B-B2C6-88B866878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0B40-AACD-4A17-88CF-10C835566B5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8C9D4-911D-C711-502C-ED541261F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14B3-95C1-F1C7-FD26-3301B7B67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D9F4-55B8-42AA-802A-70554AB7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8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38FF9-ABD1-B7E4-95F8-34C7664CC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77BEA-54E2-9D5A-4D8F-54200AD32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A0CE2-1C30-EE3B-F77F-3B27AFEC0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0B40-AACD-4A17-88CF-10C835566B5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1014D-4A1A-71E4-DAB9-95F54AFC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0D717-94C2-AA90-8EED-2E1187750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D9F4-55B8-42AA-802A-70554AB7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48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14E39-1AC5-3097-8A1A-E4714D9AF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D8242-E08F-DE6A-DE2D-B13F1BCC0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EE4A9-848B-023C-072F-F7F81955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0B40-AACD-4A17-88CF-10C835566B5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B8511-7514-AABA-4A23-176450F4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7F57A-2B4E-DDBE-58F1-33A09E326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D9F4-55B8-42AA-802A-70554AB7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28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9D28-F836-6B9C-2CDD-C0E655BC8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5A8AB-C351-A06F-ADD3-57BCAB4E3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C9762-2502-43F8-C4FE-BDE5C6F39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4B39F-4B71-8DDE-CEB7-076CE1A7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0B40-AACD-4A17-88CF-10C835566B5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BE974-972E-9000-6914-FCABA1A0E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A9ECB-6A73-5E9E-F8CC-B0D1480A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D9F4-55B8-42AA-802A-70554AB7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6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2E48F-2E91-7889-ACB3-92FB6521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020FE-467D-2ED3-FE08-B48894484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C5E48-EE52-4FAC-A682-5B9C15C8C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E4FB2-D84A-2DC8-1F52-9E75CC68F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E29EAE-FD4A-4A01-165D-CFA471BC7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723D1-465F-2EE8-33A9-BD3CE64D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0B40-AACD-4A17-88CF-10C835566B5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AC4CAF-FABF-3A8C-1809-4949D46F3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7589-9D4B-09DF-F127-D16C5E153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D9F4-55B8-42AA-802A-70554AB7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5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9EB22-59B5-8BA9-97B4-78D9180F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3147CE-9E83-4D73-5A02-FF620F521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0B40-AACD-4A17-88CF-10C835566B5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30D58-360B-5F04-B21E-D9CD52D04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4BFAD-4860-4288-4BF8-78DED4C6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D9F4-55B8-42AA-802A-70554AB7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21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483B38-F67C-D709-344F-622C1B764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0B40-AACD-4A17-88CF-10C835566B5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501A14-D0BE-21C1-6A8D-7A90B942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DBA79-0191-B2F1-0260-3476A1538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D9F4-55B8-42AA-802A-70554AB7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8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29EA-C82E-EA6E-0BC4-B7D6B089E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31751-DC55-B39C-5D77-CBE9D89AD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D1C311-1AAE-0308-2E92-89C716F29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731DE-6F40-4D28-A3DC-9AE783B2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0B40-AACD-4A17-88CF-10C835566B5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6E837-E646-7313-CBFC-6F97D185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E2754-75F8-5898-1F9F-B34BF812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D9F4-55B8-42AA-802A-70554AB7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06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072C-E9B8-F30A-B945-1D693D8CE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D605A-4C73-744E-43EF-4321B8F061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D4A87-337E-8578-CB74-96DDBCE86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B4A05-1FA5-9265-7B32-BE21CABDA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0B40-AACD-4A17-88CF-10C835566B5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3F618-AC77-871C-30F2-C9839528B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5BFEB-33DE-E21C-1C6D-0C237E6D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D9F4-55B8-42AA-802A-70554AB7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1BB0-1622-79AB-2EE1-A18D1A687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4B997-890D-764F-63F8-B993C4A74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41B13-0ADB-05D2-F714-A3AD1E258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0B40-AACD-4A17-88CF-10C835566B5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11228-54BB-0DC7-AC05-68C97BBC4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13734-D71A-8D3D-5583-E2E3AE0D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D9F4-55B8-42AA-802A-70554AB7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5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86C97E-8C67-27BA-AB2B-DA6F12740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1E503-B6D3-8377-BC47-8D778B9AA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CBFC9-26AF-8E83-89A2-32BBDE6B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0B40-AACD-4A17-88CF-10C835566B5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736F2-19D3-9625-5FA5-526C15308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10606-E2BE-E50B-0409-93DD84335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6D9F4-55B8-42AA-802A-70554AB7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8A337D-91FD-EF9D-B35C-208D1BAB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1E4E0-3A58-0141-E9B9-C5729C900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B570F-8B98-2915-C98A-3C72CCF1D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D0B40-AACD-4A17-88CF-10C835566B5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42D10-9754-A9C3-08BB-CC2871F46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CA7D6-0820-A8AD-A26F-50548597A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6D9F4-55B8-42AA-802A-70554AB7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5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F928-7B1A-F89C-9758-0227D2F61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GUI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E8367-BB75-7064-D7C6-5A5DF10CFC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Graphical User Interface Development Using Tkinter</a:t>
            </a:r>
          </a:p>
        </p:txBody>
      </p:sp>
    </p:spTree>
    <p:extLst>
      <p:ext uri="{BB962C8B-B14F-4D97-AF65-F5344CB8AC3E}">
        <p14:creationId xmlns:p14="http://schemas.microsoft.com/office/powerpoint/2010/main" val="3870292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E450E-27BE-A52B-FB47-41D93460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GUI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B4991-68DB-22B4-1D19-B3CD8C490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GUI </a:t>
            </a:r>
            <a:r>
              <a:rPr lang="en-US" dirty="0"/>
              <a:t>is a visual way for users to interact with a computer program.</a:t>
            </a:r>
          </a:p>
          <a:p>
            <a:r>
              <a:rPr lang="en-US" dirty="0"/>
              <a:t>Instead of typing commands, users can click buttons and type in text boxes.</a:t>
            </a:r>
          </a:p>
          <a:p>
            <a:r>
              <a:rPr lang="en-US" dirty="0"/>
              <a:t>GUI makes software easier to use and more user-friendly.</a:t>
            </a:r>
          </a:p>
          <a:p>
            <a:r>
              <a:rPr lang="en-US" b="1" dirty="0"/>
              <a:t>Examples of GUI Applications:</a:t>
            </a:r>
          </a:p>
          <a:p>
            <a:pPr lvl="1"/>
            <a:r>
              <a:rPr lang="en-US" dirty="0"/>
              <a:t>Calculator </a:t>
            </a:r>
          </a:p>
          <a:p>
            <a:pPr lvl="1"/>
            <a:r>
              <a:rPr lang="en-US" dirty="0"/>
              <a:t>Notepad </a:t>
            </a:r>
          </a:p>
          <a:p>
            <a:pPr lvl="1"/>
            <a:r>
              <a:rPr lang="en-US" dirty="0"/>
              <a:t>Login Systems </a:t>
            </a:r>
          </a:p>
          <a:p>
            <a:pPr lvl="1"/>
            <a:r>
              <a:rPr lang="en-US" dirty="0"/>
              <a:t>Desktop Applications </a:t>
            </a:r>
          </a:p>
          <a:p>
            <a:r>
              <a:rPr lang="en-US" dirty="0"/>
              <a:t>GUI improves user experience and makes applications interactive.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641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82C7-3359-CF6F-A8EF-E00E816B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Python GUI Frameworks</a:t>
            </a:r>
          </a:p>
        </p:txBody>
      </p:sp>
      <p:pic>
        <p:nvPicPr>
          <p:cNvPr id="4" name="Picture 3" descr="Top Python GUI Frameworks for Developers : Comparison And Top Features  Explained - Techprofree">
            <a:extLst>
              <a:ext uri="{FF2B5EF4-FFF2-40B4-BE49-F238E27FC236}">
                <a16:creationId xmlns:a16="http://schemas.microsoft.com/office/drawing/2014/main" id="{B3140279-A3EF-858C-61DB-9375DC882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5" y="1690688"/>
            <a:ext cx="771525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5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B834F-8BA9-DD4A-EA31-68ADDFE2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Tkinter?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D3750-0DAB-DCAB-BC20-AC4B50495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Tkinter is a built-in Python library used to create GUI Applications.</a:t>
            </a:r>
          </a:p>
          <a:p>
            <a:r>
              <a:rPr lang="en-US" dirty="0"/>
              <a:t>It allows programmers to design windows and add visual components such as buttons and labels.</a:t>
            </a:r>
          </a:p>
          <a:p>
            <a:r>
              <a:rPr lang="en-US" dirty="0"/>
              <a:t>Tkinter comes pre-installed with Python, so no extra installation is needed.</a:t>
            </a:r>
          </a:p>
          <a:p>
            <a:r>
              <a:rPr lang="en-US" b="1" dirty="0"/>
              <a:t>Features:</a:t>
            </a:r>
          </a:p>
          <a:p>
            <a:pPr lvl="1"/>
            <a:r>
              <a:rPr lang="en-US" dirty="0"/>
              <a:t>Easy to learn</a:t>
            </a:r>
          </a:p>
          <a:p>
            <a:pPr lvl="1"/>
            <a:r>
              <a:rPr lang="en-US" dirty="0"/>
              <a:t>Lightweight</a:t>
            </a:r>
          </a:p>
          <a:p>
            <a:pPr lvl="1"/>
            <a:r>
              <a:rPr lang="en-US" dirty="0"/>
              <a:t>Free and open source</a:t>
            </a:r>
          </a:p>
          <a:p>
            <a:pPr lvl="1"/>
            <a:r>
              <a:rPr lang="en-US" dirty="0"/>
              <a:t>Works on multiple operating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110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786CB-A8ED-E574-0E2E-90864E70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Tkinter?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B21CF-3354-1C2E-50D7-E77D300AC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Tkinter is popular because it is simple and suitable for beginners.</a:t>
            </a:r>
          </a:p>
          <a:p>
            <a:r>
              <a:rPr lang="en-US" dirty="0"/>
              <a:t>It helps students learn GUI programming without complex setup.</a:t>
            </a:r>
          </a:p>
          <a:p>
            <a:r>
              <a:rPr lang="en-US" b="1" dirty="0"/>
              <a:t>Advantages:</a:t>
            </a:r>
          </a:p>
          <a:p>
            <a:pPr lvl="1"/>
            <a:r>
              <a:rPr lang="en-US" dirty="0"/>
              <a:t>Simple syntax</a:t>
            </a:r>
          </a:p>
          <a:p>
            <a:pPr lvl="1"/>
            <a:r>
              <a:rPr lang="en-US" dirty="0"/>
              <a:t>Fast development</a:t>
            </a:r>
          </a:p>
          <a:p>
            <a:pPr lvl="1"/>
            <a:r>
              <a:rPr lang="en-US" dirty="0"/>
              <a:t>No installation required</a:t>
            </a:r>
          </a:p>
          <a:p>
            <a:pPr lvl="1"/>
            <a:r>
              <a:rPr lang="en-US" dirty="0"/>
              <a:t>Cross-platform support</a:t>
            </a:r>
          </a:p>
          <a:p>
            <a:r>
              <a:rPr lang="en-US" dirty="0"/>
              <a:t>Tkinter is widely used for educational projects and small software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779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001ABB-C58E-D199-EC3E-CFB1590A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Basic Structure of Tkinter Program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667A3-2AB1-757D-254B-B59818C66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/>
              <a:t>Every Tkinter program follows a basic structure.</a:t>
            </a:r>
          </a:p>
          <a:p>
            <a:r>
              <a:rPr lang="en-US" sz="2200" b="1"/>
              <a:t>Steps:</a:t>
            </a:r>
          </a:p>
          <a:p>
            <a:pPr lvl="1"/>
            <a:r>
              <a:rPr lang="en-US" sz="2200"/>
              <a:t>Import Tkinter library</a:t>
            </a:r>
          </a:p>
          <a:p>
            <a:pPr lvl="1"/>
            <a:r>
              <a:rPr lang="en-US" sz="2200"/>
              <a:t>Create window</a:t>
            </a:r>
          </a:p>
          <a:p>
            <a:pPr lvl="1"/>
            <a:r>
              <a:rPr lang="en-US" sz="2200"/>
              <a:t>Add widgets</a:t>
            </a:r>
          </a:p>
          <a:p>
            <a:pPr lvl="1"/>
            <a:r>
              <a:rPr lang="en-US" sz="2200"/>
              <a:t>Run program</a:t>
            </a:r>
          </a:p>
          <a:p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03075-6368-E6D5-9C97-2A61F7FE2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881" y="667512"/>
            <a:ext cx="3669021" cy="2941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04C908-AEFF-E73E-E155-B584B34BC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492" y="3947764"/>
            <a:ext cx="5105081" cy="207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51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16D4-D30C-895F-5B27-29AD8B67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4000"/>
              <a:t>Tkinter Window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AC081-391D-FF1E-52EE-E2C89C95C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window is the main container where all GUI components are placed.</a:t>
            </a:r>
          </a:p>
          <a:p>
            <a:r>
              <a:rPr lang="en-US" sz="2000" dirty="0"/>
              <a:t>A window can have:</a:t>
            </a:r>
          </a:p>
          <a:p>
            <a:pPr lvl="1"/>
            <a:r>
              <a:rPr lang="en-US" sz="2000" dirty="0"/>
              <a:t>Title</a:t>
            </a:r>
          </a:p>
          <a:p>
            <a:pPr lvl="1"/>
            <a:r>
              <a:rPr lang="en-US" sz="2000" dirty="0"/>
              <a:t>Size</a:t>
            </a:r>
          </a:p>
          <a:p>
            <a:pPr lvl="1"/>
            <a:r>
              <a:rPr lang="en-US" sz="2000" dirty="0"/>
              <a:t>Background color</a:t>
            </a:r>
          </a:p>
          <a:p>
            <a:pPr lvl="1"/>
            <a:r>
              <a:rPr lang="en-US" sz="2000" dirty="0"/>
              <a:t>Widgets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03C3EB-2378-8231-3882-845CB83C0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67" y="948228"/>
            <a:ext cx="4389120" cy="22332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06DB17-C4AF-F96B-0820-AF47B3952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4052634"/>
            <a:ext cx="4389120" cy="162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74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BBB521-200E-9C02-49CD-B99E4C8B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b="1"/>
              <a:t>Widgets</a:t>
            </a:r>
            <a:endParaRPr lang="en-US" sz="4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855B9-109E-DB3D-14D9-9833F6529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700"/>
              <a:t>Widgets are the basic components used to build GUI applications.</a:t>
            </a:r>
          </a:p>
          <a:p>
            <a:r>
              <a:rPr lang="en-US" sz="1700"/>
              <a:t>They allow users to interact with the program.</a:t>
            </a:r>
          </a:p>
          <a:p>
            <a:r>
              <a:rPr lang="en-US" sz="1700" b="1"/>
              <a:t>Common Widgets:</a:t>
            </a:r>
          </a:p>
          <a:p>
            <a:pPr lvl="1"/>
            <a:r>
              <a:rPr lang="en-US" sz="1700"/>
              <a:t>Label → Displays text</a:t>
            </a:r>
          </a:p>
          <a:p>
            <a:pPr lvl="1"/>
            <a:r>
              <a:rPr lang="en-US" sz="1700"/>
              <a:t>Button → Performs action</a:t>
            </a:r>
          </a:p>
          <a:p>
            <a:pPr lvl="1"/>
            <a:r>
              <a:rPr lang="en-US" sz="1700"/>
              <a:t>Entry → Input field</a:t>
            </a:r>
          </a:p>
          <a:p>
            <a:pPr lvl="1"/>
            <a:r>
              <a:rPr lang="en-US" sz="1700"/>
              <a:t>Text → Large text input</a:t>
            </a:r>
          </a:p>
          <a:p>
            <a:pPr lvl="1"/>
            <a:r>
              <a:rPr lang="en-US" sz="1700"/>
              <a:t>Menu → Options</a:t>
            </a:r>
          </a:p>
          <a:p>
            <a:r>
              <a:rPr lang="en-US" sz="1700"/>
              <a:t>Widgets make the application interactive.</a:t>
            </a:r>
          </a:p>
          <a:p>
            <a:endParaRPr lang="en-US" sz="17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892AF3-91E5-A026-9B2E-E7B7731D0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937926"/>
            <a:ext cx="5150277" cy="280690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63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3A2C0-66C7-0F55-4B29-1B114AC91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FE73C-4F82-2F47-93F5-A40AC72E6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Label widget is used to display text or images on the screen.</a:t>
            </a:r>
          </a:p>
          <a:p>
            <a:pPr>
              <a:buNone/>
            </a:pPr>
            <a:r>
              <a:rPr lang="en-US" dirty="0"/>
              <a:t>It is mainly used for titles and instructions. </a:t>
            </a:r>
          </a:p>
          <a:p>
            <a:pPr>
              <a:buNone/>
            </a:pPr>
            <a:r>
              <a:rPr lang="en-US" dirty="0"/>
              <a:t>This single program contains </a:t>
            </a:r>
            <a:r>
              <a:rPr lang="en-US" b="1" dirty="0"/>
              <a:t>almost all Label features</a:t>
            </a:r>
            <a:r>
              <a:rPr lang="en-US" dirty="0"/>
              <a:t>:</a:t>
            </a:r>
          </a:p>
          <a:p>
            <a:pPr>
              <a:buNone/>
            </a:pPr>
            <a:endParaRPr lang="en-US" dirty="0"/>
          </a:p>
          <a:p>
            <a:pPr lvl="1"/>
            <a:r>
              <a:rPr lang="en-US" dirty="0"/>
              <a:t>Text </a:t>
            </a:r>
          </a:p>
          <a:p>
            <a:pPr lvl="1"/>
            <a:r>
              <a:rPr lang="en-US" dirty="0"/>
              <a:t>Font </a:t>
            </a:r>
          </a:p>
          <a:p>
            <a:pPr lvl="1"/>
            <a:r>
              <a:rPr lang="en-US" dirty="0"/>
              <a:t>Colors </a:t>
            </a:r>
          </a:p>
          <a:p>
            <a:pPr lvl="1"/>
            <a:r>
              <a:rPr lang="en-US" dirty="0"/>
              <a:t>Border </a:t>
            </a:r>
          </a:p>
          <a:p>
            <a:pPr lvl="1"/>
            <a:r>
              <a:rPr lang="en-US" dirty="0"/>
              <a:t>Size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19B8F-991A-DDB4-12B1-F8E7E8628750}"/>
              </a:ext>
            </a:extLst>
          </p:cNvPr>
          <p:cNvSpPr txBox="1"/>
          <p:nvPr/>
        </p:nvSpPr>
        <p:spPr>
          <a:xfrm>
            <a:off x="3569110" y="3767521"/>
            <a:ext cx="6096000" cy="2409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Padding</a:t>
            </a:r>
          </a:p>
          <a:p>
            <a:pPr marL="228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Alignment </a:t>
            </a:r>
          </a:p>
          <a:p>
            <a:pPr marL="228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Multi-line text </a:t>
            </a:r>
          </a:p>
          <a:p>
            <a:pPr marL="228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Change text</a:t>
            </a:r>
          </a:p>
          <a:p>
            <a:pPr marL="228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Hide/Show </a:t>
            </a:r>
          </a:p>
          <a:p>
            <a:pPr marL="228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X-Y Position </a:t>
            </a:r>
          </a:p>
        </p:txBody>
      </p:sp>
    </p:spTree>
    <p:extLst>
      <p:ext uri="{BB962C8B-B14F-4D97-AF65-F5344CB8AC3E}">
        <p14:creationId xmlns:p14="http://schemas.microsoft.com/office/powerpoint/2010/main" val="2075657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1CD0E4E-A6A3-4D04-597C-C41B6AAF2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28" y="1103149"/>
            <a:ext cx="3830231" cy="19608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1B06FB-65D2-EB67-2B97-99FDA8C06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330" y="1103149"/>
            <a:ext cx="3767087" cy="21292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F93E99-9699-638D-B0E4-A3AF9C999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288" y="1103149"/>
            <a:ext cx="3531704" cy="21292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0AE419-B539-F883-7C55-7151BB733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27" y="3694438"/>
            <a:ext cx="3806813" cy="19608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F204B69-A77B-2F0D-7807-3513723DB4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0330" y="3625629"/>
            <a:ext cx="3767087" cy="212922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F5C9BAF-3C4B-95C9-3046-F39906865D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393" y="3625629"/>
            <a:ext cx="3591379" cy="225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658B3-083F-8512-1B09-97A6FA0F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B976BC-C55B-FB3A-4B47-235ACA942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08" y="1103149"/>
            <a:ext cx="3839432" cy="2060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E288EE-5AE9-56BB-24A4-0A7ECEFBB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07" y="3611206"/>
            <a:ext cx="3767087" cy="23913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44DF8C-45AA-06C6-8A9E-5DDDB138B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213" y="1026425"/>
            <a:ext cx="4763147" cy="543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28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5F2E3-9F9F-DA25-E6A7-7A4413F4E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EC8BE-061C-97FC-0E1F-B02B194C2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4954"/>
            <a:ext cx="10515600" cy="4351338"/>
          </a:xfrm>
        </p:spPr>
        <p:txBody>
          <a:bodyPr/>
          <a:lstStyle/>
          <a:p>
            <a:r>
              <a:rPr lang="en-US" dirty="0"/>
              <a:t>A Button widget is used to perform an action when clicked.</a:t>
            </a:r>
          </a:p>
          <a:p>
            <a:r>
              <a:rPr lang="en-US" dirty="0"/>
              <a:t>Buttons allow users to control the program.</a:t>
            </a:r>
          </a:p>
          <a:p>
            <a:r>
              <a:rPr lang="en-US" b="1" dirty="0"/>
              <a:t>Uses:</a:t>
            </a:r>
          </a:p>
          <a:p>
            <a:pPr lvl="1"/>
            <a:r>
              <a:rPr lang="en-US" dirty="0"/>
              <a:t>Submit forms</a:t>
            </a:r>
          </a:p>
          <a:p>
            <a:pPr lvl="1"/>
            <a:r>
              <a:rPr lang="en-US" dirty="0"/>
              <a:t>Login</a:t>
            </a:r>
          </a:p>
          <a:p>
            <a:pPr lvl="1"/>
            <a:r>
              <a:rPr lang="en-US" dirty="0"/>
              <a:t>Calculate results</a:t>
            </a:r>
          </a:p>
          <a:p>
            <a:pPr lvl="1"/>
            <a:r>
              <a:rPr lang="en-US" dirty="0"/>
              <a:t>Open windows</a:t>
            </a:r>
          </a:p>
          <a:p>
            <a:r>
              <a:rPr lang="en-US" dirty="0"/>
              <a:t>Buttons are interactive widgets.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752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3846B-D98A-22F1-26D9-707C0743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43C1A-1EF0-B814-5D6E-8EA0716E2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program contains almost everything:</a:t>
            </a:r>
          </a:p>
          <a:p>
            <a:pPr lvl="1"/>
            <a:r>
              <a:rPr lang="en-US" dirty="0"/>
              <a:t>Text</a:t>
            </a:r>
          </a:p>
          <a:p>
            <a:pPr lvl="1"/>
            <a:r>
              <a:rPr lang="en-US" dirty="0"/>
              <a:t>Font</a:t>
            </a:r>
          </a:p>
          <a:p>
            <a:pPr lvl="1"/>
            <a:r>
              <a:rPr lang="en-US" dirty="0"/>
              <a:t>Colors</a:t>
            </a:r>
          </a:p>
          <a:p>
            <a:pPr lvl="1"/>
            <a:r>
              <a:rPr lang="en-US" dirty="0"/>
              <a:t>Border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Padding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163A8-A8B2-A0EF-FF9C-0458CE784B42}"/>
              </a:ext>
            </a:extLst>
          </p:cNvPr>
          <p:cNvSpPr txBox="1"/>
          <p:nvPr/>
        </p:nvSpPr>
        <p:spPr>
          <a:xfrm>
            <a:off x="5574890" y="2447022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Disable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Enable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Change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Hide/Show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X-Y position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Function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Lambda</a:t>
            </a:r>
          </a:p>
        </p:txBody>
      </p:sp>
    </p:spTree>
    <p:extLst>
      <p:ext uri="{BB962C8B-B14F-4D97-AF65-F5344CB8AC3E}">
        <p14:creationId xmlns:p14="http://schemas.microsoft.com/office/powerpoint/2010/main" val="2867219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38A3B92-18C9-9998-1085-3B71B2537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53" y="296890"/>
            <a:ext cx="6896798" cy="36018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122F28-6767-ABA1-CDE1-22DF8D860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349" y="115860"/>
            <a:ext cx="3966360" cy="40552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E3876E-1B83-B84A-AC2A-1D8BF54BB4BB}"/>
              </a:ext>
            </a:extLst>
          </p:cNvPr>
          <p:cNvSpPr txBox="1"/>
          <p:nvPr/>
        </p:nvSpPr>
        <p:spPr>
          <a:xfrm>
            <a:off x="527291" y="3986413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800" b="1" dirty="0" err="1">
                <a:effectLst/>
                <a:latin typeface="JetBrains Mono"/>
              </a:rPr>
              <a:t>BUTTON_NAME.place</a:t>
            </a:r>
            <a:r>
              <a:rPr lang="fr-FR" sz="1800" b="1" dirty="0">
                <a:effectLst/>
                <a:latin typeface="JetBrains Mono"/>
              </a:rPr>
              <a:t>(x=300,y=150)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06D9C3-ACD8-F543-2CA9-B6DC0258C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398" y="4371295"/>
            <a:ext cx="10917174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8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F899-B906-2D85-E5C5-16903E1F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Entry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73DCB-C6EF-89CE-EF2A-10367B494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Entry widget allows users to type text into the program.</a:t>
            </a:r>
          </a:p>
          <a:p>
            <a:r>
              <a:rPr lang="en-US" dirty="0"/>
              <a:t>It is commonly used for input.</a:t>
            </a:r>
          </a:p>
          <a:p>
            <a:r>
              <a:rPr lang="en-US" b="1" dirty="0"/>
              <a:t>Uses:</a:t>
            </a:r>
          </a:p>
          <a:p>
            <a:pPr lvl="1"/>
            <a:r>
              <a:rPr lang="en-US" dirty="0"/>
              <a:t>Username</a:t>
            </a:r>
          </a:p>
          <a:p>
            <a:pPr lvl="1"/>
            <a:r>
              <a:rPr lang="en-US" dirty="0"/>
              <a:t>Password</a:t>
            </a:r>
          </a:p>
          <a:p>
            <a:pPr lvl="1"/>
            <a:r>
              <a:rPr lang="en-US" dirty="0"/>
              <a:t>Numbers</a:t>
            </a:r>
          </a:p>
          <a:p>
            <a:pPr lvl="1"/>
            <a:r>
              <a:rPr lang="en-US" dirty="0"/>
              <a:t>User input</a:t>
            </a:r>
          </a:p>
          <a:p>
            <a:r>
              <a:rPr lang="en-US" dirty="0"/>
              <a:t>Entry widgets collect information from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000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2EC62-B36E-FED3-903B-B42460FD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80634-C114-E26C-1A30-0F2B3CC8A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Entry Widget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C4130C-32E6-C538-D038-1921A9EB2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218" y="1854317"/>
            <a:ext cx="3743847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54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644C8-69A1-E522-0365-92842766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PROJECT - GUI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025402-4212-1554-87C7-59C37FF6F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8" y="1499771"/>
            <a:ext cx="5543979" cy="44388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8E874C-0EBA-A8A1-468F-5E127FB4E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852" y="314019"/>
            <a:ext cx="4229783" cy="15346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0F21A1-192F-4E3C-0DE5-2C317ACDD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537" y="2006614"/>
            <a:ext cx="4968415" cy="8929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1D9B3AD-EE5F-0158-C4A6-8BAFA8A0D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537" y="3018578"/>
            <a:ext cx="5087060" cy="12384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1F46DF0-F87C-A3B3-EC53-A0FE9F49C3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4537" y="4504263"/>
            <a:ext cx="5087060" cy="9939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1E5A6B3-B40E-C336-4F60-C61B033F4C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2357" y="5604689"/>
            <a:ext cx="5271419" cy="93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9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657A2-760D-2DE5-0E5B-3FDFE099A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F365-9D87-E331-4281-089BCCD2E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PROJECT - GUI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E495E8-4948-F997-C6BF-7FD58729F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8" y="1499771"/>
            <a:ext cx="5543979" cy="44388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83C3DB-0ECF-3396-BB49-F43B3DD94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179" y="1753952"/>
            <a:ext cx="5543980" cy="23957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D3CC82-D4EC-E84D-CE7F-BF8ED94D9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429" y="4414828"/>
            <a:ext cx="5480730" cy="2226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1B61E7-B0AB-CD72-D87A-958A9A3EB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027" y="541069"/>
            <a:ext cx="5543980" cy="97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8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72E31-124F-B358-5977-7034D6E9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Higher-Order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752FF-944E-D5F6-A402-0B6E3B206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function that takes another function as an argument and applies it to a list of numbers.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ECCCF-E2B7-CF44-55E7-C19B4533C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58" y="2988388"/>
            <a:ext cx="4797042" cy="267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21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A8BA2-2AEF-F485-B77E-FD520A0C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Recursion?</a:t>
            </a:r>
          </a:p>
        </p:txBody>
      </p:sp>
    </p:spTree>
    <p:extLst>
      <p:ext uri="{BB962C8B-B14F-4D97-AF65-F5344CB8AC3E}">
        <p14:creationId xmlns:p14="http://schemas.microsoft.com/office/powerpoint/2010/main" val="1436315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6B5FB-528C-2863-0D3B-B442D554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Simple Recursive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68AAF-A5B3-E751-325D-BEF57D885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Python function that uses recursion to calculate the factorial of a number.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AEFC1-1CFD-CFCA-85F9-85FBA7205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361" y="3062937"/>
            <a:ext cx="5487874" cy="2584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47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8AA7-0B84-1C11-2E3F-38BBBE19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Countdown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E427B-FE38-8F2F-DDA5-F180D0692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recursive function that counts down from a given number to zero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655E3-3C65-1C9A-F384-795D9ADD1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884" y="2812193"/>
            <a:ext cx="4706631" cy="319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56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8D51-21A6-06CA-C162-E2ECBBB90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Fibonacci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3A226-B187-2AD8-0737-72F8D75B1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recursive function to calculate the nth number in the Fibonacci sequence.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3305D-5D95-56F7-AFD5-C6EF25503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29" y="3205845"/>
            <a:ext cx="6284148" cy="193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38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A0352-0EFE-138C-BBC6-4ED9C8EC4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Multiple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ECB7B-FFF0-BC73-A386-2F610F6D4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 multiple lines on the same chart to compare the number of tasks completed and the number of new tasks added over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A01654-81D0-6C2C-D2C9-D3C920DCD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112973"/>
            <a:ext cx="5257800" cy="236253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A2286DB-B1EC-FFD1-2377-9C8E91634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009" y="2612115"/>
            <a:ext cx="4793378" cy="388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435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AED8-EDC2-00D8-6BC8-EE9188333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FC1E1-C915-DB16-5C7A-FBB4747A5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290"/>
            <a:ext cx="10515600" cy="4351338"/>
          </a:xfrm>
        </p:spPr>
        <p:txBody>
          <a:bodyPr/>
          <a:lstStyle/>
          <a:p>
            <a:r>
              <a:rPr lang="en-US" dirty="0"/>
              <a:t>Create a bar chart to represent the number of tasks completed each day.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90A0D-856E-6AD8-3A47-2800CAFDE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845" y="2995791"/>
            <a:ext cx="4274574" cy="247161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8541593-D08B-AA8C-C095-E9300AEB8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2616035"/>
            <a:ext cx="4921808" cy="398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7193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A8303-9CD2-75F1-BF60-0B3468895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Pie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351DA-04E6-E562-3973-EC7F42657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pie chart that shows the percentage of tasks completed versus tasks pending.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32E8E6E-A9C6-F482-2F5B-B100FB2AD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479" y="2578100"/>
            <a:ext cx="3762375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9BD7C4-D57E-D382-0F20-895DE8116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57" y="3320162"/>
            <a:ext cx="4611862" cy="105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64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4933-4BF1-13D6-6197-42584948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plt.savefig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38673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E8F8E-ED04-BCA2-B968-E47DDD32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Display Multiple Plots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C3EB-09B5-A252-1D54-FD927419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With the subplot() function you can draw multiple plots in one figure: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C949F-0CEA-D25A-17C9-9B6EAB1E4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063" y="2710922"/>
            <a:ext cx="3124636" cy="3781953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FEE05340-0888-5E45-DF06-2B5BA0104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265" y="2559050"/>
            <a:ext cx="51720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201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2301</TotalTime>
  <Words>617</Words>
  <Application>Microsoft Office PowerPoint</Application>
  <PresentationFormat>Widescreen</PresentationFormat>
  <Paragraphs>126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JetBrains Mono</vt:lpstr>
      <vt:lpstr>Office Theme</vt:lpstr>
      <vt:lpstr>Python GUI </vt:lpstr>
      <vt:lpstr>Introduction to GUI</vt:lpstr>
      <vt:lpstr>Types Of Python GUI Frameworks</vt:lpstr>
      <vt:lpstr>What is Tkinter?</vt:lpstr>
      <vt:lpstr>Why Use Tkinter?</vt:lpstr>
      <vt:lpstr>Basic Structure of Tkinter Program</vt:lpstr>
      <vt:lpstr>Tkinter Window</vt:lpstr>
      <vt:lpstr>Widgets</vt:lpstr>
      <vt:lpstr>Label Widget</vt:lpstr>
      <vt:lpstr>PowerPoint Presentation</vt:lpstr>
      <vt:lpstr>PowerPoint Presentation</vt:lpstr>
      <vt:lpstr>Button Widget</vt:lpstr>
      <vt:lpstr>Buttons</vt:lpstr>
      <vt:lpstr>PowerPoint Presentation</vt:lpstr>
      <vt:lpstr>Entry Widget</vt:lpstr>
      <vt:lpstr>Entry Widget</vt:lpstr>
      <vt:lpstr>MINI PROJECT - GUI</vt:lpstr>
      <vt:lpstr>MINI PROJECT - GUI</vt:lpstr>
      <vt:lpstr>Writing a Higher-Order Function</vt:lpstr>
      <vt:lpstr>What is Recursion?</vt:lpstr>
      <vt:lpstr>Writing a Simple Recursive Function</vt:lpstr>
      <vt:lpstr>Recursive Countdown</vt:lpstr>
      <vt:lpstr>Recursive Fibonacci Sequence</vt:lpstr>
      <vt:lpstr>Plotting Multiple Lines</vt:lpstr>
      <vt:lpstr>Creating a Bar Chart</vt:lpstr>
      <vt:lpstr>Creating a Pie Chart</vt:lpstr>
      <vt:lpstr>plt.savefig()</vt:lpstr>
      <vt:lpstr>Display Multiple Plots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Barkha Teekam</dc:creator>
  <cp:lastModifiedBy>Barkha Teekam</cp:lastModifiedBy>
  <cp:revision>4</cp:revision>
  <dcterms:created xsi:type="dcterms:W3CDTF">2026-02-24T21:10:26Z</dcterms:created>
  <dcterms:modified xsi:type="dcterms:W3CDTF">2026-03-01T18:12:31Z</dcterms:modified>
</cp:coreProperties>
</file>