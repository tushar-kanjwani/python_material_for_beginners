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5" r:id="rId1"/>
  </p:sldMasterIdLst>
  <p:notesMasterIdLst>
    <p:notesMasterId r:id="rId55"/>
  </p:notesMasterIdLst>
  <p:handoutMasterIdLst>
    <p:handoutMasterId r:id="rId56"/>
  </p:handoutMasterIdLst>
  <p:sldIdLst>
    <p:sldId id="256" r:id="rId2"/>
    <p:sldId id="295" r:id="rId3"/>
    <p:sldId id="257" r:id="rId4"/>
    <p:sldId id="283" r:id="rId5"/>
    <p:sldId id="284" r:id="rId6"/>
    <p:sldId id="258" r:id="rId7"/>
    <p:sldId id="260" r:id="rId8"/>
    <p:sldId id="286" r:id="rId9"/>
    <p:sldId id="287" r:id="rId10"/>
    <p:sldId id="288" r:id="rId11"/>
    <p:sldId id="293" r:id="rId12"/>
    <p:sldId id="289" r:id="rId13"/>
    <p:sldId id="294" r:id="rId14"/>
    <p:sldId id="304" r:id="rId15"/>
    <p:sldId id="296" r:id="rId16"/>
    <p:sldId id="297" r:id="rId17"/>
    <p:sldId id="298" r:id="rId18"/>
    <p:sldId id="299" r:id="rId19"/>
    <p:sldId id="261" r:id="rId20"/>
    <p:sldId id="300" r:id="rId21"/>
    <p:sldId id="301" r:id="rId22"/>
    <p:sldId id="308" r:id="rId23"/>
    <p:sldId id="309" r:id="rId24"/>
    <p:sldId id="310" r:id="rId25"/>
    <p:sldId id="311" r:id="rId26"/>
    <p:sldId id="302" r:id="rId27"/>
    <p:sldId id="303" r:id="rId28"/>
    <p:sldId id="262" r:id="rId29"/>
    <p:sldId id="263" r:id="rId30"/>
    <p:sldId id="264" r:id="rId31"/>
    <p:sldId id="265" r:id="rId32"/>
    <p:sldId id="266" r:id="rId33"/>
    <p:sldId id="267" r:id="rId34"/>
    <p:sldId id="290" r:id="rId35"/>
    <p:sldId id="291" r:id="rId36"/>
    <p:sldId id="269" r:id="rId37"/>
    <p:sldId id="270" r:id="rId38"/>
    <p:sldId id="292" r:id="rId39"/>
    <p:sldId id="271" r:id="rId40"/>
    <p:sldId id="272" r:id="rId41"/>
    <p:sldId id="319" r:id="rId42"/>
    <p:sldId id="273" r:id="rId43"/>
    <p:sldId id="274" r:id="rId44"/>
    <p:sldId id="275" r:id="rId45"/>
    <p:sldId id="276" r:id="rId46"/>
    <p:sldId id="312" r:id="rId47"/>
    <p:sldId id="279" r:id="rId48"/>
    <p:sldId id="313" r:id="rId49"/>
    <p:sldId id="314" r:id="rId50"/>
    <p:sldId id="315" r:id="rId51"/>
    <p:sldId id="316" r:id="rId52"/>
    <p:sldId id="317" r:id="rId53"/>
    <p:sldId id="318" r:id="rId5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A67BAD6-4A2C-44B7-851C-686ED603E39A}" type="datetimeFigureOut">
              <a:rPr lang="en-US" smtClean="0"/>
              <a:t>2/11/2026</a:t>
            </a:fld>
            <a:endParaRPr lang="en-US"/>
          </a:p>
        </p:txBody>
      </p:sp>
      <p:sp>
        <p:nvSpPr>
          <p:cNvPr id="4" name="Footer Placeholder 3"/>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4AD5A4A-E6B3-4234-9666-F9BDAD3F3514}" type="slidenum">
              <a:rPr lang="en-US" smtClean="0"/>
              <a:t>‹#›</a:t>
            </a:fld>
            <a:endParaRPr lang="en-US"/>
          </a:p>
        </p:txBody>
      </p:sp>
    </p:spTree>
    <p:extLst>
      <p:ext uri="{BB962C8B-B14F-4D97-AF65-F5344CB8AC3E}">
        <p14:creationId xmlns:p14="http://schemas.microsoft.com/office/powerpoint/2010/main" val="2876810971"/>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FDAF3FE-ECA3-4B24-9391-98B66A259AB1}" type="datetimeFigureOut">
              <a:rPr lang="en-US" smtClean="0"/>
              <a:t>2/11/2026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6C6BA61-D4C5-4382-92FD-30A7C1F7D1A5}" type="slidenum">
              <a:rPr lang="en-US" smtClean="0"/>
              <a:t>‹#›</a:t>
            </a:fld>
            <a:endParaRPr lang="en-US"/>
          </a:p>
        </p:txBody>
      </p:sp>
    </p:spTree>
    <p:extLst>
      <p:ext uri="{BB962C8B-B14F-4D97-AF65-F5344CB8AC3E}">
        <p14:creationId xmlns:p14="http://schemas.microsoft.com/office/powerpoint/2010/main" val="446074769"/>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3666435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351292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751263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Header Placeholder 5"/>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06891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758010-D988-49DF-9462-D78670D5620F}"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406925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E188B8-D974-40C8-89FC-4455525BAF10}"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89434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C40928-7ED2-461B-8E27-5D7CD4E65894}"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34105364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EB2D1B-9312-49E5-82C9-F36F07978527}"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44109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C40928-7ED2-461B-8E27-5D7CD4E65894}" type="datetime1">
              <a:rPr lang="en-US" smtClean="0"/>
              <a:t>2/11/2026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38517836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6F99AB-3511-4307-BE43-C8E74B1694FD}" type="datetime1">
              <a:rPr lang="en-US" smtClean="0"/>
              <a:t>2/11/2026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5" name="Slide Number Placeholder 4"/>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443177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739DC8-63A8-4D4D-A5D9-E3FCFB81AE7C}" type="datetime1">
              <a:rPr lang="en-US" smtClean="0"/>
              <a:t>2/11/2026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61374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C40928-7ED2-461B-8E27-5D7CD4E65894}"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5614580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C40928-7ED2-461B-8E27-5D7CD4E65894}"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7037051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C40928-7ED2-461B-8E27-5D7CD4E65894}"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54807066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C40928-7ED2-461B-8E27-5D7CD4E65894}"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marL="38100">
              <a:lnSpc>
                <a:spcPts val="1240"/>
              </a:lnSpc>
            </a:pPr>
            <a:fld id="{81D60167-4931-47E6-BA6A-407CBD079E47}"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1945496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8C40928-7ED2-461B-8E27-5D7CD4E65894}"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6495544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8C40928-7ED2-461B-8E27-5D7CD4E65894}"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ts val="1240"/>
              </a:lnSpc>
            </a:pPr>
            <a:fld id="{81D60167-4931-47E6-BA6A-407CBD079E47}"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8907141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8C40928-7ED2-461B-8E27-5D7CD4E65894}" type="datetime1">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4000820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C40928-7ED2-461B-8E27-5D7CD4E65894}"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0704645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C40928-7ED2-461B-8E27-5D7CD4E65894}" type="datetime1">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836152133"/>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8C40928-7ED2-461B-8E27-5D7CD4E65894}" type="datetime1">
              <a:rPr lang="en-US" smtClean="0"/>
              <a:t>2/11/2026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5986099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133600"/>
            <a:ext cx="11277599" cy="4167808"/>
          </a:xfrm>
          <a:prstGeom prst="rect">
            <a:avLst/>
          </a:prstGeom>
        </p:spPr>
        <p:txBody>
          <a:bodyPr vert="horz" wrap="square" lIns="0" tIns="12700" rIns="0" bIns="0" rtlCol="0">
            <a:spAutoFit/>
          </a:bodyPr>
          <a:lstStyle/>
          <a:p>
            <a:pPr marL="12065" marR="5080" indent="-635" algn="ctr">
              <a:lnSpc>
                <a:spcPct val="100000"/>
              </a:lnSpc>
              <a:spcBef>
                <a:spcPts val="100"/>
              </a:spcBef>
              <a:tabLst>
                <a:tab pos="2755900" algn="l"/>
              </a:tabLst>
            </a:pPr>
            <a:r>
              <a:rPr lang="en-US" sz="5400" spc="-5" dirty="0">
                <a:solidFill>
                  <a:srgbClr val="1F3863"/>
                </a:solidFill>
              </a:rPr>
              <a:t>Week-05</a:t>
            </a:r>
            <a:br>
              <a:rPr lang="en-US" sz="5400" spc="-5" dirty="0">
                <a:solidFill>
                  <a:srgbClr val="1F3863"/>
                </a:solidFill>
              </a:rPr>
            </a:br>
            <a:r>
              <a:rPr lang="en-US" sz="5400" spc="-5" dirty="0">
                <a:solidFill>
                  <a:srgbClr val="1F3863"/>
                </a:solidFill>
              </a:rPr>
              <a:t>Introduction to Object-Oriented Programming (OOP)</a:t>
            </a:r>
            <a:br>
              <a:rPr lang="en-US" sz="5400" spc="-5" dirty="0">
                <a:solidFill>
                  <a:srgbClr val="1F3863"/>
                </a:solidFill>
              </a:rPr>
            </a:br>
            <a:br>
              <a:rPr lang="en-US" sz="5400" spc="-5" dirty="0">
                <a:solidFill>
                  <a:srgbClr val="1F3863"/>
                </a:solidFill>
              </a:rPr>
            </a:br>
            <a:endParaRPr sz="5400" dirty="0"/>
          </a:p>
        </p:txBody>
      </p:sp>
      <p:sp>
        <p:nvSpPr>
          <p:cNvPr id="3" name="object 3"/>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1</a:t>
            </a:fld>
            <a:endParaRPr sz="12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165350"/>
            <a:ext cx="11277599" cy="4752583"/>
          </a:xfrm>
          <a:prstGeom prst="rect">
            <a:avLst/>
          </a:prstGeom>
        </p:spPr>
        <p:txBody>
          <a:bodyPr vert="horz" wrap="square" lIns="0" tIns="12700" rIns="0" bIns="0" rtlCol="0">
            <a:spAutoFit/>
          </a:bodyPr>
          <a:lstStyle/>
          <a:p>
            <a:pPr marL="12065" marR="5080" indent="-635" algn="ctr">
              <a:lnSpc>
                <a:spcPct val="100000"/>
              </a:lnSpc>
              <a:spcBef>
                <a:spcPts val="100"/>
              </a:spcBef>
              <a:tabLst>
                <a:tab pos="2755900" algn="l"/>
              </a:tabLst>
            </a:pPr>
            <a:r>
              <a:rPr lang="en-US" sz="4400" spc="-5" dirty="0">
                <a:solidFill>
                  <a:srgbClr val="1F3863"/>
                </a:solidFill>
              </a:rPr>
              <a:t>Week-05</a:t>
            </a:r>
            <a:br>
              <a:rPr lang="en-US" sz="4400" spc="-5" dirty="0">
                <a:solidFill>
                  <a:srgbClr val="1F3863"/>
                </a:solidFill>
              </a:rPr>
            </a:br>
            <a:r>
              <a:rPr lang="en-US" sz="4400" spc="-5" dirty="0">
                <a:solidFill>
                  <a:srgbClr val="1F3863"/>
                </a:solidFill>
              </a:rPr>
              <a:t>Introduction to Object-Oriented Programming (OOP)</a:t>
            </a:r>
            <a:br>
              <a:rPr lang="en-US" sz="4400" spc="-5" dirty="0">
                <a:solidFill>
                  <a:srgbClr val="1F3863"/>
                </a:solidFill>
              </a:rPr>
            </a:br>
            <a:r>
              <a:rPr lang="en-US" sz="4400" spc="-5" dirty="0">
                <a:solidFill>
                  <a:srgbClr val="1F3863"/>
                </a:solidFill>
              </a:rPr>
              <a:t>Day-01</a:t>
            </a:r>
            <a:br>
              <a:rPr lang="en-US" sz="4400" spc="-5" dirty="0">
                <a:solidFill>
                  <a:srgbClr val="1F3863"/>
                </a:solidFill>
              </a:rPr>
            </a:br>
            <a:r>
              <a:rPr lang="en-US" sz="4400" spc="-5" dirty="0">
                <a:solidFill>
                  <a:srgbClr val="1F3863"/>
                </a:solidFill>
              </a:rPr>
              <a:t>Introduction to classes and methods</a:t>
            </a:r>
            <a:br>
              <a:rPr lang="en-US" sz="4400" spc="-5" dirty="0">
                <a:solidFill>
                  <a:srgbClr val="1F3863"/>
                </a:solidFill>
              </a:rPr>
            </a:br>
            <a:br>
              <a:rPr lang="en-US" sz="4400" spc="-5" dirty="0">
                <a:solidFill>
                  <a:srgbClr val="1F3863"/>
                </a:solidFill>
              </a:rPr>
            </a:br>
            <a:endParaRPr sz="4400" dirty="0"/>
          </a:p>
        </p:txBody>
      </p:sp>
      <p:sp>
        <p:nvSpPr>
          <p:cNvPr id="3" name="object 3"/>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2</a:t>
            </a:fld>
            <a:endParaRPr sz="1200">
              <a:latin typeface="Calibri"/>
              <a:cs typeface="Calibri"/>
            </a:endParaRPr>
          </a:p>
        </p:txBody>
      </p:sp>
    </p:spTree>
    <p:extLst>
      <p:ext uri="{BB962C8B-B14F-4D97-AF65-F5344CB8AC3E}">
        <p14:creationId xmlns:p14="http://schemas.microsoft.com/office/powerpoint/2010/main" val="1350576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13668" y="1143000"/>
            <a:ext cx="8610600" cy="3462486"/>
          </a:xfrm>
          <a:prstGeom prst="rect">
            <a:avLst/>
          </a:prstGeom>
        </p:spPr>
        <p:txBody>
          <a:bodyPr vert="horz" wrap="square" lIns="0" tIns="195580" rIns="0" bIns="0" rtlCol="0">
            <a:spAutoFit/>
          </a:bodyPr>
          <a:lstStyle/>
          <a:p>
            <a:pPr marL="584200" indent="-572135">
              <a:lnSpc>
                <a:spcPct val="100000"/>
              </a:lnSpc>
              <a:spcBef>
                <a:spcPts val="1540"/>
              </a:spcBef>
              <a:buAutoNum type="arabicPeriod"/>
              <a:tabLst>
                <a:tab pos="583565" algn="l"/>
                <a:tab pos="584835" algn="l"/>
              </a:tabLst>
            </a:pPr>
            <a:r>
              <a:rPr sz="3200" b="1" spc="-10" dirty="0">
                <a:solidFill>
                  <a:srgbClr val="2E5496"/>
                </a:solidFill>
                <a:latin typeface="Verdana"/>
                <a:cs typeface="Verdana"/>
              </a:rPr>
              <a:t>Introduction</a:t>
            </a:r>
            <a:r>
              <a:rPr sz="3200" b="1" spc="30" dirty="0">
                <a:solidFill>
                  <a:srgbClr val="2E5496"/>
                </a:solidFill>
                <a:latin typeface="Verdana"/>
                <a:cs typeface="Verdana"/>
              </a:rPr>
              <a:t> </a:t>
            </a:r>
            <a:r>
              <a:rPr sz="3200" b="1" dirty="0">
                <a:solidFill>
                  <a:srgbClr val="2E5496"/>
                </a:solidFill>
                <a:latin typeface="Verdana"/>
                <a:cs typeface="Verdana"/>
              </a:rPr>
              <a:t>to</a:t>
            </a:r>
            <a:r>
              <a:rPr sz="3200" b="1" spc="-5" dirty="0">
                <a:solidFill>
                  <a:srgbClr val="2E5496"/>
                </a:solidFill>
                <a:latin typeface="Verdana"/>
                <a:cs typeface="Verdana"/>
              </a:rPr>
              <a:t> Object</a:t>
            </a:r>
            <a:r>
              <a:rPr sz="3200" b="1" spc="-15" dirty="0">
                <a:solidFill>
                  <a:srgbClr val="2E5496"/>
                </a:solidFill>
                <a:latin typeface="Verdana"/>
                <a:cs typeface="Verdana"/>
              </a:rPr>
              <a:t> </a:t>
            </a:r>
            <a:r>
              <a:rPr sz="3200" b="1" spc="-5" dirty="0">
                <a:solidFill>
                  <a:srgbClr val="2E5496"/>
                </a:solidFill>
                <a:latin typeface="Verdana"/>
                <a:cs typeface="Verdana"/>
              </a:rPr>
              <a:t>Oriented</a:t>
            </a:r>
            <a:r>
              <a:rPr sz="3200" b="1" spc="20" dirty="0">
                <a:solidFill>
                  <a:srgbClr val="2E5496"/>
                </a:solidFill>
                <a:latin typeface="Verdana"/>
                <a:cs typeface="Verdana"/>
              </a:rPr>
              <a:t> </a:t>
            </a:r>
            <a:r>
              <a:rPr sz="3200" b="1" spc="-5" dirty="0">
                <a:solidFill>
                  <a:srgbClr val="2E5496"/>
                </a:solidFill>
                <a:latin typeface="Verdana"/>
                <a:cs typeface="Verdana"/>
              </a:rPr>
              <a:t>Programming</a:t>
            </a:r>
            <a:r>
              <a:rPr sz="3200" b="1" spc="-10" dirty="0">
                <a:solidFill>
                  <a:srgbClr val="2E5496"/>
                </a:solidFill>
                <a:latin typeface="Verdana"/>
                <a:cs typeface="Verdana"/>
              </a:rPr>
              <a:t> </a:t>
            </a:r>
            <a:r>
              <a:rPr sz="3200" b="1" dirty="0">
                <a:solidFill>
                  <a:srgbClr val="2E5496"/>
                </a:solidFill>
                <a:latin typeface="Verdana"/>
                <a:cs typeface="Verdana"/>
              </a:rPr>
              <a:t>in</a:t>
            </a:r>
            <a:r>
              <a:rPr sz="3200" b="1" spc="10" dirty="0">
                <a:solidFill>
                  <a:srgbClr val="2E5496"/>
                </a:solidFill>
                <a:latin typeface="Verdana"/>
                <a:cs typeface="Verdana"/>
              </a:rPr>
              <a:t> </a:t>
            </a:r>
            <a:r>
              <a:rPr sz="3200" b="1" spc="-5" dirty="0">
                <a:solidFill>
                  <a:srgbClr val="2E5496"/>
                </a:solidFill>
                <a:latin typeface="Verdana"/>
                <a:cs typeface="Verdana"/>
              </a:rPr>
              <a:t>Python</a:t>
            </a:r>
            <a:endParaRPr sz="3200" dirty="0">
              <a:latin typeface="Verdana"/>
              <a:cs typeface="Verdana"/>
            </a:endParaRPr>
          </a:p>
          <a:p>
            <a:pPr marL="584200" marR="850265" indent="-572135">
              <a:lnSpc>
                <a:spcPts val="4320"/>
              </a:lnSpc>
              <a:spcBef>
                <a:spcPts val="384"/>
              </a:spcBef>
              <a:buAutoNum type="arabicPeriod"/>
              <a:tabLst>
                <a:tab pos="583565" algn="l"/>
                <a:tab pos="584835" algn="l"/>
              </a:tabLst>
            </a:pPr>
            <a:r>
              <a:rPr lang="en-US" sz="3200" b="1" spc="-10" dirty="0">
                <a:solidFill>
                  <a:srgbClr val="2E5496"/>
                </a:solidFill>
                <a:latin typeface="Verdana"/>
                <a:cs typeface="Verdana"/>
              </a:rPr>
              <a:t>Learn how to define a class and create objects.</a:t>
            </a:r>
            <a:endParaRPr sz="3200" dirty="0">
              <a:latin typeface="Verdana"/>
              <a:cs typeface="Verdana"/>
            </a:endParaRPr>
          </a:p>
          <a:p>
            <a:pPr marL="584200" indent="-572135">
              <a:lnSpc>
                <a:spcPct val="100000"/>
              </a:lnSpc>
              <a:spcBef>
                <a:spcPts val="1055"/>
              </a:spcBef>
              <a:buAutoNum type="arabicPeriod"/>
              <a:tabLst>
                <a:tab pos="583565" algn="l"/>
                <a:tab pos="584835" algn="l"/>
              </a:tabLst>
            </a:pPr>
            <a:r>
              <a:rPr lang="en-US" sz="3200" b="1" spc="-5" dirty="0">
                <a:solidFill>
                  <a:srgbClr val="2E5496"/>
                </a:solidFill>
                <a:latin typeface="Verdana"/>
                <a:cs typeface="Verdana"/>
              </a:rPr>
              <a:t>Understand object attributes and methods.</a:t>
            </a:r>
            <a:endParaRPr sz="3200" dirty="0">
              <a:latin typeface="Verdana"/>
              <a:cs typeface="Verdana"/>
            </a:endParaRPr>
          </a:p>
        </p:txBody>
      </p:sp>
      <p:sp>
        <p:nvSpPr>
          <p:cNvPr id="4" name="object 4"/>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3</a:t>
            </a:fld>
            <a:endParaRPr sz="1200">
              <a:latin typeface="Calibri"/>
              <a:cs typeface="Calibri"/>
            </a:endParaRPr>
          </a:p>
        </p:txBody>
      </p:sp>
      <p:sp>
        <p:nvSpPr>
          <p:cNvPr id="3" name="object 3"/>
          <p:cNvSpPr txBox="1">
            <a:spLocks noGrp="1"/>
          </p:cNvSpPr>
          <p:nvPr>
            <p:ph type="title"/>
          </p:nvPr>
        </p:nvSpPr>
        <p:spPr>
          <a:xfrm>
            <a:off x="5029200" y="304800"/>
            <a:ext cx="3202433" cy="689932"/>
          </a:xfrm>
          <a:prstGeom prst="rect">
            <a:avLst/>
          </a:prstGeom>
        </p:spPr>
        <p:txBody>
          <a:bodyPr vert="horz" wrap="square" lIns="0" tIns="12700" rIns="0" bIns="0" rtlCol="0">
            <a:spAutoFit/>
          </a:bodyPr>
          <a:lstStyle/>
          <a:p>
            <a:pPr marL="12700">
              <a:lnSpc>
                <a:spcPct val="100000"/>
              </a:lnSpc>
              <a:spcBef>
                <a:spcPts val="100"/>
              </a:spcBef>
            </a:pPr>
            <a:r>
              <a:rPr lang="en-US" sz="4400" dirty="0">
                <a:solidFill>
                  <a:srgbClr val="1F3863"/>
                </a:solidFill>
              </a:rPr>
              <a:t>Contents</a:t>
            </a:r>
            <a:endParaRPr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1828800"/>
            <a:ext cx="8915400" cy="1981200"/>
          </a:xfrm>
        </p:spPr>
        <p:txBody>
          <a:bodyPr>
            <a:noAutofit/>
          </a:bodyPr>
          <a:lstStyle/>
          <a:p>
            <a:pPr marL="0" indent="0" algn="ctr">
              <a:buNone/>
            </a:pPr>
            <a:r>
              <a:rPr lang="en-US" sz="4400" dirty="0"/>
              <a:t>Do you know about Object Oriented Programming?</a:t>
            </a:r>
          </a:p>
        </p:txBody>
      </p:sp>
    </p:spTree>
    <p:extLst>
      <p:ext uri="{BB962C8B-B14F-4D97-AF65-F5344CB8AC3E}">
        <p14:creationId xmlns:p14="http://schemas.microsoft.com/office/powerpoint/2010/main" val="164626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1828800"/>
            <a:ext cx="8915400" cy="1981200"/>
          </a:xfrm>
        </p:spPr>
        <p:txBody>
          <a:bodyPr>
            <a:noAutofit/>
          </a:bodyPr>
          <a:lstStyle/>
          <a:p>
            <a:pPr marL="0" indent="0" algn="ctr">
              <a:buNone/>
            </a:pPr>
            <a:r>
              <a:rPr lang="en-US" sz="4400" dirty="0"/>
              <a:t>Why we use Object Oriented Programming ?</a:t>
            </a:r>
          </a:p>
        </p:txBody>
      </p:sp>
    </p:spTree>
    <p:extLst>
      <p:ext uri="{BB962C8B-B14F-4D97-AF65-F5344CB8AC3E}">
        <p14:creationId xmlns:p14="http://schemas.microsoft.com/office/powerpoint/2010/main" val="34583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90558" y="1676400"/>
            <a:ext cx="11593195" cy="4421568"/>
            <a:chOff x="298700" y="1528566"/>
            <a:chExt cx="11593195" cy="4580255"/>
          </a:xfrm>
        </p:grpSpPr>
        <p:pic>
          <p:nvPicPr>
            <p:cNvPr id="3" name="object 3"/>
            <p:cNvPicPr/>
            <p:nvPr/>
          </p:nvPicPr>
          <p:blipFill>
            <a:blip r:embed="rId2" cstate="print"/>
            <a:stretch>
              <a:fillRect/>
            </a:stretch>
          </p:blipFill>
          <p:spPr>
            <a:xfrm>
              <a:off x="298700" y="1528566"/>
              <a:ext cx="11593075" cy="4579632"/>
            </a:xfrm>
            <a:prstGeom prst="rect">
              <a:avLst/>
            </a:prstGeom>
          </p:spPr>
        </p:pic>
        <p:sp>
          <p:nvSpPr>
            <p:cNvPr id="4" name="object 4"/>
            <p:cNvSpPr/>
            <p:nvPr/>
          </p:nvSpPr>
          <p:spPr>
            <a:xfrm>
              <a:off x="477774" y="1639062"/>
              <a:ext cx="11239500" cy="4363720"/>
            </a:xfrm>
            <a:custGeom>
              <a:avLst/>
              <a:gdLst/>
              <a:ahLst/>
              <a:cxnLst/>
              <a:rect l="l" t="t" r="r" b="b"/>
              <a:pathLst>
                <a:path w="11239500" h="4363720">
                  <a:moveTo>
                    <a:pt x="8991600" y="0"/>
                  </a:moveTo>
                  <a:lnTo>
                    <a:pt x="2247900" y="0"/>
                  </a:lnTo>
                  <a:lnTo>
                    <a:pt x="0" y="2181606"/>
                  </a:lnTo>
                  <a:lnTo>
                    <a:pt x="2247900" y="4363212"/>
                  </a:lnTo>
                  <a:lnTo>
                    <a:pt x="8991600" y="4363212"/>
                  </a:lnTo>
                  <a:lnTo>
                    <a:pt x="11239500" y="2181606"/>
                  </a:lnTo>
                  <a:lnTo>
                    <a:pt x="8991600" y="0"/>
                  </a:lnTo>
                  <a:close/>
                </a:path>
              </a:pathLst>
            </a:custGeom>
            <a:solidFill>
              <a:srgbClr val="FFFFFF"/>
            </a:solidFill>
          </p:spPr>
          <p:txBody>
            <a:bodyPr wrap="square" lIns="0" tIns="0" rIns="0" bIns="0" rtlCol="0"/>
            <a:lstStyle/>
            <a:p>
              <a:endParaRPr/>
            </a:p>
          </p:txBody>
        </p:sp>
        <p:sp>
          <p:nvSpPr>
            <p:cNvPr id="5" name="object 5"/>
            <p:cNvSpPr/>
            <p:nvPr/>
          </p:nvSpPr>
          <p:spPr>
            <a:xfrm>
              <a:off x="477774" y="1639062"/>
              <a:ext cx="11239500" cy="4363720"/>
            </a:xfrm>
            <a:custGeom>
              <a:avLst/>
              <a:gdLst/>
              <a:ahLst/>
              <a:cxnLst/>
              <a:rect l="l" t="t" r="r" b="b"/>
              <a:pathLst>
                <a:path w="11239500" h="4363720">
                  <a:moveTo>
                    <a:pt x="0" y="2181606"/>
                  </a:moveTo>
                  <a:lnTo>
                    <a:pt x="2247900" y="0"/>
                  </a:lnTo>
                  <a:lnTo>
                    <a:pt x="8991600" y="0"/>
                  </a:lnTo>
                  <a:lnTo>
                    <a:pt x="11239500" y="2181606"/>
                  </a:lnTo>
                  <a:lnTo>
                    <a:pt x="8991600" y="4363212"/>
                  </a:lnTo>
                  <a:lnTo>
                    <a:pt x="2247900" y="4363212"/>
                  </a:lnTo>
                  <a:lnTo>
                    <a:pt x="0" y="2181606"/>
                  </a:lnTo>
                  <a:close/>
                </a:path>
              </a:pathLst>
            </a:custGeom>
            <a:ln w="38100">
              <a:solidFill>
                <a:srgbClr val="FFC000"/>
              </a:solidFill>
            </a:ln>
          </p:spPr>
          <p:txBody>
            <a:bodyPr wrap="square" lIns="0" tIns="0" rIns="0" bIns="0" rtlCol="0"/>
            <a:lstStyle/>
            <a:p>
              <a:endParaRPr/>
            </a:p>
          </p:txBody>
        </p:sp>
      </p:grpSp>
      <p:sp>
        <p:nvSpPr>
          <p:cNvPr id="6" name="object 6"/>
          <p:cNvSpPr txBox="1">
            <a:spLocks noGrp="1"/>
          </p:cNvSpPr>
          <p:nvPr>
            <p:ph type="title"/>
          </p:nvPr>
        </p:nvSpPr>
        <p:spPr>
          <a:xfrm>
            <a:off x="1676399" y="105087"/>
            <a:ext cx="10215375" cy="1489510"/>
          </a:xfrm>
          <a:prstGeom prst="rect">
            <a:avLst/>
          </a:prstGeom>
        </p:spPr>
        <p:txBody>
          <a:bodyPr vert="horz" wrap="square" lIns="0" tIns="12065" rIns="0" bIns="0" rtlCol="0">
            <a:spAutoFit/>
          </a:bodyPr>
          <a:lstStyle/>
          <a:p>
            <a:pPr marL="1377950" marR="5080" indent="-1365885" algn="ctr">
              <a:lnSpc>
                <a:spcPct val="100000"/>
              </a:lnSpc>
              <a:spcBef>
                <a:spcPts val="95"/>
              </a:spcBef>
              <a:tabLst>
                <a:tab pos="583565" algn="l"/>
              </a:tabLst>
            </a:pPr>
            <a:r>
              <a:rPr sz="4800" spc="-5" dirty="0">
                <a:solidFill>
                  <a:srgbClr val="1F3863"/>
                </a:solidFill>
              </a:rPr>
              <a:t>1.	Introduction</a:t>
            </a:r>
            <a:r>
              <a:rPr sz="4800" spc="55" dirty="0">
                <a:solidFill>
                  <a:srgbClr val="1F3863"/>
                </a:solidFill>
              </a:rPr>
              <a:t> </a:t>
            </a:r>
            <a:r>
              <a:rPr sz="4800" spc="-5" dirty="0">
                <a:solidFill>
                  <a:srgbClr val="1F3863"/>
                </a:solidFill>
              </a:rPr>
              <a:t>to </a:t>
            </a:r>
            <a:r>
              <a:rPr sz="4800" spc="-10" dirty="0">
                <a:solidFill>
                  <a:srgbClr val="1F3863"/>
                </a:solidFill>
              </a:rPr>
              <a:t>Object</a:t>
            </a:r>
            <a:r>
              <a:rPr sz="4800" spc="20" dirty="0">
                <a:solidFill>
                  <a:srgbClr val="1F3863"/>
                </a:solidFill>
              </a:rPr>
              <a:t> </a:t>
            </a:r>
            <a:r>
              <a:rPr sz="4800" spc="-10" dirty="0">
                <a:solidFill>
                  <a:srgbClr val="1F3863"/>
                </a:solidFill>
              </a:rPr>
              <a:t>Oriented </a:t>
            </a:r>
            <a:r>
              <a:rPr sz="4800" spc="-940" dirty="0">
                <a:solidFill>
                  <a:srgbClr val="1F3863"/>
                </a:solidFill>
              </a:rPr>
              <a:t> </a:t>
            </a:r>
            <a:r>
              <a:rPr sz="4800" spc="-5" dirty="0">
                <a:solidFill>
                  <a:srgbClr val="1F3863"/>
                </a:solidFill>
              </a:rPr>
              <a:t>Programming</a:t>
            </a:r>
            <a:r>
              <a:rPr sz="4800" spc="20" dirty="0">
                <a:solidFill>
                  <a:srgbClr val="1F3863"/>
                </a:solidFill>
              </a:rPr>
              <a:t> </a:t>
            </a:r>
            <a:r>
              <a:rPr sz="4800" spc="-5" dirty="0">
                <a:solidFill>
                  <a:srgbClr val="1F3863"/>
                </a:solidFill>
              </a:rPr>
              <a:t>in</a:t>
            </a:r>
            <a:r>
              <a:rPr sz="4800" spc="10" dirty="0">
                <a:solidFill>
                  <a:srgbClr val="1F3863"/>
                </a:solidFill>
              </a:rPr>
              <a:t> </a:t>
            </a:r>
            <a:r>
              <a:rPr sz="4800" spc="-5" dirty="0">
                <a:solidFill>
                  <a:srgbClr val="1F3863"/>
                </a:solidFill>
              </a:rPr>
              <a:t>Python</a:t>
            </a:r>
            <a:endParaRPr sz="4800" dirty="0"/>
          </a:p>
        </p:txBody>
      </p:sp>
      <p:sp>
        <p:nvSpPr>
          <p:cNvPr id="8" name="object 8"/>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6</a:t>
            </a:fld>
            <a:endParaRPr sz="1200">
              <a:latin typeface="Calibri"/>
              <a:cs typeface="Calibri"/>
            </a:endParaRPr>
          </a:p>
        </p:txBody>
      </p:sp>
      <p:sp>
        <p:nvSpPr>
          <p:cNvPr id="7" name="object 7"/>
          <p:cNvSpPr txBox="1"/>
          <p:nvPr/>
        </p:nvSpPr>
        <p:spPr>
          <a:xfrm>
            <a:off x="1350644" y="2728341"/>
            <a:ext cx="9497695" cy="2159000"/>
          </a:xfrm>
          <a:prstGeom prst="rect">
            <a:avLst/>
          </a:prstGeom>
        </p:spPr>
        <p:txBody>
          <a:bodyPr vert="horz" wrap="square" lIns="0" tIns="12065" rIns="0" bIns="0" rtlCol="0">
            <a:spAutoFit/>
          </a:bodyPr>
          <a:lstStyle/>
          <a:p>
            <a:pPr marL="12700" marR="5080" indent="-10795" algn="ctr">
              <a:lnSpc>
                <a:spcPct val="100000"/>
              </a:lnSpc>
              <a:spcBef>
                <a:spcPts val="95"/>
              </a:spcBef>
            </a:pPr>
            <a:r>
              <a:rPr sz="2800" b="1" spc="-10" dirty="0">
                <a:solidFill>
                  <a:srgbClr val="2E5496"/>
                </a:solidFill>
                <a:latin typeface="Verdana"/>
                <a:cs typeface="Verdana"/>
              </a:rPr>
              <a:t>Object</a:t>
            </a:r>
            <a:r>
              <a:rPr sz="2800" b="1" spc="15" dirty="0">
                <a:solidFill>
                  <a:srgbClr val="2E5496"/>
                </a:solidFill>
                <a:latin typeface="Verdana"/>
                <a:cs typeface="Verdana"/>
              </a:rPr>
              <a:t> </a:t>
            </a:r>
            <a:r>
              <a:rPr sz="2800" b="1" spc="-10" dirty="0">
                <a:solidFill>
                  <a:srgbClr val="2E5496"/>
                </a:solidFill>
                <a:latin typeface="Verdana"/>
                <a:cs typeface="Verdana"/>
              </a:rPr>
              <a:t>Oriented</a:t>
            </a:r>
            <a:r>
              <a:rPr sz="2800" b="1" spc="20" dirty="0">
                <a:solidFill>
                  <a:srgbClr val="2E5496"/>
                </a:solidFill>
                <a:latin typeface="Verdana"/>
                <a:cs typeface="Verdana"/>
              </a:rPr>
              <a:t> </a:t>
            </a:r>
            <a:r>
              <a:rPr sz="2800" b="1" spc="-5" dirty="0">
                <a:solidFill>
                  <a:srgbClr val="2E5496"/>
                </a:solidFill>
                <a:latin typeface="Verdana"/>
                <a:cs typeface="Verdana"/>
              </a:rPr>
              <a:t>Programming</a:t>
            </a:r>
            <a:r>
              <a:rPr sz="2800" b="1" spc="30" dirty="0">
                <a:solidFill>
                  <a:srgbClr val="2E5496"/>
                </a:solidFill>
                <a:latin typeface="Verdana"/>
                <a:cs typeface="Verdana"/>
              </a:rPr>
              <a:t> </a:t>
            </a:r>
            <a:r>
              <a:rPr sz="2800" b="1" spc="-5" dirty="0">
                <a:solidFill>
                  <a:srgbClr val="2E5496"/>
                </a:solidFill>
                <a:latin typeface="Verdana"/>
                <a:cs typeface="Verdana"/>
              </a:rPr>
              <a:t>is</a:t>
            </a:r>
            <a:r>
              <a:rPr sz="2800" b="1" spc="10" dirty="0">
                <a:solidFill>
                  <a:srgbClr val="2E5496"/>
                </a:solidFill>
                <a:latin typeface="Verdana"/>
                <a:cs typeface="Verdana"/>
              </a:rPr>
              <a:t> </a:t>
            </a:r>
            <a:r>
              <a:rPr sz="2800" b="1" spc="-5" dirty="0">
                <a:solidFill>
                  <a:srgbClr val="2E5496"/>
                </a:solidFill>
                <a:latin typeface="Verdana"/>
                <a:cs typeface="Verdana"/>
              </a:rPr>
              <a:t>a way</a:t>
            </a:r>
            <a:r>
              <a:rPr sz="2800" b="1" spc="20" dirty="0">
                <a:solidFill>
                  <a:srgbClr val="2E5496"/>
                </a:solidFill>
                <a:latin typeface="Verdana"/>
                <a:cs typeface="Verdana"/>
              </a:rPr>
              <a:t> </a:t>
            </a:r>
            <a:r>
              <a:rPr sz="2800" b="1" spc="-5" dirty="0">
                <a:solidFill>
                  <a:srgbClr val="2E5496"/>
                </a:solidFill>
                <a:latin typeface="Verdana"/>
                <a:cs typeface="Verdana"/>
              </a:rPr>
              <a:t>of </a:t>
            </a:r>
            <a:r>
              <a:rPr sz="2800" b="1" dirty="0">
                <a:solidFill>
                  <a:srgbClr val="2E5496"/>
                </a:solidFill>
                <a:latin typeface="Verdana"/>
                <a:cs typeface="Verdana"/>
              </a:rPr>
              <a:t> </a:t>
            </a:r>
            <a:r>
              <a:rPr sz="2800" b="1" spc="-10" dirty="0">
                <a:solidFill>
                  <a:srgbClr val="2E5496"/>
                </a:solidFill>
                <a:latin typeface="Verdana"/>
                <a:cs typeface="Verdana"/>
              </a:rPr>
              <a:t>computer</a:t>
            </a:r>
            <a:r>
              <a:rPr sz="2800" b="1" spc="25" dirty="0">
                <a:solidFill>
                  <a:srgbClr val="2E5496"/>
                </a:solidFill>
                <a:latin typeface="Verdana"/>
                <a:cs typeface="Verdana"/>
              </a:rPr>
              <a:t> </a:t>
            </a:r>
            <a:r>
              <a:rPr sz="2800" b="1" spc="-5" dirty="0">
                <a:solidFill>
                  <a:srgbClr val="2E5496"/>
                </a:solidFill>
                <a:latin typeface="Verdana"/>
                <a:cs typeface="Verdana"/>
              </a:rPr>
              <a:t>programming</a:t>
            </a:r>
            <a:r>
              <a:rPr sz="2800" b="1" spc="45" dirty="0">
                <a:solidFill>
                  <a:srgbClr val="2E5496"/>
                </a:solidFill>
                <a:latin typeface="Verdana"/>
                <a:cs typeface="Verdana"/>
              </a:rPr>
              <a:t> </a:t>
            </a:r>
            <a:r>
              <a:rPr sz="2800" b="1" spc="-10" dirty="0">
                <a:solidFill>
                  <a:srgbClr val="2E5496"/>
                </a:solidFill>
                <a:latin typeface="Verdana"/>
                <a:cs typeface="Verdana"/>
              </a:rPr>
              <a:t>using</a:t>
            </a:r>
            <a:r>
              <a:rPr sz="2800" b="1" spc="30" dirty="0">
                <a:solidFill>
                  <a:srgbClr val="2E5496"/>
                </a:solidFill>
                <a:latin typeface="Verdana"/>
                <a:cs typeface="Verdana"/>
              </a:rPr>
              <a:t> </a:t>
            </a:r>
            <a:r>
              <a:rPr sz="2800" b="1" spc="-5" dirty="0">
                <a:solidFill>
                  <a:srgbClr val="2E5496"/>
                </a:solidFill>
                <a:latin typeface="Verdana"/>
                <a:cs typeface="Verdana"/>
              </a:rPr>
              <a:t>the</a:t>
            </a:r>
            <a:r>
              <a:rPr sz="2800" b="1" spc="15" dirty="0">
                <a:solidFill>
                  <a:srgbClr val="2E5496"/>
                </a:solidFill>
                <a:latin typeface="Verdana"/>
                <a:cs typeface="Verdana"/>
              </a:rPr>
              <a:t> </a:t>
            </a:r>
            <a:r>
              <a:rPr sz="2800" b="1" spc="-5" dirty="0">
                <a:solidFill>
                  <a:srgbClr val="2E5496"/>
                </a:solidFill>
                <a:latin typeface="Verdana"/>
                <a:cs typeface="Verdana"/>
              </a:rPr>
              <a:t>idea</a:t>
            </a:r>
            <a:r>
              <a:rPr sz="2800" b="1" spc="15" dirty="0">
                <a:solidFill>
                  <a:srgbClr val="2E5496"/>
                </a:solidFill>
                <a:latin typeface="Verdana"/>
                <a:cs typeface="Verdana"/>
              </a:rPr>
              <a:t> </a:t>
            </a:r>
            <a:r>
              <a:rPr sz="2800" b="1" spc="-5" dirty="0">
                <a:solidFill>
                  <a:srgbClr val="2E5496"/>
                </a:solidFill>
                <a:latin typeface="Verdana"/>
                <a:cs typeface="Verdana"/>
              </a:rPr>
              <a:t>of </a:t>
            </a:r>
            <a:r>
              <a:rPr sz="2800" b="1" dirty="0">
                <a:solidFill>
                  <a:srgbClr val="2E5496"/>
                </a:solidFill>
                <a:latin typeface="Verdana"/>
                <a:cs typeface="Verdana"/>
              </a:rPr>
              <a:t> </a:t>
            </a:r>
            <a:r>
              <a:rPr sz="2800" b="1" spc="-5" dirty="0">
                <a:solidFill>
                  <a:srgbClr val="2E5496"/>
                </a:solidFill>
                <a:latin typeface="Verdana"/>
                <a:cs typeface="Verdana"/>
              </a:rPr>
              <a:t>“</a:t>
            </a:r>
            <a:r>
              <a:rPr sz="2800" b="1" spc="-5" dirty="0">
                <a:solidFill>
                  <a:srgbClr val="C55A11"/>
                </a:solidFill>
                <a:latin typeface="Verdana"/>
                <a:cs typeface="Verdana"/>
              </a:rPr>
              <a:t>objects</a:t>
            </a:r>
            <a:r>
              <a:rPr sz="2800" b="1" spc="-5" dirty="0">
                <a:solidFill>
                  <a:srgbClr val="2E5496"/>
                </a:solidFill>
                <a:latin typeface="Verdana"/>
                <a:cs typeface="Verdana"/>
              </a:rPr>
              <a:t>”</a:t>
            </a:r>
            <a:r>
              <a:rPr sz="2800" b="1" spc="35" dirty="0">
                <a:solidFill>
                  <a:srgbClr val="2E5496"/>
                </a:solidFill>
                <a:latin typeface="Verdana"/>
                <a:cs typeface="Verdana"/>
              </a:rPr>
              <a:t> </a:t>
            </a:r>
            <a:r>
              <a:rPr sz="2800" b="1" spc="-5" dirty="0">
                <a:solidFill>
                  <a:srgbClr val="2E5496"/>
                </a:solidFill>
                <a:latin typeface="Verdana"/>
                <a:cs typeface="Verdana"/>
              </a:rPr>
              <a:t>to</a:t>
            </a:r>
            <a:r>
              <a:rPr sz="2800" b="1" spc="10" dirty="0">
                <a:solidFill>
                  <a:srgbClr val="2E5496"/>
                </a:solidFill>
                <a:latin typeface="Verdana"/>
                <a:cs typeface="Verdana"/>
              </a:rPr>
              <a:t> </a:t>
            </a:r>
            <a:r>
              <a:rPr sz="2800" b="1" spc="-5" dirty="0">
                <a:solidFill>
                  <a:srgbClr val="2E5496"/>
                </a:solidFill>
                <a:latin typeface="Verdana"/>
                <a:cs typeface="Verdana"/>
              </a:rPr>
              <a:t>represents</a:t>
            </a:r>
            <a:r>
              <a:rPr sz="2800" b="1" spc="30" dirty="0">
                <a:solidFill>
                  <a:srgbClr val="2E5496"/>
                </a:solidFill>
                <a:latin typeface="Verdana"/>
                <a:cs typeface="Verdana"/>
              </a:rPr>
              <a:t> </a:t>
            </a:r>
            <a:r>
              <a:rPr sz="2800" b="1" spc="-5" dirty="0">
                <a:solidFill>
                  <a:srgbClr val="2E5496"/>
                </a:solidFill>
                <a:latin typeface="Verdana"/>
                <a:cs typeface="Verdana"/>
              </a:rPr>
              <a:t>data</a:t>
            </a:r>
            <a:r>
              <a:rPr sz="2800" b="1" spc="15" dirty="0">
                <a:solidFill>
                  <a:srgbClr val="2E5496"/>
                </a:solidFill>
                <a:latin typeface="Verdana"/>
                <a:cs typeface="Verdana"/>
              </a:rPr>
              <a:t> </a:t>
            </a:r>
            <a:r>
              <a:rPr sz="2800" b="1" spc="-5" dirty="0">
                <a:solidFill>
                  <a:srgbClr val="2E5496"/>
                </a:solidFill>
                <a:latin typeface="Verdana"/>
                <a:cs typeface="Verdana"/>
              </a:rPr>
              <a:t>and</a:t>
            </a:r>
            <a:r>
              <a:rPr sz="2800" b="1" spc="30" dirty="0">
                <a:solidFill>
                  <a:srgbClr val="2E5496"/>
                </a:solidFill>
                <a:latin typeface="Verdana"/>
                <a:cs typeface="Verdana"/>
              </a:rPr>
              <a:t> </a:t>
            </a:r>
            <a:r>
              <a:rPr sz="2800" b="1" spc="-5" dirty="0">
                <a:solidFill>
                  <a:srgbClr val="2E5496"/>
                </a:solidFill>
                <a:latin typeface="Verdana"/>
                <a:cs typeface="Verdana"/>
              </a:rPr>
              <a:t>methods.</a:t>
            </a:r>
            <a:r>
              <a:rPr sz="2800" b="1" spc="35" dirty="0">
                <a:solidFill>
                  <a:srgbClr val="2E5496"/>
                </a:solidFill>
                <a:latin typeface="Verdana"/>
                <a:cs typeface="Verdana"/>
              </a:rPr>
              <a:t> </a:t>
            </a:r>
            <a:r>
              <a:rPr sz="2800" b="1" spc="-5" dirty="0">
                <a:solidFill>
                  <a:srgbClr val="2E5496"/>
                </a:solidFill>
                <a:latin typeface="Verdana"/>
                <a:cs typeface="Verdana"/>
              </a:rPr>
              <a:t>It</a:t>
            </a:r>
            <a:r>
              <a:rPr sz="2800" b="1" spc="5" dirty="0">
                <a:solidFill>
                  <a:srgbClr val="2E5496"/>
                </a:solidFill>
                <a:latin typeface="Verdana"/>
                <a:cs typeface="Verdana"/>
              </a:rPr>
              <a:t> </a:t>
            </a:r>
            <a:r>
              <a:rPr sz="2800" b="1" spc="-5" dirty="0">
                <a:solidFill>
                  <a:srgbClr val="2E5496"/>
                </a:solidFill>
                <a:latin typeface="Verdana"/>
                <a:cs typeface="Verdana"/>
              </a:rPr>
              <a:t>is </a:t>
            </a:r>
            <a:r>
              <a:rPr sz="2800" b="1" spc="-944" dirty="0">
                <a:solidFill>
                  <a:srgbClr val="2E5496"/>
                </a:solidFill>
                <a:latin typeface="Verdana"/>
                <a:cs typeface="Verdana"/>
              </a:rPr>
              <a:t> </a:t>
            </a:r>
            <a:r>
              <a:rPr sz="2800" b="1" spc="-5" dirty="0">
                <a:solidFill>
                  <a:srgbClr val="2E5496"/>
                </a:solidFill>
                <a:latin typeface="Verdana"/>
                <a:cs typeface="Verdana"/>
              </a:rPr>
              <a:t>also,</a:t>
            </a:r>
            <a:r>
              <a:rPr sz="2800" b="1" spc="20" dirty="0">
                <a:solidFill>
                  <a:srgbClr val="2E5496"/>
                </a:solidFill>
                <a:latin typeface="Verdana"/>
                <a:cs typeface="Verdana"/>
              </a:rPr>
              <a:t> </a:t>
            </a:r>
            <a:r>
              <a:rPr sz="2800" b="1" spc="-5" dirty="0">
                <a:solidFill>
                  <a:srgbClr val="2E5496"/>
                </a:solidFill>
                <a:latin typeface="Verdana"/>
                <a:cs typeface="Verdana"/>
              </a:rPr>
              <a:t>an</a:t>
            </a:r>
            <a:r>
              <a:rPr sz="2800" b="1" spc="15" dirty="0">
                <a:solidFill>
                  <a:srgbClr val="2E5496"/>
                </a:solidFill>
                <a:latin typeface="Verdana"/>
                <a:cs typeface="Verdana"/>
              </a:rPr>
              <a:t> </a:t>
            </a:r>
            <a:r>
              <a:rPr sz="2800" b="1" spc="-5" dirty="0">
                <a:solidFill>
                  <a:srgbClr val="2E5496"/>
                </a:solidFill>
                <a:latin typeface="Verdana"/>
                <a:cs typeface="Verdana"/>
              </a:rPr>
              <a:t>approach</a:t>
            </a:r>
            <a:r>
              <a:rPr sz="2800" b="1" spc="40" dirty="0">
                <a:solidFill>
                  <a:srgbClr val="2E5496"/>
                </a:solidFill>
                <a:latin typeface="Verdana"/>
                <a:cs typeface="Verdana"/>
              </a:rPr>
              <a:t> </a:t>
            </a:r>
            <a:r>
              <a:rPr sz="2800" b="1" spc="-10" dirty="0">
                <a:solidFill>
                  <a:srgbClr val="2E5496"/>
                </a:solidFill>
                <a:latin typeface="Verdana"/>
                <a:cs typeface="Verdana"/>
              </a:rPr>
              <a:t>used</a:t>
            </a:r>
            <a:r>
              <a:rPr sz="2800" b="1" spc="20" dirty="0">
                <a:solidFill>
                  <a:srgbClr val="2E5496"/>
                </a:solidFill>
                <a:latin typeface="Verdana"/>
                <a:cs typeface="Verdana"/>
              </a:rPr>
              <a:t> </a:t>
            </a:r>
            <a:r>
              <a:rPr sz="2800" b="1" spc="-10" dirty="0">
                <a:solidFill>
                  <a:srgbClr val="2E5496"/>
                </a:solidFill>
                <a:latin typeface="Verdana"/>
                <a:cs typeface="Verdana"/>
              </a:rPr>
              <a:t>for</a:t>
            </a:r>
            <a:r>
              <a:rPr sz="2800" b="1" spc="15" dirty="0">
                <a:solidFill>
                  <a:srgbClr val="2E5496"/>
                </a:solidFill>
                <a:latin typeface="Verdana"/>
                <a:cs typeface="Verdana"/>
              </a:rPr>
              <a:t> </a:t>
            </a:r>
            <a:r>
              <a:rPr sz="2800" b="1" spc="-5" dirty="0">
                <a:solidFill>
                  <a:srgbClr val="2E5496"/>
                </a:solidFill>
                <a:latin typeface="Verdana"/>
                <a:cs typeface="Verdana"/>
              </a:rPr>
              <a:t>creating</a:t>
            </a:r>
            <a:r>
              <a:rPr sz="2800" b="1" spc="20" dirty="0">
                <a:solidFill>
                  <a:srgbClr val="2E5496"/>
                </a:solidFill>
                <a:latin typeface="Verdana"/>
                <a:cs typeface="Verdana"/>
              </a:rPr>
              <a:t> </a:t>
            </a:r>
            <a:r>
              <a:rPr sz="2800" b="1" spc="-5" dirty="0">
                <a:solidFill>
                  <a:srgbClr val="2E5496"/>
                </a:solidFill>
                <a:latin typeface="Verdana"/>
                <a:cs typeface="Verdana"/>
              </a:rPr>
              <a:t>neat</a:t>
            </a:r>
            <a:r>
              <a:rPr sz="2800" b="1" spc="20" dirty="0">
                <a:solidFill>
                  <a:srgbClr val="2E5496"/>
                </a:solidFill>
                <a:latin typeface="Verdana"/>
                <a:cs typeface="Verdana"/>
              </a:rPr>
              <a:t> </a:t>
            </a:r>
            <a:r>
              <a:rPr sz="2800" b="1" spc="-5" dirty="0">
                <a:solidFill>
                  <a:srgbClr val="2E5496"/>
                </a:solidFill>
                <a:latin typeface="Verdana"/>
                <a:cs typeface="Verdana"/>
              </a:rPr>
              <a:t>and </a:t>
            </a:r>
            <a:r>
              <a:rPr sz="2800" b="1" dirty="0">
                <a:solidFill>
                  <a:srgbClr val="2E5496"/>
                </a:solidFill>
                <a:latin typeface="Verdana"/>
                <a:cs typeface="Verdana"/>
              </a:rPr>
              <a:t> </a:t>
            </a:r>
            <a:r>
              <a:rPr sz="2800" b="1" spc="-10" dirty="0">
                <a:solidFill>
                  <a:srgbClr val="2E5496"/>
                </a:solidFill>
                <a:latin typeface="Verdana"/>
                <a:cs typeface="Verdana"/>
              </a:rPr>
              <a:t>reusable</a:t>
            </a:r>
            <a:r>
              <a:rPr sz="2800" b="1" spc="20" dirty="0">
                <a:solidFill>
                  <a:srgbClr val="2E5496"/>
                </a:solidFill>
                <a:latin typeface="Verdana"/>
                <a:cs typeface="Verdana"/>
              </a:rPr>
              <a:t> </a:t>
            </a:r>
            <a:r>
              <a:rPr sz="2800" b="1" spc="-10" dirty="0">
                <a:solidFill>
                  <a:srgbClr val="2E5496"/>
                </a:solidFill>
                <a:latin typeface="Verdana"/>
                <a:cs typeface="Verdana"/>
              </a:rPr>
              <a:t>code</a:t>
            </a:r>
            <a:r>
              <a:rPr sz="2800" b="1" spc="25" dirty="0">
                <a:solidFill>
                  <a:srgbClr val="2E5496"/>
                </a:solidFill>
                <a:latin typeface="Verdana"/>
                <a:cs typeface="Verdana"/>
              </a:rPr>
              <a:t> </a:t>
            </a:r>
            <a:r>
              <a:rPr sz="2800" b="1" spc="-5" dirty="0">
                <a:solidFill>
                  <a:srgbClr val="2E5496"/>
                </a:solidFill>
                <a:latin typeface="Verdana"/>
                <a:cs typeface="Verdana"/>
              </a:rPr>
              <a:t>instead</a:t>
            </a:r>
            <a:r>
              <a:rPr sz="2800" b="1" spc="40" dirty="0">
                <a:solidFill>
                  <a:srgbClr val="2E5496"/>
                </a:solidFill>
                <a:latin typeface="Verdana"/>
                <a:cs typeface="Verdana"/>
              </a:rPr>
              <a:t> </a:t>
            </a:r>
            <a:r>
              <a:rPr sz="2800" b="1" spc="-5" dirty="0">
                <a:solidFill>
                  <a:srgbClr val="2E5496"/>
                </a:solidFill>
                <a:latin typeface="Verdana"/>
                <a:cs typeface="Verdana"/>
              </a:rPr>
              <a:t>of</a:t>
            </a:r>
            <a:r>
              <a:rPr sz="2800" b="1" spc="20" dirty="0">
                <a:solidFill>
                  <a:srgbClr val="2E5496"/>
                </a:solidFill>
                <a:latin typeface="Verdana"/>
                <a:cs typeface="Verdana"/>
              </a:rPr>
              <a:t> </a:t>
            </a:r>
            <a:r>
              <a:rPr sz="2800" b="1" spc="-5" dirty="0">
                <a:solidFill>
                  <a:srgbClr val="2E5496"/>
                </a:solidFill>
                <a:latin typeface="Verdana"/>
                <a:cs typeface="Verdana"/>
              </a:rPr>
              <a:t>a redundant</a:t>
            </a:r>
            <a:r>
              <a:rPr sz="2800" b="1" spc="45" dirty="0">
                <a:solidFill>
                  <a:srgbClr val="2E5496"/>
                </a:solidFill>
                <a:latin typeface="Verdana"/>
                <a:cs typeface="Verdana"/>
              </a:rPr>
              <a:t> </a:t>
            </a:r>
            <a:r>
              <a:rPr sz="2800" b="1" spc="-5" dirty="0">
                <a:solidFill>
                  <a:srgbClr val="2E5496"/>
                </a:solidFill>
                <a:latin typeface="Verdana"/>
                <a:cs typeface="Verdana"/>
              </a:rPr>
              <a:t>one.</a:t>
            </a:r>
            <a:endParaRPr sz="2800" dirty="0">
              <a:latin typeface="Verdana"/>
              <a:cs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9013" y="4215325"/>
            <a:ext cx="11318752" cy="755998"/>
          </a:xfrm>
          <a:prstGeom prst="rect">
            <a:avLst/>
          </a:prstGeom>
        </p:spPr>
      </p:pic>
      <p:sp>
        <p:nvSpPr>
          <p:cNvPr id="3" name="object 3"/>
          <p:cNvSpPr txBox="1"/>
          <p:nvPr/>
        </p:nvSpPr>
        <p:spPr>
          <a:xfrm>
            <a:off x="685037" y="4287773"/>
            <a:ext cx="10971530" cy="487312"/>
          </a:xfrm>
          <a:prstGeom prst="rect">
            <a:avLst/>
          </a:prstGeom>
          <a:solidFill>
            <a:srgbClr val="FFFFFF"/>
          </a:solidFill>
          <a:ln w="38100">
            <a:solidFill>
              <a:srgbClr val="8FAADC"/>
            </a:solidFill>
          </a:ln>
        </p:spPr>
        <p:txBody>
          <a:bodyPr vert="horz" wrap="square" lIns="0" tIns="116839" rIns="0" bIns="0" rtlCol="0">
            <a:spAutoFit/>
          </a:bodyPr>
          <a:lstStyle/>
          <a:p>
            <a:pPr marL="388620">
              <a:lnSpc>
                <a:spcPct val="100000"/>
              </a:lnSpc>
              <a:spcBef>
                <a:spcPts val="919"/>
              </a:spcBef>
            </a:pPr>
            <a:r>
              <a:rPr sz="2400" b="1" spc="-5" dirty="0">
                <a:solidFill>
                  <a:srgbClr val="767070"/>
                </a:solidFill>
                <a:latin typeface="Verdana"/>
                <a:cs typeface="Verdana"/>
              </a:rPr>
              <a:t>class</a:t>
            </a:r>
            <a:r>
              <a:rPr sz="2400" b="1" spc="-10" dirty="0">
                <a:solidFill>
                  <a:srgbClr val="767070"/>
                </a:solidFill>
                <a:latin typeface="Verdana"/>
                <a:cs typeface="Verdana"/>
              </a:rPr>
              <a:t> </a:t>
            </a:r>
            <a:r>
              <a:rPr sz="2400" b="1" spc="-5" dirty="0">
                <a:solidFill>
                  <a:srgbClr val="767070"/>
                </a:solidFill>
                <a:latin typeface="Verdana"/>
                <a:cs typeface="Verdana"/>
              </a:rPr>
              <a:t>class1:</a:t>
            </a:r>
            <a:r>
              <a:rPr sz="2400" b="1" spc="10" dirty="0">
                <a:solidFill>
                  <a:srgbClr val="767070"/>
                </a:solidFill>
                <a:latin typeface="Verdana"/>
                <a:cs typeface="Verdana"/>
              </a:rPr>
              <a:t> </a:t>
            </a:r>
            <a:r>
              <a:rPr sz="2400" b="1" spc="-5" dirty="0">
                <a:solidFill>
                  <a:srgbClr val="BE9000"/>
                </a:solidFill>
                <a:latin typeface="Verdana"/>
                <a:cs typeface="Verdana"/>
              </a:rPr>
              <a:t>//</a:t>
            </a:r>
            <a:r>
              <a:rPr sz="2400" b="1" spc="-15" dirty="0">
                <a:solidFill>
                  <a:srgbClr val="BE9000"/>
                </a:solidFill>
                <a:latin typeface="Verdana"/>
                <a:cs typeface="Verdana"/>
              </a:rPr>
              <a:t> </a:t>
            </a:r>
            <a:r>
              <a:rPr sz="2400" b="1" spc="-5" dirty="0">
                <a:solidFill>
                  <a:srgbClr val="BE9000"/>
                </a:solidFill>
                <a:latin typeface="Verdana"/>
                <a:cs typeface="Verdana"/>
              </a:rPr>
              <a:t>class </a:t>
            </a:r>
            <a:r>
              <a:rPr sz="2400" b="1" dirty="0">
                <a:solidFill>
                  <a:srgbClr val="BE9000"/>
                </a:solidFill>
                <a:latin typeface="Verdana"/>
                <a:cs typeface="Verdana"/>
              </a:rPr>
              <a:t>1</a:t>
            </a:r>
            <a:r>
              <a:rPr sz="2400" b="1" spc="15" dirty="0">
                <a:solidFill>
                  <a:srgbClr val="BE9000"/>
                </a:solidFill>
                <a:latin typeface="Verdana"/>
                <a:cs typeface="Verdana"/>
              </a:rPr>
              <a:t> </a:t>
            </a:r>
            <a:r>
              <a:rPr sz="2400" b="1" dirty="0">
                <a:solidFill>
                  <a:srgbClr val="BE9000"/>
                </a:solidFill>
                <a:latin typeface="Verdana"/>
                <a:cs typeface="Verdana"/>
              </a:rPr>
              <a:t>is </a:t>
            </a:r>
            <a:r>
              <a:rPr sz="2400" b="1" spc="-5" dirty="0">
                <a:solidFill>
                  <a:srgbClr val="BE9000"/>
                </a:solidFill>
                <a:latin typeface="Verdana"/>
                <a:cs typeface="Verdana"/>
              </a:rPr>
              <a:t>the</a:t>
            </a:r>
            <a:r>
              <a:rPr sz="2400" b="1" spc="15" dirty="0">
                <a:solidFill>
                  <a:srgbClr val="BE9000"/>
                </a:solidFill>
                <a:latin typeface="Verdana"/>
                <a:cs typeface="Verdana"/>
              </a:rPr>
              <a:t> </a:t>
            </a:r>
            <a:r>
              <a:rPr sz="2400" b="1" spc="-5" dirty="0">
                <a:solidFill>
                  <a:srgbClr val="BE9000"/>
                </a:solidFill>
                <a:latin typeface="Verdana"/>
                <a:cs typeface="Verdana"/>
              </a:rPr>
              <a:t>name</a:t>
            </a:r>
            <a:r>
              <a:rPr sz="2400" b="1" dirty="0">
                <a:solidFill>
                  <a:srgbClr val="BE9000"/>
                </a:solidFill>
                <a:latin typeface="Verdana"/>
                <a:cs typeface="Verdana"/>
              </a:rPr>
              <a:t> </a:t>
            </a:r>
            <a:r>
              <a:rPr sz="2400" b="1" spc="-5" dirty="0">
                <a:solidFill>
                  <a:srgbClr val="BE9000"/>
                </a:solidFill>
                <a:latin typeface="Verdana"/>
                <a:cs typeface="Verdana"/>
              </a:rPr>
              <a:t>of</a:t>
            </a:r>
            <a:r>
              <a:rPr sz="2400" b="1" spc="10" dirty="0">
                <a:solidFill>
                  <a:srgbClr val="BE9000"/>
                </a:solidFill>
                <a:latin typeface="Verdana"/>
                <a:cs typeface="Verdana"/>
              </a:rPr>
              <a:t> </a:t>
            </a:r>
            <a:r>
              <a:rPr sz="2400" b="1" spc="-5" dirty="0">
                <a:solidFill>
                  <a:srgbClr val="BE9000"/>
                </a:solidFill>
                <a:latin typeface="Verdana"/>
                <a:cs typeface="Verdana"/>
              </a:rPr>
              <a:t>the</a:t>
            </a:r>
            <a:r>
              <a:rPr sz="2400" b="1" spc="5" dirty="0">
                <a:solidFill>
                  <a:srgbClr val="BE9000"/>
                </a:solidFill>
                <a:latin typeface="Verdana"/>
                <a:cs typeface="Verdana"/>
              </a:rPr>
              <a:t> </a:t>
            </a:r>
            <a:r>
              <a:rPr sz="2400" b="1" spc="-5" dirty="0">
                <a:solidFill>
                  <a:srgbClr val="BE9000"/>
                </a:solidFill>
                <a:latin typeface="Verdana"/>
                <a:cs typeface="Verdana"/>
              </a:rPr>
              <a:t>class</a:t>
            </a:r>
            <a:endParaRPr sz="2400" dirty="0">
              <a:latin typeface="Verdana"/>
              <a:cs typeface="Verdana"/>
            </a:endParaRPr>
          </a:p>
        </p:txBody>
      </p:sp>
      <p:sp>
        <p:nvSpPr>
          <p:cNvPr id="8" name="object 8"/>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7</a:t>
            </a:fld>
            <a:endParaRPr sz="1200">
              <a:latin typeface="Calibri"/>
              <a:cs typeface="Calibri"/>
            </a:endParaRPr>
          </a:p>
        </p:txBody>
      </p:sp>
      <p:sp>
        <p:nvSpPr>
          <p:cNvPr id="4" name="object 4"/>
          <p:cNvSpPr txBox="1"/>
          <p:nvPr/>
        </p:nvSpPr>
        <p:spPr>
          <a:xfrm>
            <a:off x="763625" y="1695450"/>
            <a:ext cx="9782810" cy="391160"/>
          </a:xfrm>
          <a:prstGeom prst="rect">
            <a:avLst/>
          </a:prstGeom>
        </p:spPr>
        <p:txBody>
          <a:bodyPr vert="horz" wrap="square" lIns="0" tIns="12700" rIns="0" bIns="0" rtlCol="0">
            <a:spAutoFit/>
          </a:bodyPr>
          <a:lstStyle/>
          <a:p>
            <a:pPr marL="12700">
              <a:lnSpc>
                <a:spcPct val="100000"/>
              </a:lnSpc>
              <a:spcBef>
                <a:spcPts val="100"/>
              </a:spcBef>
              <a:tabLst>
                <a:tab pos="1823085" algn="l"/>
                <a:tab pos="2411095" algn="l"/>
                <a:tab pos="3907790" algn="l"/>
                <a:tab pos="5560060" algn="l"/>
                <a:tab pos="6367780" algn="l"/>
                <a:tab pos="8079740" algn="l"/>
              </a:tabLst>
            </a:pPr>
            <a:r>
              <a:rPr sz="2400" b="1" spc="-5" dirty="0">
                <a:solidFill>
                  <a:srgbClr val="2E5496"/>
                </a:solidFill>
                <a:latin typeface="Verdana"/>
                <a:cs typeface="Verdana"/>
              </a:rPr>
              <a:t>bl</a:t>
            </a:r>
            <a:r>
              <a:rPr sz="2400" b="1" spc="-10" dirty="0">
                <a:solidFill>
                  <a:srgbClr val="2E5496"/>
                </a:solidFill>
                <a:latin typeface="Verdana"/>
                <a:cs typeface="Verdana"/>
              </a:rPr>
              <a:t>u</a:t>
            </a:r>
            <a:r>
              <a:rPr sz="2400" b="1" spc="-5" dirty="0">
                <a:solidFill>
                  <a:srgbClr val="2E5496"/>
                </a:solidFill>
                <a:latin typeface="Verdana"/>
                <a:cs typeface="Verdana"/>
              </a:rPr>
              <a:t>ep</a:t>
            </a:r>
            <a:r>
              <a:rPr sz="2400" b="1" spc="5" dirty="0">
                <a:solidFill>
                  <a:srgbClr val="2E5496"/>
                </a:solidFill>
                <a:latin typeface="Verdana"/>
                <a:cs typeface="Verdana"/>
              </a:rPr>
              <a:t>r</a:t>
            </a:r>
            <a:r>
              <a:rPr sz="2400" b="1" dirty="0">
                <a:solidFill>
                  <a:srgbClr val="2E5496"/>
                </a:solidFill>
                <a:latin typeface="Verdana"/>
                <a:cs typeface="Verdana"/>
              </a:rPr>
              <a:t>int	</a:t>
            </a:r>
            <a:r>
              <a:rPr sz="2400" b="1" spc="5" dirty="0">
                <a:solidFill>
                  <a:srgbClr val="2E5496"/>
                </a:solidFill>
                <a:latin typeface="Verdana"/>
                <a:cs typeface="Verdana"/>
              </a:rPr>
              <a:t>o</a:t>
            </a:r>
            <a:r>
              <a:rPr sz="2400" b="1" dirty="0">
                <a:solidFill>
                  <a:srgbClr val="2E5496"/>
                </a:solidFill>
                <a:latin typeface="Verdana"/>
                <a:cs typeface="Verdana"/>
              </a:rPr>
              <a:t>f	obje</a:t>
            </a:r>
            <a:r>
              <a:rPr sz="2400" b="1" spc="5" dirty="0">
                <a:solidFill>
                  <a:srgbClr val="2E5496"/>
                </a:solidFill>
                <a:latin typeface="Verdana"/>
                <a:cs typeface="Verdana"/>
              </a:rPr>
              <a:t>c</a:t>
            </a:r>
            <a:r>
              <a:rPr sz="2400" b="1" dirty="0">
                <a:solidFill>
                  <a:srgbClr val="2E5496"/>
                </a:solidFill>
                <a:latin typeface="Verdana"/>
                <a:cs typeface="Verdana"/>
              </a:rPr>
              <a:t>ts	</a:t>
            </a:r>
            <a:r>
              <a:rPr sz="2400" b="1" spc="-5" dirty="0">
                <a:solidFill>
                  <a:srgbClr val="2E5496"/>
                </a:solidFill>
                <a:latin typeface="Verdana"/>
                <a:cs typeface="Verdana"/>
              </a:rPr>
              <a:t>de</a:t>
            </a:r>
            <a:r>
              <a:rPr sz="2400" b="1" spc="5" dirty="0">
                <a:solidFill>
                  <a:srgbClr val="2E5496"/>
                </a:solidFill>
                <a:latin typeface="Verdana"/>
                <a:cs typeface="Verdana"/>
              </a:rPr>
              <a:t>f</a:t>
            </a:r>
            <a:r>
              <a:rPr sz="2400" b="1" dirty="0">
                <a:solidFill>
                  <a:srgbClr val="2E5496"/>
                </a:solidFill>
                <a:latin typeface="Verdana"/>
                <a:cs typeface="Verdana"/>
              </a:rPr>
              <a:t>in</a:t>
            </a:r>
            <a:r>
              <a:rPr sz="2400" b="1" spc="5" dirty="0">
                <a:solidFill>
                  <a:srgbClr val="2E5496"/>
                </a:solidFill>
                <a:latin typeface="Verdana"/>
                <a:cs typeface="Verdana"/>
              </a:rPr>
              <a:t>i</a:t>
            </a:r>
            <a:r>
              <a:rPr sz="2400" b="1" spc="-5" dirty="0">
                <a:solidFill>
                  <a:srgbClr val="2E5496"/>
                </a:solidFill>
                <a:latin typeface="Verdana"/>
                <a:cs typeface="Verdana"/>
              </a:rPr>
              <a:t>n</a:t>
            </a:r>
            <a:r>
              <a:rPr sz="2400" b="1" dirty="0">
                <a:solidFill>
                  <a:srgbClr val="2E5496"/>
                </a:solidFill>
                <a:latin typeface="Verdana"/>
                <a:cs typeface="Verdana"/>
              </a:rPr>
              <a:t>g	the	</a:t>
            </a:r>
            <a:r>
              <a:rPr sz="2400" b="1" spc="10" dirty="0">
                <a:solidFill>
                  <a:srgbClr val="2E5496"/>
                </a:solidFill>
                <a:latin typeface="Verdana"/>
                <a:cs typeface="Verdana"/>
              </a:rPr>
              <a:t>c</a:t>
            </a:r>
            <a:r>
              <a:rPr sz="2400" b="1" dirty="0">
                <a:solidFill>
                  <a:srgbClr val="2E5496"/>
                </a:solidFill>
                <a:latin typeface="Verdana"/>
                <a:cs typeface="Verdana"/>
              </a:rPr>
              <a:t>ommon	attributes</a:t>
            </a:r>
            <a:endParaRPr sz="2400">
              <a:latin typeface="Verdana"/>
              <a:cs typeface="Verdana"/>
            </a:endParaRPr>
          </a:p>
        </p:txBody>
      </p:sp>
      <p:sp>
        <p:nvSpPr>
          <p:cNvPr id="5" name="object 5"/>
          <p:cNvSpPr txBox="1"/>
          <p:nvPr/>
        </p:nvSpPr>
        <p:spPr>
          <a:xfrm>
            <a:off x="763625" y="1329690"/>
            <a:ext cx="10666095" cy="756920"/>
          </a:xfrm>
          <a:prstGeom prst="rect">
            <a:avLst/>
          </a:prstGeom>
        </p:spPr>
        <p:txBody>
          <a:bodyPr vert="horz" wrap="square" lIns="0" tIns="12700" rIns="0" bIns="0" rtlCol="0">
            <a:spAutoFit/>
          </a:bodyPr>
          <a:lstStyle/>
          <a:p>
            <a:pPr marR="5080" algn="r">
              <a:lnSpc>
                <a:spcPct val="100000"/>
              </a:lnSpc>
              <a:spcBef>
                <a:spcPts val="100"/>
              </a:spcBef>
              <a:tabLst>
                <a:tab pos="459740" algn="l"/>
                <a:tab pos="1536065" algn="l"/>
                <a:tab pos="2044700" algn="l"/>
                <a:tab pos="2473325" algn="l"/>
                <a:tab pos="4351020" algn="l"/>
                <a:tab pos="4914900" algn="l"/>
                <a:tab pos="6385560" algn="l"/>
                <a:tab pos="6971030" algn="l"/>
                <a:tab pos="7823200" algn="l"/>
                <a:tab pos="8647430" algn="l"/>
                <a:tab pos="9457055" algn="l"/>
                <a:tab pos="9925050" algn="l"/>
                <a:tab pos="10435590" algn="l"/>
              </a:tabLst>
            </a:pPr>
            <a:r>
              <a:rPr sz="2400" b="1" dirty="0">
                <a:solidFill>
                  <a:srgbClr val="2E5496"/>
                </a:solidFill>
                <a:latin typeface="Verdana"/>
                <a:cs typeface="Verdana"/>
              </a:rPr>
              <a:t>A	</a:t>
            </a:r>
            <a:r>
              <a:rPr sz="2400" b="1" spc="10" dirty="0">
                <a:solidFill>
                  <a:srgbClr val="585858"/>
                </a:solidFill>
                <a:latin typeface="Verdana"/>
                <a:cs typeface="Verdana"/>
              </a:rPr>
              <a:t>c</a:t>
            </a:r>
            <a:r>
              <a:rPr sz="2400" b="1" dirty="0">
                <a:solidFill>
                  <a:srgbClr val="585858"/>
                </a:solidFill>
                <a:latin typeface="Verdana"/>
                <a:cs typeface="Verdana"/>
              </a:rPr>
              <a:t>lass	</a:t>
            </a:r>
            <a:r>
              <a:rPr sz="2400" b="1" spc="-5" dirty="0">
                <a:solidFill>
                  <a:srgbClr val="2E5496"/>
                </a:solidFill>
                <a:latin typeface="Verdana"/>
                <a:cs typeface="Verdana"/>
              </a:rPr>
              <a:t>i</a:t>
            </a:r>
            <a:r>
              <a:rPr sz="2400" b="1" dirty="0">
                <a:solidFill>
                  <a:srgbClr val="2E5496"/>
                </a:solidFill>
                <a:latin typeface="Verdana"/>
                <a:cs typeface="Verdana"/>
              </a:rPr>
              <a:t>s	a	</a:t>
            </a:r>
            <a:r>
              <a:rPr sz="2400" b="1" spc="10" dirty="0">
                <a:solidFill>
                  <a:srgbClr val="2E5496"/>
                </a:solidFill>
                <a:latin typeface="Verdana"/>
                <a:cs typeface="Verdana"/>
              </a:rPr>
              <a:t>c</a:t>
            </a:r>
            <a:r>
              <a:rPr sz="2400" b="1" dirty="0">
                <a:solidFill>
                  <a:srgbClr val="2E5496"/>
                </a:solidFill>
                <a:latin typeface="Verdana"/>
                <a:cs typeface="Verdana"/>
              </a:rPr>
              <a:t>ol</a:t>
            </a:r>
            <a:r>
              <a:rPr sz="2400" b="1" spc="5" dirty="0">
                <a:solidFill>
                  <a:srgbClr val="2E5496"/>
                </a:solidFill>
                <a:latin typeface="Verdana"/>
                <a:cs typeface="Verdana"/>
              </a:rPr>
              <a:t>l</a:t>
            </a:r>
            <a:r>
              <a:rPr sz="2400" b="1" spc="-5" dirty="0">
                <a:solidFill>
                  <a:srgbClr val="2E5496"/>
                </a:solidFill>
                <a:latin typeface="Verdana"/>
                <a:cs typeface="Verdana"/>
              </a:rPr>
              <a:t>e</a:t>
            </a:r>
            <a:r>
              <a:rPr sz="2400" b="1" dirty="0">
                <a:solidFill>
                  <a:srgbClr val="2E5496"/>
                </a:solidFill>
                <a:latin typeface="Verdana"/>
                <a:cs typeface="Verdana"/>
              </a:rPr>
              <a:t>ction	</a:t>
            </a:r>
            <a:r>
              <a:rPr sz="2400" b="1" spc="10" dirty="0">
                <a:solidFill>
                  <a:srgbClr val="2E5496"/>
                </a:solidFill>
                <a:latin typeface="Verdana"/>
                <a:cs typeface="Verdana"/>
              </a:rPr>
              <a:t>o</a:t>
            </a:r>
            <a:r>
              <a:rPr sz="2400" b="1" dirty="0">
                <a:solidFill>
                  <a:srgbClr val="2E5496"/>
                </a:solidFill>
                <a:latin typeface="Verdana"/>
                <a:cs typeface="Verdana"/>
              </a:rPr>
              <a:t>f	obje</a:t>
            </a:r>
            <a:r>
              <a:rPr sz="2400" b="1" spc="5" dirty="0">
                <a:solidFill>
                  <a:srgbClr val="2E5496"/>
                </a:solidFill>
                <a:latin typeface="Verdana"/>
                <a:cs typeface="Verdana"/>
              </a:rPr>
              <a:t>c</a:t>
            </a:r>
            <a:r>
              <a:rPr sz="2400" b="1" spc="-15" dirty="0">
                <a:solidFill>
                  <a:srgbClr val="2E5496"/>
                </a:solidFill>
                <a:latin typeface="Verdana"/>
                <a:cs typeface="Verdana"/>
              </a:rPr>
              <a:t>t</a:t>
            </a:r>
            <a:r>
              <a:rPr sz="2400" b="1" dirty="0">
                <a:solidFill>
                  <a:srgbClr val="2E5496"/>
                </a:solidFill>
                <a:latin typeface="Verdana"/>
                <a:cs typeface="Verdana"/>
              </a:rPr>
              <a:t>s	</a:t>
            </a:r>
            <a:r>
              <a:rPr sz="2400" b="1" spc="-5" dirty="0">
                <a:solidFill>
                  <a:srgbClr val="2E5496"/>
                </a:solidFill>
                <a:latin typeface="Verdana"/>
                <a:cs typeface="Verdana"/>
              </a:rPr>
              <a:t>o</a:t>
            </a:r>
            <a:r>
              <a:rPr sz="2400" b="1" dirty="0">
                <a:solidFill>
                  <a:srgbClr val="2E5496"/>
                </a:solidFill>
                <a:latin typeface="Verdana"/>
                <a:cs typeface="Verdana"/>
              </a:rPr>
              <a:t>r	</a:t>
            </a:r>
            <a:r>
              <a:rPr sz="2400" b="1" spc="5" dirty="0">
                <a:solidFill>
                  <a:srgbClr val="2E5496"/>
                </a:solidFill>
                <a:latin typeface="Verdana"/>
                <a:cs typeface="Verdana"/>
              </a:rPr>
              <a:t>yo</a:t>
            </a:r>
            <a:r>
              <a:rPr sz="2400" b="1" dirty="0">
                <a:solidFill>
                  <a:srgbClr val="2E5496"/>
                </a:solidFill>
                <a:latin typeface="Verdana"/>
                <a:cs typeface="Verdana"/>
              </a:rPr>
              <a:t>u	can	</a:t>
            </a:r>
            <a:r>
              <a:rPr sz="2400" b="1" spc="10" dirty="0">
                <a:solidFill>
                  <a:srgbClr val="2E5496"/>
                </a:solidFill>
                <a:latin typeface="Verdana"/>
                <a:cs typeface="Verdana"/>
              </a:rPr>
              <a:t>s</a:t>
            </a:r>
            <a:r>
              <a:rPr sz="2400" b="1" dirty="0">
                <a:solidFill>
                  <a:srgbClr val="2E5496"/>
                </a:solidFill>
                <a:latin typeface="Verdana"/>
                <a:cs typeface="Verdana"/>
              </a:rPr>
              <a:t>ay	</a:t>
            </a:r>
            <a:r>
              <a:rPr sz="2400" b="1" spc="-5" dirty="0">
                <a:solidFill>
                  <a:srgbClr val="2E5496"/>
                </a:solidFill>
                <a:latin typeface="Verdana"/>
                <a:cs typeface="Verdana"/>
              </a:rPr>
              <a:t>i</a:t>
            </a:r>
            <a:r>
              <a:rPr sz="2400" b="1" dirty="0">
                <a:solidFill>
                  <a:srgbClr val="2E5496"/>
                </a:solidFill>
                <a:latin typeface="Verdana"/>
                <a:cs typeface="Verdana"/>
              </a:rPr>
              <a:t>t	</a:t>
            </a:r>
            <a:r>
              <a:rPr sz="2400" b="1" spc="-5" dirty="0">
                <a:solidFill>
                  <a:srgbClr val="2E5496"/>
                </a:solidFill>
                <a:latin typeface="Verdana"/>
                <a:cs typeface="Verdana"/>
              </a:rPr>
              <a:t>i</a:t>
            </a:r>
            <a:r>
              <a:rPr sz="2400" b="1" dirty="0">
                <a:solidFill>
                  <a:srgbClr val="2E5496"/>
                </a:solidFill>
                <a:latin typeface="Verdana"/>
                <a:cs typeface="Verdana"/>
              </a:rPr>
              <a:t>s	a</a:t>
            </a:r>
            <a:endParaRPr sz="2400">
              <a:latin typeface="Verdana"/>
              <a:cs typeface="Verdana"/>
            </a:endParaRPr>
          </a:p>
          <a:p>
            <a:pPr marR="5080" algn="r">
              <a:lnSpc>
                <a:spcPct val="100000"/>
              </a:lnSpc>
            </a:pPr>
            <a:r>
              <a:rPr sz="2400" b="1" dirty="0">
                <a:solidFill>
                  <a:srgbClr val="2E5496"/>
                </a:solidFill>
                <a:latin typeface="Verdana"/>
                <a:cs typeface="Verdana"/>
              </a:rPr>
              <a:t>and</a:t>
            </a:r>
            <a:endParaRPr sz="2400">
              <a:latin typeface="Verdana"/>
              <a:cs typeface="Verdana"/>
            </a:endParaRPr>
          </a:p>
        </p:txBody>
      </p:sp>
      <p:sp>
        <p:nvSpPr>
          <p:cNvPr id="6" name="object 6"/>
          <p:cNvSpPr txBox="1"/>
          <p:nvPr/>
        </p:nvSpPr>
        <p:spPr>
          <a:xfrm>
            <a:off x="763625" y="2060905"/>
            <a:ext cx="9604375" cy="1915795"/>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2E5496"/>
                </a:solidFill>
                <a:latin typeface="Verdana"/>
                <a:cs typeface="Verdana"/>
              </a:rPr>
              <a:t>behavior.</a:t>
            </a:r>
            <a:r>
              <a:rPr sz="2400" b="1" spc="10" dirty="0">
                <a:solidFill>
                  <a:srgbClr val="2E5496"/>
                </a:solidFill>
                <a:latin typeface="Verdana"/>
                <a:cs typeface="Verdana"/>
              </a:rPr>
              <a:t> </a:t>
            </a:r>
            <a:r>
              <a:rPr sz="2400" b="1" spc="-5" dirty="0">
                <a:solidFill>
                  <a:srgbClr val="2E5496"/>
                </a:solidFill>
                <a:latin typeface="Verdana"/>
                <a:cs typeface="Verdana"/>
              </a:rPr>
              <a:t>Now</a:t>
            </a:r>
            <a:r>
              <a:rPr sz="2400" b="1" spc="20" dirty="0">
                <a:solidFill>
                  <a:srgbClr val="2E5496"/>
                </a:solidFill>
                <a:latin typeface="Verdana"/>
                <a:cs typeface="Verdana"/>
              </a:rPr>
              <a:t> </a:t>
            </a:r>
            <a:r>
              <a:rPr sz="2400" b="1" spc="-5" dirty="0">
                <a:solidFill>
                  <a:srgbClr val="2E5496"/>
                </a:solidFill>
                <a:latin typeface="Verdana"/>
                <a:cs typeface="Verdana"/>
              </a:rPr>
              <a:t>the</a:t>
            </a:r>
            <a:r>
              <a:rPr sz="2400" b="1" spc="5" dirty="0">
                <a:solidFill>
                  <a:srgbClr val="2E5496"/>
                </a:solidFill>
                <a:latin typeface="Verdana"/>
                <a:cs typeface="Verdana"/>
              </a:rPr>
              <a:t> </a:t>
            </a:r>
            <a:r>
              <a:rPr sz="2400" b="1" spc="-5" dirty="0">
                <a:solidFill>
                  <a:srgbClr val="2E5496"/>
                </a:solidFill>
                <a:latin typeface="Verdana"/>
                <a:cs typeface="Verdana"/>
              </a:rPr>
              <a:t>question</a:t>
            </a:r>
            <a:r>
              <a:rPr sz="2400" b="1" spc="20" dirty="0">
                <a:solidFill>
                  <a:srgbClr val="2E5496"/>
                </a:solidFill>
                <a:latin typeface="Verdana"/>
                <a:cs typeface="Verdana"/>
              </a:rPr>
              <a:t> </a:t>
            </a:r>
            <a:r>
              <a:rPr sz="2400" b="1" spc="-5" dirty="0">
                <a:solidFill>
                  <a:srgbClr val="2E5496"/>
                </a:solidFill>
                <a:latin typeface="Verdana"/>
                <a:cs typeface="Verdana"/>
              </a:rPr>
              <a:t>arises,</a:t>
            </a:r>
            <a:r>
              <a:rPr sz="2400" b="1" spc="5" dirty="0">
                <a:solidFill>
                  <a:srgbClr val="2E5496"/>
                </a:solidFill>
                <a:latin typeface="Verdana"/>
                <a:cs typeface="Verdana"/>
              </a:rPr>
              <a:t> </a:t>
            </a:r>
            <a:r>
              <a:rPr sz="2400" b="1" spc="-5" dirty="0">
                <a:solidFill>
                  <a:srgbClr val="2E5496"/>
                </a:solidFill>
                <a:latin typeface="Verdana"/>
                <a:cs typeface="Verdana"/>
              </a:rPr>
              <a:t>how</a:t>
            </a:r>
            <a:r>
              <a:rPr sz="2400" b="1" spc="10" dirty="0">
                <a:solidFill>
                  <a:srgbClr val="2E5496"/>
                </a:solidFill>
                <a:latin typeface="Verdana"/>
                <a:cs typeface="Verdana"/>
              </a:rPr>
              <a:t> </a:t>
            </a:r>
            <a:r>
              <a:rPr sz="2400" b="1" dirty="0">
                <a:solidFill>
                  <a:srgbClr val="2E5496"/>
                </a:solidFill>
                <a:latin typeface="Verdana"/>
                <a:cs typeface="Verdana"/>
              </a:rPr>
              <a:t>do</a:t>
            </a:r>
            <a:r>
              <a:rPr sz="2400" b="1" spc="-5" dirty="0">
                <a:solidFill>
                  <a:srgbClr val="2E5496"/>
                </a:solidFill>
                <a:latin typeface="Verdana"/>
                <a:cs typeface="Verdana"/>
              </a:rPr>
              <a:t> you</a:t>
            </a:r>
            <a:r>
              <a:rPr sz="2400" b="1" spc="10" dirty="0">
                <a:solidFill>
                  <a:srgbClr val="2E5496"/>
                </a:solidFill>
                <a:latin typeface="Verdana"/>
                <a:cs typeface="Verdana"/>
              </a:rPr>
              <a:t> </a:t>
            </a:r>
            <a:r>
              <a:rPr sz="2400" b="1" dirty="0">
                <a:solidFill>
                  <a:srgbClr val="2E5496"/>
                </a:solidFill>
                <a:latin typeface="Verdana"/>
                <a:cs typeface="Verdana"/>
              </a:rPr>
              <a:t>do </a:t>
            </a:r>
            <a:r>
              <a:rPr sz="2400" b="1" spc="-5" dirty="0">
                <a:solidFill>
                  <a:srgbClr val="2E5496"/>
                </a:solidFill>
                <a:latin typeface="Verdana"/>
                <a:cs typeface="Verdana"/>
              </a:rPr>
              <a:t>that?</a:t>
            </a:r>
            <a:endParaRPr sz="2400">
              <a:latin typeface="Verdana"/>
              <a:cs typeface="Verdana"/>
            </a:endParaRPr>
          </a:p>
          <a:p>
            <a:pPr>
              <a:lnSpc>
                <a:spcPct val="100000"/>
              </a:lnSpc>
              <a:spcBef>
                <a:spcPts val="25"/>
              </a:spcBef>
            </a:pPr>
            <a:endParaRPr sz="2350">
              <a:latin typeface="Verdana"/>
              <a:cs typeface="Verdana"/>
            </a:endParaRPr>
          </a:p>
          <a:p>
            <a:pPr marL="12700">
              <a:lnSpc>
                <a:spcPct val="100000"/>
              </a:lnSpc>
            </a:pPr>
            <a:r>
              <a:rPr sz="2400" b="1" dirty="0">
                <a:solidFill>
                  <a:srgbClr val="2E5496"/>
                </a:solidFill>
                <a:latin typeface="Verdana"/>
                <a:cs typeface="Verdana"/>
              </a:rPr>
              <a:t>Class</a:t>
            </a:r>
            <a:r>
              <a:rPr sz="2400" b="1" spc="-5" dirty="0">
                <a:solidFill>
                  <a:srgbClr val="2E5496"/>
                </a:solidFill>
                <a:latin typeface="Verdana"/>
                <a:cs typeface="Verdana"/>
              </a:rPr>
              <a:t> is</a:t>
            </a:r>
            <a:r>
              <a:rPr sz="2400" b="1" spc="10" dirty="0">
                <a:solidFill>
                  <a:srgbClr val="2E5496"/>
                </a:solidFill>
                <a:latin typeface="Verdana"/>
                <a:cs typeface="Verdana"/>
              </a:rPr>
              <a:t> </a:t>
            </a:r>
            <a:r>
              <a:rPr sz="2400" b="1" spc="-10" dirty="0">
                <a:solidFill>
                  <a:srgbClr val="2E5496"/>
                </a:solidFill>
                <a:latin typeface="Verdana"/>
                <a:cs typeface="Verdana"/>
              </a:rPr>
              <a:t>defined</a:t>
            </a:r>
            <a:r>
              <a:rPr sz="2400" b="1" spc="40" dirty="0">
                <a:solidFill>
                  <a:srgbClr val="2E5496"/>
                </a:solidFill>
                <a:latin typeface="Verdana"/>
                <a:cs typeface="Verdana"/>
              </a:rPr>
              <a:t> </a:t>
            </a:r>
            <a:r>
              <a:rPr sz="2400" b="1" spc="-10" dirty="0">
                <a:solidFill>
                  <a:srgbClr val="2E5496"/>
                </a:solidFill>
                <a:latin typeface="Verdana"/>
                <a:cs typeface="Verdana"/>
              </a:rPr>
              <a:t>under</a:t>
            </a:r>
            <a:r>
              <a:rPr sz="2400" b="1" spc="15" dirty="0">
                <a:solidFill>
                  <a:srgbClr val="2E5496"/>
                </a:solidFill>
                <a:latin typeface="Verdana"/>
                <a:cs typeface="Verdana"/>
              </a:rPr>
              <a:t> </a:t>
            </a:r>
            <a:r>
              <a:rPr sz="2400" b="1" dirty="0">
                <a:solidFill>
                  <a:srgbClr val="2E5496"/>
                </a:solidFill>
                <a:latin typeface="Verdana"/>
                <a:cs typeface="Verdana"/>
              </a:rPr>
              <a:t>a</a:t>
            </a:r>
            <a:r>
              <a:rPr sz="2400" b="1" spc="5" dirty="0">
                <a:solidFill>
                  <a:srgbClr val="2E5496"/>
                </a:solidFill>
                <a:latin typeface="Verdana"/>
                <a:cs typeface="Verdana"/>
              </a:rPr>
              <a:t> </a:t>
            </a:r>
            <a:r>
              <a:rPr sz="2400" b="1" spc="-5" dirty="0">
                <a:solidFill>
                  <a:srgbClr val="2E5496"/>
                </a:solidFill>
                <a:latin typeface="Verdana"/>
                <a:cs typeface="Verdana"/>
              </a:rPr>
              <a:t>“</a:t>
            </a:r>
            <a:r>
              <a:rPr sz="2400" b="1" spc="-5" dirty="0">
                <a:solidFill>
                  <a:srgbClr val="C55A11"/>
                </a:solidFill>
                <a:latin typeface="Verdana"/>
                <a:cs typeface="Verdana"/>
              </a:rPr>
              <a:t>Class</a:t>
            </a:r>
            <a:r>
              <a:rPr sz="2400" b="1" spc="-5" dirty="0">
                <a:solidFill>
                  <a:srgbClr val="2E5496"/>
                </a:solidFill>
                <a:latin typeface="Verdana"/>
                <a:cs typeface="Verdana"/>
              </a:rPr>
              <a:t>”</a:t>
            </a:r>
            <a:r>
              <a:rPr sz="2400" b="1" dirty="0">
                <a:solidFill>
                  <a:srgbClr val="2E5496"/>
                </a:solidFill>
                <a:latin typeface="Verdana"/>
                <a:cs typeface="Verdana"/>
              </a:rPr>
              <a:t> </a:t>
            </a:r>
            <a:r>
              <a:rPr sz="2400" b="1" spc="-5" dirty="0">
                <a:solidFill>
                  <a:srgbClr val="2E5496"/>
                </a:solidFill>
                <a:latin typeface="Verdana"/>
                <a:cs typeface="Verdana"/>
              </a:rPr>
              <a:t>Keyword.</a:t>
            </a:r>
            <a:endParaRPr sz="2400">
              <a:latin typeface="Verdana"/>
              <a:cs typeface="Verdana"/>
            </a:endParaRPr>
          </a:p>
          <a:p>
            <a:pPr>
              <a:lnSpc>
                <a:spcPct val="100000"/>
              </a:lnSpc>
              <a:spcBef>
                <a:spcPts val="20"/>
              </a:spcBef>
            </a:pPr>
            <a:endParaRPr sz="2350">
              <a:latin typeface="Verdana"/>
              <a:cs typeface="Verdana"/>
            </a:endParaRPr>
          </a:p>
          <a:p>
            <a:pPr marL="12700">
              <a:lnSpc>
                <a:spcPct val="100000"/>
              </a:lnSpc>
            </a:pPr>
            <a:r>
              <a:rPr sz="2800" b="1" spc="-10" dirty="0">
                <a:solidFill>
                  <a:srgbClr val="C55A11"/>
                </a:solidFill>
                <a:latin typeface="Verdana"/>
                <a:cs typeface="Verdana"/>
              </a:rPr>
              <a:t>Example:</a:t>
            </a:r>
            <a:endParaRPr sz="2800">
              <a:latin typeface="Verdana"/>
              <a:cs typeface="Verdana"/>
            </a:endParaRPr>
          </a:p>
        </p:txBody>
      </p:sp>
      <p:sp>
        <p:nvSpPr>
          <p:cNvPr id="7" name="object 7"/>
          <p:cNvSpPr txBox="1">
            <a:spLocks noGrp="1"/>
          </p:cNvSpPr>
          <p:nvPr>
            <p:ph type="title"/>
          </p:nvPr>
        </p:nvSpPr>
        <p:spPr>
          <a:xfrm>
            <a:off x="2686050" y="168021"/>
            <a:ext cx="6748780" cy="1120178"/>
          </a:xfrm>
          <a:prstGeom prst="rect">
            <a:avLst/>
          </a:prstGeom>
        </p:spPr>
        <p:txBody>
          <a:bodyPr vert="horz" wrap="square" lIns="0" tIns="12065" rIns="0" bIns="0" rtlCol="0">
            <a:spAutoFit/>
          </a:bodyPr>
          <a:lstStyle/>
          <a:p>
            <a:pPr marL="12700" algn="ctr">
              <a:lnSpc>
                <a:spcPct val="100000"/>
              </a:lnSpc>
              <a:spcBef>
                <a:spcPts val="95"/>
              </a:spcBef>
              <a:tabLst>
                <a:tab pos="583565" algn="l"/>
              </a:tabLst>
            </a:pPr>
            <a:r>
              <a:rPr lang="en-US" spc="-5" dirty="0">
                <a:solidFill>
                  <a:srgbClr val="1F3863"/>
                </a:solidFill>
              </a:rPr>
              <a:t>2</a:t>
            </a:r>
            <a:r>
              <a:rPr spc="-5" dirty="0">
                <a:solidFill>
                  <a:srgbClr val="1F3863"/>
                </a:solidFill>
              </a:rPr>
              <a:t>.	</a:t>
            </a:r>
            <a:r>
              <a:rPr spc="-10" dirty="0">
                <a:solidFill>
                  <a:srgbClr val="1F3863"/>
                </a:solidFill>
              </a:rPr>
              <a:t>What</a:t>
            </a:r>
            <a:r>
              <a:rPr spc="15" dirty="0">
                <a:solidFill>
                  <a:srgbClr val="1F3863"/>
                </a:solidFill>
              </a:rPr>
              <a:t> </a:t>
            </a:r>
            <a:r>
              <a:rPr spc="-5" dirty="0">
                <a:solidFill>
                  <a:srgbClr val="1F3863"/>
                </a:solidFill>
              </a:rPr>
              <a:t>are</a:t>
            </a:r>
            <a:r>
              <a:rPr dirty="0">
                <a:solidFill>
                  <a:srgbClr val="1F3863"/>
                </a:solidFill>
              </a:rPr>
              <a:t> </a:t>
            </a:r>
            <a:r>
              <a:rPr spc="-5" dirty="0">
                <a:solidFill>
                  <a:srgbClr val="1F3863"/>
                </a:solidFill>
              </a:rPr>
              <a:t>Classes</a:t>
            </a:r>
            <a:r>
              <a:rPr spc="15" dirty="0">
                <a:solidFill>
                  <a:srgbClr val="1F3863"/>
                </a:solidFill>
              </a:rPr>
              <a:t> </a:t>
            </a:r>
            <a:r>
              <a:rPr spc="-5" dirty="0">
                <a:solidFill>
                  <a:srgbClr val="1F3863"/>
                </a:solidFill>
              </a:rPr>
              <a:t>and</a:t>
            </a:r>
            <a:r>
              <a:rPr spc="25" dirty="0">
                <a:solidFill>
                  <a:srgbClr val="1F3863"/>
                </a:solidFill>
              </a:rPr>
              <a:t> </a:t>
            </a:r>
            <a:r>
              <a:rPr spc="-10" dirty="0">
                <a:solidFill>
                  <a:srgbClr val="1F3863"/>
                </a:solidFill>
              </a:rPr>
              <a:t>Objects?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Simple program in OOP using Python</a:t>
            </a:r>
          </a:p>
        </p:txBody>
      </p:sp>
      <p:sp>
        <p:nvSpPr>
          <p:cNvPr id="4" name="Rectangle 1"/>
          <p:cNvSpPr>
            <a:spLocks noGrp="1" noChangeArrowheads="1"/>
          </p:cNvSpPr>
          <p:nvPr>
            <p:ph idx="1"/>
          </p:nvPr>
        </p:nvSpPr>
        <p:spPr bwMode="auto">
          <a:xfrm>
            <a:off x="2362200" y="1752600"/>
            <a:ext cx="8978740"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4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Student:</a:t>
            </a:r>
            <a:br>
              <a:rPr kumimoji="0" lang="en-US" altLang="en-US" sz="4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4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name=</a:t>
            </a:r>
            <a:r>
              <a:rPr kumimoji="0" lang="en-US" altLang="en-US" sz="4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“Tushar Kanjwani"</a:t>
            </a:r>
            <a:br>
              <a:rPr kumimoji="0" lang="en-US" altLang="en-US" sz="4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br>
            <a:r>
              <a:rPr kumimoji="0" lang="en-US" altLang="en-US" sz="4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 = Student()</a:t>
            </a:r>
            <a:br>
              <a:rPr kumimoji="0" lang="en-US" altLang="en-US" sz="4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48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4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(s.name)</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1760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6326" y="838200"/>
            <a:ext cx="8911687" cy="1280890"/>
          </a:xfrm>
        </p:spPr>
        <p:txBody>
          <a:bodyPr/>
          <a:lstStyle/>
          <a:p>
            <a:pPr algn="ctr"/>
            <a:r>
              <a:rPr lang="en-US" sz="6600" dirty="0"/>
              <a:t>Program-02</a:t>
            </a:r>
          </a:p>
        </p:txBody>
      </p:sp>
      <p:sp>
        <p:nvSpPr>
          <p:cNvPr id="4" name="Rectangle 1"/>
          <p:cNvSpPr>
            <a:spLocks noGrp="1" noChangeArrowheads="1"/>
          </p:cNvSpPr>
          <p:nvPr>
            <p:ph idx="1"/>
          </p:nvPr>
        </p:nvSpPr>
        <p:spPr bwMode="auto">
          <a:xfrm>
            <a:off x="758287" y="2466788"/>
            <a:ext cx="10807767" cy="35394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Student:</a:t>
            </a:r>
            <a:b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name = </a:t>
            </a:r>
            <a:r>
              <a:rPr kumimoji="0" lang="en-US" altLang="en-US" sz="3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"Asif Ali"</a:t>
            </a:r>
            <a:br>
              <a:rPr kumimoji="0" lang="en-US" altLang="en-US" sz="3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br>
            <a:r>
              <a:rPr kumimoji="0" lang="en-US" altLang="en-US" sz="3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    </a:t>
            </a:r>
            <a:r>
              <a:rPr kumimoji="0" lang="en-US" altLang="en-US" sz="32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Intro(</a:t>
            </a:r>
            <a:r>
              <a:rPr kumimoji="0" lang="en-US" altLang="en-US" sz="3200" b="0" i="0" u="none" strike="noStrike" cap="none" normalizeH="0" baseline="0" dirty="0" err="1">
                <a:ln>
                  <a:noFill/>
                </a:ln>
                <a:solidFill>
                  <a:srgbClr val="94558D"/>
                </a:solidFill>
                <a:effectLst/>
                <a:latin typeface="Consolas" panose="020B0609020204030204" pitchFamily="49" charset="0"/>
                <a:cs typeface="Consolas" panose="020B0609020204030204" pitchFamily="49" charset="0"/>
              </a:rPr>
              <a:t>self</a:t>
            </a:r>
            <a:r>
              <a:rPr kumimoji="0" lang="en-US" altLang="en-US" sz="32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,name</a:t>
            </a: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32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.name = name</a:t>
            </a:r>
            <a:b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32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3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"Hello guys my name is :"</a:t>
            </a: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,s.name)</a:t>
            </a:r>
            <a:b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 = Student()</a:t>
            </a:r>
            <a:b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s.Intro(</a:t>
            </a:r>
            <a:r>
              <a:rPr kumimoji="0" lang="en-US" altLang="en-US" sz="32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"Shoaib Ali"</a:t>
            </a:r>
            <a:r>
              <a:rPr kumimoji="0" lang="en-US" altLang="en-US" sz="32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4695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Constructor in Python</a:t>
            </a:r>
          </a:p>
        </p:txBody>
      </p:sp>
      <p:sp>
        <p:nvSpPr>
          <p:cNvPr id="4" name="Rectangle 1"/>
          <p:cNvSpPr>
            <a:spLocks noGrp="1" noChangeArrowheads="1"/>
          </p:cNvSpPr>
          <p:nvPr>
            <p:ph idx="1"/>
          </p:nvPr>
        </p:nvSpPr>
        <p:spPr bwMode="auto">
          <a:xfrm>
            <a:off x="2043887" y="2031087"/>
            <a:ext cx="9451626"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Student: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name = </a:t>
            </a: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"Asif Ali"</a:t>
            </a:r>
            <a:b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b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   </a:t>
            </a:r>
            <a:r>
              <a:rPr kumimoji="0" lang="en-US" altLang="en-US" sz="28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 </a:t>
            </a:r>
            <a:r>
              <a:rPr kumimoji="0" lang="en-US" altLang="en-US" sz="2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2800" b="0" i="0" u="none" strike="noStrike" cap="none" normalizeH="0" baseline="0" dirty="0">
                <a:ln>
                  <a:noFill/>
                </a:ln>
                <a:solidFill>
                  <a:srgbClr val="B200B2"/>
                </a:solidFill>
                <a:effectLst/>
                <a:latin typeface="Consolas" panose="020B0609020204030204" pitchFamily="49" charset="0"/>
                <a:cs typeface="Consolas" panose="020B0609020204030204" pitchFamily="49" charset="0"/>
              </a:rPr>
              <a:t>__init__</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28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"Object has been created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Intro(</a:t>
            </a:r>
            <a:r>
              <a:rPr kumimoji="0" lang="en-US" altLang="en-US" sz="2800" b="0" i="0" u="none" strike="noStrike" cap="none" normalizeH="0" baseline="0" dirty="0" err="1">
                <a:ln>
                  <a:noFill/>
                </a:ln>
                <a:solidFill>
                  <a:srgbClr val="94558D"/>
                </a:solidFill>
                <a:effectLst/>
                <a:latin typeface="Consolas" panose="020B0609020204030204" pitchFamily="49" charset="0"/>
                <a:cs typeface="Consolas" panose="020B0609020204030204" pitchFamily="49" charset="0"/>
              </a:rPr>
              <a:t>self</a:t>
            </a:r>
            <a:r>
              <a:rPr kumimoji="0" lang="en-US" altLang="en-US" sz="28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,name</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.name = name</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"Hello guys my name is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,s.name)</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 = Student()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s.Intro(</a:t>
            </a: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"Shoaib Ali"</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556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Activity-01</a:t>
            </a:r>
            <a:br>
              <a:rPr lang="en-US" dirty="0"/>
            </a:br>
            <a:endParaRPr lang="en-US" dirty="0"/>
          </a:p>
        </p:txBody>
      </p:sp>
      <p:sp>
        <p:nvSpPr>
          <p:cNvPr id="3" name="Content Placeholder 2"/>
          <p:cNvSpPr>
            <a:spLocks noGrp="1"/>
          </p:cNvSpPr>
          <p:nvPr>
            <p:ph idx="1"/>
          </p:nvPr>
        </p:nvSpPr>
        <p:spPr>
          <a:xfrm>
            <a:off x="1295400" y="2133600"/>
            <a:ext cx="10591800" cy="3777622"/>
          </a:xfrm>
        </p:spPr>
        <p:txBody>
          <a:bodyPr>
            <a:noAutofit/>
          </a:bodyPr>
          <a:lstStyle/>
          <a:p>
            <a:r>
              <a:rPr lang="en-US" sz="2400" dirty="0"/>
              <a:t>Write a OOP program in Python in which you have to create four objects and you have to use constructor and program display following result. Also, it should display the number of objects that have been created as sample output </a:t>
            </a:r>
            <a:r>
              <a:rPr lang="en-US" sz="2400"/>
              <a:t>is given below</a:t>
            </a:r>
            <a:endParaRPr lang="en-US" sz="2400" dirty="0"/>
          </a:p>
          <a:p>
            <a:pPr marL="0" indent="0" algn="ctr">
              <a:buNone/>
            </a:pPr>
            <a:r>
              <a:rPr lang="en-US" sz="2800" b="1" dirty="0"/>
              <a:t>Output</a:t>
            </a:r>
          </a:p>
          <a:p>
            <a:pPr marL="0" indent="0">
              <a:buNone/>
            </a:pPr>
            <a:r>
              <a:rPr lang="en-US" sz="2400" b="1" dirty="0"/>
              <a:t>Object has been constructed:</a:t>
            </a:r>
          </a:p>
          <a:p>
            <a:pPr marL="0" indent="0">
              <a:buNone/>
            </a:pPr>
            <a:r>
              <a:rPr lang="en-US" sz="2400" b="1" dirty="0"/>
              <a:t>Object has been constructed:</a:t>
            </a:r>
          </a:p>
          <a:p>
            <a:pPr marL="0" indent="0">
              <a:buNone/>
            </a:pPr>
            <a:r>
              <a:rPr lang="en-US" sz="2400" b="1" dirty="0"/>
              <a:t>Object has been constructed:</a:t>
            </a:r>
          </a:p>
          <a:p>
            <a:pPr marL="0" indent="0">
              <a:buNone/>
            </a:pPr>
            <a:r>
              <a:rPr lang="en-US" sz="2400" b="1" dirty="0"/>
              <a:t>Object has been constructed:</a:t>
            </a:r>
          </a:p>
          <a:p>
            <a:pPr marL="0" indent="0">
              <a:buNone/>
            </a:pPr>
            <a:r>
              <a:rPr lang="en-US" sz="2400" b="1" dirty="0"/>
              <a:t>Total : 4 objects</a:t>
            </a:r>
          </a:p>
        </p:txBody>
      </p:sp>
    </p:spTree>
    <p:extLst>
      <p:ext uri="{BB962C8B-B14F-4D97-AF65-F5344CB8AC3E}">
        <p14:creationId xmlns:p14="http://schemas.microsoft.com/office/powerpoint/2010/main" val="2252722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Activity-02</a:t>
            </a:r>
            <a:br>
              <a:rPr lang="en-US" dirty="0"/>
            </a:br>
            <a:endParaRPr lang="en-US" dirty="0"/>
          </a:p>
        </p:txBody>
      </p:sp>
      <p:sp>
        <p:nvSpPr>
          <p:cNvPr id="3" name="Content Placeholder 2"/>
          <p:cNvSpPr>
            <a:spLocks noGrp="1"/>
          </p:cNvSpPr>
          <p:nvPr>
            <p:ph idx="1"/>
          </p:nvPr>
        </p:nvSpPr>
        <p:spPr>
          <a:xfrm>
            <a:off x="1371600" y="2133600"/>
            <a:ext cx="10591800" cy="3777622"/>
          </a:xfrm>
        </p:spPr>
        <p:txBody>
          <a:bodyPr>
            <a:noAutofit/>
          </a:bodyPr>
          <a:lstStyle/>
          <a:p>
            <a:r>
              <a:rPr lang="en-US" sz="3200" dirty="0"/>
              <a:t>Write a OOP program in Python in which you have to create two objects and you have to use destructor and program display following result.</a:t>
            </a:r>
          </a:p>
          <a:p>
            <a:pPr marL="0" indent="0" algn="ctr">
              <a:buNone/>
            </a:pPr>
            <a:r>
              <a:rPr lang="en-US" sz="3600" b="1" dirty="0"/>
              <a:t>Output</a:t>
            </a:r>
          </a:p>
          <a:p>
            <a:pPr marL="0" indent="0">
              <a:buNone/>
            </a:pPr>
            <a:r>
              <a:rPr lang="en-US" sz="3200" b="1" dirty="0"/>
              <a:t>Object has been destroyed:</a:t>
            </a:r>
          </a:p>
          <a:p>
            <a:pPr marL="0" indent="0">
              <a:buNone/>
            </a:pPr>
            <a:r>
              <a:rPr lang="en-US" sz="3200" b="1" dirty="0"/>
              <a:t>Object has been destroyed:</a:t>
            </a:r>
          </a:p>
        </p:txBody>
      </p:sp>
    </p:spTree>
    <p:extLst>
      <p:ext uri="{BB962C8B-B14F-4D97-AF65-F5344CB8AC3E}">
        <p14:creationId xmlns:p14="http://schemas.microsoft.com/office/powerpoint/2010/main" val="1545767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Activity-03</a:t>
            </a:r>
            <a:br>
              <a:rPr lang="en-US" dirty="0"/>
            </a:br>
            <a:endParaRPr lang="en-US" dirty="0"/>
          </a:p>
        </p:txBody>
      </p:sp>
      <p:sp>
        <p:nvSpPr>
          <p:cNvPr id="3" name="Content Placeholder 2"/>
          <p:cNvSpPr>
            <a:spLocks noGrp="1"/>
          </p:cNvSpPr>
          <p:nvPr>
            <p:ph idx="1"/>
          </p:nvPr>
        </p:nvSpPr>
        <p:spPr>
          <a:xfrm>
            <a:off x="609600" y="1905000"/>
            <a:ext cx="11353800" cy="3886200"/>
          </a:xfrm>
        </p:spPr>
        <p:txBody>
          <a:bodyPr>
            <a:normAutofit/>
          </a:bodyPr>
          <a:lstStyle/>
          <a:p>
            <a:r>
              <a:rPr lang="en-US" sz="2800" dirty="0"/>
              <a:t>Write a OOP program in Python in which Student class should have name, </a:t>
            </a:r>
            <a:r>
              <a:rPr lang="en-US" sz="2800" dirty="0" err="1"/>
              <a:t>qual</a:t>
            </a:r>
            <a:r>
              <a:rPr lang="en-US" sz="2800" dirty="0"/>
              <a:t>, and city. Create an object with this object display name, </a:t>
            </a:r>
            <a:r>
              <a:rPr lang="en-US" sz="2800" dirty="0" err="1"/>
              <a:t>qual</a:t>
            </a:r>
            <a:r>
              <a:rPr lang="en-US" sz="2800" dirty="0"/>
              <a:t>, and city using the following methods</a:t>
            </a:r>
          </a:p>
          <a:p>
            <a:r>
              <a:rPr lang="en-US" sz="2800" dirty="0"/>
              <a:t>Intro(</a:t>
            </a:r>
            <a:r>
              <a:rPr lang="en-US" sz="2800" dirty="0" err="1"/>
              <a:t>name,qual,city</a:t>
            </a:r>
            <a:r>
              <a:rPr lang="en-US" sz="2800" dirty="0"/>
              <a:t>)</a:t>
            </a:r>
          </a:p>
          <a:p>
            <a:pPr marL="0" indent="0">
              <a:buNone/>
            </a:pPr>
            <a:endParaRPr lang="en-US" sz="2800" b="1" dirty="0"/>
          </a:p>
        </p:txBody>
      </p:sp>
    </p:spTree>
    <p:extLst>
      <p:ext uri="{BB962C8B-B14F-4D97-AF65-F5344CB8AC3E}">
        <p14:creationId xmlns:p14="http://schemas.microsoft.com/office/powerpoint/2010/main" val="3403378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Activity-04</a:t>
            </a:r>
            <a:br>
              <a:rPr lang="en-US" dirty="0"/>
            </a:br>
            <a:endParaRPr lang="en-US" dirty="0"/>
          </a:p>
        </p:txBody>
      </p:sp>
      <p:sp>
        <p:nvSpPr>
          <p:cNvPr id="3" name="Content Placeholder 2"/>
          <p:cNvSpPr>
            <a:spLocks noGrp="1"/>
          </p:cNvSpPr>
          <p:nvPr>
            <p:ph idx="1"/>
          </p:nvPr>
        </p:nvSpPr>
        <p:spPr>
          <a:xfrm>
            <a:off x="609600" y="1905000"/>
            <a:ext cx="11353800" cy="3886200"/>
          </a:xfrm>
        </p:spPr>
        <p:txBody>
          <a:bodyPr>
            <a:normAutofit/>
          </a:bodyPr>
          <a:lstStyle/>
          <a:p>
            <a:r>
              <a:rPr lang="en-US" sz="2800" dirty="0"/>
              <a:t>Write a Python program using Object-Oriented Programming (OOP) that counts how many objects of a class have been created.</a:t>
            </a:r>
            <a:endParaRPr lang="en-US" sz="2800" b="1" dirty="0"/>
          </a:p>
        </p:txBody>
      </p:sp>
    </p:spTree>
    <p:extLst>
      <p:ext uri="{BB962C8B-B14F-4D97-AF65-F5344CB8AC3E}">
        <p14:creationId xmlns:p14="http://schemas.microsoft.com/office/powerpoint/2010/main" val="1467886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165350"/>
            <a:ext cx="11277599" cy="4752583"/>
          </a:xfrm>
          <a:prstGeom prst="rect">
            <a:avLst/>
          </a:prstGeom>
        </p:spPr>
        <p:txBody>
          <a:bodyPr vert="horz" wrap="square" lIns="0" tIns="12700" rIns="0" bIns="0" rtlCol="0">
            <a:spAutoFit/>
          </a:bodyPr>
          <a:lstStyle/>
          <a:p>
            <a:pPr marL="12065" marR="5080" indent="-635" algn="ctr">
              <a:lnSpc>
                <a:spcPct val="100000"/>
              </a:lnSpc>
              <a:spcBef>
                <a:spcPts val="100"/>
              </a:spcBef>
              <a:tabLst>
                <a:tab pos="2755900" algn="l"/>
              </a:tabLst>
            </a:pPr>
            <a:r>
              <a:rPr lang="en-US" sz="4400" spc="-5" dirty="0">
                <a:solidFill>
                  <a:srgbClr val="1F3863"/>
                </a:solidFill>
              </a:rPr>
              <a:t>Week-05</a:t>
            </a:r>
            <a:br>
              <a:rPr lang="en-US" sz="4400" spc="-5" dirty="0">
                <a:solidFill>
                  <a:srgbClr val="1F3863"/>
                </a:solidFill>
              </a:rPr>
            </a:br>
            <a:r>
              <a:rPr lang="en-US" sz="4400" spc="-5" dirty="0">
                <a:solidFill>
                  <a:srgbClr val="1F3863"/>
                </a:solidFill>
              </a:rPr>
              <a:t>Introduction to Object-Oriented Programming (OOP)</a:t>
            </a:r>
            <a:br>
              <a:rPr lang="en-US" sz="4400" spc="-5" dirty="0">
                <a:solidFill>
                  <a:srgbClr val="1F3863"/>
                </a:solidFill>
              </a:rPr>
            </a:br>
            <a:r>
              <a:rPr lang="en-US" sz="4400" spc="-5" dirty="0">
                <a:solidFill>
                  <a:srgbClr val="1F3863"/>
                </a:solidFill>
              </a:rPr>
              <a:t>Day-02</a:t>
            </a:r>
            <a:br>
              <a:rPr lang="en-US" sz="4400" spc="-5" dirty="0">
                <a:solidFill>
                  <a:srgbClr val="1F3863"/>
                </a:solidFill>
              </a:rPr>
            </a:br>
            <a:r>
              <a:rPr lang="en-US" sz="4400" spc="-5" dirty="0">
                <a:solidFill>
                  <a:srgbClr val="1F3863"/>
                </a:solidFill>
              </a:rPr>
              <a:t>More on classes and methods</a:t>
            </a:r>
            <a:br>
              <a:rPr lang="en-US" sz="4400" spc="-5" dirty="0">
                <a:solidFill>
                  <a:srgbClr val="1F3863"/>
                </a:solidFill>
              </a:rPr>
            </a:br>
            <a:br>
              <a:rPr lang="en-US" sz="4400" spc="-5" dirty="0">
                <a:solidFill>
                  <a:srgbClr val="1F3863"/>
                </a:solidFill>
              </a:rPr>
            </a:br>
            <a:endParaRPr sz="4400" dirty="0"/>
          </a:p>
        </p:txBody>
      </p:sp>
      <p:sp>
        <p:nvSpPr>
          <p:cNvPr id="3" name="object 3"/>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15</a:t>
            </a:fld>
            <a:endParaRPr sz="1200">
              <a:latin typeface="Calibri"/>
              <a:cs typeface="Calibri"/>
            </a:endParaRPr>
          </a:p>
        </p:txBody>
      </p:sp>
    </p:spTree>
    <p:extLst>
      <p:ext uri="{BB962C8B-B14F-4D97-AF65-F5344CB8AC3E}">
        <p14:creationId xmlns:p14="http://schemas.microsoft.com/office/powerpoint/2010/main" val="1772131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13668" y="1143000"/>
            <a:ext cx="8610600" cy="2359620"/>
          </a:xfrm>
          <a:prstGeom prst="rect">
            <a:avLst/>
          </a:prstGeom>
        </p:spPr>
        <p:txBody>
          <a:bodyPr vert="horz" wrap="square" lIns="0" tIns="195580" rIns="0" bIns="0" rtlCol="0">
            <a:spAutoFit/>
          </a:bodyPr>
          <a:lstStyle/>
          <a:p>
            <a:pPr marL="469265" indent="-457200">
              <a:lnSpc>
                <a:spcPct val="100000"/>
              </a:lnSpc>
              <a:spcBef>
                <a:spcPts val="1540"/>
              </a:spcBef>
              <a:buFont typeface="Wingdings" panose="05000000000000000000" pitchFamily="2" charset="2"/>
              <a:buChar char="Ø"/>
              <a:tabLst>
                <a:tab pos="583565" algn="l"/>
                <a:tab pos="584835" algn="l"/>
              </a:tabLst>
            </a:pPr>
            <a:r>
              <a:rPr lang="en-US" sz="3200" spc="-10" dirty="0">
                <a:solidFill>
                  <a:srgbClr val="2E5496"/>
                </a:solidFill>
                <a:latin typeface="Verdana"/>
                <a:cs typeface="Verdana"/>
              </a:rPr>
              <a:t>Understand how to define constructor methods (__init__).</a:t>
            </a:r>
          </a:p>
          <a:p>
            <a:pPr marL="469265" indent="-457200">
              <a:lnSpc>
                <a:spcPct val="100000"/>
              </a:lnSpc>
              <a:spcBef>
                <a:spcPts val="1540"/>
              </a:spcBef>
              <a:buFont typeface="Wingdings" panose="05000000000000000000" pitchFamily="2" charset="2"/>
              <a:buChar char="Ø"/>
              <a:tabLst>
                <a:tab pos="583565" algn="l"/>
                <a:tab pos="584835" algn="l"/>
              </a:tabLst>
            </a:pPr>
            <a:r>
              <a:rPr lang="en-US" sz="3200" spc="-10" dirty="0">
                <a:solidFill>
                  <a:srgbClr val="2E5496"/>
                </a:solidFill>
                <a:latin typeface="Verdana"/>
                <a:cs typeface="Verdana"/>
              </a:rPr>
              <a:t>Learn how to add methods to a class to perform specific tasks.</a:t>
            </a:r>
          </a:p>
        </p:txBody>
      </p:sp>
      <p:sp>
        <p:nvSpPr>
          <p:cNvPr id="4" name="object 4"/>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16</a:t>
            </a:fld>
            <a:endParaRPr sz="1200">
              <a:latin typeface="Calibri"/>
              <a:cs typeface="Calibri"/>
            </a:endParaRPr>
          </a:p>
        </p:txBody>
      </p:sp>
      <p:sp>
        <p:nvSpPr>
          <p:cNvPr id="3" name="object 3"/>
          <p:cNvSpPr txBox="1">
            <a:spLocks noGrp="1"/>
          </p:cNvSpPr>
          <p:nvPr>
            <p:ph type="title"/>
          </p:nvPr>
        </p:nvSpPr>
        <p:spPr>
          <a:xfrm>
            <a:off x="5029200" y="304800"/>
            <a:ext cx="3202433" cy="689932"/>
          </a:xfrm>
          <a:prstGeom prst="rect">
            <a:avLst/>
          </a:prstGeom>
        </p:spPr>
        <p:txBody>
          <a:bodyPr vert="horz" wrap="square" lIns="0" tIns="12700" rIns="0" bIns="0" rtlCol="0">
            <a:spAutoFit/>
          </a:bodyPr>
          <a:lstStyle/>
          <a:p>
            <a:pPr marL="12700">
              <a:lnSpc>
                <a:spcPct val="100000"/>
              </a:lnSpc>
              <a:spcBef>
                <a:spcPts val="100"/>
              </a:spcBef>
            </a:pPr>
            <a:r>
              <a:rPr lang="en-US" sz="4400" dirty="0">
                <a:solidFill>
                  <a:srgbClr val="1F3863"/>
                </a:solidFill>
              </a:rPr>
              <a:t>Contents</a:t>
            </a:r>
            <a:endParaRPr sz="4400" dirty="0"/>
          </a:p>
        </p:txBody>
      </p:sp>
    </p:spTree>
    <p:extLst>
      <p:ext uri="{BB962C8B-B14F-4D97-AF65-F5344CB8AC3E}">
        <p14:creationId xmlns:p14="http://schemas.microsoft.com/office/powerpoint/2010/main" val="3561732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Constructor</a:t>
            </a:r>
          </a:p>
        </p:txBody>
      </p:sp>
      <p:sp>
        <p:nvSpPr>
          <p:cNvPr id="3" name="Content Placeholder 2"/>
          <p:cNvSpPr>
            <a:spLocks noGrp="1"/>
          </p:cNvSpPr>
          <p:nvPr>
            <p:ph idx="1"/>
          </p:nvPr>
        </p:nvSpPr>
        <p:spPr>
          <a:xfrm>
            <a:off x="2565149" y="1752600"/>
            <a:ext cx="8915400" cy="3777622"/>
          </a:xfrm>
        </p:spPr>
        <p:txBody>
          <a:bodyPr>
            <a:noAutofit/>
          </a:bodyPr>
          <a:lstStyle/>
          <a:p>
            <a:r>
              <a:rPr lang="en-US" sz="3600" dirty="0"/>
              <a:t>It is a special type of function called to create an object.</a:t>
            </a:r>
          </a:p>
          <a:p>
            <a:r>
              <a:rPr lang="en-US" sz="3600" dirty="0"/>
              <a:t>Default constructor.</a:t>
            </a:r>
          </a:p>
          <a:p>
            <a:pPr marL="0" indent="0">
              <a:buNone/>
            </a:pPr>
            <a:r>
              <a:rPr lang="en-US" sz="3600" dirty="0"/>
              <a:t>class Car:</a:t>
            </a:r>
          </a:p>
          <a:p>
            <a:pPr marL="0" indent="0">
              <a:buNone/>
            </a:pPr>
            <a:r>
              <a:rPr lang="en-US" sz="3600" dirty="0"/>
              <a:t>	def __init__(self):</a:t>
            </a:r>
          </a:p>
          <a:p>
            <a:pPr marL="0" indent="0">
              <a:buNone/>
            </a:pPr>
            <a:r>
              <a:rPr lang="en-US" sz="3600" dirty="0"/>
              <a:t>		print(“Object has been created:”)</a:t>
            </a:r>
          </a:p>
          <a:p>
            <a:pPr marL="0" indent="0">
              <a:buNone/>
            </a:pPr>
            <a:r>
              <a:rPr lang="en-US" sz="3600" dirty="0"/>
              <a:t>c = Car()</a:t>
            </a:r>
          </a:p>
        </p:txBody>
      </p:sp>
    </p:spTree>
    <p:extLst>
      <p:ext uri="{BB962C8B-B14F-4D97-AF65-F5344CB8AC3E}">
        <p14:creationId xmlns:p14="http://schemas.microsoft.com/office/powerpoint/2010/main" val="491507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Constructor</a:t>
            </a:r>
          </a:p>
        </p:txBody>
      </p:sp>
      <p:sp>
        <p:nvSpPr>
          <p:cNvPr id="3" name="Content Placeholder 2"/>
          <p:cNvSpPr>
            <a:spLocks noGrp="1"/>
          </p:cNvSpPr>
          <p:nvPr>
            <p:ph idx="1"/>
          </p:nvPr>
        </p:nvSpPr>
        <p:spPr/>
        <p:txBody>
          <a:bodyPr>
            <a:noAutofit/>
          </a:bodyPr>
          <a:lstStyle/>
          <a:p>
            <a:pPr marL="0" indent="0">
              <a:buNone/>
            </a:pPr>
            <a:r>
              <a:rPr lang="en-US" sz="3200" dirty="0"/>
              <a:t>Example</a:t>
            </a:r>
          </a:p>
          <a:p>
            <a:pPr marL="0" indent="0">
              <a:buNone/>
            </a:pPr>
            <a:r>
              <a:rPr lang="en-US" sz="3200" dirty="0"/>
              <a:t>class Student:    </a:t>
            </a:r>
          </a:p>
          <a:p>
            <a:pPr marL="0" indent="0">
              <a:buNone/>
            </a:pPr>
            <a:r>
              <a:rPr lang="en-US" sz="3200" dirty="0"/>
              <a:t>	def __init__(self):        </a:t>
            </a:r>
          </a:p>
          <a:p>
            <a:pPr marL="0" indent="0">
              <a:buNone/>
            </a:pPr>
            <a:r>
              <a:rPr lang="en-US" sz="3200" dirty="0"/>
              <a:t>		print("Object has been created!")</a:t>
            </a:r>
          </a:p>
          <a:p>
            <a:pPr marL="0" indent="0">
              <a:buNone/>
            </a:pPr>
            <a:r>
              <a:rPr lang="en-US" sz="3200" dirty="0"/>
              <a:t>s1 = Student()</a:t>
            </a:r>
          </a:p>
          <a:p>
            <a:pPr marL="0" indent="0">
              <a:buNone/>
            </a:pPr>
            <a:r>
              <a:rPr lang="en-US" sz="3200" dirty="0"/>
              <a:t>s2 = Student()</a:t>
            </a:r>
          </a:p>
          <a:p>
            <a:pPr marL="0" indent="0">
              <a:buNone/>
            </a:pPr>
            <a:r>
              <a:rPr lang="en-US" sz="3200" dirty="0"/>
              <a:t>s3 = Student()</a:t>
            </a:r>
          </a:p>
        </p:txBody>
      </p:sp>
    </p:spTree>
    <p:extLst>
      <p:ext uri="{BB962C8B-B14F-4D97-AF65-F5344CB8AC3E}">
        <p14:creationId xmlns:p14="http://schemas.microsoft.com/office/powerpoint/2010/main" val="2061410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3961" y="2389616"/>
            <a:ext cx="11318875" cy="3645535"/>
            <a:chOff x="473961" y="2389616"/>
            <a:chExt cx="11318875" cy="3645535"/>
          </a:xfrm>
        </p:grpSpPr>
        <p:pic>
          <p:nvPicPr>
            <p:cNvPr id="3" name="object 3"/>
            <p:cNvPicPr/>
            <p:nvPr/>
          </p:nvPicPr>
          <p:blipFill>
            <a:blip r:embed="rId2" cstate="print"/>
            <a:stretch>
              <a:fillRect/>
            </a:stretch>
          </p:blipFill>
          <p:spPr>
            <a:xfrm>
              <a:off x="473961" y="2389616"/>
              <a:ext cx="11318752" cy="3645438"/>
            </a:xfrm>
            <a:prstGeom prst="rect">
              <a:avLst/>
            </a:prstGeom>
          </p:spPr>
        </p:pic>
        <p:sp>
          <p:nvSpPr>
            <p:cNvPr id="4" name="object 4"/>
            <p:cNvSpPr/>
            <p:nvPr/>
          </p:nvSpPr>
          <p:spPr>
            <a:xfrm>
              <a:off x="649985" y="2490978"/>
              <a:ext cx="10971530" cy="3447415"/>
            </a:xfrm>
            <a:custGeom>
              <a:avLst/>
              <a:gdLst/>
              <a:ahLst/>
              <a:cxnLst/>
              <a:rect l="l" t="t" r="r" b="b"/>
              <a:pathLst>
                <a:path w="10971530" h="3447415">
                  <a:moveTo>
                    <a:pt x="10971276" y="0"/>
                  </a:moveTo>
                  <a:lnTo>
                    <a:pt x="0" y="0"/>
                  </a:lnTo>
                  <a:lnTo>
                    <a:pt x="0" y="3447288"/>
                  </a:lnTo>
                  <a:lnTo>
                    <a:pt x="10971276" y="3447288"/>
                  </a:lnTo>
                  <a:lnTo>
                    <a:pt x="10971276" y="0"/>
                  </a:lnTo>
                  <a:close/>
                </a:path>
              </a:pathLst>
            </a:custGeom>
            <a:solidFill>
              <a:srgbClr val="FFFFFF"/>
            </a:solidFill>
          </p:spPr>
          <p:txBody>
            <a:bodyPr wrap="square" lIns="0" tIns="0" rIns="0" bIns="0" rtlCol="0"/>
            <a:lstStyle/>
            <a:p>
              <a:endParaRPr/>
            </a:p>
          </p:txBody>
        </p:sp>
        <p:sp>
          <p:nvSpPr>
            <p:cNvPr id="5" name="object 5"/>
            <p:cNvSpPr/>
            <p:nvPr/>
          </p:nvSpPr>
          <p:spPr>
            <a:xfrm>
              <a:off x="649985" y="2490978"/>
              <a:ext cx="10971530" cy="3447415"/>
            </a:xfrm>
            <a:custGeom>
              <a:avLst/>
              <a:gdLst/>
              <a:ahLst/>
              <a:cxnLst/>
              <a:rect l="l" t="t" r="r" b="b"/>
              <a:pathLst>
                <a:path w="10971530" h="3447415">
                  <a:moveTo>
                    <a:pt x="0" y="3447288"/>
                  </a:moveTo>
                  <a:lnTo>
                    <a:pt x="10971276" y="3447288"/>
                  </a:lnTo>
                  <a:lnTo>
                    <a:pt x="10971276" y="0"/>
                  </a:lnTo>
                  <a:lnTo>
                    <a:pt x="0" y="0"/>
                  </a:lnTo>
                  <a:lnTo>
                    <a:pt x="0" y="3447288"/>
                  </a:lnTo>
                  <a:close/>
                </a:path>
              </a:pathLst>
            </a:custGeom>
            <a:ln w="38100">
              <a:solidFill>
                <a:srgbClr val="D9D9D9"/>
              </a:solidFill>
            </a:ln>
          </p:spPr>
          <p:txBody>
            <a:bodyPr wrap="square" lIns="0" tIns="0" rIns="0" bIns="0" rtlCol="0"/>
            <a:lstStyle/>
            <a:p>
              <a:endParaRPr/>
            </a:p>
          </p:txBody>
        </p:sp>
      </p:grpSp>
      <p:sp>
        <p:nvSpPr>
          <p:cNvPr id="6" name="object 6"/>
          <p:cNvSpPr txBox="1"/>
          <p:nvPr/>
        </p:nvSpPr>
        <p:spPr>
          <a:xfrm>
            <a:off x="649985" y="1752600"/>
            <a:ext cx="9352280" cy="4044056"/>
          </a:xfrm>
          <a:prstGeom prst="rect">
            <a:avLst/>
          </a:prstGeom>
        </p:spPr>
        <p:txBody>
          <a:bodyPr vert="horz" wrap="square" lIns="0" tIns="12065" rIns="0" bIns="0" rtlCol="0">
            <a:spAutoFit/>
          </a:bodyPr>
          <a:lstStyle/>
          <a:p>
            <a:pPr marL="12700">
              <a:lnSpc>
                <a:spcPct val="100000"/>
              </a:lnSpc>
              <a:spcBef>
                <a:spcPts val="95"/>
              </a:spcBef>
            </a:pPr>
            <a:r>
              <a:rPr sz="2400" b="1" spc="-5" dirty="0">
                <a:solidFill>
                  <a:srgbClr val="C55A11"/>
                </a:solidFill>
                <a:latin typeface="Verdana"/>
                <a:cs typeface="Verdana"/>
              </a:rPr>
              <a:t>Example</a:t>
            </a:r>
            <a:r>
              <a:rPr lang="en-US" sz="2400" b="1" spc="-5" dirty="0">
                <a:solidFill>
                  <a:srgbClr val="C55A11"/>
                </a:solidFill>
                <a:latin typeface="Verdana"/>
                <a:cs typeface="Verdana"/>
              </a:rPr>
              <a:t>-01</a:t>
            </a:r>
            <a:r>
              <a:rPr sz="2400" b="1" spc="-5" dirty="0">
                <a:solidFill>
                  <a:srgbClr val="C55A11"/>
                </a:solidFill>
                <a:latin typeface="Verdana"/>
                <a:cs typeface="Verdana"/>
              </a:rPr>
              <a:t>:</a:t>
            </a:r>
            <a:endParaRPr sz="2400" dirty="0">
              <a:latin typeface="Verdana"/>
              <a:cs typeface="Verdana"/>
            </a:endParaRPr>
          </a:p>
          <a:p>
            <a:pPr>
              <a:lnSpc>
                <a:spcPct val="100000"/>
              </a:lnSpc>
              <a:spcBef>
                <a:spcPts val="40"/>
              </a:spcBef>
            </a:pPr>
            <a:endParaRPr sz="2400" dirty="0">
              <a:latin typeface="Verdana"/>
              <a:cs typeface="Verdana"/>
            </a:endParaRPr>
          </a:p>
          <a:p>
            <a:pPr marL="244475">
              <a:lnSpc>
                <a:spcPct val="100000"/>
              </a:lnSpc>
            </a:pPr>
            <a:r>
              <a:rPr b="1" spc="-5" dirty="0">
                <a:solidFill>
                  <a:srgbClr val="767070"/>
                </a:solidFill>
                <a:latin typeface="Verdana"/>
                <a:cs typeface="Verdana"/>
              </a:rPr>
              <a:t>class</a:t>
            </a:r>
            <a:r>
              <a:rPr b="1" spc="-20" dirty="0">
                <a:solidFill>
                  <a:srgbClr val="767070"/>
                </a:solidFill>
                <a:latin typeface="Verdana"/>
                <a:cs typeface="Verdana"/>
              </a:rPr>
              <a:t> </a:t>
            </a:r>
            <a:r>
              <a:rPr b="1" spc="-5" dirty="0">
                <a:solidFill>
                  <a:srgbClr val="767070"/>
                </a:solidFill>
                <a:latin typeface="Verdana"/>
                <a:cs typeface="Verdana"/>
              </a:rPr>
              <a:t>employee():</a:t>
            </a:r>
            <a:endParaRPr dirty="0">
              <a:latin typeface="Verdana"/>
              <a:cs typeface="Verdana"/>
            </a:endParaRPr>
          </a:p>
          <a:p>
            <a:pPr marL="942340" marR="5080" indent="-349250">
              <a:lnSpc>
                <a:spcPct val="100000"/>
              </a:lnSpc>
              <a:tabLst>
                <a:tab pos="1497330" algn="l"/>
                <a:tab pos="2331085" algn="l"/>
                <a:tab pos="6292215" algn="l"/>
              </a:tabLst>
            </a:pPr>
            <a:r>
              <a:rPr b="1" dirty="0">
                <a:solidFill>
                  <a:srgbClr val="767070"/>
                </a:solidFill>
                <a:latin typeface="Verdana"/>
                <a:cs typeface="Verdana"/>
              </a:rPr>
              <a:t>def</a:t>
            </a:r>
            <a:r>
              <a:rPr b="1" u="heavy" dirty="0">
                <a:solidFill>
                  <a:srgbClr val="767070"/>
                </a:solidFill>
                <a:uFill>
                  <a:solidFill>
                    <a:srgbClr val="756F6F"/>
                  </a:solidFill>
                </a:uFill>
                <a:latin typeface="Verdana"/>
                <a:cs typeface="Verdana"/>
              </a:rPr>
              <a:t>	</a:t>
            </a:r>
            <a:r>
              <a:rPr b="1" dirty="0">
                <a:solidFill>
                  <a:srgbClr val="767070"/>
                </a:solidFill>
                <a:latin typeface="Verdana"/>
                <a:cs typeface="Verdana"/>
              </a:rPr>
              <a:t>init</a:t>
            </a:r>
            <a:r>
              <a:rPr b="1" u="heavy" dirty="0">
                <a:solidFill>
                  <a:srgbClr val="767070"/>
                </a:solidFill>
                <a:uFill>
                  <a:solidFill>
                    <a:srgbClr val="756F6F"/>
                  </a:solidFill>
                </a:uFill>
                <a:latin typeface="Verdana"/>
                <a:cs typeface="Verdana"/>
              </a:rPr>
              <a:t>	</a:t>
            </a:r>
            <a:r>
              <a:rPr b="1" spc="-5" dirty="0">
                <a:solidFill>
                  <a:srgbClr val="767070"/>
                </a:solidFill>
                <a:latin typeface="Verdana"/>
                <a:cs typeface="Verdana"/>
              </a:rPr>
              <a:t>(self,name,</a:t>
            </a:r>
            <a:r>
              <a:rPr lang="en-US" b="1" spc="-5" dirty="0">
                <a:solidFill>
                  <a:srgbClr val="767070"/>
                </a:solidFill>
                <a:latin typeface="Verdana"/>
                <a:cs typeface="Verdana"/>
              </a:rPr>
              <a:t>city</a:t>
            </a:r>
            <a:r>
              <a:rPr b="1" spc="-5" dirty="0">
                <a:solidFill>
                  <a:srgbClr val="767070"/>
                </a:solidFill>
                <a:latin typeface="Verdana"/>
                <a:cs typeface="Verdana"/>
              </a:rPr>
              <a:t>):	</a:t>
            </a:r>
            <a:r>
              <a:rPr b="1" spc="-5" dirty="0">
                <a:solidFill>
                  <a:srgbClr val="BE9000"/>
                </a:solidFill>
                <a:latin typeface="Verdana"/>
                <a:cs typeface="Verdana"/>
              </a:rPr>
              <a:t>//creating </a:t>
            </a:r>
            <a:r>
              <a:rPr b="1" dirty="0">
                <a:solidFill>
                  <a:srgbClr val="BE9000"/>
                </a:solidFill>
                <a:latin typeface="Verdana"/>
                <a:cs typeface="Verdana"/>
              </a:rPr>
              <a:t>a </a:t>
            </a:r>
            <a:r>
              <a:rPr b="1" spc="-5" dirty="0">
                <a:solidFill>
                  <a:srgbClr val="BE9000"/>
                </a:solidFill>
                <a:latin typeface="Verdana"/>
                <a:cs typeface="Verdana"/>
              </a:rPr>
              <a:t>function </a:t>
            </a:r>
            <a:r>
              <a:rPr b="1" spc="-670" dirty="0">
                <a:solidFill>
                  <a:srgbClr val="BE9000"/>
                </a:solidFill>
                <a:latin typeface="Verdana"/>
                <a:cs typeface="Verdana"/>
              </a:rPr>
              <a:t> </a:t>
            </a:r>
            <a:r>
              <a:rPr b="1" spc="-5" dirty="0">
                <a:solidFill>
                  <a:srgbClr val="767070"/>
                </a:solidFill>
                <a:latin typeface="Verdana"/>
                <a:cs typeface="Verdana"/>
              </a:rPr>
              <a:t>self.name</a:t>
            </a:r>
            <a:r>
              <a:rPr b="1" spc="-25" dirty="0">
                <a:solidFill>
                  <a:srgbClr val="767070"/>
                </a:solidFill>
                <a:latin typeface="Verdana"/>
                <a:cs typeface="Verdana"/>
              </a:rPr>
              <a:t> </a:t>
            </a:r>
            <a:r>
              <a:rPr b="1" dirty="0">
                <a:solidFill>
                  <a:srgbClr val="767070"/>
                </a:solidFill>
                <a:latin typeface="Verdana"/>
                <a:cs typeface="Verdana"/>
              </a:rPr>
              <a:t>= name</a:t>
            </a:r>
            <a:r>
              <a:rPr b="1" spc="-10" dirty="0">
                <a:solidFill>
                  <a:srgbClr val="767070"/>
                </a:solidFill>
                <a:latin typeface="Verdana"/>
                <a:cs typeface="Verdana"/>
              </a:rPr>
              <a:t> </a:t>
            </a:r>
            <a:r>
              <a:rPr b="1" dirty="0">
                <a:solidFill>
                  <a:srgbClr val="BE9000"/>
                </a:solidFill>
                <a:latin typeface="Verdana"/>
                <a:cs typeface="Verdana"/>
              </a:rPr>
              <a:t>// </a:t>
            </a:r>
            <a:r>
              <a:rPr b="1" spc="-5" dirty="0">
                <a:solidFill>
                  <a:srgbClr val="BE9000"/>
                </a:solidFill>
                <a:latin typeface="Verdana"/>
                <a:cs typeface="Verdana"/>
              </a:rPr>
              <a:t>self</a:t>
            </a:r>
            <a:r>
              <a:rPr b="1" dirty="0">
                <a:solidFill>
                  <a:srgbClr val="BE9000"/>
                </a:solidFill>
                <a:latin typeface="Verdana"/>
                <a:cs typeface="Verdana"/>
              </a:rPr>
              <a:t> is an instance</a:t>
            </a:r>
            <a:r>
              <a:rPr b="1" spc="-30" dirty="0">
                <a:solidFill>
                  <a:srgbClr val="BE9000"/>
                </a:solidFill>
                <a:latin typeface="Verdana"/>
                <a:cs typeface="Verdana"/>
              </a:rPr>
              <a:t> </a:t>
            </a:r>
            <a:r>
              <a:rPr b="1" dirty="0">
                <a:solidFill>
                  <a:srgbClr val="BE9000"/>
                </a:solidFill>
                <a:latin typeface="Verdana"/>
                <a:cs typeface="Verdana"/>
              </a:rPr>
              <a:t>of</a:t>
            </a:r>
            <a:r>
              <a:rPr b="1" spc="10" dirty="0">
                <a:solidFill>
                  <a:srgbClr val="BE9000"/>
                </a:solidFill>
                <a:latin typeface="Verdana"/>
                <a:cs typeface="Verdana"/>
              </a:rPr>
              <a:t> </a:t>
            </a:r>
            <a:r>
              <a:rPr b="1" dirty="0">
                <a:solidFill>
                  <a:srgbClr val="BE9000"/>
                </a:solidFill>
                <a:latin typeface="Verdana"/>
                <a:cs typeface="Verdana"/>
              </a:rPr>
              <a:t>a </a:t>
            </a:r>
            <a:r>
              <a:rPr b="1" spc="-5" dirty="0">
                <a:solidFill>
                  <a:srgbClr val="BE9000"/>
                </a:solidFill>
                <a:latin typeface="Verdana"/>
                <a:cs typeface="Verdana"/>
              </a:rPr>
              <a:t>class</a:t>
            </a:r>
            <a:endParaRPr dirty="0">
              <a:latin typeface="Verdana"/>
              <a:cs typeface="Verdana"/>
            </a:endParaRPr>
          </a:p>
          <a:p>
            <a:pPr marL="942340" marR="5659120">
              <a:lnSpc>
                <a:spcPct val="100000"/>
              </a:lnSpc>
              <a:spcBef>
                <a:spcPts val="5"/>
              </a:spcBef>
            </a:pPr>
            <a:r>
              <a:rPr b="1" spc="-5" dirty="0">
                <a:solidFill>
                  <a:srgbClr val="767070"/>
                </a:solidFill>
                <a:latin typeface="Verdana"/>
                <a:cs typeface="Verdana"/>
              </a:rPr>
              <a:t>self.</a:t>
            </a:r>
            <a:r>
              <a:rPr lang="en-US" b="1" spc="-5" dirty="0">
                <a:solidFill>
                  <a:srgbClr val="767070"/>
                </a:solidFill>
                <a:latin typeface="Verdana"/>
                <a:cs typeface="Verdana"/>
              </a:rPr>
              <a:t>city = city</a:t>
            </a:r>
            <a:endParaRPr dirty="0">
              <a:latin typeface="Verdana"/>
              <a:cs typeface="Verdana"/>
            </a:endParaRPr>
          </a:p>
          <a:p>
            <a:pPr>
              <a:lnSpc>
                <a:spcPct val="100000"/>
              </a:lnSpc>
              <a:spcBef>
                <a:spcPts val="25"/>
              </a:spcBef>
            </a:pPr>
            <a:endParaRPr sz="1600" dirty="0">
              <a:latin typeface="Verdana"/>
              <a:cs typeface="Verdana"/>
            </a:endParaRPr>
          </a:p>
          <a:p>
            <a:pPr marL="244475">
              <a:lnSpc>
                <a:spcPct val="100000"/>
              </a:lnSpc>
              <a:spcBef>
                <a:spcPts val="5"/>
              </a:spcBef>
            </a:pPr>
            <a:r>
              <a:rPr b="1" dirty="0">
                <a:solidFill>
                  <a:srgbClr val="767070"/>
                </a:solidFill>
                <a:latin typeface="Verdana"/>
                <a:cs typeface="Verdana"/>
              </a:rPr>
              <a:t>emp1</a:t>
            </a:r>
            <a:r>
              <a:rPr b="1" spc="-10" dirty="0">
                <a:solidFill>
                  <a:srgbClr val="767070"/>
                </a:solidFill>
                <a:latin typeface="Verdana"/>
                <a:cs typeface="Verdana"/>
              </a:rPr>
              <a:t> </a:t>
            </a:r>
            <a:r>
              <a:rPr b="1" dirty="0">
                <a:solidFill>
                  <a:srgbClr val="767070"/>
                </a:solidFill>
                <a:latin typeface="Verdana"/>
                <a:cs typeface="Verdana"/>
              </a:rPr>
              <a:t>=</a:t>
            </a:r>
            <a:r>
              <a:rPr b="1" spc="15" dirty="0">
                <a:solidFill>
                  <a:srgbClr val="767070"/>
                </a:solidFill>
                <a:latin typeface="Verdana"/>
                <a:cs typeface="Verdana"/>
              </a:rPr>
              <a:t> </a:t>
            </a:r>
            <a:r>
              <a:rPr b="1" spc="-5" dirty="0">
                <a:solidFill>
                  <a:srgbClr val="767070"/>
                </a:solidFill>
                <a:latin typeface="Verdana"/>
                <a:cs typeface="Verdana"/>
              </a:rPr>
              <a:t>employee("</a:t>
            </a:r>
            <a:r>
              <a:rPr lang="en-US" b="1" spc="-5" dirty="0">
                <a:solidFill>
                  <a:srgbClr val="767070"/>
                </a:solidFill>
                <a:latin typeface="Verdana"/>
                <a:cs typeface="Verdana"/>
              </a:rPr>
              <a:t>Ahmed</a:t>
            </a:r>
            <a:r>
              <a:rPr b="1" spc="-5" dirty="0">
                <a:solidFill>
                  <a:srgbClr val="767070"/>
                </a:solidFill>
                <a:latin typeface="Verdana"/>
                <a:cs typeface="Verdana"/>
              </a:rPr>
              <a:t>",</a:t>
            </a:r>
            <a:r>
              <a:rPr lang="en-US" b="1" spc="-5" dirty="0">
                <a:solidFill>
                  <a:srgbClr val="767070"/>
                </a:solidFill>
                <a:latin typeface="Verdana"/>
                <a:cs typeface="Verdana"/>
              </a:rPr>
              <a:t>“Karachi”</a:t>
            </a:r>
            <a:r>
              <a:rPr b="1" spc="-5" dirty="0">
                <a:solidFill>
                  <a:srgbClr val="767070"/>
                </a:solidFill>
                <a:latin typeface="Verdana"/>
                <a:cs typeface="Verdana"/>
              </a:rPr>
              <a:t>)</a:t>
            </a:r>
            <a:r>
              <a:rPr b="1" spc="15" dirty="0">
                <a:solidFill>
                  <a:srgbClr val="767070"/>
                </a:solidFill>
                <a:latin typeface="Verdana"/>
                <a:cs typeface="Verdana"/>
              </a:rPr>
              <a:t> </a:t>
            </a:r>
            <a:r>
              <a:rPr b="1" spc="-5" dirty="0">
                <a:solidFill>
                  <a:srgbClr val="BE9000"/>
                </a:solidFill>
                <a:latin typeface="Verdana"/>
                <a:cs typeface="Verdana"/>
              </a:rPr>
              <a:t>//creating</a:t>
            </a:r>
            <a:r>
              <a:rPr b="1" spc="-10" dirty="0">
                <a:solidFill>
                  <a:srgbClr val="BE9000"/>
                </a:solidFill>
                <a:latin typeface="Verdana"/>
                <a:cs typeface="Verdana"/>
              </a:rPr>
              <a:t> </a:t>
            </a:r>
            <a:r>
              <a:rPr b="1" dirty="0">
                <a:solidFill>
                  <a:srgbClr val="BE9000"/>
                </a:solidFill>
                <a:latin typeface="Verdana"/>
                <a:cs typeface="Verdana"/>
              </a:rPr>
              <a:t>objects</a:t>
            </a:r>
            <a:endParaRPr dirty="0">
              <a:latin typeface="Verdana"/>
              <a:cs typeface="Verdana"/>
            </a:endParaRPr>
          </a:p>
          <a:p>
            <a:pPr marL="244475">
              <a:lnSpc>
                <a:spcPct val="100000"/>
              </a:lnSpc>
            </a:pPr>
            <a:r>
              <a:rPr b="1" dirty="0">
                <a:solidFill>
                  <a:srgbClr val="767070"/>
                </a:solidFill>
                <a:latin typeface="Verdana"/>
                <a:cs typeface="Verdana"/>
              </a:rPr>
              <a:t>emp2</a:t>
            </a:r>
            <a:r>
              <a:rPr b="1" spc="-55" dirty="0">
                <a:solidFill>
                  <a:srgbClr val="767070"/>
                </a:solidFill>
                <a:latin typeface="Verdana"/>
                <a:cs typeface="Verdana"/>
              </a:rPr>
              <a:t> </a:t>
            </a:r>
            <a:r>
              <a:rPr b="1" spc="5" dirty="0">
                <a:solidFill>
                  <a:srgbClr val="767070"/>
                </a:solidFill>
                <a:latin typeface="Verdana"/>
                <a:cs typeface="Verdana"/>
              </a:rPr>
              <a:t>=</a:t>
            </a:r>
            <a:r>
              <a:rPr b="1" spc="-30" dirty="0">
                <a:solidFill>
                  <a:srgbClr val="767070"/>
                </a:solidFill>
                <a:latin typeface="Verdana"/>
                <a:cs typeface="Verdana"/>
              </a:rPr>
              <a:t> </a:t>
            </a:r>
            <a:r>
              <a:rPr b="1" dirty="0">
                <a:solidFill>
                  <a:srgbClr val="767070"/>
                </a:solidFill>
                <a:latin typeface="Verdana"/>
                <a:cs typeface="Verdana"/>
              </a:rPr>
              <a:t>employee("</a:t>
            </a:r>
            <a:r>
              <a:rPr lang="en-US" b="1" dirty="0">
                <a:solidFill>
                  <a:srgbClr val="767070"/>
                </a:solidFill>
                <a:latin typeface="Verdana"/>
                <a:cs typeface="Verdana"/>
              </a:rPr>
              <a:t>Ali</a:t>
            </a:r>
            <a:r>
              <a:rPr b="1" dirty="0">
                <a:solidFill>
                  <a:srgbClr val="767070"/>
                </a:solidFill>
                <a:latin typeface="Verdana"/>
                <a:cs typeface="Verdana"/>
              </a:rPr>
              <a:t>",</a:t>
            </a:r>
            <a:r>
              <a:rPr lang="en-US" b="1" dirty="0">
                <a:solidFill>
                  <a:srgbClr val="767070"/>
                </a:solidFill>
                <a:latin typeface="Verdana"/>
                <a:cs typeface="Verdana"/>
              </a:rPr>
              <a:t>“Hyderabad”</a:t>
            </a:r>
            <a:r>
              <a:rPr b="1" dirty="0">
                <a:solidFill>
                  <a:srgbClr val="767070"/>
                </a:solidFill>
                <a:latin typeface="Verdana"/>
                <a:cs typeface="Verdana"/>
              </a:rPr>
              <a:t>)</a:t>
            </a:r>
            <a:endParaRPr dirty="0">
              <a:latin typeface="Verdana"/>
              <a:cs typeface="Verdana"/>
            </a:endParaRPr>
          </a:p>
          <a:p>
            <a:pPr marL="244475">
              <a:lnSpc>
                <a:spcPct val="100000"/>
              </a:lnSpc>
              <a:tabLst>
                <a:tab pos="2323465" algn="l"/>
                <a:tab pos="3215640" algn="l"/>
              </a:tabLst>
            </a:pPr>
            <a:r>
              <a:rPr lang="en-US" b="1" spc="-5" dirty="0">
                <a:solidFill>
                  <a:srgbClr val="767070"/>
                </a:solidFill>
                <a:latin typeface="Verdana"/>
                <a:cs typeface="Verdana"/>
              </a:rPr>
              <a:t>print(emp1.name)</a:t>
            </a:r>
          </a:p>
          <a:p>
            <a:pPr marL="244475">
              <a:lnSpc>
                <a:spcPct val="100000"/>
              </a:lnSpc>
              <a:tabLst>
                <a:tab pos="2323465" algn="l"/>
                <a:tab pos="3215640" algn="l"/>
              </a:tabLst>
            </a:pPr>
            <a:r>
              <a:rPr lang="en-US" b="1" spc="-5" dirty="0">
                <a:solidFill>
                  <a:srgbClr val="767070"/>
                </a:solidFill>
                <a:latin typeface="Verdana"/>
                <a:cs typeface="Verdana"/>
              </a:rPr>
              <a:t>print(emp1.city)</a:t>
            </a:r>
          </a:p>
          <a:p>
            <a:pPr marL="244475">
              <a:lnSpc>
                <a:spcPct val="100000"/>
              </a:lnSpc>
              <a:tabLst>
                <a:tab pos="2323465" algn="l"/>
                <a:tab pos="3215640" algn="l"/>
              </a:tabLst>
            </a:pPr>
            <a:r>
              <a:rPr lang="en-US" b="1" spc="-5" dirty="0">
                <a:solidFill>
                  <a:srgbClr val="767070"/>
                </a:solidFill>
                <a:latin typeface="Verdana"/>
                <a:cs typeface="Verdana"/>
              </a:rPr>
              <a:t>print(emp2.name)</a:t>
            </a:r>
          </a:p>
          <a:p>
            <a:pPr marL="244475">
              <a:lnSpc>
                <a:spcPct val="100000"/>
              </a:lnSpc>
              <a:tabLst>
                <a:tab pos="2323465" algn="l"/>
                <a:tab pos="3215640" algn="l"/>
              </a:tabLst>
            </a:pPr>
            <a:r>
              <a:rPr lang="en-US" b="1" spc="-5" dirty="0">
                <a:solidFill>
                  <a:srgbClr val="767070"/>
                </a:solidFill>
                <a:latin typeface="Verdana"/>
                <a:cs typeface="Verdana"/>
              </a:rPr>
              <a:t>print(emp2.city)</a:t>
            </a:r>
          </a:p>
          <a:p>
            <a:pPr marL="244475">
              <a:lnSpc>
                <a:spcPct val="100000"/>
              </a:lnSpc>
              <a:tabLst>
                <a:tab pos="2323465" algn="l"/>
                <a:tab pos="3215640" algn="l"/>
              </a:tabLst>
            </a:pPr>
            <a:r>
              <a:rPr b="1" spc="-5" dirty="0">
                <a:solidFill>
                  <a:srgbClr val="767070"/>
                </a:solidFill>
                <a:latin typeface="Verdana"/>
                <a:cs typeface="Verdana"/>
              </a:rPr>
              <a:t>print(emp1.</a:t>
            </a:r>
            <a:r>
              <a:rPr b="1" u="heavy" spc="-5" dirty="0">
                <a:solidFill>
                  <a:srgbClr val="767070"/>
                </a:solidFill>
                <a:uFill>
                  <a:solidFill>
                    <a:srgbClr val="756F6F"/>
                  </a:solidFill>
                </a:uFill>
                <a:latin typeface="Verdana"/>
                <a:cs typeface="Verdana"/>
              </a:rPr>
              <a:t>	</a:t>
            </a:r>
            <a:r>
              <a:rPr b="1" spc="-5" dirty="0">
                <a:solidFill>
                  <a:srgbClr val="767070"/>
                </a:solidFill>
                <a:latin typeface="Verdana"/>
                <a:cs typeface="Verdana"/>
              </a:rPr>
              <a:t>dict</a:t>
            </a:r>
            <a:r>
              <a:rPr b="1" u="heavy" spc="-5" dirty="0">
                <a:solidFill>
                  <a:srgbClr val="767070"/>
                </a:solidFill>
                <a:uFill>
                  <a:solidFill>
                    <a:srgbClr val="756F6F"/>
                  </a:solidFill>
                </a:uFill>
                <a:latin typeface="Verdana"/>
                <a:cs typeface="Verdana"/>
              </a:rPr>
              <a:t>	</a:t>
            </a:r>
            <a:r>
              <a:rPr b="1" spc="-5" dirty="0">
                <a:solidFill>
                  <a:srgbClr val="767070"/>
                </a:solidFill>
                <a:latin typeface="Verdana"/>
                <a:cs typeface="Verdana"/>
              </a:rPr>
              <a:t>)//Prints</a:t>
            </a:r>
            <a:r>
              <a:rPr b="1" spc="-70" dirty="0">
                <a:solidFill>
                  <a:srgbClr val="767070"/>
                </a:solidFill>
                <a:latin typeface="Verdana"/>
                <a:cs typeface="Verdana"/>
              </a:rPr>
              <a:t> </a:t>
            </a:r>
            <a:r>
              <a:rPr b="1" spc="-5" dirty="0">
                <a:solidFill>
                  <a:srgbClr val="767070"/>
                </a:solidFill>
                <a:latin typeface="Verdana"/>
                <a:cs typeface="Verdana"/>
              </a:rPr>
              <a:t>dictionary</a:t>
            </a:r>
            <a:endParaRPr dirty="0">
              <a:latin typeface="Verdana"/>
              <a:cs typeface="Verdana"/>
            </a:endParaRPr>
          </a:p>
        </p:txBody>
      </p:sp>
      <p:sp>
        <p:nvSpPr>
          <p:cNvPr id="8" name="object 8"/>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19</a:t>
            </a:fld>
            <a:endParaRPr sz="1200">
              <a:latin typeface="Calibri"/>
              <a:cs typeface="Calibri"/>
            </a:endParaRPr>
          </a:p>
        </p:txBody>
      </p:sp>
      <p:sp>
        <p:nvSpPr>
          <p:cNvPr id="7" name="object 7"/>
          <p:cNvSpPr txBox="1">
            <a:spLocks noGrp="1"/>
          </p:cNvSpPr>
          <p:nvPr>
            <p:ph type="title"/>
          </p:nvPr>
        </p:nvSpPr>
        <p:spPr>
          <a:xfrm>
            <a:off x="1220470" y="783233"/>
            <a:ext cx="10971530" cy="566822"/>
          </a:xfrm>
          <a:prstGeom prst="rect">
            <a:avLst/>
          </a:prstGeom>
        </p:spPr>
        <p:txBody>
          <a:bodyPr vert="horz" wrap="square" lIns="0" tIns="12700" rIns="0" bIns="0" rtlCol="0">
            <a:spAutoFit/>
          </a:bodyPr>
          <a:lstStyle/>
          <a:p>
            <a:pPr marL="12700" algn="ctr">
              <a:lnSpc>
                <a:spcPct val="100000"/>
              </a:lnSpc>
              <a:spcBef>
                <a:spcPts val="100"/>
              </a:spcBef>
            </a:pPr>
            <a:r>
              <a:rPr lang="en-US" dirty="0"/>
              <a:t>Parameter constructor</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73961" y="2389616"/>
            <a:ext cx="11318875" cy="3645535"/>
            <a:chOff x="473961" y="2389616"/>
            <a:chExt cx="11318875" cy="3645535"/>
          </a:xfrm>
        </p:grpSpPr>
        <p:pic>
          <p:nvPicPr>
            <p:cNvPr id="3" name="object 3"/>
            <p:cNvPicPr/>
            <p:nvPr/>
          </p:nvPicPr>
          <p:blipFill>
            <a:blip r:embed="rId2" cstate="print"/>
            <a:stretch>
              <a:fillRect/>
            </a:stretch>
          </p:blipFill>
          <p:spPr>
            <a:xfrm>
              <a:off x="473961" y="2389616"/>
              <a:ext cx="11318752" cy="3645438"/>
            </a:xfrm>
            <a:prstGeom prst="rect">
              <a:avLst/>
            </a:prstGeom>
          </p:spPr>
        </p:pic>
        <p:sp>
          <p:nvSpPr>
            <p:cNvPr id="4" name="object 4"/>
            <p:cNvSpPr/>
            <p:nvPr/>
          </p:nvSpPr>
          <p:spPr>
            <a:xfrm>
              <a:off x="649985" y="2490978"/>
              <a:ext cx="10971530" cy="3447415"/>
            </a:xfrm>
            <a:custGeom>
              <a:avLst/>
              <a:gdLst/>
              <a:ahLst/>
              <a:cxnLst/>
              <a:rect l="l" t="t" r="r" b="b"/>
              <a:pathLst>
                <a:path w="10971530" h="3447415">
                  <a:moveTo>
                    <a:pt x="10971276" y="0"/>
                  </a:moveTo>
                  <a:lnTo>
                    <a:pt x="0" y="0"/>
                  </a:lnTo>
                  <a:lnTo>
                    <a:pt x="0" y="3447288"/>
                  </a:lnTo>
                  <a:lnTo>
                    <a:pt x="10971276" y="3447288"/>
                  </a:lnTo>
                  <a:lnTo>
                    <a:pt x="10971276" y="0"/>
                  </a:lnTo>
                  <a:close/>
                </a:path>
              </a:pathLst>
            </a:custGeom>
            <a:solidFill>
              <a:srgbClr val="FFFFFF"/>
            </a:solidFill>
          </p:spPr>
          <p:txBody>
            <a:bodyPr wrap="square" lIns="0" tIns="0" rIns="0" bIns="0" rtlCol="0"/>
            <a:lstStyle/>
            <a:p>
              <a:endParaRPr/>
            </a:p>
          </p:txBody>
        </p:sp>
        <p:sp>
          <p:nvSpPr>
            <p:cNvPr id="5" name="object 5"/>
            <p:cNvSpPr/>
            <p:nvPr/>
          </p:nvSpPr>
          <p:spPr>
            <a:xfrm>
              <a:off x="649985" y="2490978"/>
              <a:ext cx="10971530" cy="3447415"/>
            </a:xfrm>
            <a:custGeom>
              <a:avLst/>
              <a:gdLst/>
              <a:ahLst/>
              <a:cxnLst/>
              <a:rect l="l" t="t" r="r" b="b"/>
              <a:pathLst>
                <a:path w="10971530" h="3447415">
                  <a:moveTo>
                    <a:pt x="0" y="3447288"/>
                  </a:moveTo>
                  <a:lnTo>
                    <a:pt x="10971276" y="3447288"/>
                  </a:lnTo>
                  <a:lnTo>
                    <a:pt x="10971276" y="0"/>
                  </a:lnTo>
                  <a:lnTo>
                    <a:pt x="0" y="0"/>
                  </a:lnTo>
                  <a:lnTo>
                    <a:pt x="0" y="3447288"/>
                  </a:lnTo>
                  <a:close/>
                </a:path>
              </a:pathLst>
            </a:custGeom>
            <a:ln w="38100">
              <a:solidFill>
                <a:srgbClr val="D9D9D9"/>
              </a:solidFill>
            </a:ln>
          </p:spPr>
          <p:txBody>
            <a:bodyPr wrap="square" lIns="0" tIns="0" rIns="0" bIns="0" rtlCol="0"/>
            <a:lstStyle/>
            <a:p>
              <a:endParaRPr/>
            </a:p>
          </p:txBody>
        </p:sp>
      </p:grpSp>
      <p:sp>
        <p:nvSpPr>
          <p:cNvPr id="6" name="object 6"/>
          <p:cNvSpPr txBox="1"/>
          <p:nvPr/>
        </p:nvSpPr>
        <p:spPr>
          <a:xfrm>
            <a:off x="762000" y="2633001"/>
            <a:ext cx="10094215" cy="2997615"/>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C55A11"/>
                </a:solidFill>
                <a:latin typeface="Verdana"/>
                <a:cs typeface="Verdana"/>
              </a:rPr>
              <a:t>Example</a:t>
            </a:r>
            <a:r>
              <a:rPr lang="en-US" sz="2800" b="1" spc="-5" dirty="0">
                <a:solidFill>
                  <a:srgbClr val="C55A11"/>
                </a:solidFill>
                <a:latin typeface="Verdana"/>
                <a:cs typeface="Verdana"/>
              </a:rPr>
              <a:t>-02</a:t>
            </a:r>
            <a:r>
              <a:rPr sz="2800" b="1" spc="-5" dirty="0">
                <a:solidFill>
                  <a:srgbClr val="C55A11"/>
                </a:solidFill>
                <a:latin typeface="Verdana"/>
                <a:cs typeface="Verdana"/>
              </a:rPr>
              <a:t>:</a:t>
            </a:r>
            <a:endParaRPr sz="2800" dirty="0">
              <a:latin typeface="Verdana"/>
              <a:cs typeface="Verdana"/>
            </a:endParaRPr>
          </a:p>
          <a:p>
            <a:pPr>
              <a:lnSpc>
                <a:spcPct val="100000"/>
              </a:lnSpc>
              <a:spcBef>
                <a:spcPts val="40"/>
              </a:spcBef>
            </a:pPr>
            <a:endParaRPr sz="2800" dirty="0">
              <a:latin typeface="Verdana"/>
              <a:cs typeface="Verdana"/>
            </a:endParaRPr>
          </a:p>
          <a:p>
            <a:pPr marL="244475">
              <a:lnSpc>
                <a:spcPct val="100000"/>
              </a:lnSpc>
            </a:pPr>
            <a:r>
              <a:rPr sz="2000" b="1" spc="-5" dirty="0">
                <a:solidFill>
                  <a:srgbClr val="767070"/>
                </a:solidFill>
                <a:latin typeface="Verdana"/>
                <a:cs typeface="Verdana"/>
              </a:rPr>
              <a:t>class</a:t>
            </a:r>
            <a:r>
              <a:rPr sz="2000" b="1" spc="-20" dirty="0">
                <a:solidFill>
                  <a:srgbClr val="767070"/>
                </a:solidFill>
                <a:latin typeface="Verdana"/>
                <a:cs typeface="Verdana"/>
              </a:rPr>
              <a:t> </a:t>
            </a:r>
            <a:r>
              <a:rPr lang="en-US" sz="2000" b="1" spc="-5" dirty="0">
                <a:solidFill>
                  <a:srgbClr val="767070"/>
                </a:solidFill>
                <a:latin typeface="Verdana"/>
                <a:cs typeface="Verdana"/>
              </a:rPr>
              <a:t>Student</a:t>
            </a:r>
            <a:r>
              <a:rPr sz="2000" b="1" spc="-5" dirty="0">
                <a:solidFill>
                  <a:srgbClr val="767070"/>
                </a:solidFill>
                <a:latin typeface="Verdana"/>
                <a:cs typeface="Verdana"/>
              </a:rPr>
              <a:t>():</a:t>
            </a:r>
            <a:endParaRPr sz="2000" dirty="0">
              <a:latin typeface="Verdana"/>
              <a:cs typeface="Verdana"/>
            </a:endParaRPr>
          </a:p>
          <a:p>
            <a:pPr marL="942340" marR="5080" indent="-349250">
              <a:lnSpc>
                <a:spcPct val="100000"/>
              </a:lnSpc>
              <a:tabLst>
                <a:tab pos="1497330" algn="l"/>
                <a:tab pos="2331085" algn="l"/>
                <a:tab pos="6292215" algn="l"/>
              </a:tabLst>
            </a:pPr>
            <a:r>
              <a:rPr sz="2000" b="1" dirty="0">
                <a:solidFill>
                  <a:srgbClr val="767070"/>
                </a:solidFill>
                <a:latin typeface="Verdana"/>
                <a:cs typeface="Verdana"/>
              </a:rPr>
              <a:t>def</a:t>
            </a:r>
            <a:r>
              <a:rPr sz="2000" b="1" u="heavy" dirty="0">
                <a:solidFill>
                  <a:srgbClr val="767070"/>
                </a:solidFill>
                <a:uFill>
                  <a:solidFill>
                    <a:srgbClr val="756F6F"/>
                  </a:solidFill>
                </a:uFill>
                <a:latin typeface="Verdana"/>
                <a:cs typeface="Verdana"/>
              </a:rPr>
              <a:t>	</a:t>
            </a:r>
            <a:r>
              <a:rPr sz="2000" b="1" dirty="0">
                <a:solidFill>
                  <a:srgbClr val="767070"/>
                </a:solidFill>
                <a:latin typeface="Verdana"/>
                <a:cs typeface="Verdana"/>
              </a:rPr>
              <a:t>init</a:t>
            </a:r>
            <a:r>
              <a:rPr sz="2000" b="1" u="heavy" dirty="0">
                <a:solidFill>
                  <a:srgbClr val="767070"/>
                </a:solidFill>
                <a:uFill>
                  <a:solidFill>
                    <a:srgbClr val="756F6F"/>
                  </a:solidFill>
                </a:uFill>
                <a:latin typeface="Verdana"/>
                <a:cs typeface="Verdana"/>
              </a:rPr>
              <a:t>	</a:t>
            </a:r>
            <a:r>
              <a:rPr sz="2000" b="1" spc="-5" dirty="0">
                <a:solidFill>
                  <a:srgbClr val="767070"/>
                </a:solidFill>
                <a:latin typeface="Verdana"/>
                <a:cs typeface="Verdana"/>
              </a:rPr>
              <a:t>(self,name,</a:t>
            </a:r>
            <a:r>
              <a:rPr lang="en-US" sz="2000" b="1" spc="-5" dirty="0">
                <a:solidFill>
                  <a:srgbClr val="767070"/>
                </a:solidFill>
                <a:latin typeface="Verdana"/>
                <a:cs typeface="Verdana"/>
              </a:rPr>
              <a:t>marks</a:t>
            </a:r>
            <a:r>
              <a:rPr sz="2000" b="1" spc="-5" dirty="0">
                <a:solidFill>
                  <a:srgbClr val="767070"/>
                </a:solidFill>
                <a:latin typeface="Verdana"/>
                <a:cs typeface="Verdana"/>
              </a:rPr>
              <a:t>):	</a:t>
            </a:r>
            <a:r>
              <a:rPr sz="2000" b="1" spc="-5" dirty="0">
                <a:solidFill>
                  <a:srgbClr val="BE9000"/>
                </a:solidFill>
                <a:latin typeface="Verdana"/>
                <a:cs typeface="Verdana"/>
              </a:rPr>
              <a:t>//creating </a:t>
            </a:r>
            <a:r>
              <a:rPr sz="2000" b="1" dirty="0">
                <a:solidFill>
                  <a:srgbClr val="BE9000"/>
                </a:solidFill>
                <a:latin typeface="Verdana"/>
                <a:cs typeface="Verdana"/>
              </a:rPr>
              <a:t>a </a:t>
            </a:r>
            <a:r>
              <a:rPr sz="2000" b="1" spc="-5" dirty="0">
                <a:solidFill>
                  <a:srgbClr val="BE9000"/>
                </a:solidFill>
                <a:latin typeface="Verdana"/>
                <a:cs typeface="Verdana"/>
              </a:rPr>
              <a:t>function </a:t>
            </a:r>
            <a:r>
              <a:rPr sz="2000" b="1" spc="-670" dirty="0">
                <a:solidFill>
                  <a:srgbClr val="BE9000"/>
                </a:solidFill>
                <a:latin typeface="Verdana"/>
                <a:cs typeface="Verdana"/>
              </a:rPr>
              <a:t> </a:t>
            </a:r>
            <a:r>
              <a:rPr sz="2000" b="1" spc="-5" dirty="0">
                <a:solidFill>
                  <a:srgbClr val="767070"/>
                </a:solidFill>
                <a:latin typeface="Verdana"/>
                <a:cs typeface="Verdana"/>
              </a:rPr>
              <a:t>self.name</a:t>
            </a:r>
            <a:r>
              <a:rPr sz="2000" b="1" spc="-25" dirty="0">
                <a:solidFill>
                  <a:srgbClr val="767070"/>
                </a:solidFill>
                <a:latin typeface="Verdana"/>
                <a:cs typeface="Verdana"/>
              </a:rPr>
              <a:t> </a:t>
            </a:r>
            <a:r>
              <a:rPr sz="2000" b="1" dirty="0">
                <a:solidFill>
                  <a:srgbClr val="767070"/>
                </a:solidFill>
                <a:latin typeface="Verdana"/>
                <a:cs typeface="Verdana"/>
              </a:rPr>
              <a:t>= name</a:t>
            </a:r>
            <a:r>
              <a:rPr sz="2000" b="1" spc="-10" dirty="0">
                <a:solidFill>
                  <a:srgbClr val="767070"/>
                </a:solidFill>
                <a:latin typeface="Verdana"/>
                <a:cs typeface="Verdana"/>
              </a:rPr>
              <a:t> </a:t>
            </a:r>
            <a:r>
              <a:rPr sz="2000" b="1" dirty="0">
                <a:solidFill>
                  <a:srgbClr val="BE9000"/>
                </a:solidFill>
                <a:latin typeface="Verdana"/>
                <a:cs typeface="Verdana"/>
              </a:rPr>
              <a:t>// </a:t>
            </a:r>
            <a:r>
              <a:rPr sz="2000" b="1" spc="-5" dirty="0">
                <a:solidFill>
                  <a:srgbClr val="BE9000"/>
                </a:solidFill>
                <a:latin typeface="Verdana"/>
                <a:cs typeface="Verdana"/>
              </a:rPr>
              <a:t>self</a:t>
            </a:r>
            <a:r>
              <a:rPr sz="2000" b="1" dirty="0">
                <a:solidFill>
                  <a:srgbClr val="BE9000"/>
                </a:solidFill>
                <a:latin typeface="Verdana"/>
                <a:cs typeface="Verdana"/>
              </a:rPr>
              <a:t> is an instance</a:t>
            </a:r>
            <a:r>
              <a:rPr sz="2000" b="1" spc="-30" dirty="0">
                <a:solidFill>
                  <a:srgbClr val="BE9000"/>
                </a:solidFill>
                <a:latin typeface="Verdana"/>
                <a:cs typeface="Verdana"/>
              </a:rPr>
              <a:t> </a:t>
            </a:r>
            <a:r>
              <a:rPr sz="2000" b="1" dirty="0">
                <a:solidFill>
                  <a:srgbClr val="BE9000"/>
                </a:solidFill>
                <a:latin typeface="Verdana"/>
                <a:cs typeface="Verdana"/>
              </a:rPr>
              <a:t>of</a:t>
            </a:r>
            <a:r>
              <a:rPr sz="2000" b="1" spc="10" dirty="0">
                <a:solidFill>
                  <a:srgbClr val="BE9000"/>
                </a:solidFill>
                <a:latin typeface="Verdana"/>
                <a:cs typeface="Verdana"/>
              </a:rPr>
              <a:t> </a:t>
            </a:r>
            <a:r>
              <a:rPr sz="2000" b="1" dirty="0">
                <a:solidFill>
                  <a:srgbClr val="BE9000"/>
                </a:solidFill>
                <a:latin typeface="Verdana"/>
                <a:cs typeface="Verdana"/>
              </a:rPr>
              <a:t>a </a:t>
            </a:r>
            <a:r>
              <a:rPr sz="2000" b="1" spc="-5" dirty="0">
                <a:solidFill>
                  <a:srgbClr val="BE9000"/>
                </a:solidFill>
                <a:latin typeface="Verdana"/>
                <a:cs typeface="Verdana"/>
              </a:rPr>
              <a:t>class</a:t>
            </a:r>
            <a:endParaRPr sz="2000" dirty="0">
              <a:latin typeface="Verdana"/>
              <a:cs typeface="Verdana"/>
            </a:endParaRPr>
          </a:p>
          <a:p>
            <a:pPr marL="942340" marR="5659120">
              <a:lnSpc>
                <a:spcPct val="100000"/>
              </a:lnSpc>
              <a:spcBef>
                <a:spcPts val="5"/>
              </a:spcBef>
            </a:pPr>
            <a:r>
              <a:rPr sz="2000" b="1" spc="-5" dirty="0" err="1">
                <a:solidFill>
                  <a:srgbClr val="767070"/>
                </a:solidFill>
                <a:latin typeface="Verdana"/>
                <a:cs typeface="Verdana"/>
              </a:rPr>
              <a:t>self.</a:t>
            </a:r>
            <a:r>
              <a:rPr lang="en-US" sz="2000" b="1" spc="-5" dirty="0" err="1">
                <a:solidFill>
                  <a:srgbClr val="767070"/>
                </a:solidFill>
                <a:latin typeface="Verdana"/>
                <a:cs typeface="Verdana"/>
              </a:rPr>
              <a:t>marks</a:t>
            </a:r>
            <a:r>
              <a:rPr lang="en-US" sz="2000" b="1" spc="-5" dirty="0">
                <a:solidFill>
                  <a:srgbClr val="767070"/>
                </a:solidFill>
                <a:latin typeface="Verdana"/>
                <a:cs typeface="Verdana"/>
              </a:rPr>
              <a:t> = marks</a:t>
            </a:r>
            <a:endParaRPr sz="2000" dirty="0">
              <a:latin typeface="Verdana"/>
              <a:cs typeface="Verdana"/>
            </a:endParaRPr>
          </a:p>
          <a:p>
            <a:pPr>
              <a:lnSpc>
                <a:spcPct val="100000"/>
              </a:lnSpc>
              <a:spcBef>
                <a:spcPts val="25"/>
              </a:spcBef>
            </a:pPr>
            <a:endParaRPr dirty="0">
              <a:latin typeface="Verdana"/>
              <a:cs typeface="Verdana"/>
            </a:endParaRPr>
          </a:p>
          <a:p>
            <a:pPr marL="244475">
              <a:lnSpc>
                <a:spcPct val="100000"/>
              </a:lnSpc>
              <a:spcBef>
                <a:spcPts val="5"/>
              </a:spcBef>
            </a:pPr>
            <a:r>
              <a:rPr sz="2000" b="1" dirty="0">
                <a:solidFill>
                  <a:srgbClr val="767070"/>
                </a:solidFill>
                <a:latin typeface="Verdana"/>
                <a:cs typeface="Verdana"/>
              </a:rPr>
              <a:t>emp1</a:t>
            </a:r>
            <a:r>
              <a:rPr sz="2000" b="1" spc="-10" dirty="0">
                <a:solidFill>
                  <a:srgbClr val="767070"/>
                </a:solidFill>
                <a:latin typeface="Verdana"/>
                <a:cs typeface="Verdana"/>
              </a:rPr>
              <a:t> </a:t>
            </a:r>
            <a:r>
              <a:rPr sz="2000" b="1" dirty="0">
                <a:solidFill>
                  <a:srgbClr val="767070"/>
                </a:solidFill>
                <a:latin typeface="Verdana"/>
                <a:cs typeface="Verdana"/>
              </a:rPr>
              <a:t>=</a:t>
            </a:r>
            <a:r>
              <a:rPr sz="2000" b="1" spc="15" dirty="0">
                <a:solidFill>
                  <a:srgbClr val="767070"/>
                </a:solidFill>
                <a:latin typeface="Verdana"/>
                <a:cs typeface="Verdana"/>
              </a:rPr>
              <a:t> </a:t>
            </a:r>
            <a:r>
              <a:rPr sz="2000" b="1" spc="-5" dirty="0">
                <a:solidFill>
                  <a:srgbClr val="767070"/>
                </a:solidFill>
                <a:latin typeface="Verdana"/>
                <a:cs typeface="Verdana"/>
              </a:rPr>
              <a:t>employee("</a:t>
            </a:r>
            <a:r>
              <a:rPr lang="en-US" sz="2000" b="1" spc="-5" dirty="0">
                <a:solidFill>
                  <a:srgbClr val="767070"/>
                </a:solidFill>
                <a:latin typeface="Verdana"/>
                <a:cs typeface="Verdana"/>
              </a:rPr>
              <a:t>Ahmed</a:t>
            </a:r>
            <a:r>
              <a:rPr sz="2000" b="1" spc="-5" dirty="0">
                <a:solidFill>
                  <a:srgbClr val="767070"/>
                </a:solidFill>
                <a:latin typeface="Verdana"/>
                <a:cs typeface="Verdana"/>
              </a:rPr>
              <a:t>",</a:t>
            </a:r>
            <a:r>
              <a:rPr lang="en-US" sz="2000" b="1" spc="-5" dirty="0">
                <a:solidFill>
                  <a:srgbClr val="767070"/>
                </a:solidFill>
                <a:latin typeface="Verdana"/>
                <a:cs typeface="Verdana"/>
              </a:rPr>
              <a:t>99</a:t>
            </a:r>
            <a:r>
              <a:rPr sz="2000" b="1" spc="-5" dirty="0">
                <a:solidFill>
                  <a:srgbClr val="767070"/>
                </a:solidFill>
                <a:latin typeface="Verdana"/>
                <a:cs typeface="Verdana"/>
              </a:rPr>
              <a:t>)</a:t>
            </a:r>
            <a:r>
              <a:rPr sz="2000" b="1" spc="15" dirty="0">
                <a:solidFill>
                  <a:srgbClr val="767070"/>
                </a:solidFill>
                <a:latin typeface="Verdana"/>
                <a:cs typeface="Verdana"/>
              </a:rPr>
              <a:t> </a:t>
            </a:r>
            <a:r>
              <a:rPr sz="2000" b="1" spc="-5" dirty="0">
                <a:solidFill>
                  <a:srgbClr val="BE9000"/>
                </a:solidFill>
                <a:latin typeface="Verdana"/>
                <a:cs typeface="Verdana"/>
              </a:rPr>
              <a:t>//creating</a:t>
            </a:r>
            <a:r>
              <a:rPr sz="2000" b="1" spc="-10" dirty="0">
                <a:solidFill>
                  <a:srgbClr val="BE9000"/>
                </a:solidFill>
                <a:latin typeface="Verdana"/>
                <a:cs typeface="Verdana"/>
              </a:rPr>
              <a:t> </a:t>
            </a:r>
            <a:r>
              <a:rPr sz="2000" b="1" dirty="0">
                <a:solidFill>
                  <a:srgbClr val="BE9000"/>
                </a:solidFill>
                <a:latin typeface="Verdana"/>
                <a:cs typeface="Verdana"/>
              </a:rPr>
              <a:t>objects</a:t>
            </a:r>
            <a:endParaRPr sz="2000" dirty="0">
              <a:latin typeface="Verdana"/>
              <a:cs typeface="Verdana"/>
            </a:endParaRPr>
          </a:p>
          <a:p>
            <a:pPr marL="244475">
              <a:lnSpc>
                <a:spcPct val="100000"/>
              </a:lnSpc>
            </a:pPr>
            <a:r>
              <a:rPr sz="2000" b="1" dirty="0">
                <a:solidFill>
                  <a:srgbClr val="767070"/>
                </a:solidFill>
                <a:latin typeface="Verdana"/>
                <a:cs typeface="Verdana"/>
              </a:rPr>
              <a:t>emp2</a:t>
            </a:r>
            <a:r>
              <a:rPr sz="2000" b="1" spc="-55" dirty="0">
                <a:solidFill>
                  <a:srgbClr val="767070"/>
                </a:solidFill>
                <a:latin typeface="Verdana"/>
                <a:cs typeface="Verdana"/>
              </a:rPr>
              <a:t> </a:t>
            </a:r>
            <a:r>
              <a:rPr sz="2000" b="1" spc="5" dirty="0">
                <a:solidFill>
                  <a:srgbClr val="767070"/>
                </a:solidFill>
                <a:latin typeface="Verdana"/>
                <a:cs typeface="Verdana"/>
              </a:rPr>
              <a:t>=</a:t>
            </a:r>
            <a:r>
              <a:rPr sz="2000" b="1" spc="-30" dirty="0">
                <a:solidFill>
                  <a:srgbClr val="767070"/>
                </a:solidFill>
                <a:latin typeface="Verdana"/>
                <a:cs typeface="Verdana"/>
              </a:rPr>
              <a:t> </a:t>
            </a:r>
            <a:r>
              <a:rPr sz="2000" b="1" dirty="0">
                <a:solidFill>
                  <a:srgbClr val="767070"/>
                </a:solidFill>
                <a:latin typeface="Verdana"/>
                <a:cs typeface="Verdana"/>
              </a:rPr>
              <a:t>employee("</a:t>
            </a:r>
            <a:r>
              <a:rPr lang="en-US" sz="2000" b="1" dirty="0">
                <a:solidFill>
                  <a:srgbClr val="767070"/>
                </a:solidFill>
                <a:latin typeface="Verdana"/>
                <a:cs typeface="Verdana"/>
              </a:rPr>
              <a:t>Ali</a:t>
            </a:r>
            <a:r>
              <a:rPr sz="2000" b="1" dirty="0">
                <a:solidFill>
                  <a:srgbClr val="767070"/>
                </a:solidFill>
                <a:latin typeface="Verdana"/>
                <a:cs typeface="Verdana"/>
              </a:rPr>
              <a:t>",</a:t>
            </a:r>
            <a:r>
              <a:rPr lang="en-US" sz="2000" b="1" dirty="0">
                <a:solidFill>
                  <a:srgbClr val="767070"/>
                </a:solidFill>
                <a:latin typeface="Verdana"/>
                <a:cs typeface="Verdana"/>
              </a:rPr>
              <a:t>98</a:t>
            </a:r>
            <a:r>
              <a:rPr sz="2000" b="1" dirty="0">
                <a:solidFill>
                  <a:srgbClr val="767070"/>
                </a:solidFill>
                <a:latin typeface="Verdana"/>
                <a:cs typeface="Verdana"/>
              </a:rPr>
              <a:t>)</a:t>
            </a:r>
            <a:endParaRPr sz="2000" dirty="0">
              <a:latin typeface="Verdana"/>
              <a:cs typeface="Verdana"/>
            </a:endParaRPr>
          </a:p>
        </p:txBody>
      </p:sp>
      <p:sp>
        <p:nvSpPr>
          <p:cNvPr id="8" name="object 8"/>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20</a:t>
            </a:fld>
            <a:endParaRPr sz="1200">
              <a:latin typeface="Calibri"/>
              <a:cs typeface="Calibri"/>
            </a:endParaRPr>
          </a:p>
        </p:txBody>
      </p:sp>
      <p:sp>
        <p:nvSpPr>
          <p:cNvPr id="7" name="object 7"/>
          <p:cNvSpPr txBox="1">
            <a:spLocks noGrp="1"/>
          </p:cNvSpPr>
          <p:nvPr>
            <p:ph type="title"/>
          </p:nvPr>
        </p:nvSpPr>
        <p:spPr>
          <a:xfrm>
            <a:off x="1220470" y="783233"/>
            <a:ext cx="10971530" cy="566822"/>
          </a:xfrm>
          <a:prstGeom prst="rect">
            <a:avLst/>
          </a:prstGeom>
        </p:spPr>
        <p:txBody>
          <a:bodyPr vert="horz" wrap="square" lIns="0" tIns="12700" rIns="0" bIns="0" rtlCol="0">
            <a:spAutoFit/>
          </a:bodyPr>
          <a:lstStyle/>
          <a:p>
            <a:pPr marL="12700" algn="ctr">
              <a:lnSpc>
                <a:spcPct val="100000"/>
              </a:lnSpc>
              <a:spcBef>
                <a:spcPts val="100"/>
              </a:spcBef>
            </a:pPr>
            <a:r>
              <a:rPr lang="en-US" dirty="0"/>
              <a:t>Parameter constructor</a:t>
            </a:r>
            <a:endParaRPr dirty="0"/>
          </a:p>
        </p:txBody>
      </p:sp>
    </p:spTree>
    <p:extLst>
      <p:ext uri="{BB962C8B-B14F-4D97-AF65-F5344CB8AC3E}">
        <p14:creationId xmlns:p14="http://schemas.microsoft.com/office/powerpoint/2010/main" val="1478872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Activity-05</a:t>
            </a:r>
          </a:p>
        </p:txBody>
      </p:sp>
      <p:sp>
        <p:nvSpPr>
          <p:cNvPr id="3" name="Content Placeholder 2"/>
          <p:cNvSpPr>
            <a:spLocks noGrp="1"/>
          </p:cNvSpPr>
          <p:nvPr>
            <p:ph idx="1"/>
          </p:nvPr>
        </p:nvSpPr>
        <p:spPr/>
        <p:txBody>
          <a:bodyPr>
            <a:normAutofit/>
          </a:bodyPr>
          <a:lstStyle/>
          <a:p>
            <a:r>
              <a:rPr lang="en-US" sz="2800" dirty="0"/>
              <a:t>Create a class that contains two features name and marks. One method Intro that display name and second method contains marks of the student that display marks. </a:t>
            </a:r>
          </a:p>
        </p:txBody>
      </p:sp>
    </p:spTree>
    <p:extLst>
      <p:ext uri="{BB962C8B-B14F-4D97-AF65-F5344CB8AC3E}">
        <p14:creationId xmlns:p14="http://schemas.microsoft.com/office/powerpoint/2010/main" val="2843925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Activity-06</a:t>
            </a:r>
          </a:p>
        </p:txBody>
      </p:sp>
      <p:sp>
        <p:nvSpPr>
          <p:cNvPr id="3" name="Content Placeholder 2"/>
          <p:cNvSpPr>
            <a:spLocks noGrp="1"/>
          </p:cNvSpPr>
          <p:nvPr>
            <p:ph idx="1"/>
          </p:nvPr>
        </p:nvSpPr>
        <p:spPr/>
        <p:txBody>
          <a:bodyPr>
            <a:normAutofit/>
          </a:bodyPr>
          <a:lstStyle/>
          <a:p>
            <a:r>
              <a:rPr lang="en-US" sz="2800" dirty="0"/>
              <a:t>Create a ‘Student’ class that contains two methods setter and getter. Setter method will take two arguments name and city. Also, set the name and city. Getter method will display the result.</a:t>
            </a:r>
          </a:p>
          <a:p>
            <a:r>
              <a:rPr lang="en-US" sz="2800" dirty="0"/>
              <a:t>Create one object of Student class. With the help of object access getter and setter method. </a:t>
            </a:r>
          </a:p>
        </p:txBody>
      </p:sp>
    </p:spTree>
    <p:extLst>
      <p:ext uri="{BB962C8B-B14F-4D97-AF65-F5344CB8AC3E}">
        <p14:creationId xmlns:p14="http://schemas.microsoft.com/office/powerpoint/2010/main" val="2003285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Activity-07</a:t>
            </a:r>
          </a:p>
        </p:txBody>
      </p:sp>
      <p:sp>
        <p:nvSpPr>
          <p:cNvPr id="3" name="Content Placeholder 2"/>
          <p:cNvSpPr>
            <a:spLocks noGrp="1"/>
          </p:cNvSpPr>
          <p:nvPr>
            <p:ph idx="1"/>
          </p:nvPr>
        </p:nvSpPr>
        <p:spPr/>
        <p:txBody>
          <a:bodyPr>
            <a:normAutofit/>
          </a:bodyPr>
          <a:lstStyle/>
          <a:p>
            <a:r>
              <a:rPr lang="en-US" sz="2800" dirty="0"/>
              <a:t>Create a class ‘Shape’ that contains two methods Rectangle and Area. Rectangle method will set length and width. Area method will return the area of rectangle. Create one object and with the help of that object display the result.</a:t>
            </a:r>
          </a:p>
          <a:p>
            <a:r>
              <a:rPr lang="en-US" sz="2800" dirty="0"/>
              <a:t>Note: Length and width should ask from user input.</a:t>
            </a:r>
          </a:p>
        </p:txBody>
      </p:sp>
    </p:spTree>
    <p:extLst>
      <p:ext uri="{BB962C8B-B14F-4D97-AF65-F5344CB8AC3E}">
        <p14:creationId xmlns:p14="http://schemas.microsoft.com/office/powerpoint/2010/main" val="2222252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Activity-08</a:t>
            </a:r>
            <a:br>
              <a:rPr lang="en-US" dirty="0"/>
            </a:br>
            <a:endParaRPr lang="en-US" dirty="0"/>
          </a:p>
        </p:txBody>
      </p:sp>
      <p:sp>
        <p:nvSpPr>
          <p:cNvPr id="3" name="Content Placeholder 2"/>
          <p:cNvSpPr>
            <a:spLocks noGrp="1"/>
          </p:cNvSpPr>
          <p:nvPr>
            <p:ph idx="1"/>
          </p:nvPr>
        </p:nvSpPr>
        <p:spPr/>
        <p:txBody>
          <a:bodyPr>
            <a:normAutofit/>
          </a:bodyPr>
          <a:lstStyle/>
          <a:p>
            <a:r>
              <a:rPr lang="en-US" sz="2800" dirty="0"/>
              <a:t>Create a class ‘Bank’ that contains three methods. Deposit method will take amount from the user. Withdrawl method will take amount from the user to withdraw ‘money’ from given amount. Finally balance method will display the remaining amount.</a:t>
            </a:r>
          </a:p>
        </p:txBody>
      </p:sp>
    </p:spTree>
    <p:extLst>
      <p:ext uri="{BB962C8B-B14F-4D97-AF65-F5344CB8AC3E}">
        <p14:creationId xmlns:p14="http://schemas.microsoft.com/office/powerpoint/2010/main" val="2102428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Activity-08</a:t>
            </a:r>
            <a:br>
              <a:rPr lang="en-US" dirty="0"/>
            </a:br>
            <a:r>
              <a:rPr lang="en-US" dirty="0"/>
              <a:t>Solution</a:t>
            </a:r>
          </a:p>
        </p:txBody>
      </p:sp>
      <p:sp>
        <p:nvSpPr>
          <p:cNvPr id="3" name="Content Placeholder 2"/>
          <p:cNvSpPr>
            <a:spLocks noGrp="1"/>
          </p:cNvSpPr>
          <p:nvPr>
            <p:ph idx="1"/>
          </p:nvPr>
        </p:nvSpPr>
        <p:spPr/>
        <p:txBody>
          <a:bodyPr>
            <a:normAutofit fontScale="47500" lnSpcReduction="20000"/>
          </a:bodyPr>
          <a:lstStyle/>
          <a:p>
            <a:r>
              <a:rPr lang="en-US" sz="2800" dirty="0"/>
              <a:t>class Bank:    </a:t>
            </a:r>
          </a:p>
          <a:p>
            <a:pPr marL="0" indent="0">
              <a:buNone/>
            </a:pPr>
            <a:r>
              <a:rPr lang="en-US" sz="2800" dirty="0"/>
              <a:t>	</a:t>
            </a:r>
            <a:r>
              <a:rPr lang="en-US" sz="2800" dirty="0" err="1"/>
              <a:t>def</a:t>
            </a:r>
            <a:r>
              <a:rPr lang="en-US" sz="2800" dirty="0"/>
              <a:t> deposit(</a:t>
            </a:r>
            <a:r>
              <a:rPr lang="en-US" sz="2800" dirty="0" err="1"/>
              <a:t>self,amount</a:t>
            </a:r>
            <a:r>
              <a:rPr lang="en-US" sz="2800" dirty="0"/>
              <a:t>):        </a:t>
            </a:r>
          </a:p>
          <a:p>
            <a:pPr marL="0" indent="0">
              <a:buNone/>
            </a:pPr>
            <a:r>
              <a:rPr lang="en-US" sz="2800" dirty="0"/>
              <a:t>		</a:t>
            </a:r>
            <a:r>
              <a:rPr lang="en-US" sz="2800" dirty="0" err="1"/>
              <a:t>self.amount</a:t>
            </a:r>
            <a:r>
              <a:rPr lang="en-US" sz="2800" dirty="0"/>
              <a:t> = amount    </a:t>
            </a:r>
          </a:p>
          <a:p>
            <a:pPr marL="0" indent="0">
              <a:buNone/>
            </a:pPr>
            <a:r>
              <a:rPr lang="en-US" sz="2800" dirty="0"/>
              <a:t>	</a:t>
            </a:r>
            <a:r>
              <a:rPr lang="en-US" sz="2800" dirty="0" err="1"/>
              <a:t>def</a:t>
            </a:r>
            <a:r>
              <a:rPr lang="en-US" sz="2800" dirty="0"/>
              <a:t> withdraw(</a:t>
            </a:r>
            <a:r>
              <a:rPr lang="en-US" sz="2800" dirty="0" err="1"/>
              <a:t>self,w_amount</a:t>
            </a:r>
            <a:r>
              <a:rPr lang="en-US" sz="2800" dirty="0"/>
              <a:t>):        </a:t>
            </a:r>
          </a:p>
          <a:p>
            <a:pPr marL="0" indent="0">
              <a:buNone/>
            </a:pPr>
            <a:r>
              <a:rPr lang="en-US" sz="2800" dirty="0"/>
              <a:t>		</a:t>
            </a:r>
            <a:r>
              <a:rPr lang="en-US" sz="2800" dirty="0" err="1"/>
              <a:t>self.amount</a:t>
            </a:r>
            <a:r>
              <a:rPr lang="en-US" sz="2800" dirty="0"/>
              <a:t> = </a:t>
            </a:r>
            <a:r>
              <a:rPr lang="en-US" sz="2800" dirty="0" err="1"/>
              <a:t>self.amount</a:t>
            </a:r>
            <a:r>
              <a:rPr lang="en-US" sz="2800" dirty="0"/>
              <a:t> - </a:t>
            </a:r>
            <a:r>
              <a:rPr lang="en-US" sz="2800" dirty="0" err="1"/>
              <a:t>w_amount</a:t>
            </a:r>
            <a:r>
              <a:rPr lang="en-US" sz="2800" dirty="0"/>
              <a:t>    </a:t>
            </a:r>
          </a:p>
          <a:p>
            <a:pPr marL="0" indent="0">
              <a:buNone/>
            </a:pPr>
            <a:r>
              <a:rPr lang="en-US" sz="2800" dirty="0"/>
              <a:t>	</a:t>
            </a:r>
            <a:r>
              <a:rPr lang="en-US" sz="2800" dirty="0" err="1"/>
              <a:t>def</a:t>
            </a:r>
            <a:r>
              <a:rPr lang="en-US" sz="2800" dirty="0"/>
              <a:t> balance(</a:t>
            </a:r>
            <a:r>
              <a:rPr lang="en-US" sz="2800" dirty="0" err="1"/>
              <a:t>self,amount</a:t>
            </a:r>
            <a:r>
              <a:rPr lang="en-US" sz="2800" dirty="0"/>
              <a:t>):        </a:t>
            </a:r>
          </a:p>
          <a:p>
            <a:pPr marL="0" indent="0">
              <a:buNone/>
            </a:pPr>
            <a:r>
              <a:rPr lang="en-US" sz="2800" dirty="0"/>
              <a:t>		print(</a:t>
            </a:r>
            <a:r>
              <a:rPr lang="en-US" sz="2800" dirty="0" err="1"/>
              <a:t>self.amount</a:t>
            </a:r>
            <a:r>
              <a:rPr lang="en-US" sz="2800" dirty="0"/>
              <a:t>)</a:t>
            </a:r>
          </a:p>
          <a:p>
            <a:pPr marL="0" indent="0">
              <a:buNone/>
            </a:pPr>
            <a:r>
              <a:rPr lang="en-US" sz="2800" dirty="0"/>
              <a:t>b = Bank()</a:t>
            </a:r>
          </a:p>
          <a:p>
            <a:pPr marL="0" indent="0">
              <a:buNone/>
            </a:pPr>
            <a:r>
              <a:rPr lang="en-US" sz="2800" dirty="0"/>
              <a:t>amount = float(input("Enter amount: "))</a:t>
            </a:r>
          </a:p>
          <a:p>
            <a:pPr marL="0" indent="0">
              <a:buNone/>
            </a:pPr>
            <a:r>
              <a:rPr lang="en-US" sz="2800" dirty="0" err="1"/>
              <a:t>b.deposit</a:t>
            </a:r>
            <a:r>
              <a:rPr lang="en-US" sz="2800" dirty="0"/>
              <a:t>(amount)</a:t>
            </a:r>
          </a:p>
          <a:p>
            <a:pPr marL="0" indent="0">
              <a:buNone/>
            </a:pPr>
            <a:r>
              <a:rPr lang="en-US" sz="2800" dirty="0" err="1"/>
              <a:t>w_amount</a:t>
            </a:r>
            <a:r>
              <a:rPr lang="en-US" sz="2800" dirty="0"/>
              <a:t> = float(input("Enter </a:t>
            </a:r>
            <a:r>
              <a:rPr lang="en-US" sz="2800" dirty="0" err="1"/>
              <a:t>withdrawl</a:t>
            </a:r>
            <a:r>
              <a:rPr lang="en-US" sz="2800" dirty="0"/>
              <a:t> amount: "))</a:t>
            </a:r>
          </a:p>
          <a:p>
            <a:pPr marL="0" indent="0">
              <a:buNone/>
            </a:pPr>
            <a:r>
              <a:rPr lang="en-US" sz="2800" dirty="0" err="1"/>
              <a:t>b.withdraw</a:t>
            </a:r>
            <a:r>
              <a:rPr lang="en-US" sz="2800" dirty="0"/>
              <a:t>(</a:t>
            </a:r>
            <a:r>
              <a:rPr lang="en-US" sz="2800" dirty="0" err="1"/>
              <a:t>w_amount</a:t>
            </a:r>
            <a:r>
              <a:rPr lang="en-US" sz="2800" dirty="0"/>
              <a:t>)</a:t>
            </a:r>
          </a:p>
          <a:p>
            <a:pPr marL="0" indent="0">
              <a:buNone/>
            </a:pPr>
            <a:r>
              <a:rPr lang="en-US" sz="2800" dirty="0" err="1"/>
              <a:t>b.balance</a:t>
            </a:r>
            <a:r>
              <a:rPr lang="en-US" sz="2800" dirty="0"/>
              <a:t>(amount)</a:t>
            </a:r>
          </a:p>
        </p:txBody>
      </p:sp>
    </p:spTree>
    <p:extLst>
      <p:ext uri="{BB962C8B-B14F-4D97-AF65-F5344CB8AC3E}">
        <p14:creationId xmlns:p14="http://schemas.microsoft.com/office/powerpoint/2010/main" val="2065085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165350"/>
            <a:ext cx="11277599" cy="4075475"/>
          </a:xfrm>
          <a:prstGeom prst="rect">
            <a:avLst/>
          </a:prstGeom>
        </p:spPr>
        <p:txBody>
          <a:bodyPr vert="horz" wrap="square" lIns="0" tIns="12700" rIns="0" bIns="0" rtlCol="0">
            <a:spAutoFit/>
          </a:bodyPr>
          <a:lstStyle/>
          <a:p>
            <a:pPr marL="12065" marR="5080" indent="-635" algn="ctr">
              <a:lnSpc>
                <a:spcPct val="100000"/>
              </a:lnSpc>
              <a:spcBef>
                <a:spcPts val="100"/>
              </a:spcBef>
              <a:tabLst>
                <a:tab pos="2755900" algn="l"/>
              </a:tabLst>
            </a:pPr>
            <a:r>
              <a:rPr lang="en-US" sz="4400" spc="-5" dirty="0">
                <a:solidFill>
                  <a:srgbClr val="1F3863"/>
                </a:solidFill>
              </a:rPr>
              <a:t>Week-05</a:t>
            </a:r>
            <a:br>
              <a:rPr lang="en-US" sz="4400" spc="-5" dirty="0">
                <a:solidFill>
                  <a:srgbClr val="1F3863"/>
                </a:solidFill>
              </a:rPr>
            </a:br>
            <a:r>
              <a:rPr lang="en-US" sz="4400" spc="-5" dirty="0">
                <a:solidFill>
                  <a:srgbClr val="1F3863"/>
                </a:solidFill>
              </a:rPr>
              <a:t>Introduction to Object-Oriented Programming (OOP)</a:t>
            </a:r>
            <a:br>
              <a:rPr lang="en-US" sz="4400" spc="-5" dirty="0">
                <a:solidFill>
                  <a:srgbClr val="1F3863"/>
                </a:solidFill>
              </a:rPr>
            </a:br>
            <a:r>
              <a:rPr lang="en-US" sz="4400" spc="-5" dirty="0">
                <a:solidFill>
                  <a:srgbClr val="1F3863"/>
                </a:solidFill>
              </a:rPr>
              <a:t>Day-03</a:t>
            </a:r>
            <a:br>
              <a:rPr lang="en-US" sz="4400" spc="-5" dirty="0">
                <a:solidFill>
                  <a:srgbClr val="1F3863"/>
                </a:solidFill>
              </a:rPr>
            </a:br>
            <a:r>
              <a:rPr lang="en-US" sz="4400" spc="-5" dirty="0">
                <a:solidFill>
                  <a:srgbClr val="1F3863"/>
                </a:solidFill>
              </a:rPr>
              <a:t>Inheritance and Polymorphism</a:t>
            </a:r>
            <a:br>
              <a:rPr lang="en-US" sz="4400" spc="-5" dirty="0">
                <a:solidFill>
                  <a:srgbClr val="1F3863"/>
                </a:solidFill>
              </a:rPr>
            </a:br>
            <a:endParaRPr sz="4400" dirty="0"/>
          </a:p>
        </p:txBody>
      </p:sp>
      <p:sp>
        <p:nvSpPr>
          <p:cNvPr id="3" name="object 3"/>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26</a:t>
            </a:fld>
            <a:endParaRPr sz="1200">
              <a:latin typeface="Calibri"/>
              <a:cs typeface="Calibri"/>
            </a:endParaRPr>
          </a:p>
        </p:txBody>
      </p:sp>
    </p:spTree>
    <p:extLst>
      <p:ext uri="{BB962C8B-B14F-4D97-AF65-F5344CB8AC3E}">
        <p14:creationId xmlns:p14="http://schemas.microsoft.com/office/powerpoint/2010/main" val="3085507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13668" y="1143000"/>
            <a:ext cx="8610600" cy="2359620"/>
          </a:xfrm>
          <a:prstGeom prst="rect">
            <a:avLst/>
          </a:prstGeom>
        </p:spPr>
        <p:txBody>
          <a:bodyPr vert="horz" wrap="square" lIns="0" tIns="195580" rIns="0" bIns="0" rtlCol="0">
            <a:spAutoFit/>
          </a:bodyPr>
          <a:lstStyle/>
          <a:p>
            <a:pPr marL="584200" indent="-572135">
              <a:lnSpc>
                <a:spcPct val="100000"/>
              </a:lnSpc>
              <a:spcBef>
                <a:spcPts val="1540"/>
              </a:spcBef>
              <a:buFont typeface="Wingdings" panose="05000000000000000000" pitchFamily="2" charset="2"/>
              <a:buChar char="Ø"/>
              <a:tabLst>
                <a:tab pos="583565" algn="l"/>
                <a:tab pos="584835" algn="l"/>
              </a:tabLst>
            </a:pPr>
            <a:r>
              <a:rPr lang="en-US" sz="3200" spc="-10" dirty="0">
                <a:solidFill>
                  <a:srgbClr val="2E5496"/>
                </a:solidFill>
                <a:latin typeface="Verdana"/>
                <a:cs typeface="Verdana"/>
              </a:rPr>
              <a:t>Understand class inheritance and how to create child classes.</a:t>
            </a:r>
          </a:p>
          <a:p>
            <a:pPr marL="584200" indent="-572135">
              <a:lnSpc>
                <a:spcPct val="100000"/>
              </a:lnSpc>
              <a:spcBef>
                <a:spcPts val="1540"/>
              </a:spcBef>
              <a:buFont typeface="Wingdings" panose="05000000000000000000" pitchFamily="2" charset="2"/>
              <a:buChar char="Ø"/>
              <a:tabLst>
                <a:tab pos="583565" algn="l"/>
                <a:tab pos="584835" algn="l"/>
              </a:tabLst>
            </a:pPr>
            <a:r>
              <a:rPr lang="en-US" sz="3200" spc="-10" dirty="0">
                <a:solidFill>
                  <a:srgbClr val="2E5496"/>
                </a:solidFill>
                <a:latin typeface="Verdana"/>
                <a:cs typeface="Verdana"/>
              </a:rPr>
              <a:t>Learn about method overriding and polymorphism.</a:t>
            </a:r>
          </a:p>
        </p:txBody>
      </p:sp>
      <p:sp>
        <p:nvSpPr>
          <p:cNvPr id="4" name="object 4"/>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27</a:t>
            </a:fld>
            <a:endParaRPr sz="1200">
              <a:latin typeface="Calibri"/>
              <a:cs typeface="Calibri"/>
            </a:endParaRPr>
          </a:p>
        </p:txBody>
      </p:sp>
      <p:sp>
        <p:nvSpPr>
          <p:cNvPr id="3" name="object 3"/>
          <p:cNvSpPr txBox="1">
            <a:spLocks noGrp="1"/>
          </p:cNvSpPr>
          <p:nvPr>
            <p:ph type="title"/>
          </p:nvPr>
        </p:nvSpPr>
        <p:spPr>
          <a:xfrm>
            <a:off x="5029200" y="304800"/>
            <a:ext cx="3202433" cy="689932"/>
          </a:xfrm>
          <a:prstGeom prst="rect">
            <a:avLst/>
          </a:prstGeom>
        </p:spPr>
        <p:txBody>
          <a:bodyPr vert="horz" wrap="square" lIns="0" tIns="12700" rIns="0" bIns="0" rtlCol="0">
            <a:spAutoFit/>
          </a:bodyPr>
          <a:lstStyle/>
          <a:p>
            <a:pPr marL="12700">
              <a:lnSpc>
                <a:spcPct val="100000"/>
              </a:lnSpc>
              <a:spcBef>
                <a:spcPts val="100"/>
              </a:spcBef>
            </a:pPr>
            <a:r>
              <a:rPr lang="en-US" sz="4400" dirty="0">
                <a:solidFill>
                  <a:srgbClr val="1F3863"/>
                </a:solidFill>
              </a:rPr>
              <a:t>Contents</a:t>
            </a:r>
            <a:endParaRPr sz="4400" dirty="0"/>
          </a:p>
        </p:txBody>
      </p:sp>
    </p:spTree>
    <p:extLst>
      <p:ext uri="{BB962C8B-B14F-4D97-AF65-F5344CB8AC3E}">
        <p14:creationId xmlns:p14="http://schemas.microsoft.com/office/powerpoint/2010/main" val="2564355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9139" y="101599"/>
            <a:ext cx="8281034" cy="3651641"/>
          </a:xfrm>
          <a:prstGeom prst="rect">
            <a:avLst/>
          </a:prstGeom>
        </p:spPr>
        <p:txBody>
          <a:bodyPr vert="horz" wrap="square" lIns="0" tIns="12065" rIns="0" bIns="0" rtlCol="0">
            <a:spAutoFit/>
          </a:bodyPr>
          <a:lstStyle/>
          <a:p>
            <a:pPr marL="1643380" algn="ctr">
              <a:lnSpc>
                <a:spcPct val="100000"/>
              </a:lnSpc>
              <a:spcBef>
                <a:spcPts val="95"/>
              </a:spcBef>
              <a:tabLst>
                <a:tab pos="2215515" algn="l"/>
              </a:tabLst>
            </a:pPr>
            <a:r>
              <a:rPr lang="en-US" sz="2800" b="1" spc="-5" dirty="0">
                <a:solidFill>
                  <a:srgbClr val="1F3863"/>
                </a:solidFill>
                <a:latin typeface="Verdana"/>
                <a:cs typeface="Verdana"/>
              </a:rPr>
              <a:t>Principles of OOP</a:t>
            </a:r>
            <a:endParaRPr sz="2800" dirty="0">
              <a:latin typeface="Verdana"/>
              <a:cs typeface="Verdana"/>
            </a:endParaRPr>
          </a:p>
          <a:p>
            <a:pPr>
              <a:lnSpc>
                <a:spcPct val="100000"/>
              </a:lnSpc>
            </a:pPr>
            <a:endParaRPr sz="3400" dirty="0">
              <a:latin typeface="Verdana"/>
              <a:cs typeface="Verdana"/>
            </a:endParaRPr>
          </a:p>
          <a:p>
            <a:pPr marL="469900" indent="-457834">
              <a:lnSpc>
                <a:spcPct val="100000"/>
              </a:lnSpc>
              <a:spcBef>
                <a:spcPts val="2430"/>
              </a:spcBef>
              <a:buFont typeface="Wingdings"/>
              <a:buChar char=""/>
              <a:tabLst>
                <a:tab pos="469265" algn="l"/>
                <a:tab pos="470534" algn="l"/>
              </a:tabLst>
            </a:pPr>
            <a:r>
              <a:rPr sz="2800" b="1" spc="-5" dirty="0">
                <a:solidFill>
                  <a:srgbClr val="2E5496"/>
                </a:solidFill>
                <a:latin typeface="Verdana"/>
                <a:cs typeface="Verdana"/>
              </a:rPr>
              <a:t>Inheritance</a:t>
            </a:r>
            <a:endParaRPr sz="2800" dirty="0">
              <a:latin typeface="Verdana"/>
              <a:cs typeface="Verdana"/>
            </a:endParaRPr>
          </a:p>
          <a:p>
            <a:pPr marL="469900" indent="-457834">
              <a:lnSpc>
                <a:spcPct val="100000"/>
              </a:lnSpc>
              <a:spcBef>
                <a:spcPts val="1680"/>
              </a:spcBef>
              <a:buFont typeface="Wingdings"/>
              <a:buChar char=""/>
              <a:tabLst>
                <a:tab pos="469265" algn="l"/>
                <a:tab pos="470534" algn="l"/>
              </a:tabLst>
            </a:pPr>
            <a:r>
              <a:rPr sz="2800" b="1" spc="-5" dirty="0">
                <a:solidFill>
                  <a:srgbClr val="2E5496"/>
                </a:solidFill>
                <a:latin typeface="Verdana"/>
                <a:cs typeface="Verdana"/>
              </a:rPr>
              <a:t>Polymorphism</a:t>
            </a:r>
            <a:endParaRPr sz="2800" dirty="0">
              <a:latin typeface="Verdana"/>
              <a:cs typeface="Verdana"/>
            </a:endParaRPr>
          </a:p>
          <a:p>
            <a:pPr marL="469900" indent="-457834">
              <a:lnSpc>
                <a:spcPct val="100000"/>
              </a:lnSpc>
              <a:spcBef>
                <a:spcPts val="1685"/>
              </a:spcBef>
              <a:buFont typeface="Wingdings"/>
              <a:buChar char=""/>
              <a:tabLst>
                <a:tab pos="469265" algn="l"/>
                <a:tab pos="470534" algn="l"/>
              </a:tabLst>
            </a:pPr>
            <a:r>
              <a:rPr sz="2800" b="1" spc="-5" dirty="0">
                <a:solidFill>
                  <a:srgbClr val="2E5496"/>
                </a:solidFill>
                <a:latin typeface="Verdana"/>
                <a:cs typeface="Verdana"/>
              </a:rPr>
              <a:t>Encapsulation</a:t>
            </a:r>
            <a:endParaRPr sz="2800" dirty="0">
              <a:latin typeface="Verdana"/>
              <a:cs typeface="Verdana"/>
            </a:endParaRPr>
          </a:p>
          <a:p>
            <a:pPr marL="469900" indent="-457834">
              <a:lnSpc>
                <a:spcPct val="100000"/>
              </a:lnSpc>
              <a:spcBef>
                <a:spcPts val="1680"/>
              </a:spcBef>
              <a:buFont typeface="Wingdings"/>
              <a:buChar char=""/>
              <a:tabLst>
                <a:tab pos="469265" algn="l"/>
                <a:tab pos="470534" algn="l"/>
              </a:tabLst>
            </a:pPr>
            <a:r>
              <a:rPr sz="2800" b="1" spc="-10" dirty="0">
                <a:solidFill>
                  <a:srgbClr val="2E5496"/>
                </a:solidFill>
                <a:latin typeface="Verdana"/>
                <a:cs typeface="Verdana"/>
              </a:rPr>
              <a:t>Abstraction</a:t>
            </a:r>
            <a:endParaRPr sz="2800" dirty="0">
              <a:latin typeface="Verdana"/>
              <a:cs typeface="Verdana"/>
            </a:endParaRPr>
          </a:p>
        </p:txBody>
      </p:sp>
      <p:sp>
        <p:nvSpPr>
          <p:cNvPr id="3" name="object 3"/>
          <p:cNvSpPr txBox="1"/>
          <p:nvPr/>
        </p:nvSpPr>
        <p:spPr>
          <a:xfrm>
            <a:off x="11146535" y="6464909"/>
            <a:ext cx="153670" cy="177800"/>
          </a:xfrm>
          <a:prstGeom prst="rect">
            <a:avLst/>
          </a:prstGeom>
        </p:spPr>
        <p:txBody>
          <a:bodyPr vert="horz" wrap="square" lIns="0" tIns="0" rIns="0" bIns="0" rtlCol="0">
            <a:spAutoFit/>
          </a:bodyPr>
          <a:lstStyle/>
          <a:p>
            <a:pPr marL="38100">
              <a:lnSpc>
                <a:spcPts val="1240"/>
              </a:lnSpc>
            </a:pPr>
            <a:fld id="{81D60167-4931-47E6-BA6A-407CBD079E47}" type="slidenum">
              <a:rPr sz="1200" dirty="0">
                <a:solidFill>
                  <a:srgbClr val="888888"/>
                </a:solidFill>
                <a:latin typeface="Calibri"/>
                <a:cs typeface="Calibri"/>
              </a:rPr>
              <a:t>28</a:t>
            </a:fld>
            <a:endParaRPr sz="12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76800" y="1295400"/>
            <a:ext cx="3657600" cy="689291"/>
          </a:xfrm>
          <a:prstGeom prst="rect">
            <a:avLst/>
          </a:prstGeom>
        </p:spPr>
        <p:txBody>
          <a:bodyPr vert="horz" wrap="square" lIns="0" tIns="12065" rIns="0" bIns="0" rtlCol="0">
            <a:spAutoFit/>
          </a:bodyPr>
          <a:lstStyle/>
          <a:p>
            <a:pPr marL="12700" algn="ctr">
              <a:lnSpc>
                <a:spcPct val="100000"/>
              </a:lnSpc>
              <a:spcBef>
                <a:spcPts val="95"/>
              </a:spcBef>
            </a:pPr>
            <a:r>
              <a:rPr sz="4400" spc="-5" dirty="0">
                <a:solidFill>
                  <a:srgbClr val="C55A11"/>
                </a:solidFill>
              </a:rPr>
              <a:t>Inheritance:</a:t>
            </a:r>
            <a:endParaRPr sz="4400" dirty="0"/>
          </a:p>
        </p:txBody>
      </p:sp>
      <p:sp>
        <p:nvSpPr>
          <p:cNvPr id="3" name="object 3"/>
          <p:cNvSpPr txBox="1"/>
          <p:nvPr/>
        </p:nvSpPr>
        <p:spPr>
          <a:xfrm>
            <a:off x="708456" y="2159634"/>
            <a:ext cx="11178744" cy="2586355"/>
          </a:xfrm>
          <a:prstGeom prst="rect">
            <a:avLst/>
          </a:prstGeom>
        </p:spPr>
        <p:txBody>
          <a:bodyPr vert="horz" wrap="square" lIns="0" tIns="12700" rIns="0" bIns="0" rtlCol="0">
            <a:spAutoFit/>
          </a:bodyPr>
          <a:lstStyle/>
          <a:p>
            <a:pPr marL="12700" marR="5080" algn="just">
              <a:lnSpc>
                <a:spcPct val="100000"/>
              </a:lnSpc>
              <a:spcBef>
                <a:spcPts val="100"/>
              </a:spcBef>
            </a:pPr>
            <a:r>
              <a:rPr sz="2400" b="1" spc="-5" dirty="0">
                <a:solidFill>
                  <a:srgbClr val="2E5496"/>
                </a:solidFill>
                <a:latin typeface="Verdana"/>
                <a:cs typeface="Verdana"/>
              </a:rPr>
              <a:t>Ever </a:t>
            </a:r>
            <a:r>
              <a:rPr sz="2400" b="1" dirty="0">
                <a:solidFill>
                  <a:srgbClr val="2E5496"/>
                </a:solidFill>
                <a:latin typeface="Verdana"/>
                <a:cs typeface="Verdana"/>
              </a:rPr>
              <a:t>heard </a:t>
            </a:r>
            <a:r>
              <a:rPr sz="2400" b="1" spc="-5" dirty="0">
                <a:solidFill>
                  <a:srgbClr val="2E5496"/>
                </a:solidFill>
                <a:latin typeface="Verdana"/>
                <a:cs typeface="Verdana"/>
              </a:rPr>
              <a:t>of </a:t>
            </a:r>
            <a:r>
              <a:rPr sz="2400" b="1" dirty="0">
                <a:solidFill>
                  <a:srgbClr val="2E5496"/>
                </a:solidFill>
                <a:latin typeface="Verdana"/>
                <a:cs typeface="Verdana"/>
              </a:rPr>
              <a:t>this </a:t>
            </a:r>
            <a:r>
              <a:rPr sz="2400" b="1" spc="-5" dirty="0">
                <a:solidFill>
                  <a:srgbClr val="2E5496"/>
                </a:solidFill>
                <a:latin typeface="Verdana"/>
                <a:cs typeface="Verdana"/>
              </a:rPr>
              <a:t>dialogue from </a:t>
            </a:r>
            <a:r>
              <a:rPr sz="2400" b="1" dirty="0">
                <a:solidFill>
                  <a:srgbClr val="2E5496"/>
                </a:solidFill>
                <a:latin typeface="Verdana"/>
                <a:cs typeface="Verdana"/>
              </a:rPr>
              <a:t>relatives </a:t>
            </a:r>
            <a:r>
              <a:rPr sz="2400" b="1" spc="-5" dirty="0">
                <a:solidFill>
                  <a:srgbClr val="2E5496"/>
                </a:solidFill>
                <a:latin typeface="Verdana"/>
                <a:cs typeface="Verdana"/>
              </a:rPr>
              <a:t>“you </a:t>
            </a:r>
            <a:r>
              <a:rPr sz="2400" b="1" dirty="0">
                <a:solidFill>
                  <a:srgbClr val="2E5496"/>
                </a:solidFill>
                <a:latin typeface="Verdana"/>
                <a:cs typeface="Verdana"/>
              </a:rPr>
              <a:t>look </a:t>
            </a:r>
            <a:r>
              <a:rPr sz="2400" b="1" spc="-5" dirty="0">
                <a:solidFill>
                  <a:srgbClr val="2E5496"/>
                </a:solidFill>
                <a:latin typeface="Verdana"/>
                <a:cs typeface="Verdana"/>
              </a:rPr>
              <a:t>exactly </a:t>
            </a:r>
            <a:r>
              <a:rPr sz="2400" b="1" dirty="0">
                <a:solidFill>
                  <a:srgbClr val="2E5496"/>
                </a:solidFill>
                <a:latin typeface="Verdana"/>
                <a:cs typeface="Verdana"/>
              </a:rPr>
              <a:t> like</a:t>
            </a:r>
            <a:r>
              <a:rPr sz="2400" b="1" spc="5" dirty="0">
                <a:solidFill>
                  <a:srgbClr val="2E5496"/>
                </a:solidFill>
                <a:latin typeface="Verdana"/>
                <a:cs typeface="Verdana"/>
              </a:rPr>
              <a:t> </a:t>
            </a:r>
            <a:r>
              <a:rPr sz="2400" b="1" dirty="0">
                <a:solidFill>
                  <a:srgbClr val="2E5496"/>
                </a:solidFill>
                <a:latin typeface="Verdana"/>
                <a:cs typeface="Verdana"/>
              </a:rPr>
              <a:t>your</a:t>
            </a:r>
            <a:r>
              <a:rPr sz="2400" b="1" spc="5" dirty="0">
                <a:solidFill>
                  <a:srgbClr val="2E5496"/>
                </a:solidFill>
                <a:latin typeface="Verdana"/>
                <a:cs typeface="Verdana"/>
              </a:rPr>
              <a:t> </a:t>
            </a:r>
            <a:r>
              <a:rPr sz="2400" b="1" spc="-5" dirty="0">
                <a:solidFill>
                  <a:srgbClr val="2E5496"/>
                </a:solidFill>
                <a:latin typeface="Verdana"/>
                <a:cs typeface="Verdana"/>
              </a:rPr>
              <a:t>father/mother”</a:t>
            </a:r>
            <a:r>
              <a:rPr sz="2400" b="1" dirty="0">
                <a:solidFill>
                  <a:srgbClr val="2E5496"/>
                </a:solidFill>
                <a:latin typeface="Verdana"/>
                <a:cs typeface="Verdana"/>
              </a:rPr>
              <a:t> the</a:t>
            </a:r>
            <a:r>
              <a:rPr sz="2400" b="1" spc="5" dirty="0">
                <a:solidFill>
                  <a:srgbClr val="2E5496"/>
                </a:solidFill>
                <a:latin typeface="Verdana"/>
                <a:cs typeface="Verdana"/>
              </a:rPr>
              <a:t> </a:t>
            </a:r>
            <a:r>
              <a:rPr sz="2400" b="1" dirty="0">
                <a:solidFill>
                  <a:srgbClr val="2E5496"/>
                </a:solidFill>
                <a:latin typeface="Verdana"/>
                <a:cs typeface="Verdana"/>
              </a:rPr>
              <a:t>reason</a:t>
            </a:r>
            <a:r>
              <a:rPr sz="2400" b="1" spc="5" dirty="0">
                <a:solidFill>
                  <a:srgbClr val="2E5496"/>
                </a:solidFill>
                <a:latin typeface="Verdana"/>
                <a:cs typeface="Verdana"/>
              </a:rPr>
              <a:t> </a:t>
            </a:r>
            <a:r>
              <a:rPr sz="2400" b="1" spc="-5" dirty="0">
                <a:solidFill>
                  <a:srgbClr val="2E5496"/>
                </a:solidFill>
                <a:latin typeface="Verdana"/>
                <a:cs typeface="Verdana"/>
              </a:rPr>
              <a:t>behind</a:t>
            </a:r>
            <a:r>
              <a:rPr sz="2400" b="1" dirty="0">
                <a:solidFill>
                  <a:srgbClr val="2E5496"/>
                </a:solidFill>
                <a:latin typeface="Verdana"/>
                <a:cs typeface="Verdana"/>
              </a:rPr>
              <a:t> this</a:t>
            </a:r>
            <a:r>
              <a:rPr sz="2400" b="1" spc="5" dirty="0">
                <a:solidFill>
                  <a:srgbClr val="2E5496"/>
                </a:solidFill>
                <a:latin typeface="Verdana"/>
                <a:cs typeface="Verdana"/>
              </a:rPr>
              <a:t> </a:t>
            </a:r>
            <a:r>
              <a:rPr sz="2400" b="1" spc="-5" dirty="0">
                <a:solidFill>
                  <a:srgbClr val="2E5496"/>
                </a:solidFill>
                <a:latin typeface="Verdana"/>
                <a:cs typeface="Verdana"/>
              </a:rPr>
              <a:t>is</a:t>
            </a:r>
            <a:r>
              <a:rPr sz="2400" b="1" dirty="0">
                <a:solidFill>
                  <a:srgbClr val="2E5496"/>
                </a:solidFill>
                <a:latin typeface="Verdana"/>
                <a:cs typeface="Verdana"/>
              </a:rPr>
              <a:t> called </a:t>
            </a:r>
            <a:r>
              <a:rPr sz="2400" b="1" spc="5" dirty="0">
                <a:solidFill>
                  <a:srgbClr val="2E5496"/>
                </a:solidFill>
                <a:latin typeface="Verdana"/>
                <a:cs typeface="Verdana"/>
              </a:rPr>
              <a:t> </a:t>
            </a:r>
            <a:r>
              <a:rPr sz="2400" b="1" spc="-5" dirty="0">
                <a:solidFill>
                  <a:srgbClr val="2E5496"/>
                </a:solidFill>
                <a:latin typeface="Verdana"/>
                <a:cs typeface="Verdana"/>
              </a:rPr>
              <a:t>‘inheritance’.</a:t>
            </a:r>
            <a:r>
              <a:rPr sz="2400" b="1" dirty="0">
                <a:solidFill>
                  <a:srgbClr val="2E5496"/>
                </a:solidFill>
                <a:latin typeface="Verdana"/>
                <a:cs typeface="Verdana"/>
              </a:rPr>
              <a:t> </a:t>
            </a:r>
            <a:r>
              <a:rPr sz="2400" b="1" spc="-5" dirty="0">
                <a:solidFill>
                  <a:srgbClr val="2E5496"/>
                </a:solidFill>
                <a:latin typeface="Verdana"/>
                <a:cs typeface="Verdana"/>
              </a:rPr>
              <a:t>From</a:t>
            </a:r>
            <a:r>
              <a:rPr sz="2400" b="1" dirty="0">
                <a:solidFill>
                  <a:srgbClr val="2E5496"/>
                </a:solidFill>
                <a:latin typeface="Verdana"/>
                <a:cs typeface="Verdana"/>
              </a:rPr>
              <a:t> </a:t>
            </a:r>
            <a:r>
              <a:rPr sz="2400" b="1" spc="-5" dirty="0">
                <a:solidFill>
                  <a:srgbClr val="2E5496"/>
                </a:solidFill>
                <a:latin typeface="Verdana"/>
                <a:cs typeface="Verdana"/>
              </a:rPr>
              <a:t>the</a:t>
            </a:r>
            <a:r>
              <a:rPr sz="2400" b="1" dirty="0">
                <a:solidFill>
                  <a:srgbClr val="2E5496"/>
                </a:solidFill>
                <a:latin typeface="Verdana"/>
                <a:cs typeface="Verdana"/>
              </a:rPr>
              <a:t> Programming</a:t>
            </a:r>
            <a:r>
              <a:rPr sz="2400" b="1" spc="5" dirty="0">
                <a:solidFill>
                  <a:srgbClr val="2E5496"/>
                </a:solidFill>
                <a:latin typeface="Verdana"/>
                <a:cs typeface="Verdana"/>
              </a:rPr>
              <a:t> </a:t>
            </a:r>
            <a:r>
              <a:rPr sz="2400" b="1" spc="-5" dirty="0">
                <a:solidFill>
                  <a:srgbClr val="2E5496"/>
                </a:solidFill>
                <a:latin typeface="Verdana"/>
                <a:cs typeface="Verdana"/>
              </a:rPr>
              <a:t>aspect,</a:t>
            </a:r>
            <a:r>
              <a:rPr sz="2400" b="1" dirty="0">
                <a:solidFill>
                  <a:srgbClr val="2E5496"/>
                </a:solidFill>
                <a:latin typeface="Verdana"/>
                <a:cs typeface="Verdana"/>
              </a:rPr>
              <a:t> </a:t>
            </a:r>
            <a:r>
              <a:rPr sz="2400" b="1" spc="-5" dirty="0">
                <a:solidFill>
                  <a:srgbClr val="2E5496"/>
                </a:solidFill>
                <a:latin typeface="Verdana"/>
                <a:cs typeface="Verdana"/>
              </a:rPr>
              <a:t>It</a:t>
            </a:r>
            <a:r>
              <a:rPr sz="2400" b="1" dirty="0">
                <a:solidFill>
                  <a:srgbClr val="2E5496"/>
                </a:solidFill>
                <a:latin typeface="Verdana"/>
                <a:cs typeface="Verdana"/>
              </a:rPr>
              <a:t> </a:t>
            </a:r>
            <a:r>
              <a:rPr sz="2400" b="1" spc="-5" dirty="0">
                <a:solidFill>
                  <a:srgbClr val="2E5496"/>
                </a:solidFill>
                <a:latin typeface="Verdana"/>
                <a:cs typeface="Verdana"/>
              </a:rPr>
              <a:t>generally </a:t>
            </a:r>
            <a:r>
              <a:rPr sz="2400" b="1" dirty="0">
                <a:solidFill>
                  <a:srgbClr val="2E5496"/>
                </a:solidFill>
                <a:latin typeface="Verdana"/>
                <a:cs typeface="Verdana"/>
              </a:rPr>
              <a:t> </a:t>
            </a:r>
            <a:r>
              <a:rPr sz="2400" b="1" spc="-5" dirty="0">
                <a:solidFill>
                  <a:srgbClr val="2E5496"/>
                </a:solidFill>
                <a:latin typeface="Verdana"/>
                <a:cs typeface="Verdana"/>
              </a:rPr>
              <a:t>means “inheriting or transfer of characteristics from parent to </a:t>
            </a:r>
            <a:r>
              <a:rPr sz="2400" b="1" spc="-810" dirty="0">
                <a:solidFill>
                  <a:srgbClr val="2E5496"/>
                </a:solidFill>
                <a:latin typeface="Verdana"/>
                <a:cs typeface="Verdana"/>
              </a:rPr>
              <a:t> </a:t>
            </a:r>
            <a:r>
              <a:rPr sz="2400" b="1" spc="-5" dirty="0">
                <a:solidFill>
                  <a:srgbClr val="2E5496"/>
                </a:solidFill>
                <a:latin typeface="Verdana"/>
                <a:cs typeface="Verdana"/>
              </a:rPr>
              <a:t>child class </a:t>
            </a:r>
            <a:r>
              <a:rPr sz="2400" b="1" dirty="0">
                <a:solidFill>
                  <a:srgbClr val="2E5496"/>
                </a:solidFill>
                <a:latin typeface="Verdana"/>
                <a:cs typeface="Verdana"/>
              </a:rPr>
              <a:t>without any </a:t>
            </a:r>
            <a:r>
              <a:rPr sz="2400" b="1" spc="-5" dirty="0">
                <a:solidFill>
                  <a:srgbClr val="2E5496"/>
                </a:solidFill>
                <a:latin typeface="Verdana"/>
                <a:cs typeface="Verdana"/>
              </a:rPr>
              <a:t>modification”. </a:t>
            </a:r>
            <a:r>
              <a:rPr sz="2400" b="1" dirty="0">
                <a:solidFill>
                  <a:srgbClr val="2E5496"/>
                </a:solidFill>
                <a:latin typeface="Verdana"/>
                <a:cs typeface="Verdana"/>
              </a:rPr>
              <a:t>The </a:t>
            </a:r>
            <a:r>
              <a:rPr sz="2400" b="1" spc="-5" dirty="0">
                <a:solidFill>
                  <a:srgbClr val="2E5496"/>
                </a:solidFill>
                <a:latin typeface="Verdana"/>
                <a:cs typeface="Verdana"/>
              </a:rPr>
              <a:t>new </a:t>
            </a:r>
            <a:r>
              <a:rPr sz="2400" b="1" dirty="0">
                <a:solidFill>
                  <a:srgbClr val="2E5496"/>
                </a:solidFill>
                <a:latin typeface="Verdana"/>
                <a:cs typeface="Verdana"/>
              </a:rPr>
              <a:t>class </a:t>
            </a:r>
            <a:r>
              <a:rPr sz="2400" b="1" spc="-5" dirty="0">
                <a:solidFill>
                  <a:srgbClr val="2E5496"/>
                </a:solidFill>
                <a:latin typeface="Verdana"/>
                <a:cs typeface="Verdana"/>
              </a:rPr>
              <a:t>is </a:t>
            </a:r>
            <a:r>
              <a:rPr sz="2400" b="1" dirty="0">
                <a:solidFill>
                  <a:srgbClr val="2E5496"/>
                </a:solidFill>
                <a:latin typeface="Verdana"/>
                <a:cs typeface="Verdana"/>
              </a:rPr>
              <a:t>called </a:t>
            </a:r>
            <a:r>
              <a:rPr sz="2400" b="1" spc="5" dirty="0">
                <a:solidFill>
                  <a:srgbClr val="2E5496"/>
                </a:solidFill>
                <a:latin typeface="Verdana"/>
                <a:cs typeface="Verdana"/>
              </a:rPr>
              <a:t> </a:t>
            </a:r>
            <a:r>
              <a:rPr sz="2400" b="1" spc="-5" dirty="0">
                <a:solidFill>
                  <a:srgbClr val="2E5496"/>
                </a:solidFill>
                <a:latin typeface="Verdana"/>
                <a:cs typeface="Verdana"/>
              </a:rPr>
              <a:t>the derived/child class </a:t>
            </a:r>
            <a:r>
              <a:rPr sz="2400" b="1" dirty="0">
                <a:solidFill>
                  <a:srgbClr val="2E5496"/>
                </a:solidFill>
                <a:latin typeface="Verdana"/>
                <a:cs typeface="Verdana"/>
              </a:rPr>
              <a:t>and </a:t>
            </a:r>
            <a:r>
              <a:rPr sz="2400" b="1" spc="-5" dirty="0">
                <a:solidFill>
                  <a:srgbClr val="2E5496"/>
                </a:solidFill>
                <a:latin typeface="Verdana"/>
                <a:cs typeface="Verdana"/>
              </a:rPr>
              <a:t>the </a:t>
            </a:r>
            <a:r>
              <a:rPr sz="2400" b="1" dirty="0">
                <a:solidFill>
                  <a:srgbClr val="2E5496"/>
                </a:solidFill>
                <a:latin typeface="Verdana"/>
                <a:cs typeface="Verdana"/>
              </a:rPr>
              <a:t>one </a:t>
            </a:r>
            <a:r>
              <a:rPr sz="2400" b="1" spc="-10" dirty="0">
                <a:solidFill>
                  <a:srgbClr val="2E5496"/>
                </a:solidFill>
                <a:latin typeface="Verdana"/>
                <a:cs typeface="Verdana"/>
              </a:rPr>
              <a:t>from </a:t>
            </a:r>
            <a:r>
              <a:rPr sz="2400" b="1" dirty="0">
                <a:solidFill>
                  <a:srgbClr val="2E5496"/>
                </a:solidFill>
                <a:latin typeface="Verdana"/>
                <a:cs typeface="Verdana"/>
              </a:rPr>
              <a:t>which </a:t>
            </a:r>
            <a:r>
              <a:rPr sz="2400" b="1" spc="-5" dirty="0">
                <a:solidFill>
                  <a:srgbClr val="2E5496"/>
                </a:solidFill>
                <a:latin typeface="Verdana"/>
                <a:cs typeface="Verdana"/>
              </a:rPr>
              <a:t>it is derived is </a:t>
            </a:r>
            <a:r>
              <a:rPr sz="2400" b="1" dirty="0">
                <a:solidFill>
                  <a:srgbClr val="2E5496"/>
                </a:solidFill>
                <a:latin typeface="Verdana"/>
                <a:cs typeface="Verdana"/>
              </a:rPr>
              <a:t> </a:t>
            </a:r>
            <a:r>
              <a:rPr sz="2400" b="1" spc="-5" dirty="0">
                <a:solidFill>
                  <a:srgbClr val="2E5496"/>
                </a:solidFill>
                <a:latin typeface="Verdana"/>
                <a:cs typeface="Verdana"/>
              </a:rPr>
              <a:t>called</a:t>
            </a:r>
            <a:r>
              <a:rPr sz="2400" b="1" dirty="0">
                <a:solidFill>
                  <a:srgbClr val="2E5496"/>
                </a:solidFill>
                <a:latin typeface="Verdana"/>
                <a:cs typeface="Verdana"/>
              </a:rPr>
              <a:t> a</a:t>
            </a:r>
            <a:r>
              <a:rPr sz="2400" b="1" spc="-5" dirty="0">
                <a:solidFill>
                  <a:srgbClr val="2E5496"/>
                </a:solidFill>
                <a:latin typeface="Verdana"/>
                <a:cs typeface="Verdana"/>
              </a:rPr>
              <a:t> parent/base</a:t>
            </a:r>
            <a:r>
              <a:rPr sz="2400" b="1" spc="-15" dirty="0">
                <a:solidFill>
                  <a:srgbClr val="2E5496"/>
                </a:solidFill>
                <a:latin typeface="Verdana"/>
                <a:cs typeface="Verdana"/>
              </a:rPr>
              <a:t> </a:t>
            </a:r>
            <a:r>
              <a:rPr sz="2400" b="1" spc="-5" dirty="0">
                <a:solidFill>
                  <a:srgbClr val="2E5496"/>
                </a:solidFill>
                <a:latin typeface="Verdana"/>
                <a:cs typeface="Verdana"/>
              </a:rPr>
              <a:t>class.</a:t>
            </a:r>
            <a:endParaRPr sz="2400" dirty="0">
              <a:latin typeface="Verdana"/>
              <a:cs typeface="Verdan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1077" y="1110984"/>
            <a:ext cx="11607558" cy="4668796"/>
          </a:xfrm>
          <a:prstGeom prst="rect">
            <a:avLst/>
          </a:prstGeom>
        </p:spPr>
      </p:pic>
      <p:sp>
        <p:nvSpPr>
          <p:cNvPr id="3" name="object 3"/>
          <p:cNvSpPr txBox="1"/>
          <p:nvPr/>
        </p:nvSpPr>
        <p:spPr>
          <a:xfrm>
            <a:off x="11171935" y="6464909"/>
            <a:ext cx="102870" cy="177800"/>
          </a:xfrm>
          <a:prstGeom prst="rect">
            <a:avLst/>
          </a:prstGeom>
        </p:spPr>
        <p:txBody>
          <a:bodyPr vert="horz" wrap="square" lIns="0" tIns="0" rIns="0" bIns="0" rtlCol="0">
            <a:spAutoFit/>
          </a:bodyPr>
          <a:lstStyle/>
          <a:p>
            <a:pPr marL="12700">
              <a:lnSpc>
                <a:spcPts val="1240"/>
              </a:lnSpc>
            </a:pPr>
            <a:r>
              <a:rPr sz="1200" dirty="0">
                <a:solidFill>
                  <a:srgbClr val="888888"/>
                </a:solidFill>
                <a:latin typeface="Calibri"/>
                <a:cs typeface="Calibri"/>
              </a:rPr>
              <a:t>9</a:t>
            </a:r>
            <a:endParaRPr sz="12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9533" y="1418971"/>
            <a:ext cx="3858260" cy="452120"/>
          </a:xfrm>
          <a:prstGeom prst="rect">
            <a:avLst/>
          </a:prstGeom>
        </p:spPr>
        <p:txBody>
          <a:bodyPr vert="horz" wrap="square" lIns="0" tIns="12065" rIns="0" bIns="0" rtlCol="0">
            <a:spAutoFit/>
          </a:bodyPr>
          <a:lstStyle/>
          <a:p>
            <a:pPr marL="12700">
              <a:lnSpc>
                <a:spcPct val="100000"/>
              </a:lnSpc>
              <a:spcBef>
                <a:spcPts val="95"/>
              </a:spcBef>
            </a:pPr>
            <a:r>
              <a:rPr sz="2800" b="1" spc="-5" dirty="0">
                <a:solidFill>
                  <a:srgbClr val="C55A11"/>
                </a:solidFill>
                <a:latin typeface="Verdana"/>
                <a:cs typeface="Verdana"/>
              </a:rPr>
              <a:t>Single</a:t>
            </a:r>
            <a:r>
              <a:rPr sz="2800" b="1" spc="-25" dirty="0">
                <a:solidFill>
                  <a:srgbClr val="C55A11"/>
                </a:solidFill>
                <a:latin typeface="Verdana"/>
                <a:cs typeface="Verdana"/>
              </a:rPr>
              <a:t> </a:t>
            </a:r>
            <a:r>
              <a:rPr sz="2800" b="1" spc="-5" dirty="0">
                <a:solidFill>
                  <a:srgbClr val="C55A11"/>
                </a:solidFill>
                <a:latin typeface="Verdana"/>
                <a:cs typeface="Verdana"/>
              </a:rPr>
              <a:t>Inheritance:</a:t>
            </a:r>
            <a:endParaRPr sz="2800">
              <a:latin typeface="Verdana"/>
              <a:cs typeface="Verdana"/>
            </a:endParaRPr>
          </a:p>
        </p:txBody>
      </p:sp>
      <p:sp>
        <p:nvSpPr>
          <p:cNvPr id="3" name="object 3"/>
          <p:cNvSpPr txBox="1"/>
          <p:nvPr/>
        </p:nvSpPr>
        <p:spPr>
          <a:xfrm>
            <a:off x="789533" y="2272410"/>
            <a:ext cx="10614025" cy="756920"/>
          </a:xfrm>
          <a:prstGeom prst="rect">
            <a:avLst/>
          </a:prstGeom>
        </p:spPr>
        <p:txBody>
          <a:bodyPr vert="horz" wrap="square" lIns="0" tIns="12700" rIns="0" bIns="0" rtlCol="0">
            <a:spAutoFit/>
          </a:bodyPr>
          <a:lstStyle/>
          <a:p>
            <a:pPr marL="12700" marR="5080">
              <a:lnSpc>
                <a:spcPct val="100000"/>
              </a:lnSpc>
              <a:spcBef>
                <a:spcPts val="100"/>
              </a:spcBef>
              <a:tabLst>
                <a:tab pos="1274445" algn="l"/>
                <a:tab pos="2292350" algn="l"/>
                <a:tab pos="4435475" algn="l"/>
                <a:tab pos="5963920" algn="l"/>
                <a:tab pos="6371590" algn="l"/>
                <a:tab pos="7860030" algn="l"/>
                <a:tab pos="8913495" algn="l"/>
                <a:tab pos="9465310" algn="l"/>
              </a:tabLst>
            </a:pPr>
            <a:r>
              <a:rPr sz="2400" b="1" spc="-5" dirty="0">
                <a:solidFill>
                  <a:srgbClr val="2E5496"/>
                </a:solidFill>
                <a:latin typeface="Verdana"/>
                <a:cs typeface="Verdana"/>
              </a:rPr>
              <a:t>Si</a:t>
            </a:r>
            <a:r>
              <a:rPr sz="2400" b="1" spc="-15" dirty="0">
                <a:solidFill>
                  <a:srgbClr val="2E5496"/>
                </a:solidFill>
                <a:latin typeface="Verdana"/>
                <a:cs typeface="Verdana"/>
              </a:rPr>
              <a:t>n</a:t>
            </a:r>
            <a:r>
              <a:rPr sz="2400" b="1" spc="-5" dirty="0">
                <a:solidFill>
                  <a:srgbClr val="2E5496"/>
                </a:solidFill>
                <a:latin typeface="Verdana"/>
                <a:cs typeface="Verdana"/>
              </a:rPr>
              <a:t>g</a:t>
            </a:r>
            <a:r>
              <a:rPr sz="2400" b="1" spc="5" dirty="0">
                <a:solidFill>
                  <a:srgbClr val="2E5496"/>
                </a:solidFill>
                <a:latin typeface="Verdana"/>
                <a:cs typeface="Verdana"/>
              </a:rPr>
              <a:t>l</a:t>
            </a:r>
            <a:r>
              <a:rPr sz="2400" b="1" dirty="0">
                <a:solidFill>
                  <a:srgbClr val="2E5496"/>
                </a:solidFill>
                <a:latin typeface="Verdana"/>
                <a:cs typeface="Verdana"/>
              </a:rPr>
              <a:t>e	l</a:t>
            </a:r>
            <a:r>
              <a:rPr sz="2400" b="1" spc="5" dirty="0">
                <a:solidFill>
                  <a:srgbClr val="2E5496"/>
                </a:solidFill>
                <a:latin typeface="Verdana"/>
                <a:cs typeface="Verdana"/>
              </a:rPr>
              <a:t>e</a:t>
            </a:r>
            <a:r>
              <a:rPr sz="2400" b="1" dirty="0">
                <a:solidFill>
                  <a:srgbClr val="2E5496"/>
                </a:solidFill>
                <a:latin typeface="Verdana"/>
                <a:cs typeface="Verdana"/>
              </a:rPr>
              <a:t>v</a:t>
            </a:r>
            <a:r>
              <a:rPr sz="2400" b="1" spc="10" dirty="0">
                <a:solidFill>
                  <a:srgbClr val="2E5496"/>
                </a:solidFill>
                <a:latin typeface="Verdana"/>
                <a:cs typeface="Verdana"/>
              </a:rPr>
              <a:t>e</a:t>
            </a:r>
            <a:r>
              <a:rPr sz="2400" b="1" dirty="0">
                <a:solidFill>
                  <a:srgbClr val="2E5496"/>
                </a:solidFill>
                <a:latin typeface="Verdana"/>
                <a:cs typeface="Verdana"/>
              </a:rPr>
              <a:t>l	in</a:t>
            </a:r>
            <a:r>
              <a:rPr sz="2400" b="1" spc="5" dirty="0">
                <a:solidFill>
                  <a:srgbClr val="2E5496"/>
                </a:solidFill>
                <a:latin typeface="Verdana"/>
                <a:cs typeface="Verdana"/>
              </a:rPr>
              <a:t>h</a:t>
            </a:r>
            <a:r>
              <a:rPr sz="2400" b="1" spc="-5" dirty="0">
                <a:solidFill>
                  <a:srgbClr val="2E5496"/>
                </a:solidFill>
                <a:latin typeface="Verdana"/>
                <a:cs typeface="Verdana"/>
              </a:rPr>
              <a:t>eri</a:t>
            </a:r>
            <a:r>
              <a:rPr sz="2400" b="1" spc="-10" dirty="0">
                <a:solidFill>
                  <a:srgbClr val="2E5496"/>
                </a:solidFill>
                <a:latin typeface="Verdana"/>
                <a:cs typeface="Verdana"/>
              </a:rPr>
              <a:t>t</a:t>
            </a:r>
            <a:r>
              <a:rPr sz="2400" b="1" dirty="0">
                <a:solidFill>
                  <a:srgbClr val="2E5496"/>
                </a:solidFill>
                <a:latin typeface="Verdana"/>
                <a:cs typeface="Verdana"/>
              </a:rPr>
              <a:t>ance	</a:t>
            </a:r>
            <a:r>
              <a:rPr sz="2400" b="1" spc="-5" dirty="0">
                <a:solidFill>
                  <a:srgbClr val="2E5496"/>
                </a:solidFill>
                <a:latin typeface="Verdana"/>
                <a:cs typeface="Verdana"/>
              </a:rPr>
              <a:t>enable</a:t>
            </a:r>
            <a:r>
              <a:rPr sz="2400" b="1" dirty="0">
                <a:solidFill>
                  <a:srgbClr val="2E5496"/>
                </a:solidFill>
                <a:latin typeface="Verdana"/>
                <a:cs typeface="Verdana"/>
              </a:rPr>
              <a:t>s	a	</a:t>
            </a:r>
            <a:r>
              <a:rPr sz="2400" b="1" spc="-5" dirty="0">
                <a:solidFill>
                  <a:srgbClr val="2E5496"/>
                </a:solidFill>
                <a:latin typeface="Verdana"/>
                <a:cs typeface="Verdana"/>
              </a:rPr>
              <a:t>deri</a:t>
            </a:r>
            <a:r>
              <a:rPr sz="2400" b="1" dirty="0">
                <a:solidFill>
                  <a:srgbClr val="2E5496"/>
                </a:solidFill>
                <a:latin typeface="Verdana"/>
                <a:cs typeface="Verdana"/>
              </a:rPr>
              <a:t>v</a:t>
            </a:r>
            <a:r>
              <a:rPr sz="2400" b="1" spc="-5" dirty="0">
                <a:solidFill>
                  <a:srgbClr val="2E5496"/>
                </a:solidFill>
                <a:latin typeface="Verdana"/>
                <a:cs typeface="Verdana"/>
              </a:rPr>
              <a:t>e</a:t>
            </a:r>
            <a:r>
              <a:rPr sz="2400" b="1" dirty="0">
                <a:solidFill>
                  <a:srgbClr val="2E5496"/>
                </a:solidFill>
                <a:latin typeface="Verdana"/>
                <a:cs typeface="Verdana"/>
              </a:rPr>
              <a:t>d	</a:t>
            </a:r>
            <a:r>
              <a:rPr sz="2400" b="1" spc="-5" dirty="0">
                <a:solidFill>
                  <a:srgbClr val="2E5496"/>
                </a:solidFill>
                <a:latin typeface="Verdana"/>
                <a:cs typeface="Verdana"/>
              </a:rPr>
              <a:t>cla</a:t>
            </a:r>
            <a:r>
              <a:rPr sz="2400" b="1" spc="5" dirty="0">
                <a:solidFill>
                  <a:srgbClr val="2E5496"/>
                </a:solidFill>
                <a:latin typeface="Verdana"/>
                <a:cs typeface="Verdana"/>
              </a:rPr>
              <a:t>s</a:t>
            </a:r>
            <a:r>
              <a:rPr sz="2400" b="1" dirty="0">
                <a:solidFill>
                  <a:srgbClr val="2E5496"/>
                </a:solidFill>
                <a:latin typeface="Verdana"/>
                <a:cs typeface="Verdana"/>
              </a:rPr>
              <a:t>s	</a:t>
            </a:r>
            <a:r>
              <a:rPr sz="2400" b="1" spc="-5" dirty="0">
                <a:solidFill>
                  <a:srgbClr val="2E5496"/>
                </a:solidFill>
                <a:latin typeface="Verdana"/>
                <a:cs typeface="Verdana"/>
              </a:rPr>
              <a:t>t</a:t>
            </a:r>
            <a:r>
              <a:rPr sz="2400" b="1" dirty="0">
                <a:solidFill>
                  <a:srgbClr val="2E5496"/>
                </a:solidFill>
                <a:latin typeface="Verdana"/>
                <a:cs typeface="Verdana"/>
              </a:rPr>
              <a:t>o	inh</a:t>
            </a:r>
            <a:r>
              <a:rPr sz="2400" b="1" spc="10" dirty="0">
                <a:solidFill>
                  <a:srgbClr val="2E5496"/>
                </a:solidFill>
                <a:latin typeface="Verdana"/>
                <a:cs typeface="Verdana"/>
              </a:rPr>
              <a:t>e</a:t>
            </a:r>
            <a:r>
              <a:rPr sz="2400" b="1" spc="-5" dirty="0">
                <a:solidFill>
                  <a:srgbClr val="2E5496"/>
                </a:solidFill>
                <a:latin typeface="Verdana"/>
                <a:cs typeface="Verdana"/>
              </a:rPr>
              <a:t>r</a:t>
            </a:r>
            <a:r>
              <a:rPr sz="2400" b="1" spc="-10" dirty="0">
                <a:solidFill>
                  <a:srgbClr val="2E5496"/>
                </a:solidFill>
                <a:latin typeface="Verdana"/>
                <a:cs typeface="Verdana"/>
              </a:rPr>
              <a:t>i</a:t>
            </a:r>
            <a:r>
              <a:rPr sz="2400" b="1" dirty="0">
                <a:solidFill>
                  <a:srgbClr val="2E5496"/>
                </a:solidFill>
                <a:latin typeface="Verdana"/>
                <a:cs typeface="Verdana"/>
              </a:rPr>
              <a:t>t  </a:t>
            </a:r>
            <a:r>
              <a:rPr sz="2400" b="1" spc="-5" dirty="0">
                <a:solidFill>
                  <a:srgbClr val="2E5496"/>
                </a:solidFill>
                <a:latin typeface="Verdana"/>
                <a:cs typeface="Verdana"/>
              </a:rPr>
              <a:t>characteristics</a:t>
            </a:r>
            <a:r>
              <a:rPr sz="2400" b="1" dirty="0">
                <a:solidFill>
                  <a:srgbClr val="2E5496"/>
                </a:solidFill>
                <a:latin typeface="Verdana"/>
                <a:cs typeface="Verdana"/>
              </a:rPr>
              <a:t> </a:t>
            </a:r>
            <a:r>
              <a:rPr sz="2400" b="1" spc="-10" dirty="0">
                <a:solidFill>
                  <a:srgbClr val="2E5496"/>
                </a:solidFill>
                <a:latin typeface="Verdana"/>
                <a:cs typeface="Verdana"/>
              </a:rPr>
              <a:t>from</a:t>
            </a:r>
            <a:r>
              <a:rPr sz="2400" b="1" spc="15" dirty="0">
                <a:solidFill>
                  <a:srgbClr val="2E5496"/>
                </a:solidFill>
                <a:latin typeface="Verdana"/>
                <a:cs typeface="Verdana"/>
              </a:rPr>
              <a:t> </a:t>
            </a:r>
            <a:r>
              <a:rPr sz="2400" b="1" dirty="0">
                <a:solidFill>
                  <a:srgbClr val="2E5496"/>
                </a:solidFill>
                <a:latin typeface="Verdana"/>
                <a:cs typeface="Verdana"/>
              </a:rPr>
              <a:t>a </a:t>
            </a:r>
            <a:r>
              <a:rPr sz="2400" b="1" spc="-5" dirty="0">
                <a:solidFill>
                  <a:srgbClr val="2E5496"/>
                </a:solidFill>
                <a:latin typeface="Verdana"/>
                <a:cs typeface="Verdana"/>
              </a:rPr>
              <a:t>single</a:t>
            </a:r>
            <a:r>
              <a:rPr sz="2400" b="1" spc="35" dirty="0">
                <a:solidFill>
                  <a:srgbClr val="2E5496"/>
                </a:solidFill>
                <a:latin typeface="Verdana"/>
                <a:cs typeface="Verdana"/>
              </a:rPr>
              <a:t> </a:t>
            </a:r>
            <a:r>
              <a:rPr sz="2400" b="1" spc="-5" dirty="0">
                <a:solidFill>
                  <a:srgbClr val="2E5496"/>
                </a:solidFill>
                <a:latin typeface="Verdana"/>
                <a:cs typeface="Verdana"/>
              </a:rPr>
              <a:t>parent</a:t>
            </a:r>
            <a:r>
              <a:rPr sz="2400" b="1" spc="-10" dirty="0">
                <a:solidFill>
                  <a:srgbClr val="2E5496"/>
                </a:solidFill>
                <a:latin typeface="Verdana"/>
                <a:cs typeface="Verdana"/>
              </a:rPr>
              <a:t> </a:t>
            </a:r>
            <a:r>
              <a:rPr sz="2400" b="1" spc="-5" dirty="0">
                <a:solidFill>
                  <a:srgbClr val="2E5496"/>
                </a:solidFill>
                <a:latin typeface="Verdana"/>
                <a:cs typeface="Verdana"/>
              </a:rPr>
              <a:t>class.</a:t>
            </a:r>
            <a:endParaRPr sz="2400">
              <a:latin typeface="Verdana"/>
              <a:cs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20769" y="1600200"/>
            <a:ext cx="11317605" cy="4874260"/>
            <a:chOff x="460243" y="973801"/>
            <a:chExt cx="11317605" cy="4874260"/>
          </a:xfrm>
        </p:grpSpPr>
        <p:pic>
          <p:nvPicPr>
            <p:cNvPr id="3" name="object 3"/>
            <p:cNvPicPr/>
            <p:nvPr/>
          </p:nvPicPr>
          <p:blipFill>
            <a:blip r:embed="rId2" cstate="print"/>
            <a:stretch>
              <a:fillRect/>
            </a:stretch>
          </p:blipFill>
          <p:spPr>
            <a:xfrm>
              <a:off x="460243" y="973801"/>
              <a:ext cx="11317233" cy="4873819"/>
            </a:xfrm>
            <a:prstGeom prst="rect">
              <a:avLst/>
            </a:prstGeom>
          </p:spPr>
        </p:pic>
        <p:sp>
          <p:nvSpPr>
            <p:cNvPr id="4" name="object 4"/>
            <p:cNvSpPr/>
            <p:nvPr/>
          </p:nvSpPr>
          <p:spPr>
            <a:xfrm>
              <a:off x="636269" y="1087373"/>
              <a:ext cx="10970260" cy="4651375"/>
            </a:xfrm>
            <a:custGeom>
              <a:avLst/>
              <a:gdLst/>
              <a:ahLst/>
              <a:cxnLst/>
              <a:rect l="l" t="t" r="r" b="b"/>
              <a:pathLst>
                <a:path w="10970260" h="4651375">
                  <a:moveTo>
                    <a:pt x="10969752" y="0"/>
                  </a:moveTo>
                  <a:lnTo>
                    <a:pt x="0" y="0"/>
                  </a:lnTo>
                  <a:lnTo>
                    <a:pt x="0" y="4651248"/>
                  </a:lnTo>
                  <a:lnTo>
                    <a:pt x="10969752" y="4651248"/>
                  </a:lnTo>
                  <a:lnTo>
                    <a:pt x="10969752" y="0"/>
                  </a:lnTo>
                  <a:close/>
                </a:path>
              </a:pathLst>
            </a:custGeom>
            <a:solidFill>
              <a:srgbClr val="FFFFFF"/>
            </a:solidFill>
          </p:spPr>
          <p:txBody>
            <a:bodyPr wrap="square" lIns="0" tIns="0" rIns="0" bIns="0" rtlCol="0"/>
            <a:lstStyle/>
            <a:p>
              <a:endParaRPr/>
            </a:p>
          </p:txBody>
        </p:sp>
        <p:sp>
          <p:nvSpPr>
            <p:cNvPr id="5" name="object 5"/>
            <p:cNvSpPr/>
            <p:nvPr/>
          </p:nvSpPr>
          <p:spPr>
            <a:xfrm>
              <a:off x="636269" y="1087373"/>
              <a:ext cx="10970260" cy="4651375"/>
            </a:xfrm>
            <a:custGeom>
              <a:avLst/>
              <a:gdLst/>
              <a:ahLst/>
              <a:cxnLst/>
              <a:rect l="l" t="t" r="r" b="b"/>
              <a:pathLst>
                <a:path w="10970260" h="4651375">
                  <a:moveTo>
                    <a:pt x="0" y="4651248"/>
                  </a:moveTo>
                  <a:lnTo>
                    <a:pt x="10969752" y="4651248"/>
                  </a:lnTo>
                  <a:lnTo>
                    <a:pt x="10969752" y="0"/>
                  </a:lnTo>
                  <a:lnTo>
                    <a:pt x="0" y="0"/>
                  </a:lnTo>
                  <a:lnTo>
                    <a:pt x="0" y="4651248"/>
                  </a:lnTo>
                  <a:close/>
                </a:path>
              </a:pathLst>
            </a:custGeom>
            <a:ln w="38100">
              <a:solidFill>
                <a:srgbClr val="FFD966"/>
              </a:solidFill>
            </a:ln>
          </p:spPr>
          <p:txBody>
            <a:bodyPr wrap="square" lIns="0" tIns="0" rIns="0" bIns="0" rtlCol="0"/>
            <a:lstStyle/>
            <a:p>
              <a:endParaRPr/>
            </a:p>
          </p:txBody>
        </p:sp>
      </p:grpSp>
      <p:sp>
        <p:nvSpPr>
          <p:cNvPr id="7" name="object 7"/>
          <p:cNvSpPr txBox="1">
            <a:spLocks noGrp="1"/>
          </p:cNvSpPr>
          <p:nvPr>
            <p:ph type="title"/>
          </p:nvPr>
        </p:nvSpPr>
        <p:spPr>
          <a:xfrm>
            <a:off x="3124200" y="304800"/>
            <a:ext cx="5181600" cy="997709"/>
          </a:xfrm>
          <a:prstGeom prst="rect">
            <a:avLst/>
          </a:prstGeom>
        </p:spPr>
        <p:txBody>
          <a:bodyPr vert="horz" wrap="square" lIns="0" tIns="12700" rIns="0" bIns="0" rtlCol="0">
            <a:spAutoFit/>
          </a:bodyPr>
          <a:lstStyle/>
          <a:p>
            <a:pPr marL="12700" algn="ctr">
              <a:lnSpc>
                <a:spcPct val="100000"/>
              </a:lnSpc>
              <a:spcBef>
                <a:spcPts val="100"/>
              </a:spcBef>
            </a:pPr>
            <a:r>
              <a:rPr sz="3200" spc="-5" dirty="0">
                <a:solidFill>
                  <a:srgbClr val="C55A11"/>
                </a:solidFill>
              </a:rPr>
              <a:t>Example:</a:t>
            </a:r>
            <a:r>
              <a:rPr lang="en-US" sz="3200" spc="-5" dirty="0">
                <a:solidFill>
                  <a:srgbClr val="C55A11"/>
                </a:solidFill>
              </a:rPr>
              <a:t> Single Level Inheritance</a:t>
            </a:r>
            <a:endParaRPr sz="3200" dirty="0"/>
          </a:p>
        </p:txBody>
      </p:sp>
      <p:sp>
        <p:nvSpPr>
          <p:cNvPr id="9" name="Rectangle 2"/>
          <p:cNvSpPr>
            <a:spLocks noChangeArrowheads="1"/>
          </p:cNvSpPr>
          <p:nvPr/>
        </p:nvSpPr>
        <p:spPr bwMode="auto">
          <a:xfrm>
            <a:off x="533092" y="1801630"/>
            <a:ext cx="10892586"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Animal:</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Speak(</a:t>
            </a:r>
            <a:r>
              <a:rPr kumimoji="0" lang="en-US" altLang="en-US" sz="28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2800" b="1" i="0" u="none" strike="noStrike" cap="none" normalizeH="0" baseline="0" dirty="0" err="1">
                <a:ln>
                  <a:noFill/>
                </a:ln>
                <a:solidFill>
                  <a:srgbClr val="008080"/>
                </a:solidFill>
                <a:effectLst/>
                <a:latin typeface="Consolas" panose="020B0609020204030204" pitchFamily="49" charset="0"/>
                <a:cs typeface="Consolas" panose="020B0609020204030204" pitchFamily="49" charset="0"/>
              </a:rPr>
              <a:t>Aniaml</a:t>
            </a: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 is speaking:"</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Dog(Animal):</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Bark(</a:t>
            </a:r>
            <a:r>
              <a:rPr kumimoji="0" lang="en-US" altLang="en-US" sz="28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28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28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"Dog is barking:"</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d = Dog()</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d.Bark</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28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d.Speak</a:t>
            </a:r>
            <a:r>
              <a:rPr kumimoji="0" lang="en-US" altLang="en-US" sz="28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24200" y="914400"/>
            <a:ext cx="6324600" cy="628377"/>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C55A11"/>
                </a:solidFill>
              </a:rPr>
              <a:t>Multilevel</a:t>
            </a:r>
            <a:r>
              <a:rPr sz="4000" spc="-10" dirty="0">
                <a:solidFill>
                  <a:srgbClr val="C55A11"/>
                </a:solidFill>
              </a:rPr>
              <a:t> </a:t>
            </a:r>
            <a:r>
              <a:rPr sz="4000" spc="-5" dirty="0">
                <a:solidFill>
                  <a:srgbClr val="C55A11"/>
                </a:solidFill>
              </a:rPr>
              <a:t>Inheritance:</a:t>
            </a:r>
            <a:endParaRPr sz="4000" dirty="0"/>
          </a:p>
        </p:txBody>
      </p:sp>
      <p:sp>
        <p:nvSpPr>
          <p:cNvPr id="4" name="object 4"/>
          <p:cNvSpPr txBox="1"/>
          <p:nvPr/>
        </p:nvSpPr>
        <p:spPr>
          <a:xfrm>
            <a:off x="689559" y="2667000"/>
            <a:ext cx="11015980" cy="2796278"/>
          </a:xfrm>
          <a:prstGeom prst="rect">
            <a:avLst/>
          </a:prstGeom>
        </p:spPr>
        <p:txBody>
          <a:bodyPr vert="horz" wrap="square" lIns="0" tIns="13335" rIns="0" bIns="0" rtlCol="0">
            <a:spAutoFit/>
          </a:bodyPr>
          <a:lstStyle/>
          <a:p>
            <a:pPr marL="12700" marR="5080" algn="just">
              <a:lnSpc>
                <a:spcPct val="100000"/>
              </a:lnSpc>
              <a:spcBef>
                <a:spcPts val="105"/>
              </a:spcBef>
            </a:pPr>
            <a:r>
              <a:rPr sz="3600" b="1" dirty="0">
                <a:solidFill>
                  <a:srgbClr val="2E5496"/>
                </a:solidFill>
                <a:latin typeface="Verdana"/>
                <a:cs typeface="Verdana"/>
              </a:rPr>
              <a:t>Multi-level inheritance </a:t>
            </a:r>
            <a:r>
              <a:rPr sz="3600" b="1" spc="-5" dirty="0">
                <a:solidFill>
                  <a:srgbClr val="2E5496"/>
                </a:solidFill>
                <a:latin typeface="Verdana"/>
                <a:cs typeface="Verdana"/>
              </a:rPr>
              <a:t>enables </a:t>
            </a:r>
            <a:r>
              <a:rPr sz="3600" b="1" dirty="0">
                <a:solidFill>
                  <a:srgbClr val="2E5496"/>
                </a:solidFill>
                <a:latin typeface="Verdana"/>
                <a:cs typeface="Verdana"/>
              </a:rPr>
              <a:t>a </a:t>
            </a:r>
            <a:r>
              <a:rPr sz="3600" b="1" spc="-5" dirty="0">
                <a:solidFill>
                  <a:srgbClr val="2E5496"/>
                </a:solidFill>
                <a:latin typeface="Verdana"/>
                <a:cs typeface="Verdana"/>
              </a:rPr>
              <a:t>derived class to inherit properties from </a:t>
            </a:r>
            <a:r>
              <a:rPr sz="3600" b="1" spc="5" dirty="0">
                <a:solidFill>
                  <a:srgbClr val="2E5496"/>
                </a:solidFill>
                <a:latin typeface="Verdana"/>
                <a:cs typeface="Verdana"/>
              </a:rPr>
              <a:t>an </a:t>
            </a:r>
            <a:r>
              <a:rPr sz="3600" b="1" spc="10" dirty="0">
                <a:solidFill>
                  <a:srgbClr val="2E5496"/>
                </a:solidFill>
                <a:latin typeface="Verdana"/>
                <a:cs typeface="Verdana"/>
              </a:rPr>
              <a:t> </a:t>
            </a:r>
            <a:r>
              <a:rPr sz="3600" b="1" spc="-5" dirty="0">
                <a:solidFill>
                  <a:srgbClr val="2E5496"/>
                </a:solidFill>
                <a:latin typeface="Verdana"/>
                <a:cs typeface="Verdana"/>
              </a:rPr>
              <a:t>immediate </a:t>
            </a:r>
            <a:r>
              <a:rPr sz="3600" b="1" dirty="0">
                <a:solidFill>
                  <a:srgbClr val="2E5496"/>
                </a:solidFill>
                <a:latin typeface="Verdana"/>
                <a:cs typeface="Verdana"/>
              </a:rPr>
              <a:t>parent </a:t>
            </a:r>
            <a:r>
              <a:rPr sz="3600" b="1" spc="-5" dirty="0">
                <a:solidFill>
                  <a:srgbClr val="2E5496"/>
                </a:solidFill>
                <a:latin typeface="Verdana"/>
                <a:cs typeface="Verdana"/>
              </a:rPr>
              <a:t>class </a:t>
            </a:r>
            <a:r>
              <a:rPr sz="3600" b="1" dirty="0">
                <a:solidFill>
                  <a:srgbClr val="2E5496"/>
                </a:solidFill>
                <a:latin typeface="Verdana"/>
                <a:cs typeface="Verdana"/>
              </a:rPr>
              <a:t>which </a:t>
            </a:r>
            <a:r>
              <a:rPr sz="3600" b="1" spc="-5" dirty="0">
                <a:solidFill>
                  <a:srgbClr val="2E5496"/>
                </a:solidFill>
                <a:latin typeface="Verdana"/>
                <a:cs typeface="Verdana"/>
              </a:rPr>
              <a:t>in </a:t>
            </a:r>
            <a:r>
              <a:rPr sz="3600" b="1" dirty="0">
                <a:solidFill>
                  <a:srgbClr val="2E5496"/>
                </a:solidFill>
                <a:latin typeface="Verdana"/>
                <a:cs typeface="Verdana"/>
              </a:rPr>
              <a:t>turn inherits </a:t>
            </a:r>
            <a:r>
              <a:rPr sz="3600" b="1" spc="-5" dirty="0">
                <a:solidFill>
                  <a:srgbClr val="2E5496"/>
                </a:solidFill>
                <a:latin typeface="Verdana"/>
                <a:cs typeface="Verdana"/>
              </a:rPr>
              <a:t>properties from his parent </a:t>
            </a:r>
            <a:r>
              <a:rPr sz="3600" b="1" dirty="0">
                <a:solidFill>
                  <a:srgbClr val="2E5496"/>
                </a:solidFill>
                <a:latin typeface="Verdana"/>
                <a:cs typeface="Verdana"/>
              </a:rPr>
              <a:t> </a:t>
            </a:r>
            <a:r>
              <a:rPr sz="3600" b="1" spc="-5" dirty="0">
                <a:solidFill>
                  <a:srgbClr val="2E5496"/>
                </a:solidFill>
                <a:latin typeface="Verdana"/>
                <a:cs typeface="Verdana"/>
              </a:rPr>
              <a:t>class.</a:t>
            </a:r>
          </a:p>
          <a:p>
            <a:pPr>
              <a:lnSpc>
                <a:spcPct val="100000"/>
              </a:lnSpc>
              <a:spcBef>
                <a:spcPts val="50"/>
              </a:spcBef>
            </a:pPr>
            <a:endParaRPr sz="3600" dirty="0">
              <a:latin typeface="Verdana"/>
              <a:cs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28600"/>
            <a:ext cx="8911687" cy="366490"/>
          </a:xfrm>
        </p:spPr>
        <p:txBody>
          <a:bodyPr>
            <a:normAutofit fontScale="90000"/>
          </a:bodyPr>
          <a:lstStyle/>
          <a:p>
            <a:pPr algn="ctr"/>
            <a:r>
              <a:rPr lang="en-US" dirty="0"/>
              <a:t>Multi-Level Inheritance</a:t>
            </a:r>
          </a:p>
        </p:txBody>
      </p:sp>
      <p:sp>
        <p:nvSpPr>
          <p:cNvPr id="4" name="Rectangle 1"/>
          <p:cNvSpPr>
            <a:spLocks noGrp="1" noChangeArrowheads="1"/>
          </p:cNvSpPr>
          <p:nvPr>
            <p:ph idx="1"/>
          </p:nvPr>
        </p:nvSpPr>
        <p:spPr bwMode="auto">
          <a:xfrm>
            <a:off x="228600" y="982015"/>
            <a:ext cx="11963400" cy="57554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Animal:</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6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Speak(</a:t>
            </a:r>
            <a:r>
              <a:rPr kumimoji="0" lang="en-US" altLang="en-US" sz="16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err="1">
                <a:ln>
                  <a:noFill/>
                </a:ln>
                <a:solidFill>
                  <a:srgbClr val="008080"/>
                </a:solidFill>
                <a:effectLst/>
                <a:latin typeface="Consolas" panose="020B0609020204030204" pitchFamily="49" charset="0"/>
                <a:cs typeface="Consolas" panose="020B0609020204030204" pitchFamily="49" charset="0"/>
              </a:rPr>
              <a:t>Aniaml</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 is speaking:"</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Cat(Animal):</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6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Cat_talk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"Cat making noise:"</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Lion(Cat):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600"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Lion_talk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"Lion is laughing :"</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 = Lion()</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"Lion"</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l.Speak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l.Cat_talk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l.Lion_talk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30</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"Cat"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c = Cat()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c.Speak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c.Cat_talk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30</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"Animal"</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6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 = Animal()</a:t>
            </a:r>
            <a:b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sz="16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a.Speak</a:t>
            </a:r>
            <a:r>
              <a:rPr kumimoji="0" lang="en-US" altLang="en-US" sz="16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3119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Activity-05</a:t>
            </a:r>
          </a:p>
        </p:txBody>
      </p:sp>
      <p:sp>
        <p:nvSpPr>
          <p:cNvPr id="3" name="Content Placeholder 2"/>
          <p:cNvSpPr>
            <a:spLocks noGrp="1"/>
          </p:cNvSpPr>
          <p:nvPr>
            <p:ph idx="1"/>
          </p:nvPr>
        </p:nvSpPr>
        <p:spPr>
          <a:xfrm>
            <a:off x="1752600" y="2209800"/>
            <a:ext cx="8915400" cy="3777622"/>
          </a:xfrm>
        </p:spPr>
        <p:txBody>
          <a:bodyPr>
            <a:normAutofit/>
          </a:bodyPr>
          <a:lstStyle/>
          <a:p>
            <a:r>
              <a:rPr lang="en-US" sz="2800" dirty="0"/>
              <a:t>Create a hierarchical inheritance using python’s OOP.</a:t>
            </a:r>
          </a:p>
        </p:txBody>
      </p:sp>
    </p:spTree>
    <p:extLst>
      <p:ext uri="{BB962C8B-B14F-4D97-AF65-F5344CB8AC3E}">
        <p14:creationId xmlns:p14="http://schemas.microsoft.com/office/powerpoint/2010/main" val="4841464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3720044" y="1607654"/>
            <a:ext cx="4308475"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C55A11"/>
                </a:solidFill>
              </a:rPr>
              <a:t>Hierarchical</a:t>
            </a:r>
            <a:r>
              <a:rPr sz="2400" dirty="0">
                <a:solidFill>
                  <a:srgbClr val="C55A11"/>
                </a:solidFill>
              </a:rPr>
              <a:t> </a:t>
            </a:r>
            <a:r>
              <a:rPr sz="2400" spc="-5" dirty="0">
                <a:solidFill>
                  <a:srgbClr val="C55A11"/>
                </a:solidFill>
              </a:rPr>
              <a:t>Inheritance:</a:t>
            </a:r>
            <a:endParaRPr sz="2400" dirty="0"/>
          </a:p>
        </p:txBody>
      </p:sp>
      <p:sp>
        <p:nvSpPr>
          <p:cNvPr id="7" name="object 7"/>
          <p:cNvSpPr txBox="1"/>
          <p:nvPr/>
        </p:nvSpPr>
        <p:spPr>
          <a:xfrm>
            <a:off x="651510" y="2129977"/>
            <a:ext cx="10473690" cy="751488"/>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E5496"/>
                </a:solidFill>
                <a:latin typeface="Verdana"/>
                <a:cs typeface="Verdana"/>
              </a:rPr>
              <a:t>Hierarchical</a:t>
            </a:r>
            <a:r>
              <a:rPr sz="2400" b="1" spc="25" dirty="0">
                <a:solidFill>
                  <a:srgbClr val="2E5496"/>
                </a:solidFill>
                <a:latin typeface="Verdana"/>
                <a:cs typeface="Verdana"/>
              </a:rPr>
              <a:t> </a:t>
            </a:r>
            <a:r>
              <a:rPr sz="2400" b="1" dirty="0">
                <a:solidFill>
                  <a:srgbClr val="2E5496"/>
                </a:solidFill>
                <a:latin typeface="Verdana"/>
                <a:cs typeface="Verdana"/>
              </a:rPr>
              <a:t>level</a:t>
            </a:r>
            <a:r>
              <a:rPr sz="2400" b="1" spc="20" dirty="0">
                <a:solidFill>
                  <a:srgbClr val="2E5496"/>
                </a:solidFill>
                <a:latin typeface="Verdana"/>
                <a:cs typeface="Verdana"/>
              </a:rPr>
              <a:t> </a:t>
            </a:r>
            <a:r>
              <a:rPr sz="2400" b="1" spc="-5" dirty="0">
                <a:solidFill>
                  <a:srgbClr val="2E5496"/>
                </a:solidFill>
                <a:latin typeface="Verdana"/>
                <a:cs typeface="Verdana"/>
              </a:rPr>
              <a:t>inheritance</a:t>
            </a:r>
            <a:r>
              <a:rPr sz="2400" b="1" spc="45" dirty="0">
                <a:solidFill>
                  <a:srgbClr val="2E5496"/>
                </a:solidFill>
                <a:latin typeface="Verdana"/>
                <a:cs typeface="Verdana"/>
              </a:rPr>
              <a:t> </a:t>
            </a:r>
            <a:r>
              <a:rPr sz="2400" b="1" spc="-5" dirty="0">
                <a:solidFill>
                  <a:srgbClr val="2E5496"/>
                </a:solidFill>
                <a:latin typeface="Verdana"/>
                <a:cs typeface="Verdana"/>
              </a:rPr>
              <a:t>enables</a:t>
            </a:r>
            <a:r>
              <a:rPr sz="2400" b="1" spc="5" dirty="0">
                <a:solidFill>
                  <a:srgbClr val="2E5496"/>
                </a:solidFill>
                <a:latin typeface="Verdana"/>
                <a:cs typeface="Verdana"/>
              </a:rPr>
              <a:t> </a:t>
            </a:r>
            <a:r>
              <a:rPr sz="2400" b="1" spc="-5" dirty="0">
                <a:solidFill>
                  <a:srgbClr val="2E5496"/>
                </a:solidFill>
                <a:latin typeface="Verdana"/>
                <a:cs typeface="Verdana"/>
              </a:rPr>
              <a:t>more</a:t>
            </a:r>
            <a:r>
              <a:rPr sz="2400" b="1" spc="5" dirty="0">
                <a:solidFill>
                  <a:srgbClr val="2E5496"/>
                </a:solidFill>
                <a:latin typeface="Verdana"/>
                <a:cs typeface="Verdana"/>
              </a:rPr>
              <a:t> </a:t>
            </a:r>
            <a:r>
              <a:rPr sz="2400" b="1" dirty="0">
                <a:solidFill>
                  <a:srgbClr val="2E5496"/>
                </a:solidFill>
                <a:latin typeface="Verdana"/>
                <a:cs typeface="Verdana"/>
              </a:rPr>
              <a:t>than</a:t>
            </a:r>
            <a:r>
              <a:rPr sz="2400" b="1" spc="5" dirty="0">
                <a:solidFill>
                  <a:srgbClr val="2E5496"/>
                </a:solidFill>
                <a:latin typeface="Verdana"/>
                <a:cs typeface="Verdana"/>
              </a:rPr>
              <a:t> </a:t>
            </a:r>
            <a:r>
              <a:rPr sz="2400" b="1" spc="-5" dirty="0">
                <a:solidFill>
                  <a:srgbClr val="2E5496"/>
                </a:solidFill>
                <a:latin typeface="Verdana"/>
                <a:cs typeface="Verdana"/>
              </a:rPr>
              <a:t>one</a:t>
            </a:r>
            <a:r>
              <a:rPr sz="2400" b="1" spc="30" dirty="0">
                <a:solidFill>
                  <a:srgbClr val="2E5496"/>
                </a:solidFill>
                <a:latin typeface="Verdana"/>
                <a:cs typeface="Verdana"/>
              </a:rPr>
              <a:t> </a:t>
            </a:r>
            <a:r>
              <a:rPr sz="2400" b="1" spc="-5" dirty="0">
                <a:solidFill>
                  <a:srgbClr val="2E5496"/>
                </a:solidFill>
                <a:latin typeface="Verdana"/>
                <a:cs typeface="Verdana"/>
              </a:rPr>
              <a:t>derived</a:t>
            </a:r>
            <a:endParaRPr sz="2400" dirty="0">
              <a:latin typeface="Verdana"/>
              <a:cs typeface="Verdana"/>
            </a:endParaRPr>
          </a:p>
          <a:p>
            <a:pPr marL="12700">
              <a:lnSpc>
                <a:spcPct val="100000"/>
              </a:lnSpc>
              <a:spcBef>
                <a:spcPts val="5"/>
              </a:spcBef>
            </a:pPr>
            <a:r>
              <a:rPr sz="2400" b="1" spc="-5" dirty="0">
                <a:solidFill>
                  <a:srgbClr val="2E5496"/>
                </a:solidFill>
                <a:latin typeface="Verdana"/>
                <a:cs typeface="Verdana"/>
              </a:rPr>
              <a:t>class</a:t>
            </a:r>
            <a:r>
              <a:rPr sz="2400" b="1" spc="-10" dirty="0">
                <a:solidFill>
                  <a:srgbClr val="2E5496"/>
                </a:solidFill>
                <a:latin typeface="Verdana"/>
                <a:cs typeface="Verdana"/>
              </a:rPr>
              <a:t> </a:t>
            </a:r>
            <a:r>
              <a:rPr sz="2400" b="1" dirty="0">
                <a:solidFill>
                  <a:srgbClr val="2E5496"/>
                </a:solidFill>
                <a:latin typeface="Verdana"/>
                <a:cs typeface="Verdana"/>
              </a:rPr>
              <a:t>to</a:t>
            </a:r>
            <a:r>
              <a:rPr sz="2400" b="1" spc="-10" dirty="0">
                <a:solidFill>
                  <a:srgbClr val="2E5496"/>
                </a:solidFill>
                <a:latin typeface="Verdana"/>
                <a:cs typeface="Verdana"/>
              </a:rPr>
              <a:t> </a:t>
            </a:r>
            <a:r>
              <a:rPr sz="2400" b="1" spc="-5" dirty="0">
                <a:solidFill>
                  <a:srgbClr val="2E5496"/>
                </a:solidFill>
                <a:latin typeface="Verdana"/>
                <a:cs typeface="Verdana"/>
              </a:rPr>
              <a:t>inherit</a:t>
            </a:r>
            <a:r>
              <a:rPr sz="2400" b="1" spc="30" dirty="0">
                <a:solidFill>
                  <a:srgbClr val="2E5496"/>
                </a:solidFill>
                <a:latin typeface="Verdana"/>
                <a:cs typeface="Verdana"/>
              </a:rPr>
              <a:t> </a:t>
            </a:r>
            <a:r>
              <a:rPr sz="2400" b="1" spc="-10" dirty="0">
                <a:solidFill>
                  <a:srgbClr val="2E5496"/>
                </a:solidFill>
                <a:latin typeface="Verdana"/>
                <a:cs typeface="Verdana"/>
              </a:rPr>
              <a:t>properties</a:t>
            </a:r>
            <a:r>
              <a:rPr sz="2400" b="1" spc="5" dirty="0">
                <a:solidFill>
                  <a:srgbClr val="2E5496"/>
                </a:solidFill>
                <a:latin typeface="Verdana"/>
                <a:cs typeface="Verdana"/>
              </a:rPr>
              <a:t> </a:t>
            </a:r>
            <a:r>
              <a:rPr sz="2400" b="1" spc="-5" dirty="0">
                <a:solidFill>
                  <a:srgbClr val="2E5496"/>
                </a:solidFill>
                <a:latin typeface="Verdana"/>
                <a:cs typeface="Verdana"/>
              </a:rPr>
              <a:t>from</a:t>
            </a:r>
            <a:r>
              <a:rPr sz="2400" b="1" spc="5" dirty="0">
                <a:solidFill>
                  <a:srgbClr val="2E5496"/>
                </a:solidFill>
                <a:latin typeface="Verdana"/>
                <a:cs typeface="Verdana"/>
              </a:rPr>
              <a:t> </a:t>
            </a:r>
            <a:r>
              <a:rPr sz="2400" b="1" dirty="0">
                <a:solidFill>
                  <a:srgbClr val="2E5496"/>
                </a:solidFill>
                <a:latin typeface="Verdana"/>
                <a:cs typeface="Verdana"/>
              </a:rPr>
              <a:t>a </a:t>
            </a:r>
            <a:r>
              <a:rPr sz="2400" b="1" spc="-5" dirty="0">
                <a:solidFill>
                  <a:srgbClr val="2E5496"/>
                </a:solidFill>
                <a:latin typeface="Verdana"/>
                <a:cs typeface="Verdana"/>
              </a:rPr>
              <a:t>parent</a:t>
            </a:r>
            <a:r>
              <a:rPr sz="2400" b="1" spc="-10" dirty="0">
                <a:solidFill>
                  <a:srgbClr val="2E5496"/>
                </a:solidFill>
                <a:latin typeface="Verdana"/>
                <a:cs typeface="Verdana"/>
              </a:rPr>
              <a:t> </a:t>
            </a:r>
            <a:r>
              <a:rPr sz="2400" b="1" spc="-5" dirty="0">
                <a:solidFill>
                  <a:srgbClr val="2E5496"/>
                </a:solidFill>
                <a:latin typeface="Verdana"/>
                <a:cs typeface="Verdana"/>
              </a:rPr>
              <a:t>class.</a:t>
            </a:r>
            <a:endParaRPr sz="2400" dirty="0">
              <a:latin typeface="Verdana"/>
              <a:cs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059586" y="1412494"/>
            <a:ext cx="5824220" cy="321242"/>
          </a:xfrm>
          <a:prstGeom prst="rect">
            <a:avLst/>
          </a:prstGeom>
        </p:spPr>
        <p:txBody>
          <a:bodyPr vert="horz" wrap="square" lIns="0" tIns="13335" rIns="0" bIns="0" rtlCol="0">
            <a:spAutoFit/>
          </a:bodyPr>
          <a:lstStyle/>
          <a:p>
            <a:pPr marL="12700">
              <a:lnSpc>
                <a:spcPct val="100000"/>
              </a:lnSpc>
              <a:spcBef>
                <a:spcPts val="105"/>
              </a:spcBef>
            </a:pPr>
            <a:endParaRPr sz="2000" dirty="0">
              <a:latin typeface="Verdana"/>
              <a:cs typeface="Verdana"/>
            </a:endParaRPr>
          </a:p>
        </p:txBody>
      </p:sp>
      <p:sp>
        <p:nvSpPr>
          <p:cNvPr id="7" name="Rectangle 1"/>
          <p:cNvSpPr>
            <a:spLocks noChangeArrowheads="1"/>
          </p:cNvSpPr>
          <p:nvPr/>
        </p:nvSpPr>
        <p:spPr bwMode="auto">
          <a:xfrm>
            <a:off x="1371600" y="855346"/>
            <a:ext cx="10058400" cy="59093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Animal:</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Sepak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"Animal is speaking...."</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Cat(Animal):</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Cat_Speak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"Cat is making noise...."</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class </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Lion(Animal):</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b="1"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def </a:t>
            </a: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Lion_Speak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94558D"/>
                </a:solidFill>
                <a:effectLst/>
                <a:latin typeface="Consolas" panose="020B0609020204030204" pitchFamily="49" charset="0"/>
                <a:cs typeface="Consolas" panose="020B0609020204030204" pitchFamily="49" charset="0"/>
              </a:rPr>
              <a:t>self</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"Lion is Laughing...."</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"Animal"</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 = Lion()</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l.Sepak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l.Lion_Speak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"Cat"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c = Cat()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c.Sepak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c.Cat_Speak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80"/>
                </a:solidFill>
                <a:effectLst/>
                <a:latin typeface="Consolas" panose="020B0609020204030204" pitchFamily="49" charset="0"/>
                <a:cs typeface="Consolas" panose="020B0609020204030204" pitchFamily="49" charset="0"/>
              </a:rPr>
              <a:t>print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"Lion"</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1" i="0" u="none" strike="noStrike" cap="none" normalizeH="0" baseline="0" dirty="0">
                <a:ln>
                  <a:noFill/>
                </a:ln>
                <a:solidFill>
                  <a:srgbClr val="00808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12</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 = Lion()</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l.Sepak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b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br>
            <a:r>
              <a:rPr kumimoji="0" lang="en-US" altLang="en-US"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l.Lion_Speak</a:t>
            </a:r>
            <a:r>
              <a:rPr kumimoji="0" lang="en-US" altLang="en-US"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38400" y="2590800"/>
            <a:ext cx="8940268" cy="954107"/>
          </a:xfrm>
          <a:prstGeom prst="rect">
            <a:avLst/>
          </a:prstGeom>
          <a:noFill/>
        </p:spPr>
        <p:txBody>
          <a:bodyPr wrap="none" rtlCol="0">
            <a:spAutoFit/>
          </a:bodyPr>
          <a:lstStyle/>
          <a:p>
            <a:r>
              <a:rPr lang="en-US" sz="2800" dirty="0"/>
              <a:t>Create a multiple inheritance using python’s OOP.</a:t>
            </a:r>
          </a:p>
          <a:p>
            <a:endParaRPr lang="en-US" sz="2800" dirty="0"/>
          </a:p>
        </p:txBody>
      </p:sp>
    </p:spTree>
    <p:extLst>
      <p:ext uri="{BB962C8B-B14F-4D97-AF65-F5344CB8AC3E}">
        <p14:creationId xmlns:p14="http://schemas.microsoft.com/office/powerpoint/2010/main" val="426887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0243" y="3108923"/>
            <a:ext cx="11381241" cy="2235781"/>
          </a:xfrm>
          <a:prstGeom prst="rect">
            <a:avLst/>
          </a:prstGeom>
        </p:spPr>
      </p:pic>
      <p:sp>
        <p:nvSpPr>
          <p:cNvPr id="3" name="object 3"/>
          <p:cNvSpPr txBox="1">
            <a:spLocks noGrp="1"/>
          </p:cNvSpPr>
          <p:nvPr>
            <p:ph type="title"/>
          </p:nvPr>
        </p:nvSpPr>
        <p:spPr>
          <a:xfrm>
            <a:off x="659383" y="756030"/>
            <a:ext cx="3625850"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C55A11"/>
                </a:solidFill>
              </a:rPr>
              <a:t>Multiple</a:t>
            </a:r>
            <a:r>
              <a:rPr sz="2400" spc="-25" dirty="0">
                <a:solidFill>
                  <a:srgbClr val="C55A11"/>
                </a:solidFill>
              </a:rPr>
              <a:t> </a:t>
            </a:r>
            <a:r>
              <a:rPr sz="2400" spc="-5" dirty="0">
                <a:solidFill>
                  <a:srgbClr val="C55A11"/>
                </a:solidFill>
              </a:rPr>
              <a:t>Inheritance:</a:t>
            </a:r>
            <a:endParaRPr sz="2400"/>
          </a:p>
        </p:txBody>
      </p:sp>
      <p:sp>
        <p:nvSpPr>
          <p:cNvPr id="4" name="object 4"/>
          <p:cNvSpPr txBox="1"/>
          <p:nvPr/>
        </p:nvSpPr>
        <p:spPr>
          <a:xfrm>
            <a:off x="659383" y="1487804"/>
            <a:ext cx="10565130" cy="1449705"/>
          </a:xfrm>
          <a:prstGeom prst="rect">
            <a:avLst/>
          </a:prstGeom>
        </p:spPr>
        <p:txBody>
          <a:bodyPr vert="horz" wrap="square" lIns="0" tIns="12700" rIns="0" bIns="0" rtlCol="0">
            <a:spAutoFit/>
          </a:bodyPr>
          <a:lstStyle/>
          <a:p>
            <a:pPr marL="12700" marR="5080">
              <a:lnSpc>
                <a:spcPct val="100000"/>
              </a:lnSpc>
              <a:spcBef>
                <a:spcPts val="100"/>
              </a:spcBef>
            </a:pPr>
            <a:r>
              <a:rPr sz="2400" b="1" spc="-5" dirty="0">
                <a:solidFill>
                  <a:srgbClr val="2E5496"/>
                </a:solidFill>
                <a:latin typeface="Verdana"/>
                <a:cs typeface="Verdana"/>
              </a:rPr>
              <a:t>Multiple</a:t>
            </a:r>
            <a:r>
              <a:rPr sz="2400" b="1" spc="25" dirty="0">
                <a:solidFill>
                  <a:srgbClr val="2E5496"/>
                </a:solidFill>
                <a:latin typeface="Verdana"/>
                <a:cs typeface="Verdana"/>
              </a:rPr>
              <a:t> </a:t>
            </a:r>
            <a:r>
              <a:rPr sz="2400" b="1" dirty="0">
                <a:solidFill>
                  <a:srgbClr val="2E5496"/>
                </a:solidFill>
                <a:latin typeface="Verdana"/>
                <a:cs typeface="Verdana"/>
              </a:rPr>
              <a:t>level</a:t>
            </a:r>
            <a:r>
              <a:rPr sz="2400" b="1" spc="20" dirty="0">
                <a:solidFill>
                  <a:srgbClr val="2E5496"/>
                </a:solidFill>
                <a:latin typeface="Verdana"/>
                <a:cs typeface="Verdana"/>
              </a:rPr>
              <a:t> </a:t>
            </a:r>
            <a:r>
              <a:rPr sz="2400" b="1" spc="-5" dirty="0">
                <a:solidFill>
                  <a:srgbClr val="2E5496"/>
                </a:solidFill>
                <a:latin typeface="Verdana"/>
                <a:cs typeface="Verdana"/>
              </a:rPr>
              <a:t>inheritance</a:t>
            </a:r>
            <a:r>
              <a:rPr sz="2400" b="1" spc="40" dirty="0">
                <a:solidFill>
                  <a:srgbClr val="2E5496"/>
                </a:solidFill>
                <a:latin typeface="Verdana"/>
                <a:cs typeface="Verdana"/>
              </a:rPr>
              <a:t> </a:t>
            </a:r>
            <a:r>
              <a:rPr sz="2400" b="1" spc="-5" dirty="0">
                <a:solidFill>
                  <a:srgbClr val="2E5496"/>
                </a:solidFill>
                <a:latin typeface="Verdana"/>
                <a:cs typeface="Verdana"/>
              </a:rPr>
              <a:t>enables</a:t>
            </a:r>
            <a:r>
              <a:rPr sz="2400" b="1" dirty="0">
                <a:solidFill>
                  <a:srgbClr val="2E5496"/>
                </a:solidFill>
                <a:latin typeface="Verdana"/>
                <a:cs typeface="Verdana"/>
              </a:rPr>
              <a:t> one</a:t>
            </a:r>
            <a:r>
              <a:rPr sz="2400" b="1" spc="10" dirty="0">
                <a:solidFill>
                  <a:srgbClr val="2E5496"/>
                </a:solidFill>
                <a:latin typeface="Verdana"/>
                <a:cs typeface="Verdana"/>
              </a:rPr>
              <a:t> </a:t>
            </a:r>
            <a:r>
              <a:rPr sz="2400" b="1" spc="-5" dirty="0">
                <a:solidFill>
                  <a:srgbClr val="2E5496"/>
                </a:solidFill>
                <a:latin typeface="Verdana"/>
                <a:cs typeface="Verdana"/>
              </a:rPr>
              <a:t>derived</a:t>
            </a:r>
            <a:r>
              <a:rPr sz="2400" b="1" spc="10" dirty="0">
                <a:solidFill>
                  <a:srgbClr val="2E5496"/>
                </a:solidFill>
                <a:latin typeface="Verdana"/>
                <a:cs typeface="Verdana"/>
              </a:rPr>
              <a:t> </a:t>
            </a:r>
            <a:r>
              <a:rPr sz="2400" b="1" spc="-5" dirty="0">
                <a:solidFill>
                  <a:srgbClr val="2E5496"/>
                </a:solidFill>
                <a:latin typeface="Verdana"/>
                <a:cs typeface="Verdana"/>
              </a:rPr>
              <a:t>class </a:t>
            </a:r>
            <a:r>
              <a:rPr sz="2400" b="1" dirty="0">
                <a:solidFill>
                  <a:srgbClr val="2E5496"/>
                </a:solidFill>
                <a:latin typeface="Verdana"/>
                <a:cs typeface="Verdana"/>
              </a:rPr>
              <a:t>to</a:t>
            </a:r>
            <a:r>
              <a:rPr sz="2400" b="1" spc="-15" dirty="0">
                <a:solidFill>
                  <a:srgbClr val="2E5496"/>
                </a:solidFill>
                <a:latin typeface="Verdana"/>
                <a:cs typeface="Verdana"/>
              </a:rPr>
              <a:t> </a:t>
            </a:r>
            <a:r>
              <a:rPr sz="2400" b="1" spc="-5" dirty="0">
                <a:solidFill>
                  <a:srgbClr val="2E5496"/>
                </a:solidFill>
                <a:latin typeface="Verdana"/>
                <a:cs typeface="Verdana"/>
              </a:rPr>
              <a:t>inherit </a:t>
            </a:r>
            <a:r>
              <a:rPr sz="2400" b="1" spc="-805" dirty="0">
                <a:solidFill>
                  <a:srgbClr val="2E5496"/>
                </a:solidFill>
                <a:latin typeface="Verdana"/>
                <a:cs typeface="Verdana"/>
              </a:rPr>
              <a:t> </a:t>
            </a:r>
            <a:r>
              <a:rPr sz="2400" b="1" spc="-10" dirty="0">
                <a:solidFill>
                  <a:srgbClr val="2E5496"/>
                </a:solidFill>
                <a:latin typeface="Verdana"/>
                <a:cs typeface="Verdana"/>
              </a:rPr>
              <a:t>properties</a:t>
            </a:r>
            <a:r>
              <a:rPr sz="2400" b="1" dirty="0">
                <a:solidFill>
                  <a:srgbClr val="2E5496"/>
                </a:solidFill>
                <a:latin typeface="Verdana"/>
                <a:cs typeface="Verdana"/>
              </a:rPr>
              <a:t> </a:t>
            </a:r>
            <a:r>
              <a:rPr sz="2400" b="1" spc="-5" dirty="0">
                <a:solidFill>
                  <a:srgbClr val="2E5496"/>
                </a:solidFill>
                <a:latin typeface="Verdana"/>
                <a:cs typeface="Verdana"/>
              </a:rPr>
              <a:t>from</a:t>
            </a:r>
            <a:r>
              <a:rPr sz="2400" b="1" spc="5" dirty="0">
                <a:solidFill>
                  <a:srgbClr val="2E5496"/>
                </a:solidFill>
                <a:latin typeface="Verdana"/>
                <a:cs typeface="Verdana"/>
              </a:rPr>
              <a:t> </a:t>
            </a:r>
            <a:r>
              <a:rPr sz="2400" b="1" spc="-5" dirty="0">
                <a:solidFill>
                  <a:srgbClr val="2E5496"/>
                </a:solidFill>
                <a:latin typeface="Verdana"/>
                <a:cs typeface="Verdana"/>
              </a:rPr>
              <a:t>more</a:t>
            </a:r>
            <a:r>
              <a:rPr sz="2400" b="1" dirty="0">
                <a:solidFill>
                  <a:srgbClr val="2E5496"/>
                </a:solidFill>
                <a:latin typeface="Verdana"/>
                <a:cs typeface="Verdana"/>
              </a:rPr>
              <a:t> than one</a:t>
            </a:r>
            <a:r>
              <a:rPr sz="2400" b="1" spc="25" dirty="0">
                <a:solidFill>
                  <a:srgbClr val="2E5496"/>
                </a:solidFill>
                <a:latin typeface="Verdana"/>
                <a:cs typeface="Verdana"/>
              </a:rPr>
              <a:t> </a:t>
            </a:r>
            <a:r>
              <a:rPr sz="2400" b="1" spc="-5" dirty="0">
                <a:solidFill>
                  <a:srgbClr val="2E5496"/>
                </a:solidFill>
                <a:latin typeface="Verdana"/>
                <a:cs typeface="Verdana"/>
              </a:rPr>
              <a:t>base</a:t>
            </a:r>
            <a:r>
              <a:rPr sz="2400" b="1" spc="-15" dirty="0">
                <a:solidFill>
                  <a:srgbClr val="2E5496"/>
                </a:solidFill>
                <a:latin typeface="Verdana"/>
                <a:cs typeface="Verdana"/>
              </a:rPr>
              <a:t> </a:t>
            </a:r>
            <a:r>
              <a:rPr sz="2400" b="1" spc="-5" dirty="0">
                <a:solidFill>
                  <a:srgbClr val="2E5496"/>
                </a:solidFill>
                <a:latin typeface="Verdana"/>
                <a:cs typeface="Verdana"/>
              </a:rPr>
              <a:t>class.</a:t>
            </a:r>
            <a:endParaRPr sz="2400">
              <a:latin typeface="Verdana"/>
              <a:cs typeface="Verdana"/>
            </a:endParaRPr>
          </a:p>
          <a:p>
            <a:pPr marL="12700">
              <a:lnSpc>
                <a:spcPct val="100000"/>
              </a:lnSpc>
              <a:spcBef>
                <a:spcPts val="2570"/>
              </a:spcBef>
            </a:pPr>
            <a:r>
              <a:rPr sz="2400" b="1" spc="-5" dirty="0">
                <a:solidFill>
                  <a:srgbClr val="C55A11"/>
                </a:solidFill>
                <a:latin typeface="Verdana"/>
                <a:cs typeface="Verdana"/>
              </a:rPr>
              <a:t>Example:</a:t>
            </a:r>
            <a:endParaRPr sz="2400">
              <a:latin typeface="Verdana"/>
              <a:cs typeface="Verdana"/>
            </a:endParaRPr>
          </a:p>
        </p:txBody>
      </p:sp>
      <p:sp>
        <p:nvSpPr>
          <p:cNvPr id="5" name="object 5"/>
          <p:cNvSpPr txBox="1"/>
          <p:nvPr/>
        </p:nvSpPr>
        <p:spPr>
          <a:xfrm>
            <a:off x="637794" y="3196589"/>
            <a:ext cx="11031220" cy="2065020"/>
          </a:xfrm>
          <a:prstGeom prst="rect">
            <a:avLst/>
          </a:prstGeom>
          <a:solidFill>
            <a:srgbClr val="FFFFFF"/>
          </a:solidFill>
          <a:ln w="38100">
            <a:solidFill>
              <a:srgbClr val="B4C6E7"/>
            </a:solidFill>
          </a:ln>
        </p:spPr>
        <p:txBody>
          <a:bodyPr vert="horz" wrap="square" lIns="0" tIns="5715" rIns="0" bIns="0" rtlCol="0">
            <a:spAutoFit/>
          </a:bodyPr>
          <a:lstStyle/>
          <a:p>
            <a:pPr>
              <a:lnSpc>
                <a:spcPct val="100000"/>
              </a:lnSpc>
              <a:spcBef>
                <a:spcPts val="45"/>
              </a:spcBef>
            </a:pPr>
            <a:endParaRPr sz="1850" dirty="0">
              <a:latin typeface="Times New Roman"/>
              <a:cs typeface="Times New Roman"/>
            </a:endParaRPr>
          </a:p>
          <a:p>
            <a:pPr marL="262255">
              <a:lnSpc>
                <a:spcPct val="100000"/>
              </a:lnSpc>
            </a:pPr>
            <a:r>
              <a:rPr sz="2000" b="1" spc="-5" dirty="0">
                <a:solidFill>
                  <a:srgbClr val="767070"/>
                </a:solidFill>
                <a:latin typeface="Verdana"/>
                <a:cs typeface="Verdana"/>
              </a:rPr>
              <a:t>class</a:t>
            </a:r>
            <a:r>
              <a:rPr sz="2000" b="1" spc="-15" dirty="0">
                <a:solidFill>
                  <a:srgbClr val="767070"/>
                </a:solidFill>
                <a:latin typeface="Verdana"/>
                <a:cs typeface="Verdana"/>
              </a:rPr>
              <a:t> </a:t>
            </a:r>
            <a:r>
              <a:rPr sz="2000" b="1" spc="-5" dirty="0">
                <a:solidFill>
                  <a:srgbClr val="767070"/>
                </a:solidFill>
                <a:latin typeface="Verdana"/>
                <a:cs typeface="Verdana"/>
              </a:rPr>
              <a:t>employee1():</a:t>
            </a:r>
            <a:r>
              <a:rPr sz="2000" b="1" spc="-30" dirty="0">
                <a:solidFill>
                  <a:srgbClr val="767070"/>
                </a:solidFill>
                <a:latin typeface="Verdana"/>
                <a:cs typeface="Verdana"/>
              </a:rPr>
              <a:t> </a:t>
            </a:r>
            <a:r>
              <a:rPr sz="2000" b="1" dirty="0">
                <a:solidFill>
                  <a:srgbClr val="BE9000"/>
                </a:solidFill>
                <a:latin typeface="Verdana"/>
                <a:cs typeface="Verdana"/>
              </a:rPr>
              <a:t>//Parent</a:t>
            </a:r>
            <a:r>
              <a:rPr sz="2000" b="1" spc="-30" dirty="0">
                <a:solidFill>
                  <a:srgbClr val="BE9000"/>
                </a:solidFill>
                <a:latin typeface="Verdana"/>
                <a:cs typeface="Verdana"/>
              </a:rPr>
              <a:t> </a:t>
            </a:r>
            <a:r>
              <a:rPr sz="2000" b="1" spc="-5" dirty="0">
                <a:solidFill>
                  <a:srgbClr val="BE9000"/>
                </a:solidFill>
                <a:latin typeface="Verdana"/>
                <a:cs typeface="Verdana"/>
              </a:rPr>
              <a:t>class</a:t>
            </a:r>
            <a:endParaRPr sz="2000" dirty="0">
              <a:latin typeface="Verdana"/>
              <a:cs typeface="Verdana"/>
            </a:endParaRPr>
          </a:p>
          <a:p>
            <a:pPr marL="960119" marR="5070475" indent="-349250">
              <a:lnSpc>
                <a:spcPct val="100000"/>
              </a:lnSpc>
              <a:spcBef>
                <a:spcPts val="5"/>
              </a:spcBef>
              <a:tabLst>
                <a:tab pos="1514475" algn="l"/>
                <a:tab pos="2348230" algn="l"/>
              </a:tabLst>
            </a:pPr>
            <a:r>
              <a:rPr sz="2000" b="1" spc="-5" dirty="0">
                <a:solidFill>
                  <a:srgbClr val="767070"/>
                </a:solidFill>
                <a:latin typeface="Verdana"/>
                <a:cs typeface="Verdana"/>
              </a:rPr>
              <a:t>def</a:t>
            </a:r>
            <a:r>
              <a:rPr sz="2000" b="1" u="heavy" spc="-5" dirty="0">
                <a:solidFill>
                  <a:srgbClr val="767070"/>
                </a:solidFill>
                <a:uFill>
                  <a:solidFill>
                    <a:srgbClr val="756F6F"/>
                  </a:solidFill>
                </a:uFill>
                <a:latin typeface="Verdana"/>
                <a:cs typeface="Verdana"/>
              </a:rPr>
              <a:t>	</a:t>
            </a:r>
            <a:r>
              <a:rPr sz="2000" b="1" dirty="0">
                <a:solidFill>
                  <a:srgbClr val="767070"/>
                </a:solidFill>
                <a:latin typeface="Verdana"/>
                <a:cs typeface="Verdana"/>
              </a:rPr>
              <a:t>init</a:t>
            </a:r>
            <a:r>
              <a:rPr sz="2000" b="1" u="heavy" dirty="0">
                <a:solidFill>
                  <a:srgbClr val="767070"/>
                </a:solidFill>
                <a:uFill>
                  <a:solidFill>
                    <a:srgbClr val="756F6F"/>
                  </a:solidFill>
                </a:uFill>
                <a:latin typeface="Verdana"/>
                <a:cs typeface="Verdana"/>
              </a:rPr>
              <a:t>	</a:t>
            </a:r>
            <a:r>
              <a:rPr sz="2000" b="1" spc="-5" dirty="0">
                <a:solidFill>
                  <a:srgbClr val="767070"/>
                </a:solidFill>
                <a:latin typeface="Verdana"/>
                <a:cs typeface="Verdana"/>
              </a:rPr>
              <a:t>(self, name, </a:t>
            </a:r>
            <a:r>
              <a:rPr sz="2000" b="1" dirty="0">
                <a:solidFill>
                  <a:srgbClr val="767070"/>
                </a:solidFill>
                <a:latin typeface="Verdana"/>
                <a:cs typeface="Verdana"/>
              </a:rPr>
              <a:t>age, salary): </a:t>
            </a:r>
            <a:r>
              <a:rPr sz="2000" b="1" spc="-675" dirty="0">
                <a:solidFill>
                  <a:srgbClr val="767070"/>
                </a:solidFill>
                <a:latin typeface="Verdana"/>
                <a:cs typeface="Verdana"/>
              </a:rPr>
              <a:t> </a:t>
            </a:r>
            <a:r>
              <a:rPr sz="2000" b="1" spc="-5" dirty="0">
                <a:solidFill>
                  <a:srgbClr val="767070"/>
                </a:solidFill>
                <a:latin typeface="Verdana"/>
                <a:cs typeface="Verdana"/>
              </a:rPr>
              <a:t>self.name</a:t>
            </a:r>
            <a:r>
              <a:rPr sz="2000" b="1" spc="-25" dirty="0">
                <a:solidFill>
                  <a:srgbClr val="767070"/>
                </a:solidFill>
                <a:latin typeface="Verdana"/>
                <a:cs typeface="Verdana"/>
              </a:rPr>
              <a:t> </a:t>
            </a:r>
            <a:r>
              <a:rPr sz="2000" b="1" dirty="0">
                <a:solidFill>
                  <a:srgbClr val="767070"/>
                </a:solidFill>
                <a:latin typeface="Verdana"/>
                <a:cs typeface="Verdana"/>
              </a:rPr>
              <a:t>= name</a:t>
            </a:r>
            <a:endParaRPr sz="2000" dirty="0">
              <a:latin typeface="Verdana"/>
              <a:cs typeface="Verdana"/>
            </a:endParaRPr>
          </a:p>
          <a:p>
            <a:pPr marL="960119" marR="7320280">
              <a:lnSpc>
                <a:spcPct val="100000"/>
              </a:lnSpc>
            </a:pPr>
            <a:r>
              <a:rPr sz="2000" b="1" spc="-5" dirty="0">
                <a:solidFill>
                  <a:srgbClr val="767070"/>
                </a:solidFill>
                <a:latin typeface="Verdana"/>
                <a:cs typeface="Verdana"/>
              </a:rPr>
              <a:t>self.age </a:t>
            </a:r>
            <a:r>
              <a:rPr sz="2000" b="1" dirty="0">
                <a:solidFill>
                  <a:srgbClr val="767070"/>
                </a:solidFill>
                <a:latin typeface="Verdana"/>
                <a:cs typeface="Verdana"/>
              </a:rPr>
              <a:t>= </a:t>
            </a:r>
            <a:r>
              <a:rPr sz="2000" b="1" spc="-5" dirty="0">
                <a:solidFill>
                  <a:srgbClr val="767070"/>
                </a:solidFill>
                <a:latin typeface="Verdana"/>
                <a:cs typeface="Verdana"/>
              </a:rPr>
              <a:t>age </a:t>
            </a:r>
            <a:r>
              <a:rPr sz="2000" b="1" dirty="0">
                <a:solidFill>
                  <a:srgbClr val="767070"/>
                </a:solidFill>
                <a:latin typeface="Verdana"/>
                <a:cs typeface="Verdana"/>
              </a:rPr>
              <a:t> </a:t>
            </a:r>
            <a:r>
              <a:rPr sz="2000" b="1" spc="-5" dirty="0">
                <a:solidFill>
                  <a:srgbClr val="767070"/>
                </a:solidFill>
                <a:latin typeface="Verdana"/>
                <a:cs typeface="Verdana"/>
              </a:rPr>
              <a:t>self.salary</a:t>
            </a:r>
            <a:r>
              <a:rPr sz="2000" b="1" spc="-20" dirty="0">
                <a:solidFill>
                  <a:srgbClr val="767070"/>
                </a:solidFill>
                <a:latin typeface="Verdana"/>
                <a:cs typeface="Verdana"/>
              </a:rPr>
              <a:t> </a:t>
            </a:r>
            <a:r>
              <a:rPr sz="2000" b="1" dirty="0">
                <a:solidFill>
                  <a:srgbClr val="767070"/>
                </a:solidFill>
                <a:latin typeface="Verdana"/>
                <a:cs typeface="Verdana"/>
              </a:rPr>
              <a:t>=</a:t>
            </a:r>
            <a:r>
              <a:rPr sz="2000" b="1" spc="-15" dirty="0">
                <a:solidFill>
                  <a:srgbClr val="767070"/>
                </a:solidFill>
                <a:latin typeface="Verdana"/>
                <a:cs typeface="Verdana"/>
              </a:rPr>
              <a:t> </a:t>
            </a:r>
            <a:r>
              <a:rPr sz="2000" b="1" dirty="0">
                <a:solidFill>
                  <a:srgbClr val="767070"/>
                </a:solidFill>
                <a:latin typeface="Verdana"/>
                <a:cs typeface="Verdana"/>
              </a:rPr>
              <a:t>salary</a:t>
            </a:r>
            <a:endParaRPr sz="2000" dirty="0">
              <a:latin typeface="Verdana"/>
              <a:cs typeface="Verdan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3855" y="915914"/>
            <a:ext cx="11381740" cy="5547995"/>
            <a:chOff x="403855" y="915914"/>
            <a:chExt cx="11381740" cy="5547995"/>
          </a:xfrm>
        </p:grpSpPr>
        <p:pic>
          <p:nvPicPr>
            <p:cNvPr id="3" name="object 3"/>
            <p:cNvPicPr/>
            <p:nvPr/>
          </p:nvPicPr>
          <p:blipFill>
            <a:blip r:embed="rId2" cstate="print"/>
            <a:stretch>
              <a:fillRect/>
            </a:stretch>
          </p:blipFill>
          <p:spPr>
            <a:xfrm>
              <a:off x="403855" y="915914"/>
              <a:ext cx="11381241" cy="5547379"/>
            </a:xfrm>
            <a:prstGeom prst="rect">
              <a:avLst/>
            </a:prstGeom>
          </p:spPr>
        </p:pic>
        <p:sp>
          <p:nvSpPr>
            <p:cNvPr id="4" name="object 4"/>
            <p:cNvSpPr/>
            <p:nvPr/>
          </p:nvSpPr>
          <p:spPr>
            <a:xfrm>
              <a:off x="581405" y="1035558"/>
              <a:ext cx="11031220" cy="5313045"/>
            </a:xfrm>
            <a:custGeom>
              <a:avLst/>
              <a:gdLst/>
              <a:ahLst/>
              <a:cxnLst/>
              <a:rect l="l" t="t" r="r" b="b"/>
              <a:pathLst>
                <a:path w="11031220" h="5313045">
                  <a:moveTo>
                    <a:pt x="11030712" y="0"/>
                  </a:moveTo>
                  <a:lnTo>
                    <a:pt x="0" y="0"/>
                  </a:lnTo>
                  <a:lnTo>
                    <a:pt x="0" y="5312664"/>
                  </a:lnTo>
                  <a:lnTo>
                    <a:pt x="11030712" y="5312664"/>
                  </a:lnTo>
                  <a:lnTo>
                    <a:pt x="11030712" y="0"/>
                  </a:lnTo>
                  <a:close/>
                </a:path>
              </a:pathLst>
            </a:custGeom>
            <a:solidFill>
              <a:srgbClr val="FFFFFF"/>
            </a:solidFill>
          </p:spPr>
          <p:txBody>
            <a:bodyPr wrap="square" lIns="0" tIns="0" rIns="0" bIns="0" rtlCol="0"/>
            <a:lstStyle/>
            <a:p>
              <a:endParaRPr/>
            </a:p>
          </p:txBody>
        </p:sp>
        <p:sp>
          <p:nvSpPr>
            <p:cNvPr id="5" name="object 5"/>
            <p:cNvSpPr/>
            <p:nvPr/>
          </p:nvSpPr>
          <p:spPr>
            <a:xfrm>
              <a:off x="581405" y="1035558"/>
              <a:ext cx="11031220" cy="5313045"/>
            </a:xfrm>
            <a:custGeom>
              <a:avLst/>
              <a:gdLst/>
              <a:ahLst/>
              <a:cxnLst/>
              <a:rect l="l" t="t" r="r" b="b"/>
              <a:pathLst>
                <a:path w="11031220" h="5313045">
                  <a:moveTo>
                    <a:pt x="0" y="5312664"/>
                  </a:moveTo>
                  <a:lnTo>
                    <a:pt x="11030712" y="5312664"/>
                  </a:lnTo>
                  <a:lnTo>
                    <a:pt x="11030712" y="0"/>
                  </a:lnTo>
                  <a:lnTo>
                    <a:pt x="0" y="0"/>
                  </a:lnTo>
                  <a:lnTo>
                    <a:pt x="0" y="5312664"/>
                  </a:lnTo>
                  <a:close/>
                </a:path>
              </a:pathLst>
            </a:custGeom>
            <a:ln w="38100">
              <a:solidFill>
                <a:srgbClr val="B4C6E7"/>
              </a:solidFill>
            </a:ln>
          </p:spPr>
          <p:txBody>
            <a:bodyPr wrap="square" lIns="0" tIns="0" rIns="0" bIns="0" rtlCol="0"/>
            <a:lstStyle/>
            <a:p>
              <a:endParaRPr/>
            </a:p>
          </p:txBody>
        </p:sp>
      </p:grpSp>
      <p:sp>
        <p:nvSpPr>
          <p:cNvPr id="6" name="object 6"/>
          <p:cNvSpPr txBox="1"/>
          <p:nvPr/>
        </p:nvSpPr>
        <p:spPr>
          <a:xfrm>
            <a:off x="1099210" y="1197101"/>
            <a:ext cx="6474460" cy="4904105"/>
          </a:xfrm>
          <a:prstGeom prst="rect">
            <a:avLst/>
          </a:prstGeom>
        </p:spPr>
        <p:txBody>
          <a:bodyPr vert="horz" wrap="square" lIns="0" tIns="13335" rIns="0" bIns="0" rtlCol="0">
            <a:spAutoFit/>
          </a:bodyPr>
          <a:lstStyle/>
          <a:p>
            <a:pPr marL="12700">
              <a:lnSpc>
                <a:spcPct val="100000"/>
              </a:lnSpc>
              <a:spcBef>
                <a:spcPts val="105"/>
              </a:spcBef>
            </a:pPr>
            <a:r>
              <a:rPr sz="2000" b="1" spc="-5" dirty="0">
                <a:solidFill>
                  <a:srgbClr val="767070"/>
                </a:solidFill>
                <a:latin typeface="Verdana"/>
                <a:cs typeface="Verdana"/>
              </a:rPr>
              <a:t>class</a:t>
            </a:r>
            <a:r>
              <a:rPr sz="2000" b="1" spc="-10" dirty="0">
                <a:solidFill>
                  <a:srgbClr val="767070"/>
                </a:solidFill>
                <a:latin typeface="Verdana"/>
                <a:cs typeface="Verdana"/>
              </a:rPr>
              <a:t> </a:t>
            </a:r>
            <a:r>
              <a:rPr sz="2000" b="1" dirty="0">
                <a:solidFill>
                  <a:srgbClr val="767070"/>
                </a:solidFill>
                <a:latin typeface="Verdana"/>
                <a:cs typeface="Verdana"/>
              </a:rPr>
              <a:t>employee2():</a:t>
            </a:r>
            <a:r>
              <a:rPr sz="2000" b="1" spc="-35" dirty="0">
                <a:solidFill>
                  <a:srgbClr val="767070"/>
                </a:solidFill>
                <a:latin typeface="Verdana"/>
                <a:cs typeface="Verdana"/>
              </a:rPr>
              <a:t> </a:t>
            </a:r>
            <a:r>
              <a:rPr sz="2000" b="1" spc="-5" dirty="0">
                <a:solidFill>
                  <a:srgbClr val="BE9000"/>
                </a:solidFill>
                <a:latin typeface="Verdana"/>
                <a:cs typeface="Verdana"/>
              </a:rPr>
              <a:t>//Parent</a:t>
            </a:r>
            <a:r>
              <a:rPr sz="2000" b="1" spc="-40" dirty="0">
                <a:solidFill>
                  <a:srgbClr val="BE9000"/>
                </a:solidFill>
                <a:latin typeface="Verdana"/>
                <a:cs typeface="Verdana"/>
              </a:rPr>
              <a:t> </a:t>
            </a:r>
            <a:r>
              <a:rPr sz="2000" b="1" spc="-5" dirty="0">
                <a:solidFill>
                  <a:srgbClr val="BE9000"/>
                </a:solidFill>
                <a:latin typeface="Verdana"/>
                <a:cs typeface="Verdana"/>
              </a:rPr>
              <a:t>class</a:t>
            </a:r>
            <a:endParaRPr sz="2000" dirty="0">
              <a:latin typeface="Verdana"/>
              <a:cs typeface="Verdana"/>
            </a:endParaRPr>
          </a:p>
          <a:p>
            <a:pPr marL="361315">
              <a:lnSpc>
                <a:spcPct val="100000"/>
              </a:lnSpc>
              <a:tabLst>
                <a:tab pos="1265555" algn="l"/>
                <a:tab pos="2099310" algn="l"/>
              </a:tabLst>
            </a:pPr>
            <a:r>
              <a:rPr sz="2000" b="1" dirty="0">
                <a:solidFill>
                  <a:srgbClr val="767070"/>
                </a:solidFill>
                <a:latin typeface="Verdana"/>
                <a:cs typeface="Verdana"/>
              </a:rPr>
              <a:t>def</a:t>
            </a:r>
            <a:r>
              <a:rPr sz="2000" b="1" u="heavy" dirty="0">
                <a:solidFill>
                  <a:srgbClr val="767070"/>
                </a:solidFill>
                <a:uFill>
                  <a:solidFill>
                    <a:srgbClr val="756F6F"/>
                  </a:solidFill>
                </a:uFill>
                <a:latin typeface="Verdana"/>
                <a:cs typeface="Verdana"/>
              </a:rPr>
              <a:t>	</a:t>
            </a:r>
            <a:r>
              <a:rPr sz="2000" b="1" dirty="0">
                <a:solidFill>
                  <a:srgbClr val="767070"/>
                </a:solidFill>
                <a:latin typeface="Verdana"/>
                <a:cs typeface="Verdana"/>
              </a:rPr>
              <a:t>init</a:t>
            </a:r>
            <a:r>
              <a:rPr sz="2000" b="1" u="heavy" dirty="0">
                <a:solidFill>
                  <a:srgbClr val="767070"/>
                </a:solidFill>
                <a:uFill>
                  <a:solidFill>
                    <a:srgbClr val="756F6F"/>
                  </a:solidFill>
                </a:uFill>
                <a:latin typeface="Verdana"/>
                <a:cs typeface="Verdana"/>
              </a:rPr>
              <a:t>	</a:t>
            </a:r>
            <a:r>
              <a:rPr sz="2000" b="1" spc="-5" dirty="0">
                <a:solidFill>
                  <a:srgbClr val="767070"/>
                </a:solidFill>
                <a:latin typeface="Verdana"/>
                <a:cs typeface="Verdana"/>
              </a:rPr>
              <a:t>(self,name,age,salary,id):</a:t>
            </a:r>
            <a:endParaRPr sz="2000" dirty="0">
              <a:latin typeface="Verdana"/>
              <a:cs typeface="Verdana"/>
            </a:endParaRPr>
          </a:p>
          <a:p>
            <a:pPr marL="469900" marR="3254375">
              <a:lnSpc>
                <a:spcPct val="100000"/>
              </a:lnSpc>
            </a:pPr>
            <a:r>
              <a:rPr sz="2000" b="1" spc="-5" dirty="0">
                <a:solidFill>
                  <a:srgbClr val="767070"/>
                </a:solidFill>
                <a:latin typeface="Verdana"/>
                <a:cs typeface="Verdana"/>
              </a:rPr>
              <a:t>self.name </a:t>
            </a:r>
            <a:r>
              <a:rPr sz="2000" b="1" dirty="0">
                <a:solidFill>
                  <a:srgbClr val="767070"/>
                </a:solidFill>
                <a:latin typeface="Verdana"/>
                <a:cs typeface="Verdana"/>
              </a:rPr>
              <a:t>= name </a:t>
            </a:r>
            <a:r>
              <a:rPr sz="2000" b="1" spc="5" dirty="0">
                <a:solidFill>
                  <a:srgbClr val="767070"/>
                </a:solidFill>
                <a:latin typeface="Verdana"/>
                <a:cs typeface="Verdana"/>
              </a:rPr>
              <a:t> </a:t>
            </a:r>
            <a:r>
              <a:rPr sz="2000" b="1" spc="-5" dirty="0">
                <a:solidFill>
                  <a:srgbClr val="767070"/>
                </a:solidFill>
                <a:latin typeface="Verdana"/>
                <a:cs typeface="Verdana"/>
              </a:rPr>
              <a:t>self.age </a:t>
            </a:r>
            <a:r>
              <a:rPr sz="2000" b="1" dirty="0">
                <a:solidFill>
                  <a:srgbClr val="767070"/>
                </a:solidFill>
                <a:latin typeface="Verdana"/>
                <a:cs typeface="Verdana"/>
              </a:rPr>
              <a:t>= </a:t>
            </a:r>
            <a:r>
              <a:rPr sz="2000" b="1" spc="-5" dirty="0">
                <a:solidFill>
                  <a:srgbClr val="767070"/>
                </a:solidFill>
                <a:latin typeface="Verdana"/>
                <a:cs typeface="Verdana"/>
              </a:rPr>
              <a:t>age </a:t>
            </a:r>
            <a:r>
              <a:rPr sz="2000" b="1" dirty="0">
                <a:solidFill>
                  <a:srgbClr val="767070"/>
                </a:solidFill>
                <a:latin typeface="Verdana"/>
                <a:cs typeface="Verdana"/>
              </a:rPr>
              <a:t> </a:t>
            </a:r>
            <a:r>
              <a:rPr sz="2000" b="1" spc="-5" dirty="0">
                <a:solidFill>
                  <a:srgbClr val="767070"/>
                </a:solidFill>
                <a:latin typeface="Verdana"/>
                <a:cs typeface="Verdana"/>
              </a:rPr>
              <a:t>self.salary </a:t>
            </a:r>
            <a:r>
              <a:rPr sz="2000" b="1" dirty="0">
                <a:solidFill>
                  <a:srgbClr val="767070"/>
                </a:solidFill>
                <a:latin typeface="Verdana"/>
                <a:cs typeface="Verdana"/>
              </a:rPr>
              <a:t>= salary </a:t>
            </a:r>
            <a:r>
              <a:rPr sz="2000" b="1" spc="-670" dirty="0">
                <a:solidFill>
                  <a:srgbClr val="767070"/>
                </a:solidFill>
                <a:latin typeface="Verdana"/>
                <a:cs typeface="Verdana"/>
              </a:rPr>
              <a:t> </a:t>
            </a:r>
            <a:r>
              <a:rPr sz="2000" b="1" spc="-5" dirty="0">
                <a:solidFill>
                  <a:srgbClr val="767070"/>
                </a:solidFill>
                <a:latin typeface="Verdana"/>
                <a:cs typeface="Verdana"/>
              </a:rPr>
              <a:t>self.id </a:t>
            </a:r>
            <a:r>
              <a:rPr sz="2000" b="1" dirty="0">
                <a:solidFill>
                  <a:srgbClr val="767070"/>
                </a:solidFill>
                <a:latin typeface="Verdana"/>
                <a:cs typeface="Verdana"/>
              </a:rPr>
              <a:t>=</a:t>
            </a:r>
            <a:r>
              <a:rPr sz="2000" b="1" spc="-5" dirty="0">
                <a:solidFill>
                  <a:srgbClr val="767070"/>
                </a:solidFill>
                <a:latin typeface="Verdana"/>
                <a:cs typeface="Verdana"/>
              </a:rPr>
              <a:t> </a:t>
            </a:r>
            <a:r>
              <a:rPr sz="2000" b="1" dirty="0">
                <a:solidFill>
                  <a:srgbClr val="767070"/>
                </a:solidFill>
                <a:latin typeface="Verdana"/>
                <a:cs typeface="Verdana"/>
              </a:rPr>
              <a:t>id</a:t>
            </a:r>
            <a:endParaRPr sz="2000" dirty="0">
              <a:latin typeface="Verdana"/>
              <a:cs typeface="Verdana"/>
            </a:endParaRPr>
          </a:p>
          <a:p>
            <a:pPr>
              <a:lnSpc>
                <a:spcPct val="100000"/>
              </a:lnSpc>
              <a:spcBef>
                <a:spcPts val="30"/>
              </a:spcBef>
            </a:pPr>
            <a:endParaRPr sz="1950" dirty="0">
              <a:latin typeface="Verdana"/>
              <a:cs typeface="Verdana"/>
            </a:endParaRPr>
          </a:p>
          <a:p>
            <a:pPr marL="361315" marR="5080" indent="-349250">
              <a:lnSpc>
                <a:spcPct val="100000"/>
              </a:lnSpc>
              <a:tabLst>
                <a:tab pos="1265555" algn="l"/>
                <a:tab pos="2098675" algn="l"/>
              </a:tabLst>
            </a:pPr>
            <a:r>
              <a:rPr sz="2000" b="1" spc="-5" dirty="0">
                <a:solidFill>
                  <a:srgbClr val="767070"/>
                </a:solidFill>
                <a:latin typeface="Verdana"/>
                <a:cs typeface="Verdana"/>
              </a:rPr>
              <a:t>class</a:t>
            </a:r>
            <a:r>
              <a:rPr sz="2000" b="1" spc="5" dirty="0">
                <a:solidFill>
                  <a:srgbClr val="767070"/>
                </a:solidFill>
                <a:latin typeface="Verdana"/>
                <a:cs typeface="Verdana"/>
              </a:rPr>
              <a:t> </a:t>
            </a:r>
            <a:r>
              <a:rPr sz="2000" b="1" spc="-5" dirty="0">
                <a:solidFill>
                  <a:srgbClr val="767070"/>
                </a:solidFill>
                <a:latin typeface="Verdana"/>
                <a:cs typeface="Verdana"/>
              </a:rPr>
              <a:t>childemployee(employee1,employee2): </a:t>
            </a:r>
            <a:r>
              <a:rPr sz="2000" b="1" spc="-665" dirty="0">
                <a:solidFill>
                  <a:srgbClr val="767070"/>
                </a:solidFill>
                <a:latin typeface="Verdana"/>
                <a:cs typeface="Verdana"/>
              </a:rPr>
              <a:t> </a:t>
            </a:r>
            <a:r>
              <a:rPr sz="2000" b="1" dirty="0">
                <a:solidFill>
                  <a:srgbClr val="767070"/>
                </a:solidFill>
                <a:latin typeface="Verdana"/>
                <a:cs typeface="Verdana"/>
              </a:rPr>
              <a:t>def</a:t>
            </a:r>
            <a:r>
              <a:rPr sz="2000" b="1" u="heavy" dirty="0">
                <a:solidFill>
                  <a:srgbClr val="767070"/>
                </a:solidFill>
                <a:uFill>
                  <a:solidFill>
                    <a:srgbClr val="756F6F"/>
                  </a:solidFill>
                </a:uFill>
                <a:latin typeface="Verdana"/>
                <a:cs typeface="Verdana"/>
              </a:rPr>
              <a:t>	</a:t>
            </a:r>
            <a:r>
              <a:rPr sz="2000" b="1" dirty="0">
                <a:solidFill>
                  <a:srgbClr val="767070"/>
                </a:solidFill>
                <a:latin typeface="Verdana"/>
                <a:cs typeface="Verdana"/>
              </a:rPr>
              <a:t>init</a:t>
            </a:r>
            <a:r>
              <a:rPr sz="2000" b="1" u="heavy" dirty="0">
                <a:solidFill>
                  <a:srgbClr val="767070"/>
                </a:solidFill>
                <a:uFill>
                  <a:solidFill>
                    <a:srgbClr val="756F6F"/>
                  </a:solidFill>
                </a:uFill>
                <a:latin typeface="Verdana"/>
                <a:cs typeface="Verdana"/>
              </a:rPr>
              <a:t>	</a:t>
            </a:r>
            <a:r>
              <a:rPr sz="2000" b="1" spc="-5" dirty="0">
                <a:solidFill>
                  <a:srgbClr val="767070"/>
                </a:solidFill>
                <a:latin typeface="Verdana"/>
                <a:cs typeface="Verdana"/>
              </a:rPr>
              <a:t>(self, name, </a:t>
            </a:r>
            <a:r>
              <a:rPr sz="2000" b="1" dirty="0">
                <a:solidFill>
                  <a:srgbClr val="767070"/>
                </a:solidFill>
                <a:latin typeface="Verdana"/>
                <a:cs typeface="Verdana"/>
              </a:rPr>
              <a:t>age, </a:t>
            </a:r>
            <a:r>
              <a:rPr sz="2000" b="1" spc="-5" dirty="0">
                <a:solidFill>
                  <a:srgbClr val="767070"/>
                </a:solidFill>
                <a:latin typeface="Verdana"/>
                <a:cs typeface="Verdana"/>
              </a:rPr>
              <a:t>salary,id): </a:t>
            </a:r>
            <a:r>
              <a:rPr sz="2000" b="1" dirty="0">
                <a:solidFill>
                  <a:srgbClr val="767070"/>
                </a:solidFill>
                <a:latin typeface="Verdana"/>
                <a:cs typeface="Verdana"/>
              </a:rPr>
              <a:t> </a:t>
            </a:r>
            <a:r>
              <a:rPr sz="2000" b="1" spc="-5" dirty="0">
                <a:solidFill>
                  <a:srgbClr val="767070"/>
                </a:solidFill>
                <a:latin typeface="Verdana"/>
                <a:cs typeface="Verdana"/>
              </a:rPr>
              <a:t>self.name</a:t>
            </a:r>
            <a:r>
              <a:rPr sz="2000" b="1" spc="-25" dirty="0">
                <a:solidFill>
                  <a:srgbClr val="767070"/>
                </a:solidFill>
                <a:latin typeface="Verdana"/>
                <a:cs typeface="Verdana"/>
              </a:rPr>
              <a:t> </a:t>
            </a:r>
            <a:r>
              <a:rPr sz="2000" b="1" dirty="0">
                <a:solidFill>
                  <a:srgbClr val="767070"/>
                </a:solidFill>
                <a:latin typeface="Verdana"/>
                <a:cs typeface="Verdana"/>
              </a:rPr>
              <a:t>= name</a:t>
            </a:r>
            <a:endParaRPr sz="2000" dirty="0">
              <a:latin typeface="Verdana"/>
              <a:cs typeface="Verdana"/>
            </a:endParaRPr>
          </a:p>
          <a:p>
            <a:pPr marL="469900" marR="3254375">
              <a:lnSpc>
                <a:spcPct val="100000"/>
              </a:lnSpc>
            </a:pPr>
            <a:r>
              <a:rPr sz="2000" b="1" spc="-5" dirty="0">
                <a:solidFill>
                  <a:srgbClr val="767070"/>
                </a:solidFill>
                <a:latin typeface="Verdana"/>
                <a:cs typeface="Verdana"/>
              </a:rPr>
              <a:t>self.age </a:t>
            </a:r>
            <a:r>
              <a:rPr sz="2000" b="1" dirty="0">
                <a:solidFill>
                  <a:srgbClr val="767070"/>
                </a:solidFill>
                <a:latin typeface="Verdana"/>
                <a:cs typeface="Verdana"/>
              </a:rPr>
              <a:t>= </a:t>
            </a:r>
            <a:r>
              <a:rPr sz="2000" b="1" spc="-5" dirty="0">
                <a:solidFill>
                  <a:srgbClr val="767070"/>
                </a:solidFill>
                <a:latin typeface="Verdana"/>
                <a:cs typeface="Verdana"/>
              </a:rPr>
              <a:t>age </a:t>
            </a:r>
            <a:r>
              <a:rPr sz="2000" b="1" dirty="0">
                <a:solidFill>
                  <a:srgbClr val="767070"/>
                </a:solidFill>
                <a:latin typeface="Verdana"/>
                <a:cs typeface="Verdana"/>
              </a:rPr>
              <a:t> </a:t>
            </a:r>
            <a:r>
              <a:rPr sz="2000" b="1" spc="-5" dirty="0">
                <a:solidFill>
                  <a:srgbClr val="767070"/>
                </a:solidFill>
                <a:latin typeface="Verdana"/>
                <a:cs typeface="Verdana"/>
              </a:rPr>
              <a:t>self.salary </a:t>
            </a:r>
            <a:r>
              <a:rPr sz="2000" b="1" dirty="0">
                <a:solidFill>
                  <a:srgbClr val="767070"/>
                </a:solidFill>
                <a:latin typeface="Verdana"/>
                <a:cs typeface="Verdana"/>
              </a:rPr>
              <a:t>= salary </a:t>
            </a:r>
            <a:r>
              <a:rPr sz="2000" b="1" spc="-670" dirty="0">
                <a:solidFill>
                  <a:srgbClr val="767070"/>
                </a:solidFill>
                <a:latin typeface="Verdana"/>
                <a:cs typeface="Verdana"/>
              </a:rPr>
              <a:t> </a:t>
            </a:r>
            <a:r>
              <a:rPr sz="2000" b="1" spc="-5" dirty="0">
                <a:solidFill>
                  <a:srgbClr val="767070"/>
                </a:solidFill>
                <a:latin typeface="Verdana"/>
                <a:cs typeface="Verdana"/>
              </a:rPr>
              <a:t>self.id </a:t>
            </a:r>
            <a:r>
              <a:rPr sz="2000" b="1" dirty="0">
                <a:solidFill>
                  <a:srgbClr val="767070"/>
                </a:solidFill>
                <a:latin typeface="Verdana"/>
                <a:cs typeface="Verdana"/>
              </a:rPr>
              <a:t>=</a:t>
            </a:r>
            <a:r>
              <a:rPr sz="2000" b="1" spc="-5" dirty="0">
                <a:solidFill>
                  <a:srgbClr val="767070"/>
                </a:solidFill>
                <a:latin typeface="Verdana"/>
                <a:cs typeface="Verdana"/>
              </a:rPr>
              <a:t> </a:t>
            </a:r>
            <a:r>
              <a:rPr sz="2000" b="1" dirty="0">
                <a:solidFill>
                  <a:srgbClr val="767070"/>
                </a:solidFill>
                <a:latin typeface="Verdana"/>
                <a:cs typeface="Verdana"/>
              </a:rPr>
              <a:t>id</a:t>
            </a:r>
            <a:endParaRPr sz="2000" dirty="0">
              <a:latin typeface="Verdana"/>
              <a:cs typeface="Verdana"/>
            </a:endParaRPr>
          </a:p>
          <a:p>
            <a:pPr>
              <a:lnSpc>
                <a:spcPct val="100000"/>
              </a:lnSpc>
              <a:spcBef>
                <a:spcPts val="35"/>
              </a:spcBef>
            </a:pPr>
            <a:endParaRPr sz="1950" dirty="0">
              <a:latin typeface="Verdana"/>
              <a:cs typeface="Verdana"/>
            </a:endParaRPr>
          </a:p>
          <a:p>
            <a:pPr marL="12700" marR="410845">
              <a:lnSpc>
                <a:spcPct val="100000"/>
              </a:lnSpc>
            </a:pPr>
            <a:r>
              <a:rPr sz="2000" b="1" dirty="0">
                <a:solidFill>
                  <a:srgbClr val="767070"/>
                </a:solidFill>
                <a:latin typeface="Verdana"/>
                <a:cs typeface="Verdana"/>
              </a:rPr>
              <a:t>emp1 = </a:t>
            </a:r>
            <a:r>
              <a:rPr sz="2000" b="1" spc="-5" dirty="0">
                <a:solidFill>
                  <a:srgbClr val="767070"/>
                </a:solidFill>
                <a:latin typeface="Verdana"/>
                <a:cs typeface="Verdana"/>
              </a:rPr>
              <a:t>employee1('harshit',22,1000) </a:t>
            </a:r>
            <a:r>
              <a:rPr sz="2000" b="1" dirty="0">
                <a:solidFill>
                  <a:srgbClr val="767070"/>
                </a:solidFill>
                <a:latin typeface="Verdana"/>
                <a:cs typeface="Verdana"/>
              </a:rPr>
              <a:t> emp2</a:t>
            </a:r>
            <a:r>
              <a:rPr sz="2000" b="1" spc="-10" dirty="0">
                <a:solidFill>
                  <a:srgbClr val="767070"/>
                </a:solidFill>
                <a:latin typeface="Verdana"/>
                <a:cs typeface="Verdana"/>
              </a:rPr>
              <a:t> </a:t>
            </a:r>
            <a:r>
              <a:rPr sz="2000" b="1" dirty="0">
                <a:solidFill>
                  <a:srgbClr val="767070"/>
                </a:solidFill>
                <a:latin typeface="Verdana"/>
                <a:cs typeface="Verdana"/>
              </a:rPr>
              <a:t>=</a:t>
            </a:r>
            <a:r>
              <a:rPr sz="2000" b="1" spc="15" dirty="0">
                <a:solidFill>
                  <a:srgbClr val="767070"/>
                </a:solidFill>
                <a:latin typeface="Verdana"/>
                <a:cs typeface="Verdana"/>
              </a:rPr>
              <a:t> </a:t>
            </a:r>
            <a:r>
              <a:rPr sz="2000" b="1" spc="-5" dirty="0">
                <a:solidFill>
                  <a:srgbClr val="767070"/>
                </a:solidFill>
                <a:latin typeface="Verdana"/>
                <a:cs typeface="Verdana"/>
              </a:rPr>
              <a:t>employee2('arjun',23,2000,1234)</a:t>
            </a:r>
            <a:endParaRPr sz="2000" dirty="0">
              <a:latin typeface="Verdana"/>
              <a:cs typeface="Verdan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a:p>
            <a:pPr marL="0" indent="0">
              <a:buNone/>
            </a:pPr>
            <a:endParaRPr lang="en-US" dirty="0"/>
          </a:p>
          <a:p>
            <a:pPr marL="0" indent="0" algn="ctr">
              <a:buNone/>
            </a:pPr>
            <a:r>
              <a:rPr lang="en-US" sz="3200" dirty="0"/>
              <a:t>Polymorphism</a:t>
            </a:r>
          </a:p>
          <a:p>
            <a:pPr marL="0" indent="0" algn="ctr">
              <a:buNone/>
            </a:pPr>
            <a:r>
              <a:rPr lang="en-US" sz="3200" dirty="0"/>
              <a:t>?</a:t>
            </a:r>
          </a:p>
        </p:txBody>
      </p:sp>
    </p:spTree>
    <p:extLst>
      <p:ext uri="{BB962C8B-B14F-4D97-AF65-F5344CB8AC3E}">
        <p14:creationId xmlns:p14="http://schemas.microsoft.com/office/powerpoint/2010/main" val="4198265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9572" y="1294003"/>
            <a:ext cx="3034030"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C55A11"/>
                </a:solidFill>
              </a:rPr>
              <a:t>Polymorphism:</a:t>
            </a:r>
            <a:endParaRPr sz="2800"/>
          </a:p>
        </p:txBody>
      </p:sp>
      <p:sp>
        <p:nvSpPr>
          <p:cNvPr id="3" name="object 3"/>
          <p:cNvSpPr txBox="1"/>
          <p:nvPr/>
        </p:nvSpPr>
        <p:spPr>
          <a:xfrm>
            <a:off x="639572" y="2086736"/>
            <a:ext cx="10913745" cy="2586355"/>
          </a:xfrm>
          <a:prstGeom prst="rect">
            <a:avLst/>
          </a:prstGeom>
        </p:spPr>
        <p:txBody>
          <a:bodyPr vert="horz" wrap="square" lIns="0" tIns="12700" rIns="0" bIns="0" rtlCol="0">
            <a:spAutoFit/>
          </a:bodyPr>
          <a:lstStyle/>
          <a:p>
            <a:pPr marL="12700" marR="5080" algn="just">
              <a:lnSpc>
                <a:spcPct val="100000"/>
              </a:lnSpc>
              <a:spcBef>
                <a:spcPts val="100"/>
              </a:spcBef>
            </a:pPr>
            <a:r>
              <a:rPr sz="2400" b="1" spc="-5" dirty="0">
                <a:solidFill>
                  <a:srgbClr val="2E5496"/>
                </a:solidFill>
                <a:latin typeface="Verdana"/>
                <a:cs typeface="Verdana"/>
              </a:rPr>
              <a:t>You </a:t>
            </a:r>
            <a:r>
              <a:rPr sz="2400" b="1" dirty="0">
                <a:solidFill>
                  <a:srgbClr val="2E5496"/>
                </a:solidFill>
                <a:latin typeface="Verdana"/>
                <a:cs typeface="Verdana"/>
              </a:rPr>
              <a:t>all </a:t>
            </a:r>
            <a:r>
              <a:rPr sz="2400" b="1" spc="-5" dirty="0">
                <a:solidFill>
                  <a:srgbClr val="2E5496"/>
                </a:solidFill>
                <a:latin typeface="Verdana"/>
                <a:cs typeface="Verdana"/>
              </a:rPr>
              <a:t>must have used GPS for </a:t>
            </a:r>
            <a:r>
              <a:rPr sz="2400" b="1" spc="-10" dirty="0">
                <a:solidFill>
                  <a:srgbClr val="2E5496"/>
                </a:solidFill>
                <a:latin typeface="Verdana"/>
                <a:cs typeface="Verdana"/>
              </a:rPr>
              <a:t>navigating </a:t>
            </a:r>
            <a:r>
              <a:rPr sz="2400" b="1" dirty="0">
                <a:solidFill>
                  <a:srgbClr val="2E5496"/>
                </a:solidFill>
                <a:latin typeface="Verdana"/>
                <a:cs typeface="Verdana"/>
              </a:rPr>
              <a:t>the </a:t>
            </a:r>
            <a:r>
              <a:rPr sz="2400" b="1" spc="-5" dirty="0">
                <a:solidFill>
                  <a:srgbClr val="2E5496"/>
                </a:solidFill>
                <a:latin typeface="Verdana"/>
                <a:cs typeface="Verdana"/>
              </a:rPr>
              <a:t>route, Isn’t it </a:t>
            </a:r>
            <a:r>
              <a:rPr sz="2400" b="1" dirty="0">
                <a:solidFill>
                  <a:srgbClr val="2E5496"/>
                </a:solidFill>
                <a:latin typeface="Verdana"/>
                <a:cs typeface="Verdana"/>
              </a:rPr>
              <a:t> </a:t>
            </a:r>
            <a:r>
              <a:rPr sz="2400" b="1" spc="-5" dirty="0">
                <a:solidFill>
                  <a:srgbClr val="2E5496"/>
                </a:solidFill>
                <a:latin typeface="Verdana"/>
                <a:cs typeface="Verdana"/>
              </a:rPr>
              <a:t>amazing </a:t>
            </a:r>
            <a:r>
              <a:rPr sz="2400" b="1" spc="-10" dirty="0">
                <a:solidFill>
                  <a:srgbClr val="2E5496"/>
                </a:solidFill>
                <a:latin typeface="Verdana"/>
                <a:cs typeface="Verdana"/>
              </a:rPr>
              <a:t>how </a:t>
            </a:r>
            <a:r>
              <a:rPr sz="2400" b="1" spc="-5" dirty="0">
                <a:solidFill>
                  <a:srgbClr val="2E5496"/>
                </a:solidFill>
                <a:latin typeface="Verdana"/>
                <a:cs typeface="Verdana"/>
              </a:rPr>
              <a:t>many different routes </a:t>
            </a:r>
            <a:r>
              <a:rPr sz="2400" b="1" dirty="0">
                <a:solidFill>
                  <a:srgbClr val="2E5496"/>
                </a:solidFill>
                <a:latin typeface="Verdana"/>
                <a:cs typeface="Verdana"/>
              </a:rPr>
              <a:t>you </a:t>
            </a:r>
            <a:r>
              <a:rPr sz="2400" b="1" spc="-5" dirty="0">
                <a:solidFill>
                  <a:srgbClr val="2E5496"/>
                </a:solidFill>
                <a:latin typeface="Verdana"/>
                <a:cs typeface="Verdana"/>
              </a:rPr>
              <a:t>come across </a:t>
            </a:r>
            <a:r>
              <a:rPr sz="2400" b="1" spc="-10" dirty="0">
                <a:solidFill>
                  <a:srgbClr val="2E5496"/>
                </a:solidFill>
                <a:latin typeface="Verdana"/>
                <a:cs typeface="Verdana"/>
              </a:rPr>
              <a:t>for </a:t>
            </a:r>
            <a:r>
              <a:rPr sz="2400" b="1" spc="5" dirty="0">
                <a:solidFill>
                  <a:srgbClr val="2E5496"/>
                </a:solidFill>
                <a:latin typeface="Verdana"/>
                <a:cs typeface="Verdana"/>
              </a:rPr>
              <a:t>the </a:t>
            </a:r>
            <a:r>
              <a:rPr sz="2400" b="1" spc="10" dirty="0">
                <a:solidFill>
                  <a:srgbClr val="2E5496"/>
                </a:solidFill>
                <a:latin typeface="Verdana"/>
                <a:cs typeface="Verdana"/>
              </a:rPr>
              <a:t> </a:t>
            </a:r>
            <a:r>
              <a:rPr sz="2400" b="1" dirty="0">
                <a:solidFill>
                  <a:srgbClr val="2E5496"/>
                </a:solidFill>
                <a:latin typeface="Verdana"/>
                <a:cs typeface="Verdana"/>
              </a:rPr>
              <a:t>same</a:t>
            </a:r>
            <a:r>
              <a:rPr sz="2400" b="1" spc="5" dirty="0">
                <a:solidFill>
                  <a:srgbClr val="2E5496"/>
                </a:solidFill>
                <a:latin typeface="Verdana"/>
                <a:cs typeface="Verdana"/>
              </a:rPr>
              <a:t> </a:t>
            </a:r>
            <a:r>
              <a:rPr sz="2400" b="1" spc="-5" dirty="0">
                <a:solidFill>
                  <a:srgbClr val="2E5496"/>
                </a:solidFill>
                <a:latin typeface="Verdana"/>
                <a:cs typeface="Verdana"/>
              </a:rPr>
              <a:t>destination</a:t>
            </a:r>
            <a:r>
              <a:rPr sz="2400" b="1" dirty="0">
                <a:solidFill>
                  <a:srgbClr val="2E5496"/>
                </a:solidFill>
                <a:latin typeface="Verdana"/>
                <a:cs typeface="Verdana"/>
              </a:rPr>
              <a:t> </a:t>
            </a:r>
            <a:r>
              <a:rPr sz="2400" b="1" spc="-5" dirty="0">
                <a:solidFill>
                  <a:srgbClr val="2E5496"/>
                </a:solidFill>
                <a:latin typeface="Verdana"/>
                <a:cs typeface="Verdana"/>
              </a:rPr>
              <a:t>depending</a:t>
            </a:r>
            <a:r>
              <a:rPr sz="2400" b="1" dirty="0">
                <a:solidFill>
                  <a:srgbClr val="2E5496"/>
                </a:solidFill>
                <a:latin typeface="Verdana"/>
                <a:cs typeface="Verdana"/>
              </a:rPr>
              <a:t> </a:t>
            </a:r>
            <a:r>
              <a:rPr sz="2400" b="1" spc="-5" dirty="0">
                <a:solidFill>
                  <a:srgbClr val="2E5496"/>
                </a:solidFill>
                <a:latin typeface="Verdana"/>
                <a:cs typeface="Verdana"/>
              </a:rPr>
              <a:t>on</a:t>
            </a:r>
            <a:r>
              <a:rPr sz="2400" b="1" dirty="0">
                <a:solidFill>
                  <a:srgbClr val="2E5496"/>
                </a:solidFill>
                <a:latin typeface="Verdana"/>
                <a:cs typeface="Verdana"/>
              </a:rPr>
              <a:t> the</a:t>
            </a:r>
            <a:r>
              <a:rPr sz="2400" b="1" spc="5" dirty="0">
                <a:solidFill>
                  <a:srgbClr val="2E5496"/>
                </a:solidFill>
                <a:latin typeface="Verdana"/>
                <a:cs typeface="Verdana"/>
              </a:rPr>
              <a:t> </a:t>
            </a:r>
            <a:r>
              <a:rPr sz="2400" b="1" dirty="0">
                <a:solidFill>
                  <a:srgbClr val="2E5496"/>
                </a:solidFill>
                <a:latin typeface="Verdana"/>
                <a:cs typeface="Verdana"/>
              </a:rPr>
              <a:t>traffic,</a:t>
            </a:r>
            <a:r>
              <a:rPr sz="2400" b="1" spc="5" dirty="0">
                <a:solidFill>
                  <a:srgbClr val="2E5496"/>
                </a:solidFill>
                <a:latin typeface="Verdana"/>
                <a:cs typeface="Verdana"/>
              </a:rPr>
              <a:t> </a:t>
            </a:r>
            <a:r>
              <a:rPr sz="2400" b="1" spc="-5" dirty="0">
                <a:solidFill>
                  <a:srgbClr val="2E5496"/>
                </a:solidFill>
                <a:latin typeface="Verdana"/>
                <a:cs typeface="Verdana"/>
              </a:rPr>
              <a:t>from</a:t>
            </a:r>
            <a:r>
              <a:rPr sz="2400" b="1" spc="815" dirty="0">
                <a:solidFill>
                  <a:srgbClr val="2E5496"/>
                </a:solidFill>
                <a:latin typeface="Verdana"/>
                <a:cs typeface="Verdana"/>
              </a:rPr>
              <a:t> </a:t>
            </a:r>
            <a:r>
              <a:rPr sz="2400" b="1" dirty="0">
                <a:solidFill>
                  <a:srgbClr val="2E5496"/>
                </a:solidFill>
                <a:latin typeface="Verdana"/>
                <a:cs typeface="Verdana"/>
              </a:rPr>
              <a:t>a </a:t>
            </a:r>
            <a:r>
              <a:rPr sz="2400" b="1" spc="5" dirty="0">
                <a:solidFill>
                  <a:srgbClr val="2E5496"/>
                </a:solidFill>
                <a:latin typeface="Verdana"/>
                <a:cs typeface="Verdana"/>
              </a:rPr>
              <a:t> </a:t>
            </a:r>
            <a:r>
              <a:rPr sz="2400" b="1" spc="-10" dirty="0">
                <a:solidFill>
                  <a:srgbClr val="2E5496"/>
                </a:solidFill>
                <a:latin typeface="Verdana"/>
                <a:cs typeface="Verdana"/>
              </a:rPr>
              <a:t>programming </a:t>
            </a:r>
            <a:r>
              <a:rPr sz="2400" b="1" spc="-5" dirty="0">
                <a:solidFill>
                  <a:srgbClr val="2E5496"/>
                </a:solidFill>
                <a:latin typeface="Verdana"/>
                <a:cs typeface="Verdana"/>
              </a:rPr>
              <a:t>point </a:t>
            </a:r>
            <a:r>
              <a:rPr sz="2400" b="1" dirty="0">
                <a:solidFill>
                  <a:srgbClr val="2E5496"/>
                </a:solidFill>
                <a:latin typeface="Verdana"/>
                <a:cs typeface="Verdana"/>
              </a:rPr>
              <a:t>of view this </a:t>
            </a:r>
            <a:r>
              <a:rPr sz="2400" b="1" spc="-5" dirty="0">
                <a:solidFill>
                  <a:srgbClr val="2E5496"/>
                </a:solidFill>
                <a:latin typeface="Verdana"/>
                <a:cs typeface="Verdana"/>
              </a:rPr>
              <a:t>is called ‘polymorphism’. </a:t>
            </a:r>
            <a:r>
              <a:rPr sz="2400" b="1" dirty="0">
                <a:solidFill>
                  <a:srgbClr val="2E5496"/>
                </a:solidFill>
                <a:latin typeface="Verdana"/>
                <a:cs typeface="Verdana"/>
              </a:rPr>
              <a:t>It </a:t>
            </a:r>
            <a:r>
              <a:rPr sz="2400" b="1" spc="-10" dirty="0">
                <a:solidFill>
                  <a:srgbClr val="2E5496"/>
                </a:solidFill>
                <a:latin typeface="Verdana"/>
                <a:cs typeface="Verdana"/>
              </a:rPr>
              <a:t>is </a:t>
            </a:r>
            <a:r>
              <a:rPr sz="2400" b="1" spc="-5" dirty="0">
                <a:solidFill>
                  <a:srgbClr val="2E5496"/>
                </a:solidFill>
                <a:latin typeface="Verdana"/>
                <a:cs typeface="Verdana"/>
              </a:rPr>
              <a:t> </a:t>
            </a:r>
            <a:r>
              <a:rPr sz="2400" b="1" dirty="0">
                <a:solidFill>
                  <a:srgbClr val="2E5496"/>
                </a:solidFill>
                <a:latin typeface="Verdana"/>
                <a:cs typeface="Verdana"/>
              </a:rPr>
              <a:t>one</a:t>
            </a:r>
            <a:r>
              <a:rPr sz="2400" b="1" spc="254" dirty="0">
                <a:solidFill>
                  <a:srgbClr val="2E5496"/>
                </a:solidFill>
                <a:latin typeface="Verdana"/>
                <a:cs typeface="Verdana"/>
              </a:rPr>
              <a:t> </a:t>
            </a:r>
            <a:r>
              <a:rPr sz="2400" b="1" dirty="0">
                <a:solidFill>
                  <a:srgbClr val="2E5496"/>
                </a:solidFill>
                <a:latin typeface="Verdana"/>
                <a:cs typeface="Verdana"/>
              </a:rPr>
              <a:t>such</a:t>
            </a:r>
            <a:r>
              <a:rPr sz="2400" b="1" spc="254" dirty="0">
                <a:solidFill>
                  <a:srgbClr val="2E5496"/>
                </a:solidFill>
                <a:latin typeface="Verdana"/>
                <a:cs typeface="Verdana"/>
              </a:rPr>
              <a:t> </a:t>
            </a:r>
            <a:r>
              <a:rPr sz="2400" b="1" spc="-5" dirty="0">
                <a:solidFill>
                  <a:srgbClr val="2E5496"/>
                </a:solidFill>
                <a:latin typeface="Verdana"/>
                <a:cs typeface="Verdana"/>
              </a:rPr>
              <a:t>OOP</a:t>
            </a:r>
            <a:r>
              <a:rPr sz="2400" b="1" spc="260" dirty="0">
                <a:solidFill>
                  <a:srgbClr val="2E5496"/>
                </a:solidFill>
                <a:latin typeface="Verdana"/>
                <a:cs typeface="Verdana"/>
              </a:rPr>
              <a:t> </a:t>
            </a:r>
            <a:r>
              <a:rPr sz="2400" b="1" spc="-5" dirty="0">
                <a:solidFill>
                  <a:srgbClr val="2E5496"/>
                </a:solidFill>
                <a:latin typeface="Verdana"/>
                <a:cs typeface="Verdana"/>
              </a:rPr>
              <a:t>methodology</a:t>
            </a:r>
            <a:r>
              <a:rPr sz="2400" b="1" spc="265" dirty="0">
                <a:solidFill>
                  <a:srgbClr val="2E5496"/>
                </a:solidFill>
                <a:latin typeface="Verdana"/>
                <a:cs typeface="Verdana"/>
              </a:rPr>
              <a:t> </a:t>
            </a:r>
            <a:r>
              <a:rPr sz="2400" b="1" dirty="0">
                <a:solidFill>
                  <a:srgbClr val="2E5496"/>
                </a:solidFill>
                <a:latin typeface="Verdana"/>
                <a:cs typeface="Verdana"/>
              </a:rPr>
              <a:t>where</a:t>
            </a:r>
            <a:r>
              <a:rPr sz="2400" b="1" spc="260" dirty="0">
                <a:solidFill>
                  <a:srgbClr val="2E5496"/>
                </a:solidFill>
                <a:latin typeface="Verdana"/>
                <a:cs typeface="Verdana"/>
              </a:rPr>
              <a:t> </a:t>
            </a:r>
            <a:r>
              <a:rPr sz="2400" b="1" dirty="0">
                <a:solidFill>
                  <a:srgbClr val="2E5496"/>
                </a:solidFill>
                <a:latin typeface="Verdana"/>
                <a:cs typeface="Verdana"/>
              </a:rPr>
              <a:t>one</a:t>
            </a:r>
            <a:r>
              <a:rPr sz="2400" b="1" spc="270" dirty="0">
                <a:solidFill>
                  <a:srgbClr val="2E5496"/>
                </a:solidFill>
                <a:latin typeface="Verdana"/>
                <a:cs typeface="Verdana"/>
              </a:rPr>
              <a:t> </a:t>
            </a:r>
            <a:r>
              <a:rPr sz="2400" b="1" dirty="0">
                <a:solidFill>
                  <a:srgbClr val="2E5496"/>
                </a:solidFill>
                <a:latin typeface="Verdana"/>
                <a:cs typeface="Verdana"/>
              </a:rPr>
              <a:t>task</a:t>
            </a:r>
            <a:r>
              <a:rPr sz="2400" b="1" spc="250" dirty="0">
                <a:solidFill>
                  <a:srgbClr val="2E5496"/>
                </a:solidFill>
                <a:latin typeface="Verdana"/>
                <a:cs typeface="Verdana"/>
              </a:rPr>
              <a:t> </a:t>
            </a:r>
            <a:r>
              <a:rPr sz="2400" b="1" dirty="0">
                <a:solidFill>
                  <a:srgbClr val="2E5496"/>
                </a:solidFill>
                <a:latin typeface="Verdana"/>
                <a:cs typeface="Verdana"/>
              </a:rPr>
              <a:t>can</a:t>
            </a:r>
            <a:r>
              <a:rPr sz="2400" b="1" spc="254" dirty="0">
                <a:solidFill>
                  <a:srgbClr val="2E5496"/>
                </a:solidFill>
                <a:latin typeface="Verdana"/>
                <a:cs typeface="Verdana"/>
              </a:rPr>
              <a:t> </a:t>
            </a:r>
            <a:r>
              <a:rPr sz="2400" b="1" dirty="0">
                <a:solidFill>
                  <a:srgbClr val="2E5496"/>
                </a:solidFill>
                <a:latin typeface="Verdana"/>
                <a:cs typeface="Verdana"/>
              </a:rPr>
              <a:t>be</a:t>
            </a:r>
            <a:r>
              <a:rPr sz="2400" b="1" spc="260" dirty="0">
                <a:solidFill>
                  <a:srgbClr val="2E5496"/>
                </a:solidFill>
                <a:latin typeface="Verdana"/>
                <a:cs typeface="Verdana"/>
              </a:rPr>
              <a:t> </a:t>
            </a:r>
            <a:r>
              <a:rPr sz="2400" b="1" spc="-5" dirty="0">
                <a:solidFill>
                  <a:srgbClr val="2E5496"/>
                </a:solidFill>
                <a:latin typeface="Verdana"/>
                <a:cs typeface="Verdana"/>
              </a:rPr>
              <a:t>performed </a:t>
            </a:r>
            <a:r>
              <a:rPr sz="2400" b="1" spc="-810" dirty="0">
                <a:solidFill>
                  <a:srgbClr val="2E5496"/>
                </a:solidFill>
                <a:latin typeface="Verdana"/>
                <a:cs typeface="Verdana"/>
              </a:rPr>
              <a:t> </a:t>
            </a:r>
            <a:r>
              <a:rPr sz="2400" b="1" spc="-5" dirty="0">
                <a:solidFill>
                  <a:srgbClr val="2E5496"/>
                </a:solidFill>
                <a:latin typeface="Verdana"/>
                <a:cs typeface="Verdana"/>
              </a:rPr>
              <a:t>in </a:t>
            </a:r>
            <a:r>
              <a:rPr sz="2400" b="1" dirty="0">
                <a:solidFill>
                  <a:srgbClr val="2E5496"/>
                </a:solidFill>
                <a:latin typeface="Verdana"/>
                <a:cs typeface="Verdana"/>
              </a:rPr>
              <a:t>several </a:t>
            </a:r>
            <a:r>
              <a:rPr sz="2400" b="1" spc="-5" dirty="0">
                <a:solidFill>
                  <a:srgbClr val="2E5496"/>
                </a:solidFill>
                <a:latin typeface="Verdana"/>
                <a:cs typeface="Verdana"/>
              </a:rPr>
              <a:t>different </a:t>
            </a:r>
            <a:r>
              <a:rPr sz="2400" b="1" dirty="0">
                <a:solidFill>
                  <a:srgbClr val="2E5496"/>
                </a:solidFill>
                <a:latin typeface="Verdana"/>
                <a:cs typeface="Verdana"/>
              </a:rPr>
              <a:t>ways. To put </a:t>
            </a:r>
            <a:r>
              <a:rPr sz="2400" b="1" spc="-5" dirty="0">
                <a:solidFill>
                  <a:srgbClr val="2E5496"/>
                </a:solidFill>
                <a:latin typeface="Verdana"/>
                <a:cs typeface="Verdana"/>
              </a:rPr>
              <a:t>it </a:t>
            </a:r>
            <a:r>
              <a:rPr sz="2400" b="1" dirty="0">
                <a:solidFill>
                  <a:srgbClr val="2E5496"/>
                </a:solidFill>
                <a:latin typeface="Verdana"/>
                <a:cs typeface="Verdana"/>
              </a:rPr>
              <a:t>in </a:t>
            </a:r>
            <a:r>
              <a:rPr sz="2400" b="1" spc="-5" dirty="0">
                <a:solidFill>
                  <a:srgbClr val="2E5496"/>
                </a:solidFill>
                <a:latin typeface="Verdana"/>
                <a:cs typeface="Verdana"/>
              </a:rPr>
              <a:t>simple </a:t>
            </a:r>
            <a:r>
              <a:rPr sz="2400" b="1" dirty="0">
                <a:solidFill>
                  <a:srgbClr val="2E5496"/>
                </a:solidFill>
                <a:latin typeface="Verdana"/>
                <a:cs typeface="Verdana"/>
              </a:rPr>
              <a:t>words, </a:t>
            </a:r>
            <a:r>
              <a:rPr sz="2400" b="1" spc="-5" dirty="0">
                <a:solidFill>
                  <a:srgbClr val="2E5496"/>
                </a:solidFill>
                <a:latin typeface="Verdana"/>
                <a:cs typeface="Verdana"/>
              </a:rPr>
              <a:t>it </a:t>
            </a:r>
            <a:r>
              <a:rPr sz="2400" b="1" dirty="0">
                <a:solidFill>
                  <a:srgbClr val="2E5496"/>
                </a:solidFill>
                <a:latin typeface="Verdana"/>
                <a:cs typeface="Verdana"/>
              </a:rPr>
              <a:t>is a </a:t>
            </a:r>
            <a:r>
              <a:rPr sz="2400" b="1" spc="5" dirty="0">
                <a:solidFill>
                  <a:srgbClr val="2E5496"/>
                </a:solidFill>
                <a:latin typeface="Verdana"/>
                <a:cs typeface="Verdana"/>
              </a:rPr>
              <a:t> </a:t>
            </a:r>
            <a:r>
              <a:rPr sz="2400" b="1" spc="-5" dirty="0">
                <a:solidFill>
                  <a:srgbClr val="2E5496"/>
                </a:solidFill>
                <a:latin typeface="Verdana"/>
                <a:cs typeface="Verdana"/>
              </a:rPr>
              <a:t>property</a:t>
            </a:r>
            <a:r>
              <a:rPr sz="2400" b="1" dirty="0">
                <a:solidFill>
                  <a:srgbClr val="2E5496"/>
                </a:solidFill>
                <a:latin typeface="Verdana"/>
                <a:cs typeface="Verdana"/>
              </a:rPr>
              <a:t> </a:t>
            </a:r>
            <a:r>
              <a:rPr sz="2400" b="1" spc="-5" dirty="0">
                <a:solidFill>
                  <a:srgbClr val="2E5496"/>
                </a:solidFill>
                <a:latin typeface="Verdana"/>
                <a:cs typeface="Verdana"/>
              </a:rPr>
              <a:t>of </a:t>
            </a:r>
            <a:r>
              <a:rPr sz="2400" b="1" dirty="0">
                <a:solidFill>
                  <a:srgbClr val="2E5496"/>
                </a:solidFill>
                <a:latin typeface="Verdana"/>
                <a:cs typeface="Verdana"/>
              </a:rPr>
              <a:t>an object</a:t>
            </a:r>
            <a:r>
              <a:rPr sz="2400" b="1" spc="-15" dirty="0">
                <a:solidFill>
                  <a:srgbClr val="2E5496"/>
                </a:solidFill>
                <a:latin typeface="Verdana"/>
                <a:cs typeface="Verdana"/>
              </a:rPr>
              <a:t> </a:t>
            </a:r>
            <a:r>
              <a:rPr sz="2400" b="1" spc="-5" dirty="0">
                <a:solidFill>
                  <a:srgbClr val="2E5496"/>
                </a:solidFill>
                <a:latin typeface="Verdana"/>
                <a:cs typeface="Verdana"/>
              </a:rPr>
              <a:t>which</a:t>
            </a:r>
            <a:r>
              <a:rPr sz="2400" b="1" spc="15" dirty="0">
                <a:solidFill>
                  <a:srgbClr val="2E5496"/>
                </a:solidFill>
                <a:latin typeface="Verdana"/>
                <a:cs typeface="Verdana"/>
              </a:rPr>
              <a:t> </a:t>
            </a:r>
            <a:r>
              <a:rPr sz="2400" b="1" spc="-5" dirty="0">
                <a:solidFill>
                  <a:srgbClr val="2E5496"/>
                </a:solidFill>
                <a:latin typeface="Verdana"/>
                <a:cs typeface="Verdana"/>
              </a:rPr>
              <a:t>allows</a:t>
            </a:r>
            <a:r>
              <a:rPr sz="2400" b="1" spc="20" dirty="0">
                <a:solidFill>
                  <a:srgbClr val="2E5496"/>
                </a:solidFill>
                <a:latin typeface="Verdana"/>
                <a:cs typeface="Verdana"/>
              </a:rPr>
              <a:t> </a:t>
            </a:r>
            <a:r>
              <a:rPr sz="2400" b="1" spc="-5" dirty="0">
                <a:solidFill>
                  <a:srgbClr val="2E5496"/>
                </a:solidFill>
                <a:latin typeface="Verdana"/>
                <a:cs typeface="Verdana"/>
              </a:rPr>
              <a:t>it</a:t>
            </a:r>
            <a:r>
              <a:rPr sz="2400" b="1" spc="5" dirty="0">
                <a:solidFill>
                  <a:srgbClr val="2E5496"/>
                </a:solidFill>
                <a:latin typeface="Verdana"/>
                <a:cs typeface="Verdana"/>
              </a:rPr>
              <a:t> </a:t>
            </a:r>
            <a:r>
              <a:rPr sz="2400" b="1" spc="-5" dirty="0">
                <a:solidFill>
                  <a:srgbClr val="2E5496"/>
                </a:solidFill>
                <a:latin typeface="Verdana"/>
                <a:cs typeface="Verdana"/>
              </a:rPr>
              <a:t>to </a:t>
            </a:r>
            <a:r>
              <a:rPr sz="2400" b="1" dirty="0">
                <a:solidFill>
                  <a:srgbClr val="2E5496"/>
                </a:solidFill>
                <a:latin typeface="Verdana"/>
                <a:cs typeface="Verdana"/>
              </a:rPr>
              <a:t>take</a:t>
            </a:r>
            <a:r>
              <a:rPr sz="2400" b="1" spc="-5" dirty="0">
                <a:solidFill>
                  <a:srgbClr val="2E5496"/>
                </a:solidFill>
                <a:latin typeface="Verdana"/>
                <a:cs typeface="Verdana"/>
              </a:rPr>
              <a:t> multiple</a:t>
            </a:r>
            <a:r>
              <a:rPr sz="2400" b="1" spc="30" dirty="0">
                <a:solidFill>
                  <a:srgbClr val="2E5496"/>
                </a:solidFill>
                <a:latin typeface="Verdana"/>
                <a:cs typeface="Verdana"/>
              </a:rPr>
              <a:t> </a:t>
            </a:r>
            <a:r>
              <a:rPr sz="2400" b="1" spc="-5" dirty="0">
                <a:solidFill>
                  <a:srgbClr val="2E5496"/>
                </a:solidFill>
                <a:latin typeface="Verdana"/>
                <a:cs typeface="Verdana"/>
              </a:rPr>
              <a:t>forms.</a:t>
            </a:r>
            <a:endParaRPr sz="2400">
              <a:latin typeface="Verdana"/>
              <a:cs typeface="Verdan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3672" y="5099305"/>
            <a:ext cx="11342370" cy="1758692"/>
          </a:xfrm>
          <a:prstGeom prst="rect">
            <a:avLst/>
          </a:prstGeom>
        </p:spPr>
      </p:pic>
      <p:pic>
        <p:nvPicPr>
          <p:cNvPr id="3" name="object 3"/>
          <p:cNvPicPr/>
          <p:nvPr/>
        </p:nvPicPr>
        <p:blipFill>
          <a:blip r:embed="rId3" cstate="print"/>
          <a:stretch>
            <a:fillRect/>
          </a:stretch>
        </p:blipFill>
        <p:spPr>
          <a:xfrm>
            <a:off x="438912" y="1748027"/>
            <a:ext cx="11314176" cy="336194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8944" y="942847"/>
            <a:ext cx="782574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C55A11"/>
                </a:solidFill>
              </a:rPr>
              <a:t>Polymorphism</a:t>
            </a:r>
            <a:r>
              <a:rPr sz="3600" spc="-35" dirty="0">
                <a:solidFill>
                  <a:srgbClr val="C55A11"/>
                </a:solidFill>
              </a:rPr>
              <a:t> </a:t>
            </a:r>
            <a:r>
              <a:rPr sz="3600" dirty="0">
                <a:solidFill>
                  <a:srgbClr val="C55A11"/>
                </a:solidFill>
              </a:rPr>
              <a:t>is</a:t>
            </a:r>
            <a:r>
              <a:rPr sz="3600" spc="-40" dirty="0">
                <a:solidFill>
                  <a:srgbClr val="C55A11"/>
                </a:solidFill>
              </a:rPr>
              <a:t> </a:t>
            </a:r>
            <a:r>
              <a:rPr sz="3600" dirty="0">
                <a:solidFill>
                  <a:srgbClr val="C55A11"/>
                </a:solidFill>
              </a:rPr>
              <a:t>of</a:t>
            </a:r>
            <a:r>
              <a:rPr sz="3600" spc="-25" dirty="0">
                <a:solidFill>
                  <a:srgbClr val="C55A11"/>
                </a:solidFill>
              </a:rPr>
              <a:t> </a:t>
            </a:r>
            <a:r>
              <a:rPr sz="3600" dirty="0">
                <a:solidFill>
                  <a:srgbClr val="C55A11"/>
                </a:solidFill>
              </a:rPr>
              <a:t>two</a:t>
            </a:r>
            <a:r>
              <a:rPr sz="3600" spc="-25" dirty="0">
                <a:solidFill>
                  <a:srgbClr val="C55A11"/>
                </a:solidFill>
              </a:rPr>
              <a:t> </a:t>
            </a:r>
            <a:r>
              <a:rPr sz="3600" dirty="0">
                <a:solidFill>
                  <a:srgbClr val="C55A11"/>
                </a:solidFill>
              </a:rPr>
              <a:t>types:</a:t>
            </a:r>
            <a:endParaRPr sz="3600"/>
          </a:p>
        </p:txBody>
      </p:sp>
      <p:sp>
        <p:nvSpPr>
          <p:cNvPr id="3" name="object 3"/>
          <p:cNvSpPr txBox="1"/>
          <p:nvPr/>
        </p:nvSpPr>
        <p:spPr>
          <a:xfrm>
            <a:off x="1406397" y="1880037"/>
            <a:ext cx="7075805" cy="1489710"/>
          </a:xfrm>
          <a:prstGeom prst="rect">
            <a:avLst/>
          </a:prstGeom>
        </p:spPr>
        <p:txBody>
          <a:bodyPr vert="horz" wrap="square" lIns="0" tIns="257175" rIns="0" bIns="0" rtlCol="0">
            <a:spAutoFit/>
          </a:bodyPr>
          <a:lstStyle/>
          <a:p>
            <a:pPr marL="584200" indent="-571500">
              <a:lnSpc>
                <a:spcPct val="100000"/>
              </a:lnSpc>
              <a:spcBef>
                <a:spcPts val="2025"/>
              </a:spcBef>
              <a:buFont typeface="Wingdings"/>
              <a:buChar char=""/>
              <a:tabLst>
                <a:tab pos="583565" algn="l"/>
                <a:tab pos="584200" algn="l"/>
              </a:tabLst>
            </a:pPr>
            <a:r>
              <a:rPr sz="3200" b="1" dirty="0">
                <a:solidFill>
                  <a:srgbClr val="2E5496"/>
                </a:solidFill>
                <a:latin typeface="Verdana"/>
                <a:cs typeface="Verdana"/>
              </a:rPr>
              <a:t>Compile-time</a:t>
            </a:r>
            <a:r>
              <a:rPr sz="3200" b="1" spc="-60" dirty="0">
                <a:solidFill>
                  <a:srgbClr val="2E5496"/>
                </a:solidFill>
                <a:latin typeface="Verdana"/>
                <a:cs typeface="Verdana"/>
              </a:rPr>
              <a:t> </a:t>
            </a:r>
            <a:r>
              <a:rPr sz="3200" b="1" dirty="0">
                <a:solidFill>
                  <a:srgbClr val="2E5496"/>
                </a:solidFill>
                <a:latin typeface="Verdana"/>
                <a:cs typeface="Verdana"/>
              </a:rPr>
              <a:t>Polymorphism</a:t>
            </a:r>
            <a:endParaRPr sz="3200">
              <a:latin typeface="Verdana"/>
              <a:cs typeface="Verdana"/>
            </a:endParaRPr>
          </a:p>
          <a:p>
            <a:pPr marL="584200" indent="-571500">
              <a:lnSpc>
                <a:spcPct val="100000"/>
              </a:lnSpc>
              <a:spcBef>
                <a:spcPts val="1920"/>
              </a:spcBef>
              <a:buFont typeface="Wingdings"/>
              <a:buChar char=""/>
              <a:tabLst>
                <a:tab pos="583565" algn="l"/>
                <a:tab pos="584200" algn="l"/>
              </a:tabLst>
            </a:pPr>
            <a:r>
              <a:rPr sz="3200" b="1" dirty="0">
                <a:solidFill>
                  <a:srgbClr val="2E5496"/>
                </a:solidFill>
                <a:latin typeface="Verdana"/>
                <a:cs typeface="Verdana"/>
              </a:rPr>
              <a:t>Run-time</a:t>
            </a:r>
            <a:r>
              <a:rPr sz="3200" b="1" spc="-45" dirty="0">
                <a:solidFill>
                  <a:srgbClr val="2E5496"/>
                </a:solidFill>
                <a:latin typeface="Verdana"/>
                <a:cs typeface="Verdana"/>
              </a:rPr>
              <a:t> </a:t>
            </a:r>
            <a:r>
              <a:rPr sz="3200" b="1" dirty="0">
                <a:solidFill>
                  <a:srgbClr val="2E5496"/>
                </a:solidFill>
                <a:latin typeface="Verdana"/>
                <a:cs typeface="Verdana"/>
              </a:rPr>
              <a:t>Polymorphism</a:t>
            </a:r>
            <a:endParaRPr sz="3200">
              <a:latin typeface="Verdana"/>
              <a:cs typeface="Verdan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3333" y="1029461"/>
            <a:ext cx="582993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C55A11"/>
                </a:solidFill>
              </a:rPr>
              <a:t>Compile-time</a:t>
            </a:r>
            <a:r>
              <a:rPr sz="2800" spc="-15" dirty="0">
                <a:solidFill>
                  <a:srgbClr val="C55A11"/>
                </a:solidFill>
              </a:rPr>
              <a:t> </a:t>
            </a:r>
            <a:r>
              <a:rPr sz="2800" spc="-5" dirty="0">
                <a:solidFill>
                  <a:srgbClr val="C55A11"/>
                </a:solidFill>
              </a:rPr>
              <a:t>Polymorphism:</a:t>
            </a:r>
            <a:endParaRPr sz="2800"/>
          </a:p>
        </p:txBody>
      </p:sp>
      <p:sp>
        <p:nvSpPr>
          <p:cNvPr id="3" name="object 3"/>
          <p:cNvSpPr txBox="1"/>
          <p:nvPr/>
        </p:nvSpPr>
        <p:spPr>
          <a:xfrm>
            <a:off x="713333" y="1882902"/>
            <a:ext cx="8526145" cy="1489075"/>
          </a:xfrm>
          <a:prstGeom prst="rect">
            <a:avLst/>
          </a:prstGeom>
        </p:spPr>
        <p:txBody>
          <a:bodyPr vert="horz" wrap="square" lIns="0" tIns="12700" rIns="0" bIns="0" rtlCol="0">
            <a:spAutoFit/>
          </a:bodyPr>
          <a:lstStyle/>
          <a:p>
            <a:pPr marL="12700" marR="5080" algn="just">
              <a:lnSpc>
                <a:spcPct val="100000"/>
              </a:lnSpc>
              <a:spcBef>
                <a:spcPts val="100"/>
              </a:spcBef>
            </a:pPr>
            <a:r>
              <a:rPr sz="2400" b="1" dirty="0">
                <a:solidFill>
                  <a:srgbClr val="2E5496"/>
                </a:solidFill>
                <a:latin typeface="Verdana"/>
                <a:cs typeface="Verdana"/>
              </a:rPr>
              <a:t>A</a:t>
            </a:r>
            <a:r>
              <a:rPr sz="2400" b="1" spc="5" dirty="0">
                <a:solidFill>
                  <a:srgbClr val="2E5496"/>
                </a:solidFill>
                <a:latin typeface="Verdana"/>
                <a:cs typeface="Verdana"/>
              </a:rPr>
              <a:t> </a:t>
            </a:r>
            <a:r>
              <a:rPr sz="2400" b="1" spc="-5" dirty="0">
                <a:solidFill>
                  <a:srgbClr val="2E5496"/>
                </a:solidFill>
                <a:latin typeface="Verdana"/>
                <a:cs typeface="Verdana"/>
              </a:rPr>
              <a:t>compile-time</a:t>
            </a:r>
            <a:r>
              <a:rPr sz="2400" b="1" dirty="0">
                <a:solidFill>
                  <a:srgbClr val="2E5496"/>
                </a:solidFill>
                <a:latin typeface="Verdana"/>
                <a:cs typeface="Verdana"/>
              </a:rPr>
              <a:t> </a:t>
            </a:r>
            <a:r>
              <a:rPr sz="2400" b="1" spc="-5" dirty="0">
                <a:solidFill>
                  <a:srgbClr val="2E5496"/>
                </a:solidFill>
                <a:latin typeface="Verdana"/>
                <a:cs typeface="Verdana"/>
              </a:rPr>
              <a:t>polymorphism</a:t>
            </a:r>
            <a:r>
              <a:rPr sz="2400" b="1" dirty="0">
                <a:solidFill>
                  <a:srgbClr val="2E5496"/>
                </a:solidFill>
                <a:latin typeface="Verdana"/>
                <a:cs typeface="Verdana"/>
              </a:rPr>
              <a:t> also</a:t>
            </a:r>
            <a:r>
              <a:rPr sz="2400" b="1" spc="5" dirty="0">
                <a:solidFill>
                  <a:srgbClr val="2E5496"/>
                </a:solidFill>
                <a:latin typeface="Verdana"/>
                <a:cs typeface="Verdana"/>
              </a:rPr>
              <a:t> </a:t>
            </a:r>
            <a:r>
              <a:rPr sz="2400" b="1" dirty="0">
                <a:solidFill>
                  <a:srgbClr val="2E5496"/>
                </a:solidFill>
                <a:latin typeface="Verdana"/>
                <a:cs typeface="Verdana"/>
              </a:rPr>
              <a:t>called </a:t>
            </a:r>
            <a:r>
              <a:rPr sz="2400" b="1" spc="5" dirty="0">
                <a:solidFill>
                  <a:srgbClr val="2E5496"/>
                </a:solidFill>
                <a:latin typeface="Verdana"/>
                <a:cs typeface="Verdana"/>
              </a:rPr>
              <a:t> </a:t>
            </a:r>
            <a:r>
              <a:rPr sz="2400" b="1" spc="-10" dirty="0">
                <a:solidFill>
                  <a:srgbClr val="2E5496"/>
                </a:solidFill>
                <a:latin typeface="Verdana"/>
                <a:cs typeface="Verdana"/>
              </a:rPr>
              <a:t>polymorphism</a:t>
            </a:r>
            <a:r>
              <a:rPr sz="2400" b="1" spc="-5" dirty="0">
                <a:solidFill>
                  <a:srgbClr val="2E5496"/>
                </a:solidFill>
                <a:latin typeface="Verdana"/>
                <a:cs typeface="Verdana"/>
              </a:rPr>
              <a:t> </a:t>
            </a:r>
            <a:r>
              <a:rPr sz="2400" b="1" dirty="0">
                <a:solidFill>
                  <a:srgbClr val="2E5496"/>
                </a:solidFill>
                <a:latin typeface="Verdana"/>
                <a:cs typeface="Verdana"/>
              </a:rPr>
              <a:t>which</a:t>
            </a:r>
            <a:r>
              <a:rPr sz="2400" b="1" spc="5" dirty="0">
                <a:solidFill>
                  <a:srgbClr val="2E5496"/>
                </a:solidFill>
                <a:latin typeface="Verdana"/>
                <a:cs typeface="Verdana"/>
              </a:rPr>
              <a:t> </a:t>
            </a:r>
            <a:r>
              <a:rPr sz="2400" b="1" dirty="0">
                <a:solidFill>
                  <a:srgbClr val="2E5496"/>
                </a:solidFill>
                <a:latin typeface="Verdana"/>
                <a:cs typeface="Verdana"/>
              </a:rPr>
              <a:t>gets</a:t>
            </a:r>
            <a:r>
              <a:rPr sz="2400" b="1" spc="5" dirty="0">
                <a:solidFill>
                  <a:srgbClr val="2E5496"/>
                </a:solidFill>
                <a:latin typeface="Verdana"/>
                <a:cs typeface="Verdana"/>
              </a:rPr>
              <a:t> </a:t>
            </a:r>
            <a:r>
              <a:rPr sz="2400" b="1" spc="-5" dirty="0">
                <a:solidFill>
                  <a:srgbClr val="2E5496"/>
                </a:solidFill>
                <a:latin typeface="Verdana"/>
                <a:cs typeface="Verdana"/>
              </a:rPr>
              <a:t>resolved</a:t>
            </a:r>
            <a:r>
              <a:rPr sz="2400" b="1" dirty="0">
                <a:solidFill>
                  <a:srgbClr val="2E5496"/>
                </a:solidFill>
                <a:latin typeface="Verdana"/>
                <a:cs typeface="Verdana"/>
              </a:rPr>
              <a:t> </a:t>
            </a:r>
            <a:r>
              <a:rPr sz="2400" b="1" spc="-5" dirty="0">
                <a:solidFill>
                  <a:srgbClr val="2E5496"/>
                </a:solidFill>
                <a:latin typeface="Verdana"/>
                <a:cs typeface="Verdana"/>
              </a:rPr>
              <a:t>during</a:t>
            </a:r>
            <a:r>
              <a:rPr sz="2400" b="1" dirty="0">
                <a:solidFill>
                  <a:srgbClr val="2E5496"/>
                </a:solidFill>
                <a:latin typeface="Verdana"/>
                <a:cs typeface="Verdana"/>
              </a:rPr>
              <a:t> </a:t>
            </a:r>
            <a:r>
              <a:rPr sz="2400" b="1" spc="-5" dirty="0">
                <a:solidFill>
                  <a:srgbClr val="2E5496"/>
                </a:solidFill>
                <a:latin typeface="Verdana"/>
                <a:cs typeface="Verdana"/>
              </a:rPr>
              <a:t>the </a:t>
            </a:r>
            <a:r>
              <a:rPr sz="2400" b="1" dirty="0">
                <a:solidFill>
                  <a:srgbClr val="2E5496"/>
                </a:solidFill>
                <a:latin typeface="Verdana"/>
                <a:cs typeface="Verdana"/>
              </a:rPr>
              <a:t> time</a:t>
            </a:r>
            <a:r>
              <a:rPr sz="2400" b="1" spc="5" dirty="0">
                <a:solidFill>
                  <a:srgbClr val="2E5496"/>
                </a:solidFill>
                <a:latin typeface="Verdana"/>
                <a:cs typeface="Verdana"/>
              </a:rPr>
              <a:t> </a:t>
            </a:r>
            <a:r>
              <a:rPr sz="2400" b="1" dirty="0">
                <a:solidFill>
                  <a:srgbClr val="2E5496"/>
                </a:solidFill>
                <a:latin typeface="Verdana"/>
                <a:cs typeface="Verdana"/>
              </a:rPr>
              <a:t>of</a:t>
            </a:r>
            <a:r>
              <a:rPr sz="2400" b="1" spc="5" dirty="0">
                <a:solidFill>
                  <a:srgbClr val="2E5496"/>
                </a:solidFill>
                <a:latin typeface="Verdana"/>
                <a:cs typeface="Verdana"/>
              </a:rPr>
              <a:t> </a:t>
            </a:r>
            <a:r>
              <a:rPr sz="2400" b="1" spc="-5" dirty="0">
                <a:solidFill>
                  <a:srgbClr val="2E5496"/>
                </a:solidFill>
                <a:latin typeface="Verdana"/>
                <a:cs typeface="Verdana"/>
              </a:rPr>
              <a:t>the</a:t>
            </a:r>
            <a:r>
              <a:rPr sz="2400" b="1" dirty="0">
                <a:solidFill>
                  <a:srgbClr val="2E5496"/>
                </a:solidFill>
                <a:latin typeface="Verdana"/>
                <a:cs typeface="Verdana"/>
              </a:rPr>
              <a:t> program.</a:t>
            </a:r>
            <a:r>
              <a:rPr sz="2400" b="1" spc="5" dirty="0">
                <a:solidFill>
                  <a:srgbClr val="2E5496"/>
                </a:solidFill>
                <a:latin typeface="Verdana"/>
                <a:cs typeface="Verdana"/>
              </a:rPr>
              <a:t> </a:t>
            </a:r>
            <a:r>
              <a:rPr sz="2400" b="1" spc="-5" dirty="0">
                <a:solidFill>
                  <a:srgbClr val="2E5496"/>
                </a:solidFill>
                <a:latin typeface="Verdana"/>
                <a:cs typeface="Verdana"/>
              </a:rPr>
              <a:t>One</a:t>
            </a:r>
            <a:r>
              <a:rPr sz="2400" b="1" dirty="0">
                <a:solidFill>
                  <a:srgbClr val="2E5496"/>
                </a:solidFill>
                <a:latin typeface="Verdana"/>
                <a:cs typeface="Verdana"/>
              </a:rPr>
              <a:t> common</a:t>
            </a:r>
            <a:r>
              <a:rPr sz="2400" b="1" spc="5" dirty="0">
                <a:solidFill>
                  <a:srgbClr val="2E5496"/>
                </a:solidFill>
                <a:latin typeface="Verdana"/>
                <a:cs typeface="Verdana"/>
              </a:rPr>
              <a:t> </a:t>
            </a:r>
            <a:r>
              <a:rPr sz="2400" b="1" dirty="0">
                <a:solidFill>
                  <a:srgbClr val="2E5496"/>
                </a:solidFill>
                <a:latin typeface="Verdana"/>
                <a:cs typeface="Verdana"/>
              </a:rPr>
              <a:t>example </a:t>
            </a:r>
            <a:r>
              <a:rPr sz="2400" b="1" spc="5" dirty="0">
                <a:solidFill>
                  <a:srgbClr val="2E5496"/>
                </a:solidFill>
                <a:latin typeface="Verdana"/>
                <a:cs typeface="Verdana"/>
              </a:rPr>
              <a:t> </a:t>
            </a:r>
            <a:r>
              <a:rPr sz="2400" b="1" spc="-5" dirty="0">
                <a:solidFill>
                  <a:srgbClr val="BE9000"/>
                </a:solidFill>
                <a:latin typeface="Verdana"/>
                <a:cs typeface="Verdana"/>
              </a:rPr>
              <a:t>overloading</a:t>
            </a:r>
            <a:r>
              <a:rPr sz="2400" b="1" spc="-5" dirty="0">
                <a:solidFill>
                  <a:srgbClr val="2E5496"/>
                </a:solidFill>
                <a:latin typeface="Verdana"/>
                <a:cs typeface="Verdana"/>
              </a:rPr>
              <a:t>”</a:t>
            </a:r>
            <a:endParaRPr sz="2400">
              <a:latin typeface="Verdana"/>
              <a:cs typeface="Verdana"/>
            </a:endParaRPr>
          </a:p>
        </p:txBody>
      </p:sp>
      <p:sp>
        <p:nvSpPr>
          <p:cNvPr id="4" name="object 4"/>
          <p:cNvSpPr txBox="1"/>
          <p:nvPr/>
        </p:nvSpPr>
        <p:spPr>
          <a:xfrm>
            <a:off x="9418066" y="1882902"/>
            <a:ext cx="2061845" cy="1123315"/>
          </a:xfrm>
          <a:prstGeom prst="rect">
            <a:avLst/>
          </a:prstGeom>
        </p:spPr>
        <p:txBody>
          <a:bodyPr vert="horz" wrap="square" lIns="0" tIns="12700" rIns="0" bIns="0" rtlCol="0">
            <a:spAutoFit/>
          </a:bodyPr>
          <a:lstStyle/>
          <a:p>
            <a:pPr marL="12700" marR="5080" indent="241935" algn="just">
              <a:lnSpc>
                <a:spcPct val="100000"/>
              </a:lnSpc>
              <a:spcBef>
                <a:spcPts val="100"/>
              </a:spcBef>
            </a:pPr>
            <a:r>
              <a:rPr sz="2400" b="1" dirty="0">
                <a:solidFill>
                  <a:srgbClr val="2E5496"/>
                </a:solidFill>
                <a:latin typeface="Verdana"/>
                <a:cs typeface="Verdana"/>
              </a:rPr>
              <a:t>as</a:t>
            </a:r>
            <a:r>
              <a:rPr sz="2400" b="1" spc="5" dirty="0">
                <a:solidFill>
                  <a:srgbClr val="2E5496"/>
                </a:solidFill>
                <a:latin typeface="Verdana"/>
                <a:cs typeface="Verdana"/>
              </a:rPr>
              <a:t> </a:t>
            </a:r>
            <a:r>
              <a:rPr sz="2400" b="1" dirty="0">
                <a:solidFill>
                  <a:srgbClr val="2E5496"/>
                </a:solidFill>
                <a:latin typeface="Verdana"/>
                <a:cs typeface="Verdana"/>
              </a:rPr>
              <a:t>static </a:t>
            </a:r>
            <a:r>
              <a:rPr sz="2400" b="1" spc="-810" dirty="0">
                <a:solidFill>
                  <a:srgbClr val="2E5496"/>
                </a:solidFill>
                <a:latin typeface="Verdana"/>
                <a:cs typeface="Verdana"/>
              </a:rPr>
              <a:t> </a:t>
            </a:r>
            <a:r>
              <a:rPr sz="2400" b="1" spc="-5" dirty="0">
                <a:solidFill>
                  <a:srgbClr val="2E5496"/>
                </a:solidFill>
                <a:latin typeface="Verdana"/>
                <a:cs typeface="Verdana"/>
              </a:rPr>
              <a:t>compilation </a:t>
            </a:r>
            <a:r>
              <a:rPr sz="2400" b="1" spc="-810" dirty="0">
                <a:solidFill>
                  <a:srgbClr val="2E5496"/>
                </a:solidFill>
                <a:latin typeface="Verdana"/>
                <a:cs typeface="Verdana"/>
              </a:rPr>
              <a:t> </a:t>
            </a:r>
            <a:r>
              <a:rPr sz="2400" b="1" spc="-5" dirty="0">
                <a:solidFill>
                  <a:srgbClr val="2E5496"/>
                </a:solidFill>
                <a:latin typeface="Verdana"/>
                <a:cs typeface="Verdana"/>
              </a:rPr>
              <a:t>is</a:t>
            </a:r>
            <a:r>
              <a:rPr sz="2400" b="1" spc="400" dirty="0">
                <a:solidFill>
                  <a:srgbClr val="2E5496"/>
                </a:solidFill>
                <a:latin typeface="Verdana"/>
                <a:cs typeface="Verdana"/>
              </a:rPr>
              <a:t> </a:t>
            </a:r>
            <a:r>
              <a:rPr sz="2400" b="1" spc="-5" dirty="0">
                <a:solidFill>
                  <a:srgbClr val="2E5496"/>
                </a:solidFill>
                <a:latin typeface="Verdana"/>
                <a:cs typeface="Verdana"/>
              </a:rPr>
              <a:t>“</a:t>
            </a:r>
            <a:r>
              <a:rPr sz="2400" b="1" spc="-5" dirty="0">
                <a:solidFill>
                  <a:srgbClr val="BE9000"/>
                </a:solidFill>
                <a:latin typeface="Verdana"/>
                <a:cs typeface="Verdana"/>
              </a:rPr>
              <a:t>method</a:t>
            </a:r>
            <a:endParaRPr sz="2400">
              <a:latin typeface="Verdana"/>
              <a:cs typeface="Verdan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56755" y="1143000"/>
            <a:ext cx="5829935" cy="452120"/>
          </a:xfrm>
          <a:prstGeom prst="rect">
            <a:avLst/>
          </a:prstGeom>
        </p:spPr>
        <p:txBody>
          <a:bodyPr vert="horz" wrap="square" lIns="0" tIns="12065" rIns="0" bIns="0" rtlCol="0">
            <a:spAutoFit/>
          </a:bodyPr>
          <a:lstStyle/>
          <a:p>
            <a:pPr marL="12700" algn="ctr">
              <a:lnSpc>
                <a:spcPct val="100000"/>
              </a:lnSpc>
              <a:spcBef>
                <a:spcPts val="95"/>
              </a:spcBef>
            </a:pPr>
            <a:r>
              <a:rPr lang="en-US" sz="2800" spc="-5" dirty="0">
                <a:solidFill>
                  <a:srgbClr val="C55A11"/>
                </a:solidFill>
              </a:rPr>
              <a:t>Method Overloading</a:t>
            </a:r>
            <a:endParaRPr sz="2800" dirty="0"/>
          </a:p>
        </p:txBody>
      </p:sp>
      <p:sp>
        <p:nvSpPr>
          <p:cNvPr id="3" name="object 3"/>
          <p:cNvSpPr txBox="1"/>
          <p:nvPr/>
        </p:nvSpPr>
        <p:spPr>
          <a:xfrm>
            <a:off x="713333" y="1882902"/>
            <a:ext cx="10640467" cy="1490152"/>
          </a:xfrm>
          <a:prstGeom prst="rect">
            <a:avLst/>
          </a:prstGeom>
        </p:spPr>
        <p:txBody>
          <a:bodyPr vert="horz" wrap="square" lIns="0" tIns="12700" rIns="0" bIns="0" rtlCol="0">
            <a:spAutoFit/>
          </a:bodyPr>
          <a:lstStyle/>
          <a:p>
            <a:pPr marL="12700" marR="5080" algn="just">
              <a:lnSpc>
                <a:spcPct val="100000"/>
              </a:lnSpc>
              <a:spcBef>
                <a:spcPts val="100"/>
              </a:spcBef>
            </a:pPr>
            <a:r>
              <a:rPr lang="en-US" sz="2400" b="1" dirty="0"/>
              <a:t>Method Overloading</a:t>
            </a:r>
            <a:r>
              <a:rPr lang="en-US" sz="2400" dirty="0"/>
              <a:t> is a feature of </a:t>
            </a:r>
            <a:r>
              <a:rPr lang="en-US" sz="2400" b="1" dirty="0"/>
              <a:t>Object-Oriented Programming (OOP)</a:t>
            </a:r>
            <a:r>
              <a:rPr lang="en-US" sz="2400" dirty="0"/>
              <a:t> that allows </a:t>
            </a:r>
            <a:r>
              <a:rPr lang="en-US" sz="2400" b="1" dirty="0"/>
              <a:t>multiple methods with the same name but different parameters</a:t>
            </a:r>
            <a:r>
              <a:rPr lang="en-US" sz="2400" dirty="0"/>
              <a:t> (different number or type of arguments) to exist within the same class.</a:t>
            </a:r>
            <a:endParaRPr sz="2400" dirty="0">
              <a:latin typeface="Verdana"/>
              <a:cs typeface="Verdana"/>
            </a:endParaRPr>
          </a:p>
        </p:txBody>
      </p:sp>
    </p:spTree>
    <p:extLst>
      <p:ext uri="{BB962C8B-B14F-4D97-AF65-F5344CB8AC3E}">
        <p14:creationId xmlns:p14="http://schemas.microsoft.com/office/powerpoint/2010/main" val="5768256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7503" y="1302258"/>
            <a:ext cx="500824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C55A11"/>
                </a:solidFill>
              </a:rPr>
              <a:t>Run-time</a:t>
            </a:r>
            <a:r>
              <a:rPr sz="2800" spc="-30" dirty="0">
                <a:solidFill>
                  <a:srgbClr val="C55A11"/>
                </a:solidFill>
              </a:rPr>
              <a:t> </a:t>
            </a:r>
            <a:r>
              <a:rPr sz="2800" spc="-5" dirty="0">
                <a:solidFill>
                  <a:srgbClr val="C55A11"/>
                </a:solidFill>
              </a:rPr>
              <a:t>Polymorphism:</a:t>
            </a:r>
            <a:endParaRPr sz="2800"/>
          </a:p>
        </p:txBody>
      </p:sp>
      <p:sp>
        <p:nvSpPr>
          <p:cNvPr id="3" name="object 3"/>
          <p:cNvSpPr txBox="1"/>
          <p:nvPr/>
        </p:nvSpPr>
        <p:spPr>
          <a:xfrm>
            <a:off x="857503" y="2094738"/>
            <a:ext cx="10476865" cy="1489075"/>
          </a:xfrm>
          <a:prstGeom prst="rect">
            <a:avLst/>
          </a:prstGeom>
        </p:spPr>
        <p:txBody>
          <a:bodyPr vert="horz" wrap="square" lIns="0" tIns="12700" rIns="0" bIns="0" rtlCol="0">
            <a:spAutoFit/>
          </a:bodyPr>
          <a:lstStyle/>
          <a:p>
            <a:pPr marL="12700" marR="5080" algn="just">
              <a:lnSpc>
                <a:spcPct val="100000"/>
              </a:lnSpc>
              <a:spcBef>
                <a:spcPts val="100"/>
              </a:spcBef>
            </a:pPr>
            <a:r>
              <a:rPr sz="2400" b="1" dirty="0">
                <a:solidFill>
                  <a:srgbClr val="2E5496"/>
                </a:solidFill>
                <a:latin typeface="Verdana"/>
                <a:cs typeface="Verdana"/>
              </a:rPr>
              <a:t>A</a:t>
            </a:r>
            <a:r>
              <a:rPr sz="2400" b="1" spc="5" dirty="0">
                <a:solidFill>
                  <a:srgbClr val="2E5496"/>
                </a:solidFill>
                <a:latin typeface="Verdana"/>
                <a:cs typeface="Verdana"/>
              </a:rPr>
              <a:t> </a:t>
            </a:r>
            <a:r>
              <a:rPr sz="2400" b="1" spc="-5" dirty="0">
                <a:solidFill>
                  <a:srgbClr val="2E5496"/>
                </a:solidFill>
                <a:latin typeface="Verdana"/>
                <a:cs typeface="Verdana"/>
              </a:rPr>
              <a:t>run-time</a:t>
            </a:r>
            <a:r>
              <a:rPr sz="2400" b="1" dirty="0">
                <a:solidFill>
                  <a:srgbClr val="2E5496"/>
                </a:solidFill>
                <a:latin typeface="Verdana"/>
                <a:cs typeface="Verdana"/>
              </a:rPr>
              <a:t> </a:t>
            </a:r>
            <a:r>
              <a:rPr sz="2400" b="1" spc="-5" dirty="0">
                <a:solidFill>
                  <a:srgbClr val="2E5496"/>
                </a:solidFill>
                <a:latin typeface="Verdana"/>
                <a:cs typeface="Verdana"/>
              </a:rPr>
              <a:t>Polymorphism</a:t>
            </a:r>
            <a:r>
              <a:rPr sz="2400" b="1" dirty="0">
                <a:solidFill>
                  <a:srgbClr val="2E5496"/>
                </a:solidFill>
                <a:latin typeface="Verdana"/>
                <a:cs typeface="Verdana"/>
              </a:rPr>
              <a:t> </a:t>
            </a:r>
            <a:r>
              <a:rPr sz="2400" b="1" spc="-5" dirty="0">
                <a:solidFill>
                  <a:srgbClr val="2E5496"/>
                </a:solidFill>
                <a:latin typeface="Verdana"/>
                <a:cs typeface="Verdana"/>
              </a:rPr>
              <a:t>is</a:t>
            </a:r>
            <a:r>
              <a:rPr sz="2400" b="1" dirty="0">
                <a:solidFill>
                  <a:srgbClr val="2E5496"/>
                </a:solidFill>
                <a:latin typeface="Verdana"/>
                <a:cs typeface="Verdana"/>
              </a:rPr>
              <a:t> also,</a:t>
            </a:r>
            <a:r>
              <a:rPr sz="2400" b="1" spc="5" dirty="0">
                <a:solidFill>
                  <a:srgbClr val="2E5496"/>
                </a:solidFill>
                <a:latin typeface="Verdana"/>
                <a:cs typeface="Verdana"/>
              </a:rPr>
              <a:t> </a:t>
            </a:r>
            <a:r>
              <a:rPr sz="2400" b="1" dirty="0">
                <a:solidFill>
                  <a:srgbClr val="2E5496"/>
                </a:solidFill>
                <a:latin typeface="Verdana"/>
                <a:cs typeface="Verdana"/>
              </a:rPr>
              <a:t>called</a:t>
            </a:r>
            <a:r>
              <a:rPr sz="2400" b="1" spc="5" dirty="0">
                <a:solidFill>
                  <a:srgbClr val="2E5496"/>
                </a:solidFill>
                <a:latin typeface="Verdana"/>
                <a:cs typeface="Verdana"/>
              </a:rPr>
              <a:t> </a:t>
            </a:r>
            <a:r>
              <a:rPr sz="2400" b="1" dirty="0">
                <a:solidFill>
                  <a:srgbClr val="2E5496"/>
                </a:solidFill>
                <a:latin typeface="Verdana"/>
                <a:cs typeface="Verdana"/>
              </a:rPr>
              <a:t>as</a:t>
            </a:r>
            <a:r>
              <a:rPr sz="2400" b="1" spc="5" dirty="0">
                <a:solidFill>
                  <a:srgbClr val="2E5496"/>
                </a:solidFill>
                <a:latin typeface="Verdana"/>
                <a:cs typeface="Verdana"/>
              </a:rPr>
              <a:t> </a:t>
            </a:r>
            <a:r>
              <a:rPr sz="2400" b="1" spc="-5" dirty="0">
                <a:solidFill>
                  <a:srgbClr val="2E5496"/>
                </a:solidFill>
                <a:latin typeface="Verdana"/>
                <a:cs typeface="Verdana"/>
              </a:rPr>
              <a:t>dynamic </a:t>
            </a:r>
            <a:r>
              <a:rPr sz="2400" b="1" dirty="0">
                <a:solidFill>
                  <a:srgbClr val="2E5496"/>
                </a:solidFill>
                <a:latin typeface="Verdana"/>
                <a:cs typeface="Verdana"/>
              </a:rPr>
              <a:t> </a:t>
            </a:r>
            <a:r>
              <a:rPr sz="2400" b="1" spc="-5" dirty="0">
                <a:solidFill>
                  <a:srgbClr val="2E5496"/>
                </a:solidFill>
                <a:latin typeface="Verdana"/>
                <a:cs typeface="Verdana"/>
              </a:rPr>
              <a:t>polymorphism where it gets resolved </a:t>
            </a:r>
            <a:r>
              <a:rPr sz="2400" b="1" dirty="0">
                <a:solidFill>
                  <a:srgbClr val="2E5496"/>
                </a:solidFill>
                <a:latin typeface="Verdana"/>
                <a:cs typeface="Verdana"/>
              </a:rPr>
              <a:t>into </a:t>
            </a:r>
            <a:r>
              <a:rPr sz="2400" b="1" spc="-5" dirty="0">
                <a:solidFill>
                  <a:srgbClr val="2E5496"/>
                </a:solidFill>
                <a:latin typeface="Verdana"/>
                <a:cs typeface="Verdana"/>
              </a:rPr>
              <a:t>the </a:t>
            </a:r>
            <a:r>
              <a:rPr sz="2400" b="1" dirty="0">
                <a:solidFill>
                  <a:srgbClr val="2E5496"/>
                </a:solidFill>
                <a:latin typeface="Verdana"/>
                <a:cs typeface="Verdana"/>
              </a:rPr>
              <a:t>run time. </a:t>
            </a:r>
            <a:r>
              <a:rPr sz="2400" b="1" spc="-5" dirty="0">
                <a:solidFill>
                  <a:srgbClr val="2E5496"/>
                </a:solidFill>
                <a:latin typeface="Verdana"/>
                <a:cs typeface="Verdana"/>
              </a:rPr>
              <a:t>One </a:t>
            </a:r>
            <a:r>
              <a:rPr sz="2400" b="1" dirty="0">
                <a:solidFill>
                  <a:srgbClr val="2E5496"/>
                </a:solidFill>
                <a:latin typeface="Verdana"/>
                <a:cs typeface="Verdana"/>
              </a:rPr>
              <a:t> </a:t>
            </a:r>
            <a:r>
              <a:rPr sz="2400" b="1" spc="-5" dirty="0">
                <a:solidFill>
                  <a:srgbClr val="2E5496"/>
                </a:solidFill>
                <a:latin typeface="Verdana"/>
                <a:cs typeface="Verdana"/>
              </a:rPr>
              <a:t>common</a:t>
            </a:r>
            <a:r>
              <a:rPr sz="2400" b="1" dirty="0">
                <a:solidFill>
                  <a:srgbClr val="2E5496"/>
                </a:solidFill>
                <a:latin typeface="Verdana"/>
                <a:cs typeface="Verdana"/>
              </a:rPr>
              <a:t> </a:t>
            </a:r>
            <a:r>
              <a:rPr sz="2400" b="1" spc="-5" dirty="0">
                <a:solidFill>
                  <a:srgbClr val="2E5496"/>
                </a:solidFill>
                <a:latin typeface="Verdana"/>
                <a:cs typeface="Verdana"/>
              </a:rPr>
              <a:t>example</a:t>
            </a:r>
            <a:r>
              <a:rPr sz="2400" b="1" dirty="0">
                <a:solidFill>
                  <a:srgbClr val="2E5496"/>
                </a:solidFill>
                <a:latin typeface="Verdana"/>
                <a:cs typeface="Verdana"/>
              </a:rPr>
              <a:t> </a:t>
            </a:r>
            <a:r>
              <a:rPr sz="2400" b="1" spc="-5" dirty="0">
                <a:solidFill>
                  <a:srgbClr val="2E5496"/>
                </a:solidFill>
                <a:latin typeface="Verdana"/>
                <a:cs typeface="Verdana"/>
              </a:rPr>
              <a:t>of</a:t>
            </a:r>
            <a:r>
              <a:rPr sz="2400" b="1" dirty="0">
                <a:solidFill>
                  <a:srgbClr val="2E5496"/>
                </a:solidFill>
                <a:latin typeface="Verdana"/>
                <a:cs typeface="Verdana"/>
              </a:rPr>
              <a:t> Run-time</a:t>
            </a:r>
            <a:r>
              <a:rPr sz="2400" b="1" spc="5" dirty="0">
                <a:solidFill>
                  <a:srgbClr val="2E5496"/>
                </a:solidFill>
                <a:latin typeface="Verdana"/>
                <a:cs typeface="Verdana"/>
              </a:rPr>
              <a:t> </a:t>
            </a:r>
            <a:r>
              <a:rPr sz="2400" b="1" spc="-10" dirty="0">
                <a:solidFill>
                  <a:srgbClr val="2E5496"/>
                </a:solidFill>
                <a:latin typeface="Verdana"/>
                <a:cs typeface="Verdana"/>
              </a:rPr>
              <a:t>polymorphism</a:t>
            </a:r>
            <a:r>
              <a:rPr sz="2400" b="1" spc="-5" dirty="0">
                <a:solidFill>
                  <a:srgbClr val="2E5496"/>
                </a:solidFill>
                <a:latin typeface="Verdana"/>
                <a:cs typeface="Verdana"/>
              </a:rPr>
              <a:t> is</a:t>
            </a:r>
            <a:r>
              <a:rPr sz="2400" b="1" dirty="0">
                <a:solidFill>
                  <a:srgbClr val="2E5496"/>
                </a:solidFill>
                <a:latin typeface="Verdana"/>
                <a:cs typeface="Verdana"/>
              </a:rPr>
              <a:t> </a:t>
            </a:r>
            <a:r>
              <a:rPr sz="2400" b="1" spc="-5" dirty="0">
                <a:solidFill>
                  <a:srgbClr val="2E5496"/>
                </a:solidFill>
                <a:latin typeface="Verdana"/>
                <a:cs typeface="Verdana"/>
              </a:rPr>
              <a:t>“</a:t>
            </a:r>
            <a:r>
              <a:rPr sz="2400" b="1" spc="-5" dirty="0">
                <a:solidFill>
                  <a:srgbClr val="BE9000"/>
                </a:solidFill>
                <a:latin typeface="Verdana"/>
                <a:cs typeface="Verdana"/>
              </a:rPr>
              <a:t>method </a:t>
            </a:r>
            <a:r>
              <a:rPr sz="2400" b="1" dirty="0">
                <a:solidFill>
                  <a:srgbClr val="BE9000"/>
                </a:solidFill>
                <a:latin typeface="Verdana"/>
                <a:cs typeface="Verdana"/>
              </a:rPr>
              <a:t> </a:t>
            </a:r>
            <a:r>
              <a:rPr sz="2400" b="1" spc="-5" dirty="0">
                <a:solidFill>
                  <a:srgbClr val="BE9000"/>
                </a:solidFill>
                <a:latin typeface="Verdana"/>
                <a:cs typeface="Verdana"/>
              </a:rPr>
              <a:t>overriding</a:t>
            </a:r>
            <a:r>
              <a:rPr sz="2400" b="1" spc="-5" dirty="0">
                <a:solidFill>
                  <a:srgbClr val="2E5496"/>
                </a:solidFill>
                <a:latin typeface="Verdana"/>
                <a:cs typeface="Verdana"/>
              </a:rPr>
              <a:t>”.</a:t>
            </a:r>
            <a:endParaRPr sz="2400">
              <a:latin typeface="Verdana"/>
              <a:cs typeface="Verdan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62400" y="1143000"/>
            <a:ext cx="5008245" cy="452120"/>
          </a:xfrm>
          <a:prstGeom prst="rect">
            <a:avLst/>
          </a:prstGeom>
        </p:spPr>
        <p:txBody>
          <a:bodyPr vert="horz" wrap="square" lIns="0" tIns="12065" rIns="0" bIns="0" rtlCol="0">
            <a:spAutoFit/>
          </a:bodyPr>
          <a:lstStyle/>
          <a:p>
            <a:pPr marL="12700">
              <a:lnSpc>
                <a:spcPct val="100000"/>
              </a:lnSpc>
              <a:spcBef>
                <a:spcPts val="95"/>
              </a:spcBef>
            </a:pPr>
            <a:r>
              <a:rPr lang="en-US" sz="2800" spc="-5" dirty="0">
                <a:solidFill>
                  <a:srgbClr val="C55A11"/>
                </a:solidFill>
              </a:rPr>
              <a:t>Method Overriding</a:t>
            </a:r>
            <a:endParaRPr sz="2800" dirty="0"/>
          </a:p>
        </p:txBody>
      </p:sp>
      <p:sp>
        <p:nvSpPr>
          <p:cNvPr id="3" name="object 3"/>
          <p:cNvSpPr txBox="1"/>
          <p:nvPr/>
        </p:nvSpPr>
        <p:spPr>
          <a:xfrm>
            <a:off x="857503" y="2094738"/>
            <a:ext cx="10476865" cy="1120820"/>
          </a:xfrm>
          <a:prstGeom prst="rect">
            <a:avLst/>
          </a:prstGeom>
        </p:spPr>
        <p:txBody>
          <a:bodyPr vert="horz" wrap="square" lIns="0" tIns="12700" rIns="0" bIns="0" rtlCol="0">
            <a:spAutoFit/>
          </a:bodyPr>
          <a:lstStyle/>
          <a:p>
            <a:pPr marL="12700" marR="5080" algn="just">
              <a:lnSpc>
                <a:spcPct val="100000"/>
              </a:lnSpc>
              <a:spcBef>
                <a:spcPts val="100"/>
              </a:spcBef>
            </a:pPr>
            <a:r>
              <a:rPr lang="en-US" sz="2400" b="1" dirty="0"/>
              <a:t>Method Overriding</a:t>
            </a:r>
            <a:r>
              <a:rPr lang="en-US" sz="2400" dirty="0"/>
              <a:t> is a core concept in </a:t>
            </a:r>
            <a:r>
              <a:rPr lang="en-US" sz="2400" b="1" dirty="0"/>
              <a:t>Object-Oriented Programming (OOP)</a:t>
            </a:r>
            <a:r>
              <a:rPr lang="en-US" sz="2400" dirty="0"/>
              <a:t> where a </a:t>
            </a:r>
            <a:r>
              <a:rPr lang="en-US" sz="2400" b="1" dirty="0"/>
              <a:t>child class provides a new implementation</a:t>
            </a:r>
            <a:r>
              <a:rPr lang="en-US" sz="2400" dirty="0"/>
              <a:t> for a method that is already defined in its </a:t>
            </a:r>
            <a:r>
              <a:rPr lang="en-US" sz="2400" b="1" dirty="0"/>
              <a:t>parent class</a:t>
            </a:r>
            <a:r>
              <a:rPr lang="en-US" sz="2400" dirty="0"/>
              <a:t>.</a:t>
            </a:r>
            <a:endParaRPr sz="2400" dirty="0">
              <a:latin typeface="Verdana"/>
              <a:cs typeface="Verdana"/>
            </a:endParaRPr>
          </a:p>
        </p:txBody>
      </p:sp>
    </p:spTree>
    <p:extLst>
      <p:ext uri="{BB962C8B-B14F-4D97-AF65-F5344CB8AC3E}">
        <p14:creationId xmlns:p14="http://schemas.microsoft.com/office/powerpoint/2010/main" val="42048663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Activity-09</a:t>
            </a:r>
          </a:p>
        </p:txBody>
      </p:sp>
      <p:sp>
        <p:nvSpPr>
          <p:cNvPr id="3" name="Content Placeholder 2"/>
          <p:cNvSpPr>
            <a:spLocks noGrp="1"/>
          </p:cNvSpPr>
          <p:nvPr>
            <p:ph idx="1"/>
          </p:nvPr>
        </p:nvSpPr>
        <p:spPr/>
        <p:txBody>
          <a:bodyPr>
            <a:normAutofit fontScale="77500" lnSpcReduction="20000"/>
          </a:bodyPr>
          <a:lstStyle/>
          <a:p>
            <a:r>
              <a:rPr lang="en-US" sz="2800" dirty="0"/>
              <a:t>Write a Python program using Object-Oriented Programming (OOP) that demonstrates how to use default arguments in a constructor to simulate multiple constructors.</a:t>
            </a:r>
          </a:p>
          <a:p>
            <a:r>
              <a:rPr lang="en-US" b="1" dirty="0"/>
              <a:t>Requirements:</a:t>
            </a:r>
            <a:endParaRPr lang="en-US" dirty="0"/>
          </a:p>
          <a:p>
            <a:r>
              <a:rPr lang="en-US" dirty="0"/>
              <a:t>Define a class named Person.</a:t>
            </a:r>
          </a:p>
          <a:p>
            <a:r>
              <a:rPr lang="en-US" dirty="0"/>
              <a:t>The class should have a </a:t>
            </a:r>
            <a:r>
              <a:rPr lang="en-US" b="1" dirty="0"/>
              <a:t>constructor (__</a:t>
            </a:r>
            <a:r>
              <a:rPr lang="en-US" b="1" dirty="0" err="1"/>
              <a:t>init</a:t>
            </a:r>
            <a:r>
              <a:rPr lang="en-US" b="1" dirty="0"/>
              <a:t>__)</a:t>
            </a:r>
            <a:r>
              <a:rPr lang="en-US" dirty="0"/>
              <a:t> with default parameters (e.g., name=None, age=None).</a:t>
            </a:r>
          </a:p>
          <a:p>
            <a:r>
              <a:rPr lang="en-US" dirty="0"/>
              <a:t>Inside the constructor:</a:t>
            </a:r>
          </a:p>
          <a:p>
            <a:pPr lvl="1"/>
            <a:r>
              <a:rPr lang="en-US" dirty="0"/>
              <a:t>If both name and age are provided, display both values.</a:t>
            </a:r>
          </a:p>
          <a:p>
            <a:pPr lvl="1"/>
            <a:r>
              <a:rPr lang="en-US" dirty="0"/>
              <a:t>If only name is provided, display the name only.</a:t>
            </a:r>
          </a:p>
          <a:p>
            <a:pPr lvl="1"/>
            <a:r>
              <a:rPr lang="en-US" dirty="0"/>
              <a:t>If no data is provided, display a message like "No data provided".</a:t>
            </a:r>
          </a:p>
          <a:p>
            <a:r>
              <a:rPr lang="en-US" dirty="0"/>
              <a:t>Create multiple objects to demonstrate each case.</a:t>
            </a:r>
          </a:p>
          <a:p>
            <a:pPr marL="0" indent="0">
              <a:buNone/>
            </a:pPr>
            <a:endParaRPr lang="en-US" sz="2800" dirty="0"/>
          </a:p>
        </p:txBody>
      </p:sp>
    </p:spTree>
    <p:extLst>
      <p:ext uri="{BB962C8B-B14F-4D97-AF65-F5344CB8AC3E}">
        <p14:creationId xmlns:p14="http://schemas.microsoft.com/office/powerpoint/2010/main" val="4903417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Activity-09</a:t>
            </a:r>
            <a:br>
              <a:rPr lang="en-US" dirty="0"/>
            </a:br>
            <a:r>
              <a:rPr lang="en-US" dirty="0"/>
              <a:t>Sample Output</a:t>
            </a:r>
          </a:p>
        </p:txBody>
      </p:sp>
      <p:sp>
        <p:nvSpPr>
          <p:cNvPr id="3" name="Content Placeholder 2"/>
          <p:cNvSpPr>
            <a:spLocks noGrp="1"/>
          </p:cNvSpPr>
          <p:nvPr>
            <p:ph idx="1"/>
          </p:nvPr>
        </p:nvSpPr>
        <p:spPr/>
        <p:txBody>
          <a:bodyPr>
            <a:normAutofit/>
          </a:bodyPr>
          <a:lstStyle/>
          <a:p>
            <a:pPr marL="0" indent="0">
              <a:buNone/>
            </a:pPr>
            <a:r>
              <a:rPr lang="en-US" sz="2800" dirty="0"/>
              <a:t>Name: Asif </a:t>
            </a:r>
            <a:r>
              <a:rPr lang="en-US" sz="2800" dirty="0" err="1"/>
              <a:t>Daharki</a:t>
            </a:r>
            <a:endParaRPr lang="en-US" sz="2800" dirty="0"/>
          </a:p>
          <a:p>
            <a:pPr marL="0" indent="0">
              <a:buNone/>
            </a:pPr>
            <a:r>
              <a:rPr lang="en-US" sz="2800" dirty="0"/>
              <a:t>Name: Ahmed</a:t>
            </a:r>
          </a:p>
          <a:p>
            <a:pPr marL="0" indent="0">
              <a:buNone/>
            </a:pPr>
            <a:r>
              <a:rPr lang="en-US" sz="2800" dirty="0"/>
              <a:t>No data provided</a:t>
            </a:r>
          </a:p>
          <a:p>
            <a:pPr marL="0" indent="0">
              <a:buNone/>
            </a:pPr>
            <a:endParaRPr lang="en-US" sz="2800" dirty="0"/>
          </a:p>
        </p:txBody>
      </p:sp>
    </p:spTree>
    <p:extLst>
      <p:ext uri="{BB962C8B-B14F-4D97-AF65-F5344CB8AC3E}">
        <p14:creationId xmlns:p14="http://schemas.microsoft.com/office/powerpoint/2010/main" val="124351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Activity-09</a:t>
            </a:r>
            <a:br>
              <a:rPr lang="en-US" dirty="0"/>
            </a:br>
            <a:r>
              <a:rPr lang="en-US" dirty="0"/>
              <a:t>Solution</a:t>
            </a:r>
          </a:p>
        </p:txBody>
      </p:sp>
      <p:sp>
        <p:nvSpPr>
          <p:cNvPr id="3" name="Content Placeholder 2"/>
          <p:cNvSpPr>
            <a:spLocks noGrp="1"/>
          </p:cNvSpPr>
          <p:nvPr>
            <p:ph idx="1"/>
          </p:nvPr>
        </p:nvSpPr>
        <p:spPr/>
        <p:txBody>
          <a:bodyPr>
            <a:normAutofit fontScale="62500" lnSpcReduction="20000"/>
          </a:bodyPr>
          <a:lstStyle/>
          <a:p>
            <a:pPr marL="0" indent="0">
              <a:buNone/>
            </a:pPr>
            <a:r>
              <a:rPr lang="en-US" sz="2800" dirty="0"/>
              <a:t>class Student:    </a:t>
            </a:r>
            <a:r>
              <a:rPr lang="en-US" sz="2800" dirty="0" err="1"/>
              <a:t>def</a:t>
            </a:r>
            <a:r>
              <a:rPr lang="en-US" sz="2800" dirty="0"/>
              <a:t> __</a:t>
            </a:r>
            <a:r>
              <a:rPr lang="en-US" sz="2800" dirty="0" err="1"/>
              <a:t>init</a:t>
            </a:r>
            <a:r>
              <a:rPr lang="en-US" sz="2800" dirty="0"/>
              <a:t>__(</a:t>
            </a:r>
            <a:r>
              <a:rPr lang="en-US" sz="2800" dirty="0" err="1"/>
              <a:t>self,name</a:t>
            </a:r>
            <a:r>
              <a:rPr lang="en-US" sz="2800" dirty="0"/>
              <a:t>=</a:t>
            </a:r>
            <a:r>
              <a:rPr lang="en-US" sz="2800" dirty="0" err="1"/>
              <a:t>None,city</a:t>
            </a:r>
            <a:r>
              <a:rPr lang="en-US" sz="2800" dirty="0"/>
              <a:t>=None):        </a:t>
            </a:r>
          </a:p>
          <a:p>
            <a:pPr marL="0" indent="0">
              <a:buNone/>
            </a:pPr>
            <a:r>
              <a:rPr lang="en-US" sz="2800" dirty="0"/>
              <a:t>	if name and city:            </a:t>
            </a:r>
          </a:p>
          <a:p>
            <a:pPr marL="0" indent="0">
              <a:buNone/>
            </a:pPr>
            <a:r>
              <a:rPr lang="en-US" sz="2800" dirty="0"/>
              <a:t>		print(name)            </a:t>
            </a:r>
          </a:p>
          <a:p>
            <a:pPr marL="0" indent="0">
              <a:buNone/>
            </a:pPr>
            <a:r>
              <a:rPr lang="en-US" sz="2800" dirty="0"/>
              <a:t>		print(city)        </a:t>
            </a:r>
          </a:p>
          <a:p>
            <a:pPr marL="0" indent="0">
              <a:buNone/>
            </a:pPr>
            <a:r>
              <a:rPr lang="en-US" sz="2800" dirty="0"/>
              <a:t>	</a:t>
            </a:r>
            <a:r>
              <a:rPr lang="en-US" sz="2800" dirty="0" err="1"/>
              <a:t>elif</a:t>
            </a:r>
            <a:r>
              <a:rPr lang="en-US" sz="2800" dirty="0"/>
              <a:t> name:            </a:t>
            </a:r>
          </a:p>
          <a:p>
            <a:pPr marL="0" indent="0">
              <a:buNone/>
            </a:pPr>
            <a:r>
              <a:rPr lang="en-US" sz="2800" dirty="0"/>
              <a:t>		print(name)        </a:t>
            </a:r>
          </a:p>
          <a:p>
            <a:pPr marL="0" indent="0">
              <a:buNone/>
            </a:pPr>
            <a:r>
              <a:rPr lang="en-US" sz="2800" dirty="0"/>
              <a:t>	else:            </a:t>
            </a:r>
          </a:p>
          <a:p>
            <a:pPr marL="0" indent="0">
              <a:buNone/>
            </a:pPr>
            <a:r>
              <a:rPr lang="en-US" sz="2800" dirty="0"/>
              <a:t>		print("Not valid")</a:t>
            </a:r>
          </a:p>
          <a:p>
            <a:pPr marL="0" indent="0">
              <a:buNone/>
            </a:pPr>
            <a:r>
              <a:rPr lang="en-US" sz="2800" dirty="0"/>
              <a:t>s = Student("Asif","</a:t>
            </a:r>
            <a:r>
              <a:rPr lang="en-US" sz="2800" dirty="0" err="1"/>
              <a:t>Daharki</a:t>
            </a:r>
            <a:r>
              <a:rPr lang="en-US" sz="2800" dirty="0"/>
              <a:t>")</a:t>
            </a:r>
          </a:p>
          <a:p>
            <a:pPr marL="0" indent="0">
              <a:buNone/>
            </a:pPr>
            <a:r>
              <a:rPr lang="en-US" sz="2800" dirty="0"/>
              <a:t>s1 = Student("Ahmed")</a:t>
            </a:r>
          </a:p>
          <a:p>
            <a:pPr marL="0" indent="0">
              <a:buNone/>
            </a:pPr>
            <a:r>
              <a:rPr lang="en-US" sz="2800" dirty="0"/>
              <a:t>s2 = Student()</a:t>
            </a:r>
          </a:p>
        </p:txBody>
      </p:sp>
    </p:spTree>
    <p:extLst>
      <p:ext uri="{BB962C8B-B14F-4D97-AF65-F5344CB8AC3E}">
        <p14:creationId xmlns:p14="http://schemas.microsoft.com/office/powerpoint/2010/main" val="8425799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Task-01</a:t>
            </a:r>
          </a:p>
        </p:txBody>
      </p:sp>
      <p:sp>
        <p:nvSpPr>
          <p:cNvPr id="3" name="Content Placeholder 2"/>
          <p:cNvSpPr>
            <a:spLocks noGrp="1"/>
          </p:cNvSpPr>
          <p:nvPr>
            <p:ph idx="1"/>
          </p:nvPr>
        </p:nvSpPr>
        <p:spPr/>
        <p:txBody>
          <a:bodyPr/>
          <a:lstStyle/>
          <a:p>
            <a:r>
              <a:rPr lang="en-US" dirty="0"/>
              <a:t>Create a base class Animal with a method speak().</a:t>
            </a:r>
          </a:p>
          <a:p>
            <a:r>
              <a:rPr lang="en-US" dirty="0"/>
              <a:t>Create subclasses Dog and Cat that override speak() differently.</a:t>
            </a:r>
          </a:p>
          <a:p>
            <a:r>
              <a:rPr lang="en-US" dirty="0"/>
              <a:t>Create a list of animal objects and call speak() using a loop to show polymorphism.</a:t>
            </a:r>
          </a:p>
          <a:p>
            <a:pPr marL="0" indent="0">
              <a:buNone/>
            </a:pPr>
            <a:r>
              <a:rPr lang="en-US" dirty="0"/>
              <a:t>Sample Output:</a:t>
            </a:r>
          </a:p>
          <a:p>
            <a:pPr marL="0" indent="0">
              <a:buNone/>
            </a:pPr>
            <a:r>
              <a:rPr lang="en-US" dirty="0"/>
              <a:t>Dog barks  </a:t>
            </a:r>
          </a:p>
          <a:p>
            <a:pPr marL="0" indent="0">
              <a:buNone/>
            </a:pPr>
            <a:r>
              <a:rPr lang="en-US" dirty="0"/>
              <a:t>Cat meows</a:t>
            </a:r>
          </a:p>
          <a:p>
            <a:pPr marL="0" indent="0">
              <a:buNone/>
            </a:pPr>
            <a:endParaRPr lang="en-US" dirty="0"/>
          </a:p>
        </p:txBody>
      </p:sp>
    </p:spTree>
    <p:extLst>
      <p:ext uri="{BB962C8B-B14F-4D97-AF65-F5344CB8AC3E}">
        <p14:creationId xmlns:p14="http://schemas.microsoft.com/office/powerpoint/2010/main" val="12677535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Task-02</a:t>
            </a:r>
          </a:p>
        </p:txBody>
      </p:sp>
      <p:sp>
        <p:nvSpPr>
          <p:cNvPr id="3" name="Content Placeholder 2"/>
          <p:cNvSpPr>
            <a:spLocks noGrp="1"/>
          </p:cNvSpPr>
          <p:nvPr>
            <p:ph idx="1"/>
          </p:nvPr>
        </p:nvSpPr>
        <p:spPr/>
        <p:txBody>
          <a:bodyPr/>
          <a:lstStyle/>
          <a:p>
            <a:r>
              <a:rPr lang="en-US" dirty="0"/>
              <a:t>Create a class Vehicle with a method </a:t>
            </a:r>
            <a:r>
              <a:rPr lang="en-US" dirty="0" err="1"/>
              <a:t>show_type</a:t>
            </a:r>
            <a:r>
              <a:rPr lang="en-US" dirty="0"/>
              <a:t>().</a:t>
            </a:r>
          </a:p>
          <a:p>
            <a:r>
              <a:rPr lang="en-US" dirty="0"/>
              <a:t>Create a subclass Car that overrides </a:t>
            </a:r>
            <a:r>
              <a:rPr lang="en-US" dirty="0" err="1"/>
              <a:t>show_type</a:t>
            </a:r>
            <a:r>
              <a:rPr lang="en-US" dirty="0"/>
              <a:t>().</a:t>
            </a:r>
          </a:p>
          <a:p>
            <a:r>
              <a:rPr lang="en-US" dirty="0"/>
              <a:t>Create another subclass </a:t>
            </a:r>
            <a:r>
              <a:rPr lang="en-US" dirty="0" err="1"/>
              <a:t>ElectricCar</a:t>
            </a:r>
            <a:r>
              <a:rPr lang="en-US" dirty="0"/>
              <a:t> that further overrides the same method.</a:t>
            </a:r>
          </a:p>
          <a:p>
            <a:r>
              <a:rPr lang="en-US" dirty="0"/>
              <a:t>Create objects of all three classes and call </a:t>
            </a:r>
            <a:r>
              <a:rPr lang="en-US" dirty="0" err="1"/>
              <a:t>show_type</a:t>
            </a:r>
            <a:r>
              <a:rPr lang="en-US" dirty="0"/>
              <a:t>().</a:t>
            </a:r>
          </a:p>
          <a:p>
            <a:pPr marL="0" indent="0">
              <a:buNone/>
            </a:pPr>
            <a:r>
              <a:rPr lang="en-US" dirty="0"/>
              <a:t>Sample Output:</a:t>
            </a:r>
          </a:p>
          <a:p>
            <a:pPr marL="0" indent="0">
              <a:buNone/>
            </a:pPr>
            <a:r>
              <a:rPr lang="en-US" dirty="0"/>
              <a:t>This is a vehicle  </a:t>
            </a:r>
          </a:p>
          <a:p>
            <a:pPr marL="0" indent="0">
              <a:buNone/>
            </a:pPr>
            <a:r>
              <a:rPr lang="en-US" dirty="0"/>
              <a:t>This is a car  </a:t>
            </a:r>
          </a:p>
          <a:p>
            <a:pPr marL="0" indent="0">
              <a:buNone/>
            </a:pPr>
            <a:r>
              <a:rPr lang="en-US" dirty="0"/>
              <a:t>This is an electric car</a:t>
            </a:r>
          </a:p>
          <a:p>
            <a:pPr marL="0" indent="0">
              <a:buNone/>
            </a:pPr>
            <a:endParaRPr lang="en-US" dirty="0"/>
          </a:p>
        </p:txBody>
      </p:sp>
    </p:spTree>
    <p:extLst>
      <p:ext uri="{BB962C8B-B14F-4D97-AF65-F5344CB8AC3E}">
        <p14:creationId xmlns:p14="http://schemas.microsoft.com/office/powerpoint/2010/main" val="18622708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2650</TotalTime>
  <Words>2390</Words>
  <Application>Microsoft Office PowerPoint</Application>
  <PresentationFormat>Widescreen</PresentationFormat>
  <Paragraphs>225</Paragraphs>
  <Slides>53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Arial</vt:lpstr>
      <vt:lpstr>Calibri</vt:lpstr>
      <vt:lpstr>Century Gothic</vt:lpstr>
      <vt:lpstr>Consolas</vt:lpstr>
      <vt:lpstr>Times New Roman</vt:lpstr>
      <vt:lpstr>Verdana</vt:lpstr>
      <vt:lpstr>Wingdings</vt:lpstr>
      <vt:lpstr>Wingdings 3</vt:lpstr>
      <vt:lpstr>Wisp</vt:lpstr>
      <vt:lpstr>Week-05 Introduction to Object-Oriented Programming (OOP)  </vt:lpstr>
      <vt:lpstr>Week-05 Introduction to Object-Oriented Programming (OOP) Day-01 Introduction to classes and methods  </vt:lpstr>
      <vt:lpstr>Contents</vt:lpstr>
      <vt:lpstr>PowerPoint Presentation</vt:lpstr>
      <vt:lpstr>PowerPoint Presentation</vt:lpstr>
      <vt:lpstr>1. Introduction to Object Oriented  Programming in Python</vt:lpstr>
      <vt:lpstr>2. What are Classes and Objects?</vt:lpstr>
      <vt:lpstr>Simple program in OOP using Python</vt:lpstr>
      <vt:lpstr>Program-02</vt:lpstr>
      <vt:lpstr>Constructor in Python</vt:lpstr>
      <vt:lpstr>Activity-01 </vt:lpstr>
      <vt:lpstr>Activity-02 </vt:lpstr>
      <vt:lpstr>Activity-03 </vt:lpstr>
      <vt:lpstr>Activity-04 </vt:lpstr>
      <vt:lpstr>Week-05 Introduction to Object-Oriented Programming (OOP) Day-02 More on classes and methods  </vt:lpstr>
      <vt:lpstr>Contents</vt:lpstr>
      <vt:lpstr>Constructor</vt:lpstr>
      <vt:lpstr>Constructor</vt:lpstr>
      <vt:lpstr>Parameter constructor</vt:lpstr>
      <vt:lpstr>Parameter constructor</vt:lpstr>
      <vt:lpstr>Activity-05</vt:lpstr>
      <vt:lpstr>Activity-06</vt:lpstr>
      <vt:lpstr>Activity-07</vt:lpstr>
      <vt:lpstr>Activity-08 </vt:lpstr>
      <vt:lpstr>Activity-08 Solution</vt:lpstr>
      <vt:lpstr>Week-05 Introduction to Object-Oriented Programming (OOP) Day-03 Inheritance and Polymorphism </vt:lpstr>
      <vt:lpstr>Contents</vt:lpstr>
      <vt:lpstr>PowerPoint Presentation</vt:lpstr>
      <vt:lpstr>Inheritance:</vt:lpstr>
      <vt:lpstr>PowerPoint Presentation</vt:lpstr>
      <vt:lpstr>PowerPoint Presentation</vt:lpstr>
      <vt:lpstr>Example: Single Level Inheritance</vt:lpstr>
      <vt:lpstr>Multilevel Inheritance:</vt:lpstr>
      <vt:lpstr>Multi-Level Inheritance</vt:lpstr>
      <vt:lpstr>Activity-05</vt:lpstr>
      <vt:lpstr>Hierarchical Inheritance:</vt:lpstr>
      <vt:lpstr>PowerPoint Presentation</vt:lpstr>
      <vt:lpstr>PowerPoint Presentation</vt:lpstr>
      <vt:lpstr>Multiple Inheritance:</vt:lpstr>
      <vt:lpstr>PowerPoint Presentation</vt:lpstr>
      <vt:lpstr>PowerPoint Presentation</vt:lpstr>
      <vt:lpstr>Polymorphism:</vt:lpstr>
      <vt:lpstr>PowerPoint Presentation</vt:lpstr>
      <vt:lpstr>Polymorphism is of two types:</vt:lpstr>
      <vt:lpstr>Compile-time Polymorphism:</vt:lpstr>
      <vt:lpstr>Method Overloading</vt:lpstr>
      <vt:lpstr>Run-time Polymorphism:</vt:lpstr>
      <vt:lpstr>Method Overriding</vt:lpstr>
      <vt:lpstr>Activity-09</vt:lpstr>
      <vt:lpstr>Activity-09 Sample Output</vt:lpstr>
      <vt:lpstr>Activity-09 Solution</vt:lpstr>
      <vt:lpstr>Task-01</vt:lpstr>
      <vt:lpstr>Task-02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dc:creator>
  <cp:lastModifiedBy>Barkha Teekam</cp:lastModifiedBy>
  <cp:revision>72</cp:revision>
  <dcterms:created xsi:type="dcterms:W3CDTF">2022-06-01T19:31:04Z</dcterms:created>
  <dcterms:modified xsi:type="dcterms:W3CDTF">2026-02-10T19:58:51Z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2020-04-09T00:00:00Z</vt:filetime>
  </property>
  <property fmtid="{D5CDD505-2E9C-101B-9397-08002B2CF9AE}" pid="3" name="Creator">
    <vt:lpwstr>Microsoft® PowerPoint® 2016</vt:lpwstr>
  </property>
  <property fmtid="{D5CDD505-2E9C-101B-9397-08002B2CF9AE}" pid="4" name="LastSaved">
    <vt:filetime>2022-06-01T00:00:00Z</vt:filetime>
  </property>
</Properties>
</file>