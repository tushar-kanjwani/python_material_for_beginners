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309" r:id="rId2"/>
    <p:sldId id="310" r:id="rId3"/>
    <p:sldId id="355" r:id="rId4"/>
    <p:sldId id="356" r:id="rId5"/>
    <p:sldId id="357" r:id="rId6"/>
    <p:sldId id="341" r:id="rId7"/>
    <p:sldId id="350" r:id="rId8"/>
    <p:sldId id="342" r:id="rId9"/>
    <p:sldId id="311" r:id="rId10"/>
    <p:sldId id="346" r:id="rId11"/>
    <p:sldId id="331" r:id="rId12"/>
    <p:sldId id="348" r:id="rId13"/>
    <p:sldId id="332" r:id="rId14"/>
    <p:sldId id="349" r:id="rId15"/>
    <p:sldId id="379" r:id="rId16"/>
    <p:sldId id="358" r:id="rId17"/>
    <p:sldId id="351" r:id="rId18"/>
    <p:sldId id="359" r:id="rId19"/>
    <p:sldId id="353" r:id="rId20"/>
    <p:sldId id="363" r:id="rId21"/>
    <p:sldId id="360" r:id="rId22"/>
    <p:sldId id="362" r:id="rId23"/>
    <p:sldId id="361" r:id="rId24"/>
    <p:sldId id="364" r:id="rId25"/>
    <p:sldId id="354" r:id="rId26"/>
    <p:sldId id="365" r:id="rId27"/>
    <p:sldId id="366" r:id="rId28"/>
    <p:sldId id="367" r:id="rId29"/>
    <p:sldId id="368" r:id="rId30"/>
    <p:sldId id="369" r:id="rId31"/>
    <p:sldId id="370" r:id="rId32"/>
    <p:sldId id="371" r:id="rId33"/>
    <p:sldId id="374" r:id="rId34"/>
    <p:sldId id="372" r:id="rId35"/>
    <p:sldId id="375" r:id="rId36"/>
    <p:sldId id="377" r:id="rId37"/>
    <p:sldId id="330" r:id="rId38"/>
  </p:sldIdLst>
  <p:sldSz cx="12192000" cy="6858000"/>
  <p:notesSz cx="12192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109" d="100"/>
          <a:sy n="109" d="100"/>
        </p:scale>
        <p:origin x="636" y="108"/>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obj" preserve="1">
  <p:cSld name="Title Slide">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ctrTitle"/>
          </p:nvPr>
        </p:nvSpPr>
        <p:spPr>
          <a:xfrm>
            <a:off x="1688973" y="1955114"/>
            <a:ext cx="8879840" cy="2282190"/>
          </a:xfrm>
          <a:prstGeom prst="rect">
            <a:avLst/>
          </a:prstGeom>
        </p:spPr>
        <p:txBody>
          <a:bodyPr wrap="square" lIns="0" tIns="0" rIns="0" bIns="0">
            <a:spAutoFit/>
          </a:bodyPr>
          <a:lstStyle>
            <a:lvl1pPr>
              <a:defRPr sz="4800" b="0" i="0">
                <a:solidFill>
                  <a:srgbClr val="404040"/>
                </a:solidFill>
                <a:latin typeface="Calibri Light"/>
                <a:cs typeface="Calibri Light"/>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sz="2000" b="0" i="0" u="sng">
                <a:solidFill>
                  <a:srgbClr val="2997E2"/>
                </a:solidFill>
                <a:latin typeface="Calibri"/>
                <a:cs typeface="Calibri"/>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2/4/2025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800" b="0" i="0">
                <a:solidFill>
                  <a:srgbClr val="404040"/>
                </a:solidFill>
                <a:latin typeface="Calibri Light"/>
                <a:cs typeface="Calibri Light"/>
              </a:defRPr>
            </a:lvl1pPr>
          </a:lstStyle>
          <a:p>
            <a:endParaRPr/>
          </a:p>
        </p:txBody>
      </p:sp>
      <p:sp>
        <p:nvSpPr>
          <p:cNvPr id="3" name="Holder 3"/>
          <p:cNvSpPr>
            <a:spLocks noGrp="1"/>
          </p:cNvSpPr>
          <p:nvPr>
            <p:ph type="body" idx="1"/>
          </p:nvPr>
        </p:nvSpPr>
        <p:spPr/>
        <p:txBody>
          <a:bodyPr lIns="0" tIns="0" rIns="0" bIns="0"/>
          <a:lstStyle>
            <a:lvl1pPr>
              <a:defRPr sz="2000" b="0" i="0" u="sng">
                <a:solidFill>
                  <a:srgbClr val="2997E2"/>
                </a:solidFill>
                <a:latin typeface="Calibri"/>
                <a:cs typeface="Calibri"/>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2/4/2025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800" b="0" i="0">
                <a:solidFill>
                  <a:srgbClr val="404040"/>
                </a:solidFill>
                <a:latin typeface="Calibri Light"/>
                <a:cs typeface="Calibri Light"/>
              </a:defRPr>
            </a:lvl1pPr>
          </a:lstStyle>
          <a:p>
            <a:endParaRPr/>
          </a:p>
        </p:txBody>
      </p:sp>
      <p:sp>
        <p:nvSpPr>
          <p:cNvPr id="3" name="Holder 3"/>
          <p:cNvSpPr>
            <a:spLocks noGrp="1"/>
          </p:cNvSpPr>
          <p:nvPr>
            <p:ph sz="half" idx="2"/>
          </p:nvPr>
        </p:nvSpPr>
        <p:spPr>
          <a:xfrm>
            <a:off x="1176019" y="1690903"/>
            <a:ext cx="2858135" cy="4121785"/>
          </a:xfrm>
          <a:prstGeom prst="rect">
            <a:avLst/>
          </a:prstGeom>
        </p:spPr>
        <p:txBody>
          <a:bodyPr wrap="square" lIns="0" tIns="0" rIns="0" bIns="0">
            <a:spAutoFit/>
          </a:bodyPr>
          <a:lstStyle>
            <a:lvl1pPr>
              <a:defRPr sz="1900" b="0" i="0">
                <a:solidFill>
                  <a:srgbClr val="404040"/>
                </a:solidFill>
                <a:latin typeface="Calibri"/>
                <a:cs typeface="Calibri"/>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2/4/2025</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800" b="0" i="0">
                <a:solidFill>
                  <a:srgbClr val="404040"/>
                </a:solidFill>
                <a:latin typeface="Calibri Light"/>
                <a:cs typeface="Calibri Light"/>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2/4/2025</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2/4/2025</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6400799"/>
            <a:ext cx="12192000" cy="457200"/>
          </a:xfrm>
          <a:custGeom>
            <a:avLst/>
            <a:gdLst/>
            <a:ahLst/>
            <a:cxnLst/>
            <a:rect l="l" t="t" r="r" b="b"/>
            <a:pathLst>
              <a:path w="12192000" h="457200">
                <a:moveTo>
                  <a:pt x="12192000" y="0"/>
                </a:moveTo>
                <a:lnTo>
                  <a:pt x="0" y="0"/>
                </a:lnTo>
                <a:lnTo>
                  <a:pt x="0" y="457199"/>
                </a:lnTo>
                <a:lnTo>
                  <a:pt x="12192000" y="457199"/>
                </a:lnTo>
                <a:lnTo>
                  <a:pt x="12192000" y="0"/>
                </a:lnTo>
                <a:close/>
              </a:path>
            </a:pathLst>
          </a:custGeom>
          <a:solidFill>
            <a:srgbClr val="BC572C"/>
          </a:solidFill>
        </p:spPr>
        <p:txBody>
          <a:bodyPr wrap="square" lIns="0" tIns="0" rIns="0" bIns="0" rtlCol="0"/>
          <a:lstStyle/>
          <a:p>
            <a:endParaRPr/>
          </a:p>
        </p:txBody>
      </p:sp>
      <p:sp>
        <p:nvSpPr>
          <p:cNvPr id="17" name="bg object 17"/>
          <p:cNvSpPr/>
          <p:nvPr/>
        </p:nvSpPr>
        <p:spPr>
          <a:xfrm>
            <a:off x="0" y="6333744"/>
            <a:ext cx="12192000" cy="67310"/>
          </a:xfrm>
          <a:custGeom>
            <a:avLst/>
            <a:gdLst/>
            <a:ahLst/>
            <a:cxnLst/>
            <a:rect l="l" t="t" r="r" b="b"/>
            <a:pathLst>
              <a:path w="12192000" h="67310">
                <a:moveTo>
                  <a:pt x="12192000" y="0"/>
                </a:moveTo>
                <a:lnTo>
                  <a:pt x="0" y="0"/>
                </a:lnTo>
                <a:lnTo>
                  <a:pt x="0" y="67055"/>
                </a:lnTo>
                <a:lnTo>
                  <a:pt x="12192000" y="67055"/>
                </a:lnTo>
                <a:lnTo>
                  <a:pt x="12192000" y="0"/>
                </a:lnTo>
                <a:close/>
              </a:path>
            </a:pathLst>
          </a:custGeom>
          <a:solidFill>
            <a:srgbClr val="E38312"/>
          </a:solidFill>
        </p:spPr>
        <p:txBody>
          <a:bodyPr wrap="square" lIns="0" tIns="0" rIns="0" bIns="0" rtlCol="0"/>
          <a:lstStyle/>
          <a:p>
            <a:endParaRPr/>
          </a:p>
        </p:txBody>
      </p:sp>
      <p:sp>
        <p:nvSpPr>
          <p:cNvPr id="18" name="bg object 18"/>
          <p:cNvSpPr/>
          <p:nvPr/>
        </p:nvSpPr>
        <p:spPr>
          <a:xfrm>
            <a:off x="1193291" y="1737360"/>
            <a:ext cx="9966960" cy="0"/>
          </a:xfrm>
          <a:custGeom>
            <a:avLst/>
            <a:gdLst/>
            <a:ahLst/>
            <a:cxnLst/>
            <a:rect l="l" t="t" r="r" b="b"/>
            <a:pathLst>
              <a:path w="9966960">
                <a:moveTo>
                  <a:pt x="0" y="0"/>
                </a:moveTo>
                <a:lnTo>
                  <a:pt x="9966960" y="0"/>
                </a:lnTo>
              </a:path>
            </a:pathLst>
          </a:custGeom>
          <a:ln w="6096">
            <a:solidFill>
              <a:srgbClr val="7E7E7E"/>
            </a:solidFill>
          </a:ln>
        </p:spPr>
        <p:txBody>
          <a:bodyPr wrap="square" lIns="0" tIns="0" rIns="0" bIns="0" rtlCol="0"/>
          <a:lstStyle/>
          <a:p>
            <a:endParaRPr/>
          </a:p>
        </p:txBody>
      </p:sp>
      <p:sp>
        <p:nvSpPr>
          <p:cNvPr id="2" name="Holder 2"/>
          <p:cNvSpPr>
            <a:spLocks noGrp="1"/>
          </p:cNvSpPr>
          <p:nvPr>
            <p:ph type="title"/>
          </p:nvPr>
        </p:nvSpPr>
        <p:spPr>
          <a:xfrm>
            <a:off x="1315592" y="292353"/>
            <a:ext cx="9629775" cy="1379220"/>
          </a:xfrm>
          <a:prstGeom prst="rect">
            <a:avLst/>
          </a:prstGeom>
        </p:spPr>
        <p:txBody>
          <a:bodyPr wrap="square" lIns="0" tIns="0" rIns="0" bIns="0">
            <a:spAutoFit/>
          </a:bodyPr>
          <a:lstStyle>
            <a:lvl1pPr>
              <a:defRPr sz="4800" b="0" i="0">
                <a:solidFill>
                  <a:srgbClr val="404040"/>
                </a:solidFill>
                <a:latin typeface="Calibri Light"/>
                <a:cs typeface="Calibri Light"/>
              </a:defRPr>
            </a:lvl1pPr>
          </a:lstStyle>
          <a:p>
            <a:endParaRPr/>
          </a:p>
        </p:txBody>
      </p:sp>
      <p:sp>
        <p:nvSpPr>
          <p:cNvPr id="3" name="Holder 3"/>
          <p:cNvSpPr>
            <a:spLocks noGrp="1"/>
          </p:cNvSpPr>
          <p:nvPr>
            <p:ph type="body" idx="1"/>
          </p:nvPr>
        </p:nvSpPr>
        <p:spPr>
          <a:xfrm>
            <a:off x="1095375" y="1684502"/>
            <a:ext cx="10001249" cy="3562350"/>
          </a:xfrm>
          <a:prstGeom prst="rect">
            <a:avLst/>
          </a:prstGeom>
        </p:spPr>
        <p:txBody>
          <a:bodyPr wrap="square" lIns="0" tIns="0" rIns="0" bIns="0">
            <a:spAutoFit/>
          </a:bodyPr>
          <a:lstStyle>
            <a:lvl1pPr>
              <a:defRPr sz="2000" b="0" i="0" u="sng">
                <a:solidFill>
                  <a:srgbClr val="2997E2"/>
                </a:solidFill>
                <a:latin typeface="Calibri"/>
                <a:cs typeface="Calibri"/>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2/4/2025</a:t>
            </a:fld>
            <a:endParaRPr lang="en-US"/>
          </a:p>
        </p:txBody>
      </p:sp>
      <p:sp>
        <p:nvSpPr>
          <p:cNvPr id="6" name="Holder 6"/>
          <p:cNvSpPr>
            <a:spLocks noGrp="1"/>
          </p:cNvSpPr>
          <p:nvPr>
            <p:ph type="sldNum" sz="quarter" idx="7"/>
          </p:nvPr>
        </p:nvSpPr>
        <p:spPr>
          <a:xfrm>
            <a:off x="87782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1524000" y="1066800"/>
            <a:ext cx="7383679" cy="3325910"/>
          </a:xfrm>
          <a:prstGeom prst="rect">
            <a:avLst/>
          </a:prstGeom>
        </p:spPr>
        <p:txBody>
          <a:bodyPr vert="horz" wrap="square" lIns="0" tIns="154305" rIns="0" bIns="0" rtlCol="0">
            <a:spAutoFit/>
          </a:bodyPr>
          <a:lstStyle/>
          <a:p>
            <a:pPr marL="10160" algn="ctr">
              <a:lnSpc>
                <a:spcPct val="100000"/>
              </a:lnSpc>
              <a:spcBef>
                <a:spcPts val="1215"/>
              </a:spcBef>
              <a:buClr>
                <a:srgbClr val="E38312"/>
              </a:buClr>
              <a:buSzPct val="95833"/>
              <a:tabLst>
                <a:tab pos="283210" algn="l"/>
              </a:tabLst>
            </a:pPr>
            <a:r>
              <a:rPr lang="en-US" sz="4400" dirty="0" smtClean="0">
                <a:latin typeface="Calibri"/>
                <a:cs typeface="Calibri"/>
              </a:rPr>
              <a:t>Week-03</a:t>
            </a:r>
          </a:p>
          <a:p>
            <a:pPr marL="10160" algn="ctr">
              <a:lnSpc>
                <a:spcPct val="100000"/>
              </a:lnSpc>
              <a:spcBef>
                <a:spcPts val="1215"/>
              </a:spcBef>
              <a:buClr>
                <a:srgbClr val="E38312"/>
              </a:buClr>
              <a:buSzPct val="95833"/>
              <a:tabLst>
                <a:tab pos="283210" algn="l"/>
              </a:tabLst>
            </a:pPr>
            <a:r>
              <a:rPr lang="en-US" sz="4400" dirty="0" smtClean="0">
                <a:latin typeface="Calibri"/>
                <a:cs typeface="Calibri"/>
              </a:rPr>
              <a:t>Control Flow and Looping</a:t>
            </a:r>
          </a:p>
          <a:p>
            <a:pPr marL="10160" algn="ctr">
              <a:lnSpc>
                <a:spcPct val="100000"/>
              </a:lnSpc>
              <a:spcBef>
                <a:spcPts val="1215"/>
              </a:spcBef>
              <a:buClr>
                <a:srgbClr val="E38312"/>
              </a:buClr>
              <a:buSzPct val="95833"/>
              <a:tabLst>
                <a:tab pos="283210" algn="l"/>
              </a:tabLst>
            </a:pPr>
            <a:r>
              <a:rPr lang="en-US" sz="4400" dirty="0" smtClean="0">
                <a:latin typeface="Calibri"/>
                <a:cs typeface="Calibri"/>
              </a:rPr>
              <a:t>Day-05</a:t>
            </a:r>
          </a:p>
          <a:p>
            <a:pPr marL="10160" algn="ctr">
              <a:lnSpc>
                <a:spcPct val="100000"/>
              </a:lnSpc>
              <a:spcBef>
                <a:spcPts val="1215"/>
              </a:spcBef>
              <a:buClr>
                <a:srgbClr val="E38312"/>
              </a:buClr>
              <a:buSzPct val="95833"/>
              <a:tabLst>
                <a:tab pos="283210" algn="l"/>
              </a:tabLst>
            </a:pPr>
            <a:r>
              <a:rPr lang="en-US" sz="4400" dirty="0" smtClean="0">
                <a:latin typeface="Calibri"/>
                <a:cs typeface="Calibri"/>
              </a:rPr>
              <a:t>Project Day</a:t>
            </a:r>
          </a:p>
        </p:txBody>
      </p:sp>
      <p:sp>
        <p:nvSpPr>
          <p:cNvPr id="4" name="Subtitle 3"/>
          <p:cNvSpPr>
            <a:spLocks noGrp="1"/>
          </p:cNvSpPr>
          <p:nvPr>
            <p:ph type="subTitle" idx="4"/>
          </p:nvPr>
        </p:nvSpPr>
        <p:spPr>
          <a:xfrm>
            <a:off x="1219200" y="5410200"/>
            <a:ext cx="8534400" cy="492443"/>
          </a:xfrm>
        </p:spPr>
        <p:txBody>
          <a:bodyPr/>
          <a:lstStyle/>
          <a:p>
            <a:pPr algn="ctr"/>
            <a:r>
              <a:rPr lang="en-US" sz="3200" u="none" dirty="0" smtClean="0">
                <a:solidFill>
                  <a:schemeClr val="tx1"/>
                </a:solidFill>
              </a:rPr>
              <a:t>By: Engr. Asif Ali</a:t>
            </a:r>
            <a:endParaRPr lang="en-US" sz="3200" u="none" dirty="0">
              <a:solidFill>
                <a:schemeClr val="tx1"/>
              </a:solidFill>
            </a:endParaRPr>
          </a:p>
        </p:txBody>
      </p:sp>
    </p:spTree>
    <p:extLst>
      <p:ext uri="{BB962C8B-B14F-4D97-AF65-F5344CB8AC3E}">
        <p14:creationId xmlns:p14="http://schemas.microsoft.com/office/powerpoint/2010/main" val="154321134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900040" y="245744"/>
            <a:ext cx="2948560" cy="1520288"/>
          </a:xfrm>
          <a:prstGeom prst="rect">
            <a:avLst/>
          </a:prstGeom>
        </p:spPr>
        <p:txBody>
          <a:bodyPr vert="horz" wrap="square" lIns="0" tIns="12065" rIns="0" bIns="0" rtlCol="0">
            <a:spAutoFit/>
          </a:bodyPr>
          <a:lstStyle/>
          <a:p>
            <a:pPr marL="12700">
              <a:lnSpc>
                <a:spcPct val="100000"/>
              </a:lnSpc>
              <a:spcBef>
                <a:spcPts val="95"/>
              </a:spcBef>
            </a:pPr>
            <a:r>
              <a:rPr lang="en-US" sz="4900" spc="-50" dirty="0" smtClean="0"/>
              <a:t>Learning outcomes</a:t>
            </a:r>
            <a:endParaRPr sz="4900" dirty="0"/>
          </a:p>
        </p:txBody>
      </p:sp>
      <p:sp>
        <p:nvSpPr>
          <p:cNvPr id="3" name="object 3"/>
          <p:cNvSpPr txBox="1"/>
          <p:nvPr/>
        </p:nvSpPr>
        <p:spPr>
          <a:xfrm>
            <a:off x="228600" y="1752600"/>
            <a:ext cx="11582400" cy="1571584"/>
          </a:xfrm>
          <a:prstGeom prst="rect">
            <a:avLst/>
          </a:prstGeom>
        </p:spPr>
        <p:txBody>
          <a:bodyPr vert="horz" wrap="square" lIns="0" tIns="154305" rIns="0" bIns="0" rtlCol="0">
            <a:spAutoFit/>
          </a:bodyPr>
          <a:lstStyle/>
          <a:p>
            <a:pPr marL="283210" indent="-273050">
              <a:lnSpc>
                <a:spcPct val="100000"/>
              </a:lnSpc>
              <a:spcBef>
                <a:spcPts val="1215"/>
              </a:spcBef>
              <a:buClr>
                <a:srgbClr val="E38312"/>
              </a:buClr>
              <a:buSzPct val="95833"/>
              <a:buFont typeface="Wingdings"/>
              <a:buChar char=""/>
              <a:tabLst>
                <a:tab pos="283210" algn="l"/>
              </a:tabLst>
            </a:pPr>
            <a:r>
              <a:rPr lang="en-US" sz="2400" dirty="0" smtClean="0"/>
              <a:t>Quick review of lists, functions, tuples, and dictionaries.</a:t>
            </a:r>
          </a:p>
          <a:p>
            <a:pPr marL="283210" indent="-273050">
              <a:lnSpc>
                <a:spcPct val="100000"/>
              </a:lnSpc>
              <a:spcBef>
                <a:spcPts val="1215"/>
              </a:spcBef>
              <a:buClr>
                <a:srgbClr val="E38312"/>
              </a:buClr>
              <a:buSzPct val="95833"/>
              <a:buFont typeface="Wingdings"/>
              <a:buChar char=""/>
              <a:tabLst>
                <a:tab pos="283210" algn="l"/>
              </a:tabLst>
            </a:pPr>
            <a:r>
              <a:rPr lang="en-US" sz="2400" dirty="0" smtClean="0"/>
              <a:t>Activities</a:t>
            </a:r>
          </a:p>
          <a:p>
            <a:pPr marL="283210" indent="-273050">
              <a:lnSpc>
                <a:spcPct val="100000"/>
              </a:lnSpc>
              <a:spcBef>
                <a:spcPts val="1215"/>
              </a:spcBef>
              <a:buClr>
                <a:srgbClr val="E38312"/>
              </a:buClr>
              <a:buSzPct val="95833"/>
              <a:buFont typeface="Wingdings"/>
              <a:buChar char=""/>
              <a:tabLst>
                <a:tab pos="283210" algn="l"/>
              </a:tabLst>
            </a:pPr>
            <a:r>
              <a:rPr lang="en-US" sz="2400" dirty="0" smtClean="0"/>
              <a:t>You will apply all these skills in making project</a:t>
            </a:r>
            <a:endParaRPr lang="en-US" sz="2400" dirty="0"/>
          </a:p>
        </p:txBody>
      </p:sp>
    </p:spTree>
    <p:extLst>
      <p:ext uri="{BB962C8B-B14F-4D97-AF65-F5344CB8AC3E}">
        <p14:creationId xmlns:p14="http://schemas.microsoft.com/office/powerpoint/2010/main" val="107698443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143000" y="2209800"/>
            <a:ext cx="10001249" cy="1107996"/>
          </a:xfrm>
        </p:spPr>
        <p:txBody>
          <a:bodyPr/>
          <a:lstStyle/>
          <a:p>
            <a:endParaRPr lang="en-US" sz="3600" u="none" dirty="0">
              <a:solidFill>
                <a:schemeClr val="tx1"/>
              </a:solidFill>
            </a:endParaRPr>
          </a:p>
          <a:p>
            <a:pPr algn="ctr"/>
            <a:r>
              <a:rPr lang="en-US" sz="3600" u="none" dirty="0" smtClean="0">
                <a:solidFill>
                  <a:schemeClr val="tx1"/>
                </a:solidFill>
              </a:rPr>
              <a:t>Quick Review of List</a:t>
            </a:r>
            <a:endParaRPr lang="en-US" sz="3600" u="none" dirty="0">
              <a:solidFill>
                <a:schemeClr val="tx1"/>
              </a:solidFill>
            </a:endParaRPr>
          </a:p>
        </p:txBody>
      </p:sp>
    </p:spTree>
    <p:extLst>
      <p:ext uri="{BB962C8B-B14F-4D97-AF65-F5344CB8AC3E}">
        <p14:creationId xmlns:p14="http://schemas.microsoft.com/office/powerpoint/2010/main" val="158524315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15592" y="292353"/>
            <a:ext cx="9629775" cy="738664"/>
          </a:xfrm>
        </p:spPr>
        <p:txBody>
          <a:bodyPr/>
          <a:lstStyle/>
          <a:p>
            <a:pPr algn="ctr"/>
            <a:r>
              <a:rPr lang="en-US" dirty="0" smtClean="0"/>
              <a:t>List Revision</a:t>
            </a:r>
            <a:endParaRPr lang="en-US" dirty="0"/>
          </a:p>
        </p:txBody>
      </p:sp>
      <p:sp>
        <p:nvSpPr>
          <p:cNvPr id="3" name="Text Placeholder 2"/>
          <p:cNvSpPr>
            <a:spLocks noGrp="1"/>
          </p:cNvSpPr>
          <p:nvPr>
            <p:ph type="body" idx="1"/>
          </p:nvPr>
        </p:nvSpPr>
        <p:spPr>
          <a:xfrm>
            <a:off x="1095375" y="1684502"/>
            <a:ext cx="10001249" cy="3385542"/>
          </a:xfrm>
        </p:spPr>
        <p:txBody>
          <a:bodyPr/>
          <a:lstStyle/>
          <a:p>
            <a:r>
              <a:rPr lang="en-US" u="none" dirty="0" smtClean="0">
                <a:solidFill>
                  <a:schemeClr val="tx1"/>
                </a:solidFill>
              </a:rPr>
              <a:t>List Initialization and checking the type</a:t>
            </a:r>
          </a:p>
          <a:p>
            <a:r>
              <a:rPr lang="en-US" u="none" dirty="0">
                <a:solidFill>
                  <a:schemeClr val="tx1"/>
                </a:solidFill>
              </a:rPr>
              <a:t>numbers = [33,44,55,66</a:t>
            </a:r>
            <a:r>
              <a:rPr lang="en-US" u="none" dirty="0" smtClean="0">
                <a:solidFill>
                  <a:schemeClr val="tx1"/>
                </a:solidFill>
              </a:rPr>
              <a:t>]</a:t>
            </a:r>
          </a:p>
          <a:p>
            <a:r>
              <a:rPr lang="en-US" u="none" dirty="0" smtClean="0">
                <a:solidFill>
                  <a:schemeClr val="tx1"/>
                </a:solidFill>
              </a:rPr>
              <a:t>print(type(numbers))</a:t>
            </a:r>
          </a:p>
          <a:p>
            <a:endParaRPr lang="en-US" u="none" dirty="0">
              <a:solidFill>
                <a:schemeClr val="tx1"/>
              </a:solidFill>
            </a:endParaRPr>
          </a:p>
          <a:p>
            <a:endParaRPr lang="en-US" u="none" dirty="0" smtClean="0">
              <a:solidFill>
                <a:schemeClr val="tx1"/>
              </a:solidFill>
            </a:endParaRPr>
          </a:p>
          <a:p>
            <a:r>
              <a:rPr lang="en-US" u="none" dirty="0" smtClean="0">
                <a:solidFill>
                  <a:schemeClr val="tx1"/>
                </a:solidFill>
              </a:rPr>
              <a:t>Traversing items in the list</a:t>
            </a:r>
          </a:p>
          <a:p>
            <a:r>
              <a:rPr lang="en-US" u="none" dirty="0">
                <a:solidFill>
                  <a:schemeClr val="tx1"/>
                </a:solidFill>
              </a:rPr>
              <a:t>numbers = [33,44,55,66</a:t>
            </a:r>
            <a:r>
              <a:rPr lang="en-US" u="none" dirty="0" smtClean="0">
                <a:solidFill>
                  <a:schemeClr val="tx1"/>
                </a:solidFill>
              </a:rPr>
              <a:t>]</a:t>
            </a:r>
          </a:p>
          <a:p>
            <a:r>
              <a:rPr lang="en-US" u="none" dirty="0" smtClean="0">
                <a:solidFill>
                  <a:schemeClr val="tx1"/>
                </a:solidFill>
              </a:rPr>
              <a:t>for </a:t>
            </a:r>
            <a:r>
              <a:rPr lang="en-US" u="none" dirty="0">
                <a:solidFill>
                  <a:schemeClr val="tx1"/>
                </a:solidFill>
              </a:rPr>
              <a:t>a in numbers:    </a:t>
            </a:r>
            <a:endParaRPr lang="en-US" u="none" dirty="0" smtClean="0">
              <a:solidFill>
                <a:schemeClr val="tx1"/>
              </a:solidFill>
            </a:endParaRPr>
          </a:p>
          <a:p>
            <a:r>
              <a:rPr lang="en-US" u="none" dirty="0">
                <a:solidFill>
                  <a:schemeClr val="tx1"/>
                </a:solidFill>
              </a:rPr>
              <a:t>	</a:t>
            </a:r>
            <a:r>
              <a:rPr lang="en-US" u="none" dirty="0" smtClean="0">
                <a:solidFill>
                  <a:schemeClr val="tx1"/>
                </a:solidFill>
              </a:rPr>
              <a:t>print(a)</a:t>
            </a:r>
          </a:p>
          <a:p>
            <a:endParaRPr lang="en-US" u="none" dirty="0">
              <a:solidFill>
                <a:schemeClr val="tx1"/>
              </a:solidFill>
            </a:endParaRPr>
          </a:p>
          <a:p>
            <a:endParaRPr lang="en-US" u="none" dirty="0">
              <a:solidFill>
                <a:schemeClr val="tx1"/>
              </a:solidFill>
            </a:endParaRPr>
          </a:p>
        </p:txBody>
      </p:sp>
    </p:spTree>
    <p:extLst>
      <p:ext uri="{BB962C8B-B14F-4D97-AF65-F5344CB8AC3E}">
        <p14:creationId xmlns:p14="http://schemas.microsoft.com/office/powerpoint/2010/main" val="169032233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15592" y="292353"/>
            <a:ext cx="9629775" cy="738664"/>
          </a:xfrm>
        </p:spPr>
        <p:txBody>
          <a:bodyPr/>
          <a:lstStyle/>
          <a:p>
            <a:pPr algn="ctr"/>
            <a:r>
              <a:rPr lang="en-US" dirty="0" smtClean="0"/>
              <a:t>List Revision</a:t>
            </a:r>
            <a:endParaRPr lang="en-US" dirty="0"/>
          </a:p>
        </p:txBody>
      </p:sp>
      <p:sp>
        <p:nvSpPr>
          <p:cNvPr id="3" name="Text Placeholder 2"/>
          <p:cNvSpPr>
            <a:spLocks noGrp="1"/>
          </p:cNvSpPr>
          <p:nvPr>
            <p:ph type="body" idx="1"/>
          </p:nvPr>
        </p:nvSpPr>
        <p:spPr>
          <a:xfrm>
            <a:off x="1095375" y="1684502"/>
            <a:ext cx="10001249" cy="2769989"/>
          </a:xfrm>
        </p:spPr>
        <p:txBody>
          <a:bodyPr/>
          <a:lstStyle/>
          <a:p>
            <a:r>
              <a:rPr lang="en-US" u="none" dirty="0" smtClean="0">
                <a:solidFill>
                  <a:schemeClr val="tx1"/>
                </a:solidFill>
              </a:rPr>
              <a:t>Searching an item in the list</a:t>
            </a:r>
          </a:p>
          <a:p>
            <a:r>
              <a:rPr lang="en-US" u="none" dirty="0">
                <a:solidFill>
                  <a:schemeClr val="tx1"/>
                </a:solidFill>
              </a:rPr>
              <a:t>numbers = [33,44,55,66</a:t>
            </a:r>
            <a:r>
              <a:rPr lang="en-US" u="none" dirty="0" smtClean="0">
                <a:solidFill>
                  <a:schemeClr val="tx1"/>
                </a:solidFill>
              </a:rPr>
              <a:t>]</a:t>
            </a:r>
          </a:p>
          <a:p>
            <a:r>
              <a:rPr lang="en-US" u="none" dirty="0" smtClean="0">
                <a:solidFill>
                  <a:schemeClr val="tx1"/>
                </a:solidFill>
              </a:rPr>
              <a:t>for </a:t>
            </a:r>
            <a:r>
              <a:rPr lang="en-US" u="none" dirty="0">
                <a:solidFill>
                  <a:schemeClr val="tx1"/>
                </a:solidFill>
              </a:rPr>
              <a:t>a in numbers:    </a:t>
            </a:r>
            <a:endParaRPr lang="en-US" u="none" dirty="0" smtClean="0">
              <a:solidFill>
                <a:schemeClr val="tx1"/>
              </a:solidFill>
            </a:endParaRPr>
          </a:p>
          <a:p>
            <a:r>
              <a:rPr lang="en-US" u="none" dirty="0">
                <a:solidFill>
                  <a:schemeClr val="tx1"/>
                </a:solidFill>
              </a:rPr>
              <a:t>	</a:t>
            </a:r>
            <a:r>
              <a:rPr lang="en-US" u="none" dirty="0" smtClean="0">
                <a:solidFill>
                  <a:schemeClr val="tx1"/>
                </a:solidFill>
              </a:rPr>
              <a:t>if </a:t>
            </a:r>
            <a:r>
              <a:rPr lang="en-US" u="none" dirty="0">
                <a:solidFill>
                  <a:schemeClr val="tx1"/>
                </a:solidFill>
              </a:rPr>
              <a:t>a == 34:        </a:t>
            </a:r>
            <a:endParaRPr lang="en-US" u="none" dirty="0" smtClean="0">
              <a:solidFill>
                <a:schemeClr val="tx1"/>
              </a:solidFill>
            </a:endParaRPr>
          </a:p>
          <a:p>
            <a:r>
              <a:rPr lang="en-US" u="none" dirty="0">
                <a:solidFill>
                  <a:schemeClr val="tx1"/>
                </a:solidFill>
              </a:rPr>
              <a:t>	</a:t>
            </a:r>
            <a:r>
              <a:rPr lang="en-US" u="none" dirty="0" smtClean="0">
                <a:solidFill>
                  <a:schemeClr val="tx1"/>
                </a:solidFill>
              </a:rPr>
              <a:t>	print</a:t>
            </a:r>
            <a:r>
              <a:rPr lang="en-US" u="none" dirty="0">
                <a:solidFill>
                  <a:schemeClr val="tx1"/>
                </a:solidFill>
              </a:rPr>
              <a:t>("Found")        </a:t>
            </a:r>
            <a:endParaRPr lang="en-US" u="none" dirty="0" smtClean="0">
              <a:solidFill>
                <a:schemeClr val="tx1"/>
              </a:solidFill>
            </a:endParaRPr>
          </a:p>
          <a:p>
            <a:r>
              <a:rPr lang="en-US" u="none" dirty="0">
                <a:solidFill>
                  <a:schemeClr val="tx1"/>
                </a:solidFill>
              </a:rPr>
              <a:t>	</a:t>
            </a:r>
            <a:r>
              <a:rPr lang="en-US" u="none" dirty="0" smtClean="0">
                <a:solidFill>
                  <a:schemeClr val="tx1"/>
                </a:solidFill>
              </a:rPr>
              <a:t>	break</a:t>
            </a:r>
          </a:p>
          <a:p>
            <a:r>
              <a:rPr lang="en-US" u="none" dirty="0" smtClean="0">
                <a:solidFill>
                  <a:schemeClr val="tx1"/>
                </a:solidFill>
              </a:rPr>
              <a:t>else</a:t>
            </a:r>
            <a:r>
              <a:rPr lang="en-US" u="none" dirty="0">
                <a:solidFill>
                  <a:schemeClr val="tx1"/>
                </a:solidFill>
              </a:rPr>
              <a:t>:    </a:t>
            </a:r>
            <a:endParaRPr lang="en-US" u="none" dirty="0" smtClean="0">
              <a:solidFill>
                <a:schemeClr val="tx1"/>
              </a:solidFill>
            </a:endParaRPr>
          </a:p>
          <a:p>
            <a:r>
              <a:rPr lang="en-US" u="none" dirty="0" smtClean="0">
                <a:solidFill>
                  <a:schemeClr val="tx1"/>
                </a:solidFill>
              </a:rPr>
              <a:t>print</a:t>
            </a:r>
            <a:r>
              <a:rPr lang="en-US" u="none" dirty="0">
                <a:solidFill>
                  <a:schemeClr val="tx1"/>
                </a:solidFill>
              </a:rPr>
              <a:t>("Not found")</a:t>
            </a:r>
            <a:endParaRPr lang="en-US" u="none" dirty="0" smtClean="0">
              <a:solidFill>
                <a:schemeClr val="tx1"/>
              </a:solidFill>
            </a:endParaRPr>
          </a:p>
          <a:p>
            <a:endParaRPr lang="en-US" u="none" dirty="0">
              <a:solidFill>
                <a:schemeClr val="tx1"/>
              </a:solidFill>
            </a:endParaRPr>
          </a:p>
        </p:txBody>
      </p:sp>
    </p:spTree>
    <p:extLst>
      <p:ext uri="{BB962C8B-B14F-4D97-AF65-F5344CB8AC3E}">
        <p14:creationId xmlns:p14="http://schemas.microsoft.com/office/powerpoint/2010/main" val="86802291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15592" y="292353"/>
            <a:ext cx="9629775" cy="1477328"/>
          </a:xfrm>
        </p:spPr>
        <p:txBody>
          <a:bodyPr/>
          <a:lstStyle/>
          <a:p>
            <a:pPr algn="ctr"/>
            <a:r>
              <a:rPr lang="en-US" dirty="0" smtClean="0"/>
              <a:t>List Revision</a:t>
            </a:r>
            <a:br>
              <a:rPr lang="en-US" dirty="0" smtClean="0"/>
            </a:br>
            <a:r>
              <a:rPr lang="en-US" dirty="0" smtClean="0"/>
              <a:t>Inserting an item in the list</a:t>
            </a:r>
            <a:endParaRPr lang="en-US" dirty="0"/>
          </a:p>
        </p:txBody>
      </p:sp>
      <p:sp>
        <p:nvSpPr>
          <p:cNvPr id="3" name="Text Placeholder 2"/>
          <p:cNvSpPr>
            <a:spLocks noGrp="1"/>
          </p:cNvSpPr>
          <p:nvPr>
            <p:ph type="body" idx="1"/>
          </p:nvPr>
        </p:nvSpPr>
        <p:spPr>
          <a:xfrm>
            <a:off x="1095375" y="1684502"/>
            <a:ext cx="10001249" cy="3447098"/>
          </a:xfrm>
        </p:spPr>
        <p:txBody>
          <a:bodyPr/>
          <a:lstStyle/>
          <a:p>
            <a:r>
              <a:rPr lang="en-US" sz="3200" u="none" dirty="0">
                <a:solidFill>
                  <a:schemeClr val="tx1"/>
                </a:solidFill>
              </a:rPr>
              <a:t>print("Inserting fruits in the basket </a:t>
            </a:r>
            <a:r>
              <a:rPr lang="en-US" sz="3200" u="none" dirty="0" smtClean="0">
                <a:solidFill>
                  <a:schemeClr val="tx1"/>
                </a:solidFill>
              </a:rPr>
              <a:t>program </a:t>
            </a:r>
            <a:r>
              <a:rPr lang="en-US" sz="3200" u="none" dirty="0">
                <a:solidFill>
                  <a:schemeClr val="tx1"/>
                </a:solidFill>
              </a:rPr>
              <a:t>in the python</a:t>
            </a:r>
            <a:r>
              <a:rPr lang="en-US" sz="3200" u="none" dirty="0" smtClean="0">
                <a:solidFill>
                  <a:schemeClr val="tx1"/>
                </a:solidFill>
              </a:rPr>
              <a:t>")</a:t>
            </a:r>
          </a:p>
          <a:p>
            <a:r>
              <a:rPr lang="en-US" sz="3200" u="none" dirty="0" smtClean="0">
                <a:solidFill>
                  <a:schemeClr val="tx1"/>
                </a:solidFill>
              </a:rPr>
              <a:t>fruits </a:t>
            </a:r>
            <a:r>
              <a:rPr lang="en-US" sz="3200" u="none" dirty="0">
                <a:solidFill>
                  <a:schemeClr val="tx1"/>
                </a:solidFill>
              </a:rPr>
              <a:t>= </a:t>
            </a:r>
            <a:r>
              <a:rPr lang="en-US" sz="3200" u="none" dirty="0" smtClean="0">
                <a:solidFill>
                  <a:schemeClr val="tx1"/>
                </a:solidFill>
              </a:rPr>
              <a:t>[ ]</a:t>
            </a:r>
          </a:p>
          <a:p>
            <a:r>
              <a:rPr lang="en-US" sz="3200" u="none" dirty="0" smtClean="0">
                <a:solidFill>
                  <a:schemeClr val="tx1"/>
                </a:solidFill>
              </a:rPr>
              <a:t>choice </a:t>
            </a:r>
            <a:r>
              <a:rPr lang="en-US" sz="3200" u="none" dirty="0">
                <a:solidFill>
                  <a:schemeClr val="tx1"/>
                </a:solidFill>
              </a:rPr>
              <a:t>= </a:t>
            </a:r>
            <a:r>
              <a:rPr lang="en-US" sz="3200" u="none" dirty="0" err="1">
                <a:solidFill>
                  <a:schemeClr val="tx1"/>
                </a:solidFill>
              </a:rPr>
              <a:t>int</a:t>
            </a:r>
            <a:r>
              <a:rPr lang="en-US" sz="3200" u="none" dirty="0">
                <a:solidFill>
                  <a:schemeClr val="tx1"/>
                </a:solidFill>
              </a:rPr>
              <a:t>(input("How many fruits you want to insert: </a:t>
            </a:r>
            <a:r>
              <a:rPr lang="en-US" sz="3200" u="none" dirty="0" smtClean="0">
                <a:solidFill>
                  <a:schemeClr val="tx1"/>
                </a:solidFill>
              </a:rPr>
              <a:t>"))</a:t>
            </a:r>
          </a:p>
          <a:p>
            <a:r>
              <a:rPr lang="en-US" sz="3200" u="none" dirty="0" smtClean="0">
                <a:solidFill>
                  <a:schemeClr val="tx1"/>
                </a:solidFill>
              </a:rPr>
              <a:t>for </a:t>
            </a:r>
            <a:r>
              <a:rPr lang="en-US" sz="3200" u="none" dirty="0">
                <a:solidFill>
                  <a:schemeClr val="tx1"/>
                </a:solidFill>
              </a:rPr>
              <a:t>a in range(1,choice+1):    </a:t>
            </a:r>
            <a:endParaRPr lang="en-US" sz="3200" u="none" dirty="0" smtClean="0">
              <a:solidFill>
                <a:schemeClr val="tx1"/>
              </a:solidFill>
            </a:endParaRPr>
          </a:p>
          <a:p>
            <a:r>
              <a:rPr lang="en-US" sz="3200" u="none" dirty="0" smtClean="0">
                <a:solidFill>
                  <a:schemeClr val="tx1"/>
                </a:solidFill>
              </a:rPr>
              <a:t>	</a:t>
            </a:r>
            <a:r>
              <a:rPr lang="en-US" sz="3200" u="none" dirty="0" err="1" smtClean="0">
                <a:solidFill>
                  <a:schemeClr val="tx1"/>
                </a:solidFill>
              </a:rPr>
              <a:t>i</a:t>
            </a:r>
            <a:r>
              <a:rPr lang="en-US" sz="3200" u="none" dirty="0" smtClean="0">
                <a:solidFill>
                  <a:schemeClr val="tx1"/>
                </a:solidFill>
              </a:rPr>
              <a:t> </a:t>
            </a:r>
            <a:r>
              <a:rPr lang="en-US" sz="3200" u="none" dirty="0">
                <a:solidFill>
                  <a:schemeClr val="tx1"/>
                </a:solidFill>
              </a:rPr>
              <a:t>= input(</a:t>
            </a:r>
            <a:r>
              <a:rPr lang="en-US" sz="3200" u="none" dirty="0" err="1">
                <a:solidFill>
                  <a:schemeClr val="tx1"/>
                </a:solidFill>
              </a:rPr>
              <a:t>f'Enter</a:t>
            </a:r>
            <a:r>
              <a:rPr lang="en-US" sz="3200" u="none" dirty="0">
                <a:solidFill>
                  <a:schemeClr val="tx1"/>
                </a:solidFill>
              </a:rPr>
              <a:t> fruit name  {a}: ')    </a:t>
            </a:r>
            <a:endParaRPr lang="en-US" sz="3200" u="none" dirty="0" smtClean="0">
              <a:solidFill>
                <a:schemeClr val="tx1"/>
              </a:solidFill>
            </a:endParaRPr>
          </a:p>
          <a:p>
            <a:r>
              <a:rPr lang="en-US" sz="3200" u="none" dirty="0">
                <a:solidFill>
                  <a:schemeClr val="tx1"/>
                </a:solidFill>
              </a:rPr>
              <a:t>	</a:t>
            </a:r>
            <a:r>
              <a:rPr lang="en-US" sz="3200" u="none" dirty="0" err="1" smtClean="0">
                <a:solidFill>
                  <a:schemeClr val="tx1"/>
                </a:solidFill>
              </a:rPr>
              <a:t>fruits.append</a:t>
            </a:r>
            <a:r>
              <a:rPr lang="en-US" sz="3200" u="none" dirty="0" smtClean="0">
                <a:solidFill>
                  <a:schemeClr val="tx1"/>
                </a:solidFill>
              </a:rPr>
              <a:t>(</a:t>
            </a:r>
            <a:r>
              <a:rPr lang="en-US" sz="3200" u="none" dirty="0" err="1" smtClean="0">
                <a:solidFill>
                  <a:schemeClr val="tx1"/>
                </a:solidFill>
              </a:rPr>
              <a:t>i</a:t>
            </a:r>
            <a:r>
              <a:rPr lang="en-US" sz="3200" u="none" dirty="0" smtClean="0">
                <a:solidFill>
                  <a:schemeClr val="tx1"/>
                </a:solidFill>
              </a:rPr>
              <a:t>)</a:t>
            </a:r>
          </a:p>
          <a:p>
            <a:r>
              <a:rPr lang="en-US" sz="3200" u="none" dirty="0" smtClean="0">
                <a:solidFill>
                  <a:schemeClr val="tx1"/>
                </a:solidFill>
              </a:rPr>
              <a:t>print(fruits</a:t>
            </a:r>
            <a:r>
              <a:rPr lang="en-US" sz="3200" u="none" dirty="0">
                <a:solidFill>
                  <a:schemeClr val="tx1"/>
                </a:solidFill>
              </a:rPr>
              <a:t>)</a:t>
            </a:r>
          </a:p>
        </p:txBody>
      </p:sp>
    </p:spTree>
    <p:extLst>
      <p:ext uri="{BB962C8B-B14F-4D97-AF65-F5344CB8AC3E}">
        <p14:creationId xmlns:p14="http://schemas.microsoft.com/office/powerpoint/2010/main" val="294936625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15592" y="292353"/>
            <a:ext cx="9629775" cy="1477328"/>
          </a:xfrm>
        </p:spPr>
        <p:txBody>
          <a:bodyPr/>
          <a:lstStyle/>
          <a:p>
            <a:pPr algn="ctr"/>
            <a:r>
              <a:rPr lang="en-US" dirty="0" smtClean="0"/>
              <a:t>List Revision</a:t>
            </a:r>
            <a:br>
              <a:rPr lang="en-US" dirty="0" smtClean="0"/>
            </a:br>
            <a:r>
              <a:rPr lang="en-US" dirty="0" smtClean="0"/>
              <a:t>Removing item from the list</a:t>
            </a:r>
            <a:endParaRPr lang="en-US" dirty="0"/>
          </a:p>
        </p:txBody>
      </p:sp>
      <p:sp>
        <p:nvSpPr>
          <p:cNvPr id="3" name="Text Placeholder 2"/>
          <p:cNvSpPr>
            <a:spLocks noGrp="1"/>
          </p:cNvSpPr>
          <p:nvPr>
            <p:ph type="body" idx="1"/>
          </p:nvPr>
        </p:nvSpPr>
        <p:spPr>
          <a:xfrm>
            <a:off x="1095375" y="1684502"/>
            <a:ext cx="10001249" cy="4739759"/>
          </a:xfrm>
        </p:spPr>
        <p:txBody>
          <a:bodyPr/>
          <a:lstStyle/>
          <a:p>
            <a:r>
              <a:rPr lang="en-US" sz="2800" u="none" dirty="0">
                <a:solidFill>
                  <a:schemeClr val="tx1"/>
                </a:solidFill>
              </a:rPr>
              <a:t>fruits = ['</a:t>
            </a:r>
            <a:r>
              <a:rPr lang="en-US" sz="2800" u="none" dirty="0" err="1">
                <a:solidFill>
                  <a:schemeClr val="tx1"/>
                </a:solidFill>
              </a:rPr>
              <a:t>Apple','Mango</a:t>
            </a:r>
            <a:r>
              <a:rPr lang="en-US" sz="2800" u="none" dirty="0" smtClean="0">
                <a:solidFill>
                  <a:schemeClr val="tx1"/>
                </a:solidFill>
              </a:rPr>
              <a:t>']</a:t>
            </a:r>
          </a:p>
          <a:p>
            <a:r>
              <a:rPr lang="en-US" sz="2800" u="none" dirty="0" smtClean="0">
                <a:solidFill>
                  <a:schemeClr val="tx1"/>
                </a:solidFill>
              </a:rPr>
              <a:t>print(fruits)</a:t>
            </a:r>
          </a:p>
          <a:p>
            <a:r>
              <a:rPr lang="en-US" sz="2800" u="none" dirty="0" smtClean="0">
                <a:solidFill>
                  <a:schemeClr val="tx1"/>
                </a:solidFill>
              </a:rPr>
              <a:t>fruit </a:t>
            </a:r>
            <a:r>
              <a:rPr lang="en-US" sz="2800" u="none" dirty="0">
                <a:solidFill>
                  <a:schemeClr val="tx1"/>
                </a:solidFill>
              </a:rPr>
              <a:t>= input("Enter any fruit name</a:t>
            </a:r>
            <a:r>
              <a:rPr lang="en-US" sz="2800" u="none" dirty="0" smtClean="0">
                <a:solidFill>
                  <a:schemeClr val="tx1"/>
                </a:solidFill>
              </a:rPr>
              <a:t>:")</a:t>
            </a:r>
          </a:p>
          <a:p>
            <a:r>
              <a:rPr lang="en-US" sz="2800" u="none" dirty="0" smtClean="0">
                <a:solidFill>
                  <a:schemeClr val="tx1"/>
                </a:solidFill>
              </a:rPr>
              <a:t>for </a:t>
            </a:r>
            <a:r>
              <a:rPr lang="en-US" sz="2800" u="none" dirty="0">
                <a:solidFill>
                  <a:schemeClr val="tx1"/>
                </a:solidFill>
              </a:rPr>
              <a:t>a in fruits:    </a:t>
            </a:r>
            <a:endParaRPr lang="en-US" sz="2800" u="none" dirty="0" smtClean="0">
              <a:solidFill>
                <a:schemeClr val="tx1"/>
              </a:solidFill>
            </a:endParaRPr>
          </a:p>
          <a:p>
            <a:r>
              <a:rPr lang="en-US" sz="2800" u="none" dirty="0">
                <a:solidFill>
                  <a:schemeClr val="tx1"/>
                </a:solidFill>
              </a:rPr>
              <a:t>	</a:t>
            </a:r>
            <a:r>
              <a:rPr lang="en-US" sz="2800" u="none" dirty="0" smtClean="0">
                <a:solidFill>
                  <a:schemeClr val="tx1"/>
                </a:solidFill>
              </a:rPr>
              <a:t>if </a:t>
            </a:r>
            <a:r>
              <a:rPr lang="en-US" sz="2800" u="none" dirty="0">
                <a:solidFill>
                  <a:schemeClr val="tx1"/>
                </a:solidFill>
              </a:rPr>
              <a:t>a==fruit:        </a:t>
            </a:r>
            <a:endParaRPr lang="en-US" sz="2800" u="none" dirty="0" smtClean="0">
              <a:solidFill>
                <a:schemeClr val="tx1"/>
              </a:solidFill>
            </a:endParaRPr>
          </a:p>
          <a:p>
            <a:r>
              <a:rPr lang="en-US" sz="2800" u="none" dirty="0">
                <a:solidFill>
                  <a:schemeClr val="tx1"/>
                </a:solidFill>
              </a:rPr>
              <a:t>	</a:t>
            </a:r>
            <a:r>
              <a:rPr lang="en-US" sz="2800" u="none" dirty="0" smtClean="0">
                <a:solidFill>
                  <a:schemeClr val="tx1"/>
                </a:solidFill>
              </a:rPr>
              <a:t>	</a:t>
            </a:r>
            <a:r>
              <a:rPr lang="en-US" sz="2800" u="none" dirty="0" err="1" smtClean="0">
                <a:solidFill>
                  <a:schemeClr val="tx1"/>
                </a:solidFill>
              </a:rPr>
              <a:t>fruits.remove</a:t>
            </a:r>
            <a:r>
              <a:rPr lang="en-US" sz="2800" u="none" dirty="0" smtClean="0">
                <a:solidFill>
                  <a:schemeClr val="tx1"/>
                </a:solidFill>
              </a:rPr>
              <a:t>(fruit</a:t>
            </a:r>
            <a:r>
              <a:rPr lang="en-US" sz="2800" u="none" dirty="0">
                <a:solidFill>
                  <a:schemeClr val="tx1"/>
                </a:solidFill>
              </a:rPr>
              <a:t>)        </a:t>
            </a:r>
            <a:endParaRPr lang="en-US" sz="2800" u="none" dirty="0" smtClean="0">
              <a:solidFill>
                <a:schemeClr val="tx1"/>
              </a:solidFill>
            </a:endParaRPr>
          </a:p>
          <a:p>
            <a:r>
              <a:rPr lang="en-US" sz="2800" u="none" dirty="0">
                <a:solidFill>
                  <a:schemeClr val="tx1"/>
                </a:solidFill>
              </a:rPr>
              <a:t>	</a:t>
            </a:r>
            <a:r>
              <a:rPr lang="en-US" sz="2800" u="none" dirty="0" smtClean="0">
                <a:solidFill>
                  <a:schemeClr val="tx1"/>
                </a:solidFill>
              </a:rPr>
              <a:t>	print(f</a:t>
            </a:r>
            <a:r>
              <a:rPr lang="en-US" sz="2800" u="none" dirty="0">
                <a:solidFill>
                  <a:schemeClr val="tx1"/>
                </a:solidFill>
              </a:rPr>
              <a:t>'{fruit} has been removed')        </a:t>
            </a:r>
            <a:r>
              <a:rPr lang="en-US" sz="2800" u="none" dirty="0" smtClean="0">
                <a:solidFill>
                  <a:schemeClr val="tx1"/>
                </a:solidFill>
              </a:rPr>
              <a:t>				print(</a:t>
            </a:r>
            <a:r>
              <a:rPr lang="en-US" sz="2800" u="none" dirty="0" err="1" smtClean="0">
                <a:solidFill>
                  <a:schemeClr val="tx1"/>
                </a:solidFill>
              </a:rPr>
              <a:t>f'Fruits</a:t>
            </a:r>
            <a:r>
              <a:rPr lang="en-US" sz="2800" u="none" dirty="0">
                <a:solidFill>
                  <a:schemeClr val="tx1"/>
                </a:solidFill>
              </a:rPr>
              <a:t>: {fruits}')        </a:t>
            </a:r>
            <a:endParaRPr lang="en-US" sz="2800" u="none" dirty="0" smtClean="0">
              <a:solidFill>
                <a:schemeClr val="tx1"/>
              </a:solidFill>
            </a:endParaRPr>
          </a:p>
          <a:p>
            <a:r>
              <a:rPr lang="en-US" sz="2800" u="none" dirty="0">
                <a:solidFill>
                  <a:schemeClr val="tx1"/>
                </a:solidFill>
              </a:rPr>
              <a:t>	</a:t>
            </a:r>
            <a:r>
              <a:rPr lang="en-US" sz="2800" u="none" dirty="0" smtClean="0">
                <a:solidFill>
                  <a:schemeClr val="tx1"/>
                </a:solidFill>
              </a:rPr>
              <a:t>	break</a:t>
            </a:r>
          </a:p>
          <a:p>
            <a:r>
              <a:rPr lang="en-US" sz="2800" u="none" dirty="0" smtClean="0">
                <a:solidFill>
                  <a:schemeClr val="tx1"/>
                </a:solidFill>
              </a:rPr>
              <a:t>else</a:t>
            </a:r>
            <a:r>
              <a:rPr lang="en-US" sz="2800" u="none" dirty="0">
                <a:solidFill>
                  <a:schemeClr val="tx1"/>
                </a:solidFill>
              </a:rPr>
              <a:t>:    </a:t>
            </a:r>
            <a:endParaRPr lang="en-US" sz="2800" u="none" dirty="0" smtClean="0">
              <a:solidFill>
                <a:schemeClr val="tx1"/>
              </a:solidFill>
            </a:endParaRPr>
          </a:p>
          <a:p>
            <a:r>
              <a:rPr lang="en-US" sz="2800" u="none" dirty="0" smtClean="0">
                <a:solidFill>
                  <a:schemeClr val="tx1"/>
                </a:solidFill>
              </a:rPr>
              <a:t>print(f</a:t>
            </a:r>
            <a:r>
              <a:rPr lang="en-US" sz="2800" u="none" dirty="0">
                <a:solidFill>
                  <a:schemeClr val="tx1"/>
                </a:solidFill>
              </a:rPr>
              <a:t>'{fruit} does not exist in the </a:t>
            </a:r>
            <a:r>
              <a:rPr lang="en-US" sz="2800" u="none" dirty="0" err="1">
                <a:solidFill>
                  <a:schemeClr val="tx1"/>
                </a:solidFill>
              </a:rPr>
              <a:t>frutis</a:t>
            </a:r>
            <a:r>
              <a:rPr lang="en-US" sz="2800" u="none" dirty="0" smtClean="0">
                <a:solidFill>
                  <a:schemeClr val="tx1"/>
                </a:solidFill>
              </a:rPr>
              <a:t>')</a:t>
            </a:r>
            <a:endParaRPr lang="en-US" sz="2800" u="none" dirty="0">
              <a:solidFill>
                <a:schemeClr val="tx1"/>
              </a:solidFill>
            </a:endParaRPr>
          </a:p>
        </p:txBody>
      </p:sp>
    </p:spTree>
    <p:extLst>
      <p:ext uri="{BB962C8B-B14F-4D97-AF65-F5344CB8AC3E}">
        <p14:creationId xmlns:p14="http://schemas.microsoft.com/office/powerpoint/2010/main" val="136675821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15592" y="292353"/>
            <a:ext cx="9629775" cy="553998"/>
          </a:xfrm>
        </p:spPr>
        <p:txBody>
          <a:bodyPr/>
          <a:lstStyle/>
          <a:p>
            <a:pPr algn="ctr"/>
            <a:r>
              <a:rPr lang="en-US" sz="3600" dirty="0" smtClean="0"/>
              <a:t>List Revision: Inserting and Removing item from list</a:t>
            </a:r>
            <a:endParaRPr lang="en-US" sz="3600" dirty="0"/>
          </a:p>
        </p:txBody>
      </p:sp>
      <p:sp>
        <p:nvSpPr>
          <p:cNvPr id="3" name="Text Placeholder 2"/>
          <p:cNvSpPr>
            <a:spLocks noGrp="1"/>
          </p:cNvSpPr>
          <p:nvPr>
            <p:ph type="body" idx="1"/>
          </p:nvPr>
        </p:nvSpPr>
        <p:spPr>
          <a:xfrm>
            <a:off x="956150" y="1219200"/>
            <a:ext cx="10001249" cy="4739759"/>
          </a:xfrm>
        </p:spPr>
        <p:txBody>
          <a:bodyPr/>
          <a:lstStyle/>
          <a:p>
            <a:r>
              <a:rPr lang="en-US" sz="2800" u="none" dirty="0">
                <a:solidFill>
                  <a:schemeClr val="tx1"/>
                </a:solidFill>
              </a:rPr>
              <a:t>print("Inserting fruits in the basket </a:t>
            </a:r>
            <a:r>
              <a:rPr lang="en-US" sz="2800" u="none" dirty="0" smtClean="0">
                <a:solidFill>
                  <a:schemeClr val="tx1"/>
                </a:solidFill>
              </a:rPr>
              <a:t>program </a:t>
            </a:r>
            <a:r>
              <a:rPr lang="en-US" sz="2800" u="none" dirty="0">
                <a:solidFill>
                  <a:schemeClr val="tx1"/>
                </a:solidFill>
              </a:rPr>
              <a:t>in the python</a:t>
            </a:r>
            <a:r>
              <a:rPr lang="en-US" sz="2800" u="none" dirty="0" smtClean="0">
                <a:solidFill>
                  <a:schemeClr val="tx1"/>
                </a:solidFill>
              </a:rPr>
              <a:t>")</a:t>
            </a:r>
          </a:p>
          <a:p>
            <a:r>
              <a:rPr lang="en-US" sz="2800" u="none" dirty="0" smtClean="0">
                <a:solidFill>
                  <a:schemeClr val="tx1"/>
                </a:solidFill>
              </a:rPr>
              <a:t>fruits </a:t>
            </a:r>
            <a:r>
              <a:rPr lang="en-US" sz="2800" u="none" dirty="0">
                <a:solidFill>
                  <a:schemeClr val="tx1"/>
                </a:solidFill>
              </a:rPr>
              <a:t>= </a:t>
            </a:r>
            <a:r>
              <a:rPr lang="en-US" sz="2800" u="none" dirty="0" smtClean="0">
                <a:solidFill>
                  <a:schemeClr val="tx1"/>
                </a:solidFill>
              </a:rPr>
              <a:t>[ ]</a:t>
            </a:r>
          </a:p>
          <a:p>
            <a:r>
              <a:rPr lang="en-US" sz="2800" u="none" dirty="0" smtClean="0">
                <a:solidFill>
                  <a:schemeClr val="tx1"/>
                </a:solidFill>
              </a:rPr>
              <a:t>choice </a:t>
            </a:r>
            <a:r>
              <a:rPr lang="en-US" sz="2800" u="none" dirty="0">
                <a:solidFill>
                  <a:schemeClr val="tx1"/>
                </a:solidFill>
              </a:rPr>
              <a:t>= </a:t>
            </a:r>
            <a:r>
              <a:rPr lang="en-US" sz="2800" u="none" dirty="0" err="1">
                <a:solidFill>
                  <a:schemeClr val="tx1"/>
                </a:solidFill>
              </a:rPr>
              <a:t>int</a:t>
            </a:r>
            <a:r>
              <a:rPr lang="en-US" sz="2800" u="none" dirty="0">
                <a:solidFill>
                  <a:schemeClr val="tx1"/>
                </a:solidFill>
              </a:rPr>
              <a:t>(input("How many fruits you want to insert: </a:t>
            </a:r>
            <a:r>
              <a:rPr lang="en-US" sz="2800" u="none" dirty="0" smtClean="0">
                <a:solidFill>
                  <a:schemeClr val="tx1"/>
                </a:solidFill>
              </a:rPr>
              <a:t>"))</a:t>
            </a:r>
          </a:p>
          <a:p>
            <a:r>
              <a:rPr lang="en-US" sz="2800" u="none" dirty="0" smtClean="0">
                <a:solidFill>
                  <a:schemeClr val="tx1"/>
                </a:solidFill>
              </a:rPr>
              <a:t>for </a:t>
            </a:r>
            <a:r>
              <a:rPr lang="en-US" sz="2800" u="none" dirty="0">
                <a:solidFill>
                  <a:schemeClr val="tx1"/>
                </a:solidFill>
              </a:rPr>
              <a:t>a in range(1,choice+1):    </a:t>
            </a:r>
            <a:endParaRPr lang="en-US" sz="2800" u="none" dirty="0" smtClean="0">
              <a:solidFill>
                <a:schemeClr val="tx1"/>
              </a:solidFill>
            </a:endParaRPr>
          </a:p>
          <a:p>
            <a:r>
              <a:rPr lang="en-US" sz="2800" u="none" dirty="0" smtClean="0">
                <a:solidFill>
                  <a:schemeClr val="tx1"/>
                </a:solidFill>
              </a:rPr>
              <a:t>	</a:t>
            </a:r>
            <a:r>
              <a:rPr lang="en-US" sz="2800" u="none" dirty="0" err="1" smtClean="0">
                <a:solidFill>
                  <a:schemeClr val="tx1"/>
                </a:solidFill>
              </a:rPr>
              <a:t>i</a:t>
            </a:r>
            <a:r>
              <a:rPr lang="en-US" sz="2800" u="none" dirty="0" smtClean="0">
                <a:solidFill>
                  <a:schemeClr val="tx1"/>
                </a:solidFill>
              </a:rPr>
              <a:t> </a:t>
            </a:r>
            <a:r>
              <a:rPr lang="en-US" sz="2800" u="none" dirty="0">
                <a:solidFill>
                  <a:schemeClr val="tx1"/>
                </a:solidFill>
              </a:rPr>
              <a:t>= input(</a:t>
            </a:r>
            <a:r>
              <a:rPr lang="en-US" sz="2800" u="none" dirty="0" err="1">
                <a:solidFill>
                  <a:schemeClr val="tx1"/>
                </a:solidFill>
              </a:rPr>
              <a:t>f'Enter</a:t>
            </a:r>
            <a:r>
              <a:rPr lang="en-US" sz="2800" u="none" dirty="0">
                <a:solidFill>
                  <a:schemeClr val="tx1"/>
                </a:solidFill>
              </a:rPr>
              <a:t> fruit name  {a}: ')    </a:t>
            </a:r>
            <a:endParaRPr lang="en-US" sz="2800" u="none" dirty="0" smtClean="0">
              <a:solidFill>
                <a:schemeClr val="tx1"/>
              </a:solidFill>
            </a:endParaRPr>
          </a:p>
          <a:p>
            <a:r>
              <a:rPr lang="en-US" sz="2800" u="none" dirty="0">
                <a:solidFill>
                  <a:schemeClr val="tx1"/>
                </a:solidFill>
              </a:rPr>
              <a:t>	</a:t>
            </a:r>
            <a:r>
              <a:rPr lang="en-US" sz="2800" u="none" dirty="0" err="1" smtClean="0">
                <a:solidFill>
                  <a:schemeClr val="tx1"/>
                </a:solidFill>
              </a:rPr>
              <a:t>fruits.append</a:t>
            </a:r>
            <a:r>
              <a:rPr lang="en-US" sz="2800" u="none" dirty="0" smtClean="0">
                <a:solidFill>
                  <a:schemeClr val="tx1"/>
                </a:solidFill>
              </a:rPr>
              <a:t>(</a:t>
            </a:r>
            <a:r>
              <a:rPr lang="en-US" sz="2800" u="none" dirty="0" err="1" smtClean="0">
                <a:solidFill>
                  <a:schemeClr val="tx1"/>
                </a:solidFill>
              </a:rPr>
              <a:t>i</a:t>
            </a:r>
            <a:r>
              <a:rPr lang="en-US" sz="2800" u="none" dirty="0" smtClean="0">
                <a:solidFill>
                  <a:schemeClr val="tx1"/>
                </a:solidFill>
              </a:rPr>
              <a:t>)</a:t>
            </a:r>
          </a:p>
          <a:p>
            <a:r>
              <a:rPr lang="en-US" sz="2800" u="none" dirty="0" smtClean="0">
                <a:solidFill>
                  <a:schemeClr val="tx1"/>
                </a:solidFill>
              </a:rPr>
              <a:t>print(fruits)</a:t>
            </a:r>
          </a:p>
          <a:p>
            <a:r>
              <a:rPr lang="en-US" sz="2800" u="none" dirty="0">
                <a:solidFill>
                  <a:schemeClr val="tx1"/>
                </a:solidFill>
              </a:rPr>
              <a:t>print("Enter any fruit name that you want to remove</a:t>
            </a:r>
            <a:r>
              <a:rPr lang="en-US" sz="2800" u="none" dirty="0" smtClean="0">
                <a:solidFill>
                  <a:schemeClr val="tx1"/>
                </a:solidFill>
              </a:rPr>
              <a:t>:")</a:t>
            </a:r>
          </a:p>
          <a:p>
            <a:r>
              <a:rPr lang="en-US" sz="2800" u="none" dirty="0" smtClean="0">
                <a:solidFill>
                  <a:schemeClr val="tx1"/>
                </a:solidFill>
              </a:rPr>
              <a:t>r </a:t>
            </a:r>
            <a:r>
              <a:rPr lang="en-US" sz="2800" u="none" dirty="0">
                <a:solidFill>
                  <a:schemeClr val="tx1"/>
                </a:solidFill>
              </a:rPr>
              <a:t>= input(</a:t>
            </a:r>
            <a:r>
              <a:rPr lang="en-US" sz="2800" u="none" dirty="0" err="1">
                <a:solidFill>
                  <a:schemeClr val="tx1"/>
                </a:solidFill>
              </a:rPr>
              <a:t>f'Enter</a:t>
            </a:r>
            <a:r>
              <a:rPr lang="en-US" sz="2800" u="none" dirty="0">
                <a:solidFill>
                  <a:schemeClr val="tx1"/>
                </a:solidFill>
              </a:rPr>
              <a:t> fruit name  : </a:t>
            </a:r>
            <a:r>
              <a:rPr lang="en-US" sz="2800" u="none" dirty="0" smtClean="0">
                <a:solidFill>
                  <a:schemeClr val="tx1"/>
                </a:solidFill>
              </a:rPr>
              <a:t>')</a:t>
            </a:r>
          </a:p>
          <a:p>
            <a:r>
              <a:rPr lang="en-US" sz="2800" u="none" dirty="0" err="1" smtClean="0">
                <a:solidFill>
                  <a:schemeClr val="tx1"/>
                </a:solidFill>
              </a:rPr>
              <a:t>fruits.remove</a:t>
            </a:r>
            <a:r>
              <a:rPr lang="en-US" sz="2800" u="none" dirty="0" smtClean="0">
                <a:solidFill>
                  <a:schemeClr val="tx1"/>
                </a:solidFill>
              </a:rPr>
              <a:t>(r)</a:t>
            </a:r>
          </a:p>
          <a:p>
            <a:r>
              <a:rPr lang="en-US" sz="2800" u="none" dirty="0" smtClean="0">
                <a:solidFill>
                  <a:schemeClr val="tx1"/>
                </a:solidFill>
              </a:rPr>
              <a:t>print(fruits</a:t>
            </a:r>
            <a:r>
              <a:rPr lang="en-US" sz="2800" u="none" dirty="0">
                <a:solidFill>
                  <a:schemeClr val="tx1"/>
                </a:solidFill>
              </a:rPr>
              <a:t>)</a:t>
            </a:r>
          </a:p>
        </p:txBody>
      </p:sp>
    </p:spTree>
    <p:extLst>
      <p:ext uri="{BB962C8B-B14F-4D97-AF65-F5344CB8AC3E}">
        <p14:creationId xmlns:p14="http://schemas.microsoft.com/office/powerpoint/2010/main" val="2715260227"/>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15592" y="292353"/>
            <a:ext cx="9629775" cy="738664"/>
          </a:xfrm>
        </p:spPr>
        <p:txBody>
          <a:bodyPr/>
          <a:lstStyle/>
          <a:p>
            <a:pPr algn="ctr"/>
            <a:r>
              <a:rPr lang="en-US" dirty="0" smtClean="0"/>
              <a:t>List Revision: Sorting a list</a:t>
            </a:r>
            <a:endParaRPr lang="en-US" dirty="0"/>
          </a:p>
        </p:txBody>
      </p:sp>
      <p:sp>
        <p:nvSpPr>
          <p:cNvPr id="3" name="Text Placeholder 2"/>
          <p:cNvSpPr>
            <a:spLocks noGrp="1"/>
          </p:cNvSpPr>
          <p:nvPr>
            <p:ph type="body" idx="1"/>
          </p:nvPr>
        </p:nvSpPr>
        <p:spPr>
          <a:xfrm>
            <a:off x="1095375" y="1684502"/>
            <a:ext cx="10001249" cy="3077766"/>
          </a:xfrm>
        </p:spPr>
        <p:txBody>
          <a:bodyPr/>
          <a:lstStyle/>
          <a:p>
            <a:r>
              <a:rPr lang="en-US" sz="4000" u="none" dirty="0">
                <a:solidFill>
                  <a:schemeClr val="tx1"/>
                </a:solidFill>
              </a:rPr>
              <a:t>fruits = ['Apple','Orange','Mango','Banana</a:t>
            </a:r>
            <a:r>
              <a:rPr lang="en-US" sz="4000" u="none" dirty="0" smtClean="0">
                <a:solidFill>
                  <a:schemeClr val="tx1"/>
                </a:solidFill>
              </a:rPr>
              <a:t>']</a:t>
            </a:r>
          </a:p>
          <a:p>
            <a:r>
              <a:rPr lang="en-US" sz="4000" u="none" dirty="0" smtClean="0">
                <a:solidFill>
                  <a:schemeClr val="tx1"/>
                </a:solidFill>
              </a:rPr>
              <a:t>fruits.sort()</a:t>
            </a:r>
          </a:p>
          <a:p>
            <a:r>
              <a:rPr lang="en-US" sz="4000" u="none" dirty="0" smtClean="0">
                <a:solidFill>
                  <a:schemeClr val="tx1"/>
                </a:solidFill>
              </a:rPr>
              <a:t>print(fruits)</a:t>
            </a:r>
          </a:p>
          <a:p>
            <a:r>
              <a:rPr lang="en-US" sz="4000" u="none" dirty="0" smtClean="0">
                <a:solidFill>
                  <a:schemeClr val="tx1"/>
                </a:solidFill>
              </a:rPr>
              <a:t>fruits.reverse()</a:t>
            </a:r>
          </a:p>
          <a:p>
            <a:r>
              <a:rPr lang="en-US" sz="4000" u="none" dirty="0" smtClean="0">
                <a:solidFill>
                  <a:schemeClr val="tx1"/>
                </a:solidFill>
              </a:rPr>
              <a:t>print(fruits</a:t>
            </a:r>
            <a:r>
              <a:rPr lang="en-US" sz="4000" u="none" dirty="0">
                <a:solidFill>
                  <a:schemeClr val="tx1"/>
                </a:solidFill>
              </a:rPr>
              <a:t>)</a:t>
            </a:r>
          </a:p>
        </p:txBody>
      </p:sp>
    </p:spTree>
    <p:extLst>
      <p:ext uri="{BB962C8B-B14F-4D97-AF65-F5344CB8AC3E}">
        <p14:creationId xmlns:p14="http://schemas.microsoft.com/office/powerpoint/2010/main" val="2142037995"/>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15592" y="292353"/>
            <a:ext cx="9629775" cy="1477328"/>
          </a:xfrm>
        </p:spPr>
        <p:txBody>
          <a:bodyPr/>
          <a:lstStyle/>
          <a:p>
            <a:pPr algn="ctr"/>
            <a:r>
              <a:rPr lang="en-US" dirty="0" smtClean="0"/>
              <a:t>List Revision: Checking item occurrence in the list</a:t>
            </a:r>
            <a:endParaRPr lang="en-US" dirty="0"/>
          </a:p>
        </p:txBody>
      </p:sp>
      <p:sp>
        <p:nvSpPr>
          <p:cNvPr id="3" name="Text Placeholder 2"/>
          <p:cNvSpPr>
            <a:spLocks noGrp="1"/>
          </p:cNvSpPr>
          <p:nvPr>
            <p:ph type="body" idx="1"/>
          </p:nvPr>
        </p:nvSpPr>
        <p:spPr>
          <a:xfrm>
            <a:off x="1095375" y="1684502"/>
            <a:ext cx="10001249" cy="1846659"/>
          </a:xfrm>
        </p:spPr>
        <p:txBody>
          <a:bodyPr/>
          <a:lstStyle/>
          <a:p>
            <a:r>
              <a:rPr lang="en-US" sz="4000" u="none" dirty="0">
                <a:solidFill>
                  <a:schemeClr val="tx1"/>
                </a:solidFill>
              </a:rPr>
              <a:t>numbers = [10, 3, 5, 8, 2,4,3,2,2,2] </a:t>
            </a:r>
            <a:endParaRPr lang="en-US" sz="4000" u="none" dirty="0" smtClean="0">
              <a:solidFill>
                <a:schemeClr val="tx1"/>
              </a:solidFill>
            </a:endParaRPr>
          </a:p>
          <a:p>
            <a:r>
              <a:rPr lang="en-US" sz="4000" u="none" dirty="0" smtClean="0">
                <a:solidFill>
                  <a:schemeClr val="tx1"/>
                </a:solidFill>
              </a:rPr>
              <a:t>n </a:t>
            </a:r>
            <a:r>
              <a:rPr lang="en-US" sz="4000" u="none" dirty="0">
                <a:solidFill>
                  <a:schemeClr val="tx1"/>
                </a:solidFill>
              </a:rPr>
              <a:t>= </a:t>
            </a:r>
            <a:r>
              <a:rPr lang="en-US" sz="4000" u="none" dirty="0" err="1">
                <a:solidFill>
                  <a:schemeClr val="tx1"/>
                </a:solidFill>
              </a:rPr>
              <a:t>int</a:t>
            </a:r>
            <a:r>
              <a:rPr lang="en-US" sz="4000" u="none" dirty="0">
                <a:solidFill>
                  <a:schemeClr val="tx1"/>
                </a:solidFill>
              </a:rPr>
              <a:t>(input("Checking number</a:t>
            </a:r>
            <a:r>
              <a:rPr lang="en-US" sz="4000" u="none" dirty="0" smtClean="0">
                <a:solidFill>
                  <a:schemeClr val="tx1"/>
                </a:solidFill>
              </a:rPr>
              <a:t>:"))</a:t>
            </a:r>
          </a:p>
          <a:p>
            <a:r>
              <a:rPr lang="en-US" sz="4000" u="none" dirty="0" smtClean="0">
                <a:solidFill>
                  <a:schemeClr val="tx1"/>
                </a:solidFill>
              </a:rPr>
              <a:t>print(f</a:t>
            </a:r>
            <a:r>
              <a:rPr lang="en-US" sz="4000" u="none" dirty="0">
                <a:solidFill>
                  <a:schemeClr val="tx1"/>
                </a:solidFill>
              </a:rPr>
              <a:t>'{n} occurs {</a:t>
            </a:r>
            <a:r>
              <a:rPr lang="en-US" sz="4000" u="none" dirty="0" err="1">
                <a:solidFill>
                  <a:schemeClr val="tx1"/>
                </a:solidFill>
              </a:rPr>
              <a:t>numbers.count</a:t>
            </a:r>
            <a:r>
              <a:rPr lang="en-US" sz="4000" u="none" dirty="0">
                <a:solidFill>
                  <a:schemeClr val="tx1"/>
                </a:solidFill>
              </a:rPr>
              <a:t>(n)} times')</a:t>
            </a:r>
          </a:p>
        </p:txBody>
      </p:sp>
    </p:spTree>
    <p:extLst>
      <p:ext uri="{BB962C8B-B14F-4D97-AF65-F5344CB8AC3E}">
        <p14:creationId xmlns:p14="http://schemas.microsoft.com/office/powerpoint/2010/main" val="11253353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095375" y="1684502"/>
            <a:ext cx="10001249" cy="3323987"/>
          </a:xfrm>
        </p:spPr>
        <p:txBody>
          <a:bodyPr/>
          <a:lstStyle/>
          <a:p>
            <a:r>
              <a:rPr lang="en-US" sz="3600" u="none" dirty="0" smtClean="0">
                <a:solidFill>
                  <a:schemeClr val="tx1"/>
                </a:solidFill>
              </a:rPr>
              <a:t>Write a python a program that check which is the largest number</a:t>
            </a:r>
          </a:p>
          <a:p>
            <a:r>
              <a:rPr lang="en-US" sz="3600" u="none" dirty="0">
                <a:solidFill>
                  <a:schemeClr val="tx1"/>
                </a:solidFill>
              </a:rPr>
              <a:t>Sample Output</a:t>
            </a:r>
            <a:r>
              <a:rPr lang="en-US" sz="3600" u="none" dirty="0" smtClean="0">
                <a:solidFill>
                  <a:schemeClr val="tx1"/>
                </a:solidFill>
              </a:rPr>
              <a:t>:</a:t>
            </a:r>
          </a:p>
          <a:p>
            <a:r>
              <a:rPr lang="en-US" sz="3600" u="none" dirty="0">
                <a:solidFill>
                  <a:schemeClr val="tx1"/>
                </a:solidFill>
              </a:rPr>
              <a:t>Checking </a:t>
            </a:r>
            <a:r>
              <a:rPr lang="en-US" sz="3600" u="none" dirty="0" smtClean="0">
                <a:solidFill>
                  <a:schemeClr val="tx1"/>
                </a:solidFill>
              </a:rPr>
              <a:t>largest number </a:t>
            </a:r>
            <a:r>
              <a:rPr lang="en-US" sz="3600" u="none" dirty="0">
                <a:solidFill>
                  <a:schemeClr val="tx1"/>
                </a:solidFill>
              </a:rPr>
              <a:t>from 1 to 100: </a:t>
            </a:r>
          </a:p>
          <a:p>
            <a:r>
              <a:rPr lang="en-US" sz="3600" u="none" dirty="0">
                <a:solidFill>
                  <a:schemeClr val="tx1"/>
                </a:solidFill>
              </a:rPr>
              <a:t>Enter any number: </a:t>
            </a:r>
            <a:r>
              <a:rPr lang="en-US" sz="3600" u="none" dirty="0" smtClean="0">
                <a:solidFill>
                  <a:schemeClr val="tx1"/>
                </a:solidFill>
              </a:rPr>
              <a:t>99</a:t>
            </a:r>
            <a:endParaRPr lang="en-US" sz="3600" u="none" dirty="0">
              <a:solidFill>
                <a:schemeClr val="tx1"/>
              </a:solidFill>
            </a:endParaRPr>
          </a:p>
          <a:p>
            <a:r>
              <a:rPr lang="en-US" sz="3600" u="none" dirty="0">
                <a:solidFill>
                  <a:schemeClr val="tx1"/>
                </a:solidFill>
              </a:rPr>
              <a:t>Entered </a:t>
            </a:r>
            <a:r>
              <a:rPr lang="en-US" sz="3600" u="none" dirty="0" smtClean="0">
                <a:solidFill>
                  <a:schemeClr val="tx1"/>
                </a:solidFill>
              </a:rPr>
              <a:t>number: 99 is largest number</a:t>
            </a:r>
          </a:p>
        </p:txBody>
      </p:sp>
      <p:sp>
        <p:nvSpPr>
          <p:cNvPr id="4" name="Title 3"/>
          <p:cNvSpPr>
            <a:spLocks noGrp="1"/>
          </p:cNvSpPr>
          <p:nvPr>
            <p:ph type="title"/>
          </p:nvPr>
        </p:nvSpPr>
        <p:spPr>
          <a:xfrm>
            <a:off x="1315592" y="292353"/>
            <a:ext cx="9629775" cy="738664"/>
          </a:xfrm>
        </p:spPr>
        <p:txBody>
          <a:bodyPr/>
          <a:lstStyle/>
          <a:p>
            <a:pPr algn="ctr"/>
            <a:r>
              <a:rPr lang="en-US" dirty="0" smtClean="0"/>
              <a:t>Activity-01</a:t>
            </a:r>
            <a:endParaRPr lang="en-US" dirty="0"/>
          </a:p>
        </p:txBody>
      </p:sp>
    </p:spTree>
    <p:extLst>
      <p:ext uri="{BB962C8B-B14F-4D97-AF65-F5344CB8AC3E}">
        <p14:creationId xmlns:p14="http://schemas.microsoft.com/office/powerpoint/2010/main" val="153376251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944116" y="1905000"/>
            <a:ext cx="10001249" cy="4308872"/>
          </a:xfrm>
        </p:spPr>
        <p:txBody>
          <a:bodyPr/>
          <a:lstStyle/>
          <a:p>
            <a:r>
              <a:rPr lang="en-US" sz="2800" u="none" dirty="0">
                <a:solidFill>
                  <a:schemeClr val="tx1"/>
                </a:solidFill>
              </a:rPr>
              <a:t>i = </a:t>
            </a:r>
            <a:r>
              <a:rPr lang="en-US" sz="2800" u="none" dirty="0" err="1">
                <a:solidFill>
                  <a:schemeClr val="tx1"/>
                </a:solidFill>
              </a:rPr>
              <a:t>int</a:t>
            </a:r>
            <a:r>
              <a:rPr lang="en-US" sz="2800" u="none" dirty="0">
                <a:solidFill>
                  <a:schemeClr val="tx1"/>
                </a:solidFill>
              </a:rPr>
              <a:t>(input("Enter any number: </a:t>
            </a:r>
            <a:r>
              <a:rPr lang="en-US" sz="2800" u="none" dirty="0" smtClean="0">
                <a:solidFill>
                  <a:schemeClr val="tx1"/>
                </a:solidFill>
              </a:rPr>
              <a:t>"))</a:t>
            </a:r>
          </a:p>
          <a:p>
            <a:r>
              <a:rPr lang="en-US" sz="2800" u="none" dirty="0" smtClean="0">
                <a:solidFill>
                  <a:schemeClr val="tx1"/>
                </a:solidFill>
              </a:rPr>
              <a:t>numbers </a:t>
            </a:r>
            <a:r>
              <a:rPr lang="en-US" sz="2800" u="none" dirty="0">
                <a:solidFill>
                  <a:schemeClr val="tx1"/>
                </a:solidFill>
              </a:rPr>
              <a:t>= </a:t>
            </a:r>
            <a:r>
              <a:rPr lang="en-US" sz="2800" u="none" dirty="0" smtClean="0">
                <a:solidFill>
                  <a:schemeClr val="tx1"/>
                </a:solidFill>
              </a:rPr>
              <a:t>[]</a:t>
            </a:r>
          </a:p>
          <a:p>
            <a:r>
              <a:rPr lang="en-US" sz="2800" u="none" dirty="0" smtClean="0">
                <a:solidFill>
                  <a:schemeClr val="tx1"/>
                </a:solidFill>
              </a:rPr>
              <a:t>for </a:t>
            </a:r>
            <a:r>
              <a:rPr lang="en-US" sz="2800" u="none" dirty="0">
                <a:solidFill>
                  <a:schemeClr val="tx1"/>
                </a:solidFill>
              </a:rPr>
              <a:t>a in range(1,100):    </a:t>
            </a:r>
            <a:endParaRPr lang="en-US" sz="2800" u="none" dirty="0" smtClean="0">
              <a:solidFill>
                <a:schemeClr val="tx1"/>
              </a:solidFill>
            </a:endParaRPr>
          </a:p>
          <a:p>
            <a:r>
              <a:rPr lang="en-US" sz="2800" u="none" dirty="0">
                <a:solidFill>
                  <a:schemeClr val="tx1"/>
                </a:solidFill>
              </a:rPr>
              <a:t>	</a:t>
            </a:r>
            <a:r>
              <a:rPr lang="en-US" sz="2800" u="none" dirty="0" err="1" smtClean="0">
                <a:solidFill>
                  <a:schemeClr val="tx1"/>
                </a:solidFill>
              </a:rPr>
              <a:t>numbers.append</a:t>
            </a:r>
            <a:r>
              <a:rPr lang="en-US" sz="2800" u="none" dirty="0" smtClean="0">
                <a:solidFill>
                  <a:schemeClr val="tx1"/>
                </a:solidFill>
              </a:rPr>
              <a:t>(a)</a:t>
            </a:r>
          </a:p>
          <a:p>
            <a:r>
              <a:rPr lang="en-US" sz="2800" u="none" dirty="0" smtClean="0">
                <a:solidFill>
                  <a:schemeClr val="tx1"/>
                </a:solidFill>
              </a:rPr>
              <a:t>print(numbers)</a:t>
            </a:r>
          </a:p>
          <a:p>
            <a:r>
              <a:rPr lang="en-US" sz="2800" u="none" dirty="0" smtClean="0">
                <a:solidFill>
                  <a:schemeClr val="tx1"/>
                </a:solidFill>
              </a:rPr>
              <a:t>m </a:t>
            </a:r>
            <a:r>
              <a:rPr lang="en-US" sz="2800" u="none" dirty="0">
                <a:solidFill>
                  <a:schemeClr val="tx1"/>
                </a:solidFill>
              </a:rPr>
              <a:t>= max(numbers</a:t>
            </a:r>
            <a:r>
              <a:rPr lang="en-US" sz="2800" u="none" dirty="0" smtClean="0">
                <a:solidFill>
                  <a:schemeClr val="tx1"/>
                </a:solidFill>
              </a:rPr>
              <a:t>)</a:t>
            </a:r>
          </a:p>
          <a:p>
            <a:r>
              <a:rPr lang="en-US" sz="2800" u="none" dirty="0" smtClean="0">
                <a:solidFill>
                  <a:schemeClr val="tx1"/>
                </a:solidFill>
              </a:rPr>
              <a:t>if </a:t>
            </a:r>
            <a:r>
              <a:rPr lang="en-US" sz="2800" u="none" dirty="0">
                <a:solidFill>
                  <a:schemeClr val="tx1"/>
                </a:solidFill>
              </a:rPr>
              <a:t>m==i:    </a:t>
            </a:r>
            <a:endParaRPr lang="en-US" sz="2800" u="none" dirty="0" smtClean="0">
              <a:solidFill>
                <a:schemeClr val="tx1"/>
              </a:solidFill>
            </a:endParaRPr>
          </a:p>
          <a:p>
            <a:r>
              <a:rPr lang="en-US" sz="2800" u="none" dirty="0">
                <a:solidFill>
                  <a:schemeClr val="tx1"/>
                </a:solidFill>
              </a:rPr>
              <a:t>	</a:t>
            </a:r>
            <a:r>
              <a:rPr lang="en-US" sz="2800" u="none" dirty="0" smtClean="0">
                <a:solidFill>
                  <a:schemeClr val="tx1"/>
                </a:solidFill>
              </a:rPr>
              <a:t>print(f</a:t>
            </a:r>
            <a:r>
              <a:rPr lang="en-US" sz="2800" u="none" dirty="0">
                <a:solidFill>
                  <a:schemeClr val="tx1"/>
                </a:solidFill>
              </a:rPr>
              <a:t>'{i} is the largest number</a:t>
            </a:r>
            <a:r>
              <a:rPr lang="en-US" sz="2800" u="none" dirty="0" smtClean="0">
                <a:solidFill>
                  <a:schemeClr val="tx1"/>
                </a:solidFill>
              </a:rPr>
              <a:t>!')</a:t>
            </a:r>
          </a:p>
          <a:p>
            <a:r>
              <a:rPr lang="en-US" sz="2800" u="none" dirty="0" smtClean="0">
                <a:solidFill>
                  <a:schemeClr val="tx1"/>
                </a:solidFill>
              </a:rPr>
              <a:t>else</a:t>
            </a:r>
            <a:r>
              <a:rPr lang="en-US" sz="2800" u="none" dirty="0">
                <a:solidFill>
                  <a:schemeClr val="tx1"/>
                </a:solidFill>
              </a:rPr>
              <a:t>:    </a:t>
            </a:r>
            <a:endParaRPr lang="en-US" sz="2800" u="none" dirty="0" smtClean="0">
              <a:solidFill>
                <a:schemeClr val="tx1"/>
              </a:solidFill>
            </a:endParaRPr>
          </a:p>
          <a:p>
            <a:r>
              <a:rPr lang="en-US" sz="2800" u="none" dirty="0">
                <a:solidFill>
                  <a:schemeClr val="tx1"/>
                </a:solidFill>
              </a:rPr>
              <a:t>	</a:t>
            </a:r>
            <a:r>
              <a:rPr lang="en-US" sz="2800" u="none" dirty="0" smtClean="0">
                <a:solidFill>
                  <a:schemeClr val="tx1"/>
                </a:solidFill>
              </a:rPr>
              <a:t>print(f</a:t>
            </a:r>
            <a:r>
              <a:rPr lang="en-US" sz="2800" u="none" dirty="0">
                <a:solidFill>
                  <a:schemeClr val="tx1"/>
                </a:solidFill>
              </a:rPr>
              <a:t>'{i} is not the largest number!')</a:t>
            </a:r>
            <a:endParaRPr lang="en-US" sz="2800" u="none" dirty="0" smtClean="0">
              <a:solidFill>
                <a:schemeClr val="tx1"/>
              </a:solidFill>
            </a:endParaRPr>
          </a:p>
        </p:txBody>
      </p:sp>
      <p:sp>
        <p:nvSpPr>
          <p:cNvPr id="4" name="Title 3"/>
          <p:cNvSpPr>
            <a:spLocks noGrp="1"/>
          </p:cNvSpPr>
          <p:nvPr>
            <p:ph type="title"/>
          </p:nvPr>
        </p:nvSpPr>
        <p:spPr>
          <a:xfrm>
            <a:off x="1315590" y="0"/>
            <a:ext cx="9629775" cy="738664"/>
          </a:xfrm>
        </p:spPr>
        <p:txBody>
          <a:bodyPr/>
          <a:lstStyle/>
          <a:p>
            <a:pPr algn="ctr"/>
            <a:r>
              <a:rPr lang="en-US" dirty="0" smtClean="0"/>
              <a:t>Activity-01 solution</a:t>
            </a:r>
            <a:endParaRPr lang="en-US" dirty="0"/>
          </a:p>
        </p:txBody>
      </p:sp>
    </p:spTree>
    <p:extLst>
      <p:ext uri="{BB962C8B-B14F-4D97-AF65-F5344CB8AC3E}">
        <p14:creationId xmlns:p14="http://schemas.microsoft.com/office/powerpoint/2010/main" val="3565023057"/>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15592" y="292353"/>
            <a:ext cx="9629775" cy="738664"/>
          </a:xfrm>
        </p:spPr>
        <p:txBody>
          <a:bodyPr/>
          <a:lstStyle/>
          <a:p>
            <a:pPr algn="ctr"/>
            <a:r>
              <a:rPr lang="en-US" dirty="0" smtClean="0"/>
              <a:t>Function Revision</a:t>
            </a:r>
            <a:endParaRPr lang="en-US" dirty="0"/>
          </a:p>
        </p:txBody>
      </p:sp>
      <p:sp>
        <p:nvSpPr>
          <p:cNvPr id="3" name="Text Placeholder 2"/>
          <p:cNvSpPr>
            <a:spLocks noGrp="1"/>
          </p:cNvSpPr>
          <p:nvPr>
            <p:ph type="body" idx="1"/>
          </p:nvPr>
        </p:nvSpPr>
        <p:spPr>
          <a:xfrm>
            <a:off x="1129854" y="1981200"/>
            <a:ext cx="10001249" cy="1846659"/>
          </a:xfrm>
        </p:spPr>
        <p:txBody>
          <a:bodyPr/>
          <a:lstStyle/>
          <a:p>
            <a:r>
              <a:rPr lang="en-US" sz="2400" u="none" dirty="0" smtClean="0">
                <a:solidFill>
                  <a:schemeClr val="tx1"/>
                </a:solidFill>
              </a:rPr>
              <a:t>Example:</a:t>
            </a:r>
          </a:p>
          <a:p>
            <a:r>
              <a:rPr lang="en-US" sz="2400" u="none" dirty="0" err="1">
                <a:solidFill>
                  <a:schemeClr val="tx1"/>
                </a:solidFill>
              </a:rPr>
              <a:t>def</a:t>
            </a:r>
            <a:r>
              <a:rPr lang="en-US" sz="2400" u="none" dirty="0">
                <a:solidFill>
                  <a:schemeClr val="tx1"/>
                </a:solidFill>
              </a:rPr>
              <a:t> </a:t>
            </a:r>
            <a:r>
              <a:rPr lang="en-US" sz="2400" u="none" dirty="0" smtClean="0">
                <a:solidFill>
                  <a:schemeClr val="tx1"/>
                </a:solidFill>
              </a:rPr>
              <a:t>greeting():    </a:t>
            </a:r>
          </a:p>
          <a:p>
            <a:r>
              <a:rPr lang="en-US" sz="2400" u="none" dirty="0">
                <a:solidFill>
                  <a:schemeClr val="tx1"/>
                </a:solidFill>
              </a:rPr>
              <a:t>	</a:t>
            </a:r>
            <a:r>
              <a:rPr lang="en-US" sz="2400" u="none" dirty="0" smtClean="0">
                <a:solidFill>
                  <a:schemeClr val="tx1"/>
                </a:solidFill>
              </a:rPr>
              <a:t>print</a:t>
            </a:r>
            <a:r>
              <a:rPr lang="en-US" sz="2400" u="none" dirty="0">
                <a:solidFill>
                  <a:schemeClr val="tx1"/>
                </a:solidFill>
              </a:rPr>
              <a:t>("</a:t>
            </a:r>
            <a:r>
              <a:rPr lang="en-US" sz="2400" u="none" dirty="0" smtClean="0">
                <a:solidFill>
                  <a:schemeClr val="tx1"/>
                </a:solidFill>
              </a:rPr>
              <a:t>Hello Sukkur IBA University!")    </a:t>
            </a:r>
          </a:p>
          <a:p>
            <a:endParaRPr lang="en-US" sz="2400" u="none" dirty="0">
              <a:solidFill>
                <a:schemeClr val="tx1"/>
              </a:solidFill>
            </a:endParaRPr>
          </a:p>
          <a:p>
            <a:r>
              <a:rPr lang="en-US" sz="2400" u="none" dirty="0" smtClean="0">
                <a:solidFill>
                  <a:schemeClr val="tx1"/>
                </a:solidFill>
              </a:rPr>
              <a:t>greeting()</a:t>
            </a:r>
            <a:endParaRPr lang="en-US" sz="2400" u="none" dirty="0">
              <a:solidFill>
                <a:schemeClr val="tx1"/>
              </a:solidFill>
            </a:endParaRPr>
          </a:p>
        </p:txBody>
      </p:sp>
    </p:spTree>
    <p:extLst>
      <p:ext uri="{BB962C8B-B14F-4D97-AF65-F5344CB8AC3E}">
        <p14:creationId xmlns:p14="http://schemas.microsoft.com/office/powerpoint/2010/main" val="1619418870"/>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15592" y="292353"/>
            <a:ext cx="9629775" cy="1477328"/>
          </a:xfrm>
        </p:spPr>
        <p:txBody>
          <a:bodyPr/>
          <a:lstStyle/>
          <a:p>
            <a:pPr algn="ctr"/>
            <a:r>
              <a:rPr lang="en-US" dirty="0" smtClean="0"/>
              <a:t>Activity-02</a:t>
            </a:r>
            <a:br>
              <a:rPr lang="en-US" dirty="0" smtClean="0"/>
            </a:br>
            <a:endParaRPr lang="en-US" dirty="0"/>
          </a:p>
        </p:txBody>
      </p:sp>
      <p:sp>
        <p:nvSpPr>
          <p:cNvPr id="3" name="Text Placeholder 2"/>
          <p:cNvSpPr>
            <a:spLocks noGrp="1"/>
          </p:cNvSpPr>
          <p:nvPr>
            <p:ph type="body" idx="1"/>
          </p:nvPr>
        </p:nvSpPr>
        <p:spPr>
          <a:xfrm>
            <a:off x="960160" y="1752600"/>
            <a:ext cx="10001249" cy="1107996"/>
          </a:xfrm>
        </p:spPr>
        <p:txBody>
          <a:bodyPr/>
          <a:lstStyle/>
          <a:p>
            <a:r>
              <a:rPr lang="en-US" sz="3600" u="none" dirty="0" smtClean="0">
                <a:solidFill>
                  <a:schemeClr val="tx1"/>
                </a:solidFill>
              </a:rPr>
              <a:t>Write a python which calculate power of any entered number using function.</a:t>
            </a:r>
          </a:p>
        </p:txBody>
      </p:sp>
    </p:spTree>
    <p:extLst>
      <p:ext uri="{BB962C8B-B14F-4D97-AF65-F5344CB8AC3E}">
        <p14:creationId xmlns:p14="http://schemas.microsoft.com/office/powerpoint/2010/main" val="3181511727"/>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15592" y="292353"/>
            <a:ext cx="9629775" cy="1477328"/>
          </a:xfrm>
        </p:spPr>
        <p:txBody>
          <a:bodyPr/>
          <a:lstStyle/>
          <a:p>
            <a:pPr algn="ctr"/>
            <a:r>
              <a:rPr lang="en-US" dirty="0" smtClean="0"/>
              <a:t>Function Revision: power of any number using function</a:t>
            </a:r>
            <a:endParaRPr lang="en-US" dirty="0"/>
          </a:p>
        </p:txBody>
      </p:sp>
      <p:sp>
        <p:nvSpPr>
          <p:cNvPr id="3" name="Text Placeholder 2"/>
          <p:cNvSpPr>
            <a:spLocks noGrp="1"/>
          </p:cNvSpPr>
          <p:nvPr>
            <p:ph type="body" idx="1"/>
          </p:nvPr>
        </p:nvSpPr>
        <p:spPr>
          <a:xfrm>
            <a:off x="960160" y="1752600"/>
            <a:ext cx="10001249" cy="3877985"/>
          </a:xfrm>
        </p:spPr>
        <p:txBody>
          <a:bodyPr/>
          <a:lstStyle/>
          <a:p>
            <a:r>
              <a:rPr lang="en-US" sz="3600" u="none" dirty="0">
                <a:solidFill>
                  <a:schemeClr val="tx1"/>
                </a:solidFill>
              </a:rPr>
              <a:t>n1 = </a:t>
            </a:r>
            <a:r>
              <a:rPr lang="en-US" sz="3600" u="none" dirty="0" err="1">
                <a:solidFill>
                  <a:schemeClr val="tx1"/>
                </a:solidFill>
              </a:rPr>
              <a:t>int</a:t>
            </a:r>
            <a:r>
              <a:rPr lang="en-US" sz="3600" u="none" dirty="0">
                <a:solidFill>
                  <a:schemeClr val="tx1"/>
                </a:solidFill>
              </a:rPr>
              <a:t>(input("</a:t>
            </a:r>
            <a:r>
              <a:rPr lang="en-US" sz="3600" u="none" dirty="0" err="1">
                <a:solidFill>
                  <a:schemeClr val="tx1"/>
                </a:solidFill>
              </a:rPr>
              <a:t>Etner</a:t>
            </a:r>
            <a:r>
              <a:rPr lang="en-US" sz="3600" u="none" dirty="0">
                <a:solidFill>
                  <a:schemeClr val="tx1"/>
                </a:solidFill>
              </a:rPr>
              <a:t> any number</a:t>
            </a:r>
            <a:r>
              <a:rPr lang="en-US" sz="3600" u="none" dirty="0" smtClean="0">
                <a:solidFill>
                  <a:schemeClr val="tx1"/>
                </a:solidFill>
              </a:rPr>
              <a:t>:"))</a:t>
            </a:r>
          </a:p>
          <a:p>
            <a:r>
              <a:rPr lang="en-US" sz="3600" u="none" dirty="0" smtClean="0">
                <a:solidFill>
                  <a:schemeClr val="tx1"/>
                </a:solidFill>
              </a:rPr>
              <a:t>n2 </a:t>
            </a:r>
            <a:r>
              <a:rPr lang="en-US" sz="3600" u="none" dirty="0">
                <a:solidFill>
                  <a:schemeClr val="tx1"/>
                </a:solidFill>
              </a:rPr>
              <a:t>= </a:t>
            </a:r>
            <a:r>
              <a:rPr lang="en-US" sz="3600" u="none" dirty="0" err="1">
                <a:solidFill>
                  <a:schemeClr val="tx1"/>
                </a:solidFill>
              </a:rPr>
              <a:t>int</a:t>
            </a:r>
            <a:r>
              <a:rPr lang="en-US" sz="3600" u="none" dirty="0">
                <a:solidFill>
                  <a:schemeClr val="tx1"/>
                </a:solidFill>
              </a:rPr>
              <a:t>(input("Enter power number</a:t>
            </a:r>
            <a:r>
              <a:rPr lang="en-US" sz="3600" u="none" dirty="0" smtClean="0">
                <a:solidFill>
                  <a:schemeClr val="tx1"/>
                </a:solidFill>
              </a:rPr>
              <a:t>:"))</a:t>
            </a:r>
          </a:p>
          <a:p>
            <a:r>
              <a:rPr lang="en-US" sz="3600" u="none" dirty="0" err="1" smtClean="0">
                <a:solidFill>
                  <a:schemeClr val="tx1"/>
                </a:solidFill>
              </a:rPr>
              <a:t>def</a:t>
            </a:r>
            <a:r>
              <a:rPr lang="en-US" sz="3600" u="none" dirty="0" smtClean="0">
                <a:solidFill>
                  <a:schemeClr val="tx1"/>
                </a:solidFill>
              </a:rPr>
              <a:t> </a:t>
            </a:r>
            <a:r>
              <a:rPr lang="en-US" sz="3600" u="none" dirty="0">
                <a:solidFill>
                  <a:schemeClr val="tx1"/>
                </a:solidFill>
              </a:rPr>
              <a:t>power(n1,n2):    </a:t>
            </a:r>
            <a:endParaRPr lang="en-US" sz="3600" u="none" dirty="0" smtClean="0">
              <a:solidFill>
                <a:schemeClr val="tx1"/>
              </a:solidFill>
            </a:endParaRPr>
          </a:p>
          <a:p>
            <a:r>
              <a:rPr lang="en-US" sz="3600" u="none" dirty="0">
                <a:solidFill>
                  <a:schemeClr val="tx1"/>
                </a:solidFill>
              </a:rPr>
              <a:t>	</a:t>
            </a:r>
            <a:r>
              <a:rPr lang="en-US" sz="3600" u="none" dirty="0" smtClean="0">
                <a:solidFill>
                  <a:schemeClr val="tx1"/>
                </a:solidFill>
              </a:rPr>
              <a:t>p </a:t>
            </a:r>
            <a:r>
              <a:rPr lang="en-US" sz="3600" u="none" dirty="0">
                <a:solidFill>
                  <a:schemeClr val="tx1"/>
                </a:solidFill>
              </a:rPr>
              <a:t>= pow(n1,n2)    </a:t>
            </a:r>
            <a:endParaRPr lang="en-US" sz="3600" u="none" dirty="0" smtClean="0">
              <a:solidFill>
                <a:schemeClr val="tx1"/>
              </a:solidFill>
            </a:endParaRPr>
          </a:p>
          <a:p>
            <a:r>
              <a:rPr lang="en-US" sz="3600" u="none" dirty="0">
                <a:solidFill>
                  <a:schemeClr val="tx1"/>
                </a:solidFill>
              </a:rPr>
              <a:t>	</a:t>
            </a:r>
            <a:r>
              <a:rPr lang="en-US" sz="3600" u="none" dirty="0" smtClean="0">
                <a:solidFill>
                  <a:schemeClr val="tx1"/>
                </a:solidFill>
              </a:rPr>
              <a:t>return p</a:t>
            </a:r>
          </a:p>
          <a:p>
            <a:r>
              <a:rPr lang="en-US" sz="3600" u="none" dirty="0" smtClean="0">
                <a:solidFill>
                  <a:schemeClr val="tx1"/>
                </a:solidFill>
              </a:rPr>
              <a:t>power(n1,n2)</a:t>
            </a:r>
          </a:p>
          <a:p>
            <a:r>
              <a:rPr lang="en-US" sz="3600" u="none" dirty="0" smtClean="0">
                <a:solidFill>
                  <a:schemeClr val="tx1"/>
                </a:solidFill>
              </a:rPr>
              <a:t>print(f</a:t>
            </a:r>
            <a:r>
              <a:rPr lang="en-US" sz="3600" u="none" dirty="0">
                <a:solidFill>
                  <a:schemeClr val="tx1"/>
                </a:solidFill>
              </a:rPr>
              <a:t>'{n2} power of {n1} is : {power(n1,n2)}')</a:t>
            </a:r>
          </a:p>
        </p:txBody>
      </p:sp>
    </p:spTree>
    <p:extLst>
      <p:ext uri="{BB962C8B-B14F-4D97-AF65-F5344CB8AC3E}">
        <p14:creationId xmlns:p14="http://schemas.microsoft.com/office/powerpoint/2010/main" val="1852164697"/>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095375" y="1684502"/>
            <a:ext cx="10001249" cy="1661993"/>
          </a:xfrm>
        </p:spPr>
        <p:txBody>
          <a:bodyPr/>
          <a:lstStyle/>
          <a:p>
            <a:endParaRPr lang="en-US" sz="3600" u="none" dirty="0" smtClean="0">
              <a:solidFill>
                <a:schemeClr val="tx1"/>
              </a:solidFill>
            </a:endParaRPr>
          </a:p>
          <a:p>
            <a:endParaRPr lang="en-US" sz="3600" u="none" dirty="0">
              <a:solidFill>
                <a:schemeClr val="tx1"/>
              </a:solidFill>
            </a:endParaRPr>
          </a:p>
          <a:p>
            <a:pPr algn="ctr"/>
            <a:r>
              <a:rPr lang="en-US" sz="3600" u="none" dirty="0" smtClean="0">
                <a:solidFill>
                  <a:schemeClr val="tx1"/>
                </a:solidFill>
              </a:rPr>
              <a:t>Tuples</a:t>
            </a:r>
            <a:endParaRPr lang="en-US" sz="3600" u="none" dirty="0">
              <a:solidFill>
                <a:schemeClr val="tx1"/>
              </a:solidFill>
            </a:endParaRPr>
          </a:p>
        </p:txBody>
      </p:sp>
    </p:spTree>
    <p:extLst>
      <p:ext uri="{BB962C8B-B14F-4D97-AF65-F5344CB8AC3E}">
        <p14:creationId xmlns:p14="http://schemas.microsoft.com/office/powerpoint/2010/main" val="560793586"/>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15592" y="292353"/>
            <a:ext cx="9629775" cy="738664"/>
          </a:xfrm>
        </p:spPr>
        <p:txBody>
          <a:bodyPr/>
          <a:lstStyle/>
          <a:p>
            <a:pPr algn="ctr"/>
            <a:r>
              <a:rPr lang="en-US" dirty="0" smtClean="0"/>
              <a:t>Tuple Revision</a:t>
            </a:r>
            <a:endParaRPr lang="en-US" dirty="0"/>
          </a:p>
        </p:txBody>
      </p:sp>
      <p:sp>
        <p:nvSpPr>
          <p:cNvPr id="3" name="Text Placeholder 2"/>
          <p:cNvSpPr>
            <a:spLocks noGrp="1"/>
          </p:cNvSpPr>
          <p:nvPr>
            <p:ph type="body" idx="1"/>
          </p:nvPr>
        </p:nvSpPr>
        <p:spPr>
          <a:xfrm>
            <a:off x="1095375" y="1684502"/>
            <a:ext cx="10001249" cy="3877985"/>
          </a:xfrm>
        </p:spPr>
        <p:txBody>
          <a:bodyPr/>
          <a:lstStyle/>
          <a:p>
            <a:r>
              <a:rPr lang="en-US" sz="3600" u="none" dirty="0" smtClean="0">
                <a:solidFill>
                  <a:schemeClr val="tx1"/>
                </a:solidFill>
              </a:rPr>
              <a:t>Tuple initialization</a:t>
            </a:r>
          </a:p>
          <a:p>
            <a:r>
              <a:rPr lang="en-US" sz="3600" u="none" dirty="0">
                <a:solidFill>
                  <a:schemeClr val="tx1"/>
                </a:solidFill>
              </a:rPr>
              <a:t>t = (2,33</a:t>
            </a:r>
            <a:r>
              <a:rPr lang="en-US" sz="3600" u="none" dirty="0" smtClean="0">
                <a:solidFill>
                  <a:schemeClr val="tx1"/>
                </a:solidFill>
              </a:rPr>
              <a:t>)</a:t>
            </a:r>
          </a:p>
          <a:p>
            <a:r>
              <a:rPr lang="en-US" sz="3600" u="none" dirty="0" smtClean="0">
                <a:solidFill>
                  <a:schemeClr val="tx1"/>
                </a:solidFill>
              </a:rPr>
              <a:t>print(type(t))</a:t>
            </a:r>
          </a:p>
          <a:p>
            <a:endParaRPr lang="en-US" sz="3600" u="none" dirty="0" smtClean="0">
              <a:solidFill>
                <a:schemeClr val="tx1"/>
              </a:solidFill>
            </a:endParaRPr>
          </a:p>
          <a:p>
            <a:r>
              <a:rPr lang="en-US" sz="3600" u="none" dirty="0" smtClean="0">
                <a:solidFill>
                  <a:schemeClr val="tx1"/>
                </a:solidFill>
              </a:rPr>
              <a:t>Tuples are immutable </a:t>
            </a:r>
          </a:p>
          <a:p>
            <a:r>
              <a:rPr lang="en-US" sz="3600" u="none" dirty="0" smtClean="0">
                <a:solidFill>
                  <a:schemeClr val="tx1"/>
                </a:solidFill>
              </a:rPr>
              <a:t>t[0]=11</a:t>
            </a:r>
          </a:p>
          <a:p>
            <a:r>
              <a:rPr lang="en-US" sz="3600" u="none" dirty="0" smtClean="0">
                <a:solidFill>
                  <a:schemeClr val="tx1"/>
                </a:solidFill>
              </a:rPr>
              <a:t># It will generate error</a:t>
            </a:r>
            <a:endParaRPr lang="en-US" sz="3600" u="none" dirty="0">
              <a:solidFill>
                <a:schemeClr val="tx1"/>
              </a:solidFill>
            </a:endParaRPr>
          </a:p>
        </p:txBody>
      </p:sp>
    </p:spTree>
    <p:extLst>
      <p:ext uri="{BB962C8B-B14F-4D97-AF65-F5344CB8AC3E}">
        <p14:creationId xmlns:p14="http://schemas.microsoft.com/office/powerpoint/2010/main" val="2570268413"/>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15592" y="292353"/>
            <a:ext cx="9629775" cy="738664"/>
          </a:xfrm>
        </p:spPr>
        <p:txBody>
          <a:bodyPr/>
          <a:lstStyle/>
          <a:p>
            <a:pPr algn="ctr"/>
            <a:r>
              <a:rPr lang="en-US" dirty="0" smtClean="0"/>
              <a:t>Tuple Revision</a:t>
            </a:r>
            <a:endParaRPr lang="en-US" dirty="0"/>
          </a:p>
        </p:txBody>
      </p:sp>
      <p:sp>
        <p:nvSpPr>
          <p:cNvPr id="3" name="Text Placeholder 2"/>
          <p:cNvSpPr>
            <a:spLocks noGrp="1"/>
          </p:cNvSpPr>
          <p:nvPr>
            <p:ph type="body" idx="1"/>
          </p:nvPr>
        </p:nvSpPr>
        <p:spPr>
          <a:xfrm>
            <a:off x="1095375" y="1684502"/>
            <a:ext cx="10001249" cy="2215991"/>
          </a:xfrm>
        </p:spPr>
        <p:txBody>
          <a:bodyPr/>
          <a:lstStyle/>
          <a:p>
            <a:r>
              <a:rPr lang="en-US" sz="3600" u="none" dirty="0" smtClean="0">
                <a:solidFill>
                  <a:schemeClr val="tx1"/>
                </a:solidFill>
              </a:rPr>
              <a:t>Traversing a tuple</a:t>
            </a:r>
          </a:p>
          <a:p>
            <a:r>
              <a:rPr lang="en-US" sz="3600" u="none" dirty="0">
                <a:solidFill>
                  <a:schemeClr val="tx1"/>
                </a:solidFill>
              </a:rPr>
              <a:t>t = (22,33,44,55,66</a:t>
            </a:r>
            <a:r>
              <a:rPr lang="en-US" sz="3600" u="none" dirty="0" smtClean="0">
                <a:solidFill>
                  <a:schemeClr val="tx1"/>
                </a:solidFill>
              </a:rPr>
              <a:t>)</a:t>
            </a:r>
          </a:p>
          <a:p>
            <a:r>
              <a:rPr lang="en-US" sz="3600" u="none" dirty="0" smtClean="0">
                <a:solidFill>
                  <a:schemeClr val="tx1"/>
                </a:solidFill>
              </a:rPr>
              <a:t>for </a:t>
            </a:r>
            <a:r>
              <a:rPr lang="en-US" sz="3600" u="none" dirty="0">
                <a:solidFill>
                  <a:schemeClr val="tx1"/>
                </a:solidFill>
              </a:rPr>
              <a:t>i in t:    </a:t>
            </a:r>
            <a:endParaRPr lang="en-US" sz="3600" u="none" dirty="0" smtClean="0">
              <a:solidFill>
                <a:schemeClr val="tx1"/>
              </a:solidFill>
            </a:endParaRPr>
          </a:p>
          <a:p>
            <a:r>
              <a:rPr lang="en-US" sz="3600" u="none" dirty="0">
                <a:solidFill>
                  <a:schemeClr val="tx1"/>
                </a:solidFill>
              </a:rPr>
              <a:t>	</a:t>
            </a:r>
            <a:r>
              <a:rPr lang="en-US" sz="3600" u="none" dirty="0" smtClean="0">
                <a:solidFill>
                  <a:schemeClr val="tx1"/>
                </a:solidFill>
              </a:rPr>
              <a:t>print(i</a:t>
            </a:r>
            <a:r>
              <a:rPr lang="en-US" sz="3600" u="none" dirty="0">
                <a:solidFill>
                  <a:schemeClr val="tx1"/>
                </a:solidFill>
              </a:rPr>
              <a:t>)</a:t>
            </a:r>
            <a:endParaRPr lang="en-US" sz="3600" u="none" dirty="0" smtClean="0">
              <a:solidFill>
                <a:schemeClr val="tx1"/>
              </a:solidFill>
            </a:endParaRPr>
          </a:p>
        </p:txBody>
      </p:sp>
    </p:spTree>
    <p:extLst>
      <p:ext uri="{BB962C8B-B14F-4D97-AF65-F5344CB8AC3E}">
        <p14:creationId xmlns:p14="http://schemas.microsoft.com/office/powerpoint/2010/main" val="1336142292"/>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15592" y="292353"/>
            <a:ext cx="9629775" cy="1477328"/>
          </a:xfrm>
        </p:spPr>
        <p:txBody>
          <a:bodyPr/>
          <a:lstStyle/>
          <a:p>
            <a:pPr algn="ctr"/>
            <a:r>
              <a:rPr lang="en-US" dirty="0" smtClean="0"/>
              <a:t>Tuple Revision</a:t>
            </a:r>
            <a:br>
              <a:rPr lang="en-US" dirty="0" smtClean="0"/>
            </a:br>
            <a:r>
              <a:rPr lang="en-US" dirty="0" smtClean="0"/>
              <a:t>Searching in a tuple</a:t>
            </a:r>
            <a:endParaRPr lang="en-US" dirty="0"/>
          </a:p>
        </p:txBody>
      </p:sp>
      <p:sp>
        <p:nvSpPr>
          <p:cNvPr id="3" name="Text Placeholder 2"/>
          <p:cNvSpPr>
            <a:spLocks noGrp="1"/>
          </p:cNvSpPr>
          <p:nvPr>
            <p:ph type="body" idx="1"/>
          </p:nvPr>
        </p:nvSpPr>
        <p:spPr>
          <a:xfrm>
            <a:off x="1095375" y="1684502"/>
            <a:ext cx="10001249" cy="3877985"/>
          </a:xfrm>
        </p:spPr>
        <p:txBody>
          <a:bodyPr/>
          <a:lstStyle/>
          <a:p>
            <a:r>
              <a:rPr lang="en-US" sz="3600" u="none" dirty="0">
                <a:solidFill>
                  <a:schemeClr val="tx1"/>
                </a:solidFill>
              </a:rPr>
              <a:t>t = (22,33,44,55,66</a:t>
            </a:r>
            <a:r>
              <a:rPr lang="en-US" sz="3600" u="none" dirty="0" smtClean="0">
                <a:solidFill>
                  <a:schemeClr val="tx1"/>
                </a:solidFill>
              </a:rPr>
              <a:t>)</a:t>
            </a:r>
          </a:p>
          <a:p>
            <a:r>
              <a:rPr lang="en-US" sz="3600" u="none" dirty="0" smtClean="0">
                <a:solidFill>
                  <a:schemeClr val="tx1"/>
                </a:solidFill>
              </a:rPr>
              <a:t>for </a:t>
            </a:r>
            <a:r>
              <a:rPr lang="en-US" sz="3600" u="none" dirty="0">
                <a:solidFill>
                  <a:schemeClr val="tx1"/>
                </a:solidFill>
              </a:rPr>
              <a:t>i in t:    </a:t>
            </a:r>
            <a:endParaRPr lang="en-US" sz="3600" u="none" dirty="0" smtClean="0">
              <a:solidFill>
                <a:schemeClr val="tx1"/>
              </a:solidFill>
            </a:endParaRPr>
          </a:p>
          <a:p>
            <a:r>
              <a:rPr lang="en-US" sz="3600" u="none" dirty="0">
                <a:solidFill>
                  <a:schemeClr val="tx1"/>
                </a:solidFill>
              </a:rPr>
              <a:t>	</a:t>
            </a:r>
            <a:r>
              <a:rPr lang="en-US" sz="3600" u="none" dirty="0" smtClean="0">
                <a:solidFill>
                  <a:schemeClr val="tx1"/>
                </a:solidFill>
              </a:rPr>
              <a:t>if </a:t>
            </a:r>
            <a:r>
              <a:rPr lang="en-US" sz="3600" u="none" dirty="0">
                <a:solidFill>
                  <a:schemeClr val="tx1"/>
                </a:solidFill>
              </a:rPr>
              <a:t>i==22:        </a:t>
            </a:r>
            <a:endParaRPr lang="en-US" sz="3600" u="none" dirty="0" smtClean="0">
              <a:solidFill>
                <a:schemeClr val="tx1"/>
              </a:solidFill>
            </a:endParaRPr>
          </a:p>
          <a:p>
            <a:r>
              <a:rPr lang="en-US" sz="3600" u="none" dirty="0">
                <a:solidFill>
                  <a:schemeClr val="tx1"/>
                </a:solidFill>
              </a:rPr>
              <a:t>	</a:t>
            </a:r>
            <a:r>
              <a:rPr lang="en-US" sz="3600" u="none" dirty="0" smtClean="0">
                <a:solidFill>
                  <a:schemeClr val="tx1"/>
                </a:solidFill>
              </a:rPr>
              <a:t>	print</a:t>
            </a:r>
            <a:r>
              <a:rPr lang="en-US" sz="3600" u="none" dirty="0">
                <a:solidFill>
                  <a:schemeClr val="tx1"/>
                </a:solidFill>
              </a:rPr>
              <a:t>("Found")        </a:t>
            </a:r>
            <a:endParaRPr lang="en-US" sz="3600" u="none" dirty="0" smtClean="0">
              <a:solidFill>
                <a:schemeClr val="tx1"/>
              </a:solidFill>
            </a:endParaRPr>
          </a:p>
          <a:p>
            <a:r>
              <a:rPr lang="en-US" sz="3600" u="none" dirty="0">
                <a:solidFill>
                  <a:schemeClr val="tx1"/>
                </a:solidFill>
              </a:rPr>
              <a:t>	</a:t>
            </a:r>
            <a:r>
              <a:rPr lang="en-US" sz="3600" u="none" dirty="0" smtClean="0">
                <a:solidFill>
                  <a:schemeClr val="tx1"/>
                </a:solidFill>
              </a:rPr>
              <a:t>	break</a:t>
            </a:r>
          </a:p>
          <a:p>
            <a:r>
              <a:rPr lang="en-US" sz="3600" u="none" dirty="0" smtClean="0">
                <a:solidFill>
                  <a:schemeClr val="tx1"/>
                </a:solidFill>
              </a:rPr>
              <a:t>else</a:t>
            </a:r>
            <a:r>
              <a:rPr lang="en-US" sz="3600" u="none" dirty="0">
                <a:solidFill>
                  <a:schemeClr val="tx1"/>
                </a:solidFill>
              </a:rPr>
              <a:t>:    </a:t>
            </a:r>
            <a:endParaRPr lang="en-US" sz="3600" u="none" dirty="0" smtClean="0">
              <a:solidFill>
                <a:schemeClr val="tx1"/>
              </a:solidFill>
            </a:endParaRPr>
          </a:p>
          <a:p>
            <a:r>
              <a:rPr lang="en-US" sz="3600" u="none" dirty="0" smtClean="0">
                <a:solidFill>
                  <a:schemeClr val="tx1"/>
                </a:solidFill>
              </a:rPr>
              <a:t>print</a:t>
            </a:r>
            <a:r>
              <a:rPr lang="en-US" sz="3600" u="none" dirty="0">
                <a:solidFill>
                  <a:schemeClr val="tx1"/>
                </a:solidFill>
              </a:rPr>
              <a:t>("Not found")</a:t>
            </a:r>
          </a:p>
        </p:txBody>
      </p:sp>
    </p:spTree>
    <p:extLst>
      <p:ext uri="{BB962C8B-B14F-4D97-AF65-F5344CB8AC3E}">
        <p14:creationId xmlns:p14="http://schemas.microsoft.com/office/powerpoint/2010/main" val="586073543"/>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15592" y="292353"/>
            <a:ext cx="9629775" cy="1231106"/>
          </a:xfrm>
        </p:spPr>
        <p:txBody>
          <a:bodyPr/>
          <a:lstStyle/>
          <a:p>
            <a:pPr algn="ctr"/>
            <a:r>
              <a:rPr lang="en-US" sz="4000" dirty="0" smtClean="0"/>
              <a:t>Tuple Revision</a:t>
            </a:r>
            <a:br>
              <a:rPr lang="en-US" sz="4000" dirty="0" smtClean="0"/>
            </a:br>
            <a:r>
              <a:rPr lang="en-US" sz="4000" dirty="0" smtClean="0"/>
              <a:t>Conversion from tuple to list and vice-versa</a:t>
            </a:r>
            <a:endParaRPr lang="en-US" sz="4000" dirty="0"/>
          </a:p>
        </p:txBody>
      </p:sp>
      <p:sp>
        <p:nvSpPr>
          <p:cNvPr id="3" name="Text Placeholder 2"/>
          <p:cNvSpPr>
            <a:spLocks noGrp="1"/>
          </p:cNvSpPr>
          <p:nvPr>
            <p:ph type="body" idx="1"/>
          </p:nvPr>
        </p:nvSpPr>
        <p:spPr>
          <a:xfrm>
            <a:off x="1095375" y="1684502"/>
            <a:ext cx="10001249" cy="2215991"/>
          </a:xfrm>
        </p:spPr>
        <p:txBody>
          <a:bodyPr/>
          <a:lstStyle/>
          <a:p>
            <a:r>
              <a:rPr lang="en-US" sz="3600" u="none" dirty="0">
                <a:solidFill>
                  <a:schemeClr val="tx1"/>
                </a:solidFill>
              </a:rPr>
              <a:t>numbers = (1,2</a:t>
            </a:r>
            <a:r>
              <a:rPr lang="en-US" sz="3600" u="none" dirty="0" smtClean="0">
                <a:solidFill>
                  <a:schemeClr val="tx1"/>
                </a:solidFill>
              </a:rPr>
              <a:t>)</a:t>
            </a:r>
          </a:p>
          <a:p>
            <a:r>
              <a:rPr lang="en-US" sz="3600" u="none" dirty="0" smtClean="0">
                <a:solidFill>
                  <a:schemeClr val="tx1"/>
                </a:solidFill>
              </a:rPr>
              <a:t>print(type(numbers))</a:t>
            </a:r>
          </a:p>
          <a:p>
            <a:r>
              <a:rPr lang="en-US" sz="3600" u="none" dirty="0" smtClean="0">
                <a:solidFill>
                  <a:schemeClr val="tx1"/>
                </a:solidFill>
              </a:rPr>
              <a:t>numbers </a:t>
            </a:r>
            <a:r>
              <a:rPr lang="en-US" sz="3600" u="none" dirty="0">
                <a:solidFill>
                  <a:schemeClr val="tx1"/>
                </a:solidFill>
              </a:rPr>
              <a:t>= list(numbers</a:t>
            </a:r>
            <a:r>
              <a:rPr lang="en-US" sz="3600" u="none" dirty="0" smtClean="0">
                <a:solidFill>
                  <a:schemeClr val="tx1"/>
                </a:solidFill>
              </a:rPr>
              <a:t>)</a:t>
            </a:r>
          </a:p>
          <a:p>
            <a:r>
              <a:rPr lang="en-US" sz="3600" u="none" dirty="0" smtClean="0">
                <a:solidFill>
                  <a:schemeClr val="tx1"/>
                </a:solidFill>
              </a:rPr>
              <a:t>print(type(numbers</a:t>
            </a:r>
            <a:r>
              <a:rPr lang="en-US" sz="3600" u="none" dirty="0">
                <a:solidFill>
                  <a:schemeClr val="tx1"/>
                </a:solidFill>
              </a:rPr>
              <a:t>))</a:t>
            </a:r>
            <a:endParaRPr lang="en-US" sz="3600" u="none" dirty="0" smtClean="0">
              <a:solidFill>
                <a:schemeClr val="tx1"/>
              </a:solidFill>
            </a:endParaRPr>
          </a:p>
        </p:txBody>
      </p:sp>
    </p:spTree>
    <p:extLst>
      <p:ext uri="{BB962C8B-B14F-4D97-AF65-F5344CB8AC3E}">
        <p14:creationId xmlns:p14="http://schemas.microsoft.com/office/powerpoint/2010/main" val="751531468"/>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15592" y="292353"/>
            <a:ext cx="9629775" cy="1477328"/>
          </a:xfrm>
        </p:spPr>
        <p:txBody>
          <a:bodyPr/>
          <a:lstStyle/>
          <a:p>
            <a:pPr algn="ctr"/>
            <a:r>
              <a:rPr lang="en-US" dirty="0" smtClean="0"/>
              <a:t>Tuple Revision</a:t>
            </a:r>
            <a:br>
              <a:rPr lang="en-US" dirty="0" smtClean="0"/>
            </a:br>
            <a:r>
              <a:rPr lang="en-US" dirty="0" smtClean="0"/>
              <a:t>Finding sum using function and tuple</a:t>
            </a:r>
            <a:endParaRPr lang="en-US" dirty="0"/>
          </a:p>
        </p:txBody>
      </p:sp>
      <p:sp>
        <p:nvSpPr>
          <p:cNvPr id="3" name="Text Placeholder 2"/>
          <p:cNvSpPr>
            <a:spLocks noGrp="1"/>
          </p:cNvSpPr>
          <p:nvPr>
            <p:ph type="body" idx="1"/>
          </p:nvPr>
        </p:nvSpPr>
        <p:spPr>
          <a:xfrm>
            <a:off x="1095375" y="1684502"/>
            <a:ext cx="10001249" cy="3323987"/>
          </a:xfrm>
        </p:spPr>
        <p:txBody>
          <a:bodyPr/>
          <a:lstStyle/>
          <a:p>
            <a:r>
              <a:rPr lang="en-US" sz="3600" u="none" dirty="0">
                <a:solidFill>
                  <a:schemeClr val="tx1"/>
                </a:solidFill>
              </a:rPr>
              <a:t>numbers = (1,2,3,4,5</a:t>
            </a:r>
            <a:r>
              <a:rPr lang="en-US" sz="3600" u="none" dirty="0" smtClean="0">
                <a:solidFill>
                  <a:schemeClr val="tx1"/>
                </a:solidFill>
              </a:rPr>
              <a:t>)</a:t>
            </a:r>
          </a:p>
          <a:p>
            <a:r>
              <a:rPr lang="en-US" sz="3600" u="none" dirty="0" err="1" smtClean="0">
                <a:solidFill>
                  <a:schemeClr val="tx1"/>
                </a:solidFill>
              </a:rPr>
              <a:t>def</a:t>
            </a:r>
            <a:r>
              <a:rPr lang="en-US" sz="3600" u="none" dirty="0" smtClean="0">
                <a:solidFill>
                  <a:schemeClr val="tx1"/>
                </a:solidFill>
              </a:rPr>
              <a:t> </a:t>
            </a:r>
            <a:r>
              <a:rPr lang="en-US" sz="3600" u="none" dirty="0" err="1">
                <a:solidFill>
                  <a:schemeClr val="tx1"/>
                </a:solidFill>
              </a:rPr>
              <a:t>total_sum</a:t>
            </a:r>
            <a:r>
              <a:rPr lang="en-US" sz="3600" u="none" dirty="0">
                <a:solidFill>
                  <a:schemeClr val="tx1"/>
                </a:solidFill>
              </a:rPr>
              <a:t>(numbers):    </a:t>
            </a:r>
            <a:endParaRPr lang="en-US" sz="3600" u="none" dirty="0" smtClean="0">
              <a:solidFill>
                <a:schemeClr val="tx1"/>
              </a:solidFill>
            </a:endParaRPr>
          </a:p>
          <a:p>
            <a:r>
              <a:rPr lang="en-US" sz="3600" u="none" dirty="0" smtClean="0">
                <a:solidFill>
                  <a:schemeClr val="tx1"/>
                </a:solidFill>
              </a:rPr>
              <a:t>	s </a:t>
            </a:r>
            <a:r>
              <a:rPr lang="en-US" sz="3600" u="none" dirty="0">
                <a:solidFill>
                  <a:schemeClr val="tx1"/>
                </a:solidFill>
              </a:rPr>
              <a:t>= sum(numbers)    </a:t>
            </a:r>
            <a:endParaRPr lang="en-US" sz="3600" u="none" dirty="0" smtClean="0">
              <a:solidFill>
                <a:schemeClr val="tx1"/>
              </a:solidFill>
            </a:endParaRPr>
          </a:p>
          <a:p>
            <a:r>
              <a:rPr lang="en-US" sz="3600" u="none" dirty="0" smtClean="0">
                <a:solidFill>
                  <a:schemeClr val="tx1"/>
                </a:solidFill>
              </a:rPr>
              <a:t>	return s</a:t>
            </a:r>
          </a:p>
          <a:p>
            <a:r>
              <a:rPr lang="en-US" sz="3600" u="none" dirty="0" err="1" smtClean="0">
                <a:solidFill>
                  <a:schemeClr val="tx1"/>
                </a:solidFill>
              </a:rPr>
              <a:t>total_sum</a:t>
            </a:r>
            <a:r>
              <a:rPr lang="en-US" sz="3600" u="none" dirty="0" smtClean="0">
                <a:solidFill>
                  <a:schemeClr val="tx1"/>
                </a:solidFill>
              </a:rPr>
              <a:t>(numbers)</a:t>
            </a:r>
          </a:p>
          <a:p>
            <a:r>
              <a:rPr lang="en-US" sz="3600" u="none" dirty="0" smtClean="0">
                <a:solidFill>
                  <a:schemeClr val="tx1"/>
                </a:solidFill>
              </a:rPr>
              <a:t>print(</a:t>
            </a:r>
            <a:r>
              <a:rPr lang="en-US" sz="3600" u="none" dirty="0" err="1" smtClean="0">
                <a:solidFill>
                  <a:schemeClr val="tx1"/>
                </a:solidFill>
              </a:rPr>
              <a:t>f'Sum</a:t>
            </a:r>
            <a:r>
              <a:rPr lang="en-US" sz="3600" u="none" dirty="0" smtClean="0">
                <a:solidFill>
                  <a:schemeClr val="tx1"/>
                </a:solidFill>
              </a:rPr>
              <a:t> </a:t>
            </a:r>
            <a:r>
              <a:rPr lang="en-US" sz="3600" u="none" dirty="0">
                <a:solidFill>
                  <a:schemeClr val="tx1"/>
                </a:solidFill>
              </a:rPr>
              <a:t>of {numbers} is:  {</a:t>
            </a:r>
            <a:r>
              <a:rPr lang="en-US" sz="3600" u="none" dirty="0" err="1">
                <a:solidFill>
                  <a:schemeClr val="tx1"/>
                </a:solidFill>
              </a:rPr>
              <a:t>total_sum</a:t>
            </a:r>
            <a:r>
              <a:rPr lang="en-US" sz="3600" u="none" dirty="0">
                <a:solidFill>
                  <a:schemeClr val="tx1"/>
                </a:solidFill>
              </a:rPr>
              <a:t>(numbers)}')</a:t>
            </a:r>
          </a:p>
        </p:txBody>
      </p:sp>
    </p:spTree>
    <p:extLst>
      <p:ext uri="{BB962C8B-B14F-4D97-AF65-F5344CB8AC3E}">
        <p14:creationId xmlns:p14="http://schemas.microsoft.com/office/powerpoint/2010/main" val="2661591885"/>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81111" y="762000"/>
            <a:ext cx="9629775" cy="738664"/>
          </a:xfrm>
        </p:spPr>
        <p:txBody>
          <a:bodyPr/>
          <a:lstStyle/>
          <a:p>
            <a:pPr algn="ctr"/>
            <a:r>
              <a:rPr lang="en-US" dirty="0" smtClean="0"/>
              <a:t>Activity-03</a:t>
            </a:r>
            <a:endParaRPr lang="en-US" dirty="0"/>
          </a:p>
        </p:txBody>
      </p:sp>
      <p:sp>
        <p:nvSpPr>
          <p:cNvPr id="3" name="Text Placeholder 2"/>
          <p:cNvSpPr>
            <a:spLocks noGrp="1"/>
          </p:cNvSpPr>
          <p:nvPr>
            <p:ph type="body" idx="1"/>
          </p:nvPr>
        </p:nvSpPr>
        <p:spPr>
          <a:xfrm>
            <a:off x="1095375" y="1684502"/>
            <a:ext cx="10001249" cy="2215991"/>
          </a:xfrm>
        </p:spPr>
        <p:txBody>
          <a:bodyPr/>
          <a:lstStyle/>
          <a:p>
            <a:r>
              <a:rPr lang="en-US" sz="3600" u="none" dirty="0" smtClean="0">
                <a:solidFill>
                  <a:schemeClr val="tx1"/>
                </a:solidFill>
              </a:rPr>
              <a:t>Finding sum using function and tuple. This program takes multiples values from the user then multiple values will send to the function and function will add them finally result will be displayed</a:t>
            </a:r>
            <a:endParaRPr lang="en-US" sz="3600" u="none" dirty="0">
              <a:solidFill>
                <a:schemeClr val="tx1"/>
              </a:solidFill>
            </a:endParaRPr>
          </a:p>
        </p:txBody>
      </p:sp>
    </p:spTree>
    <p:extLst>
      <p:ext uri="{BB962C8B-B14F-4D97-AF65-F5344CB8AC3E}">
        <p14:creationId xmlns:p14="http://schemas.microsoft.com/office/powerpoint/2010/main" val="1003576651"/>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15592" y="292353"/>
            <a:ext cx="9629775" cy="1477328"/>
          </a:xfrm>
        </p:spPr>
        <p:txBody>
          <a:bodyPr/>
          <a:lstStyle/>
          <a:p>
            <a:pPr algn="ctr"/>
            <a:r>
              <a:rPr lang="en-US" dirty="0" smtClean="0"/>
              <a:t>Activity-03</a:t>
            </a:r>
            <a:br>
              <a:rPr lang="en-US" dirty="0" smtClean="0"/>
            </a:br>
            <a:r>
              <a:rPr lang="en-US" dirty="0" smtClean="0"/>
              <a:t>Solution</a:t>
            </a:r>
            <a:endParaRPr lang="en-US" dirty="0"/>
          </a:p>
        </p:txBody>
      </p:sp>
      <p:sp>
        <p:nvSpPr>
          <p:cNvPr id="3" name="Text Placeholder 2"/>
          <p:cNvSpPr>
            <a:spLocks noGrp="1"/>
          </p:cNvSpPr>
          <p:nvPr>
            <p:ph type="body" idx="1"/>
          </p:nvPr>
        </p:nvSpPr>
        <p:spPr>
          <a:xfrm>
            <a:off x="1095375" y="1684502"/>
            <a:ext cx="10001249" cy="4739759"/>
          </a:xfrm>
        </p:spPr>
        <p:txBody>
          <a:bodyPr/>
          <a:lstStyle/>
          <a:p>
            <a:r>
              <a:rPr lang="en-US" sz="2800" u="none" dirty="0">
                <a:solidFill>
                  <a:schemeClr val="tx1"/>
                </a:solidFill>
              </a:rPr>
              <a:t>numbers = ()numbers = list(numbers</a:t>
            </a:r>
            <a:r>
              <a:rPr lang="en-US" sz="2800" u="none" dirty="0" smtClean="0">
                <a:solidFill>
                  <a:schemeClr val="tx1"/>
                </a:solidFill>
              </a:rPr>
              <a:t>)</a:t>
            </a:r>
          </a:p>
          <a:p>
            <a:r>
              <a:rPr lang="en-US" sz="2800" u="none" dirty="0" smtClean="0">
                <a:solidFill>
                  <a:schemeClr val="tx1"/>
                </a:solidFill>
              </a:rPr>
              <a:t>total_numbers </a:t>
            </a:r>
            <a:r>
              <a:rPr lang="en-US" sz="2800" u="none" dirty="0">
                <a:solidFill>
                  <a:schemeClr val="tx1"/>
                </a:solidFill>
              </a:rPr>
              <a:t>= int(input("Enter total numbers</a:t>
            </a:r>
            <a:r>
              <a:rPr lang="en-US" sz="2800" u="none" dirty="0" smtClean="0">
                <a:solidFill>
                  <a:schemeClr val="tx1"/>
                </a:solidFill>
              </a:rPr>
              <a:t>:"))</a:t>
            </a:r>
          </a:p>
          <a:p>
            <a:r>
              <a:rPr lang="en-US" sz="2800" u="none" dirty="0" smtClean="0">
                <a:solidFill>
                  <a:schemeClr val="tx1"/>
                </a:solidFill>
              </a:rPr>
              <a:t>for </a:t>
            </a:r>
            <a:r>
              <a:rPr lang="en-US" sz="2800" u="none" dirty="0">
                <a:solidFill>
                  <a:schemeClr val="tx1"/>
                </a:solidFill>
              </a:rPr>
              <a:t>a in range(1,total_numbers+1):    </a:t>
            </a:r>
            <a:endParaRPr lang="en-US" sz="2800" u="none" dirty="0" smtClean="0">
              <a:solidFill>
                <a:schemeClr val="tx1"/>
              </a:solidFill>
            </a:endParaRPr>
          </a:p>
          <a:p>
            <a:r>
              <a:rPr lang="en-US" sz="2800" u="none" dirty="0">
                <a:solidFill>
                  <a:schemeClr val="tx1"/>
                </a:solidFill>
              </a:rPr>
              <a:t>	</a:t>
            </a:r>
            <a:r>
              <a:rPr lang="en-US" sz="2800" u="none" dirty="0" smtClean="0">
                <a:solidFill>
                  <a:schemeClr val="tx1"/>
                </a:solidFill>
              </a:rPr>
              <a:t>i </a:t>
            </a:r>
            <a:r>
              <a:rPr lang="en-US" sz="2800" u="none" dirty="0">
                <a:solidFill>
                  <a:schemeClr val="tx1"/>
                </a:solidFill>
              </a:rPr>
              <a:t>= int(input("Enter any number:"))    </a:t>
            </a:r>
            <a:r>
              <a:rPr lang="en-US" sz="2800" u="none" dirty="0" smtClean="0">
                <a:solidFill>
                  <a:schemeClr val="tx1"/>
                </a:solidFill>
              </a:rPr>
              <a:t>	</a:t>
            </a:r>
          </a:p>
          <a:p>
            <a:r>
              <a:rPr lang="en-US" sz="2800" u="none" dirty="0">
                <a:solidFill>
                  <a:schemeClr val="tx1"/>
                </a:solidFill>
              </a:rPr>
              <a:t>	</a:t>
            </a:r>
            <a:r>
              <a:rPr lang="en-US" sz="2800" u="none" dirty="0" err="1" smtClean="0">
                <a:solidFill>
                  <a:schemeClr val="tx1"/>
                </a:solidFill>
              </a:rPr>
              <a:t>numbers.append</a:t>
            </a:r>
            <a:r>
              <a:rPr lang="en-US" sz="2800" u="none" dirty="0" smtClean="0">
                <a:solidFill>
                  <a:schemeClr val="tx1"/>
                </a:solidFill>
              </a:rPr>
              <a:t>(i)</a:t>
            </a:r>
          </a:p>
          <a:p>
            <a:r>
              <a:rPr lang="en-US" sz="2800" u="none" dirty="0" smtClean="0">
                <a:solidFill>
                  <a:schemeClr val="tx1"/>
                </a:solidFill>
              </a:rPr>
              <a:t>numbers </a:t>
            </a:r>
            <a:r>
              <a:rPr lang="en-US" sz="2800" u="none" dirty="0">
                <a:solidFill>
                  <a:schemeClr val="tx1"/>
                </a:solidFill>
              </a:rPr>
              <a:t>= tuple(numbers</a:t>
            </a:r>
            <a:r>
              <a:rPr lang="en-US" sz="2800" u="none" dirty="0" smtClean="0">
                <a:solidFill>
                  <a:schemeClr val="tx1"/>
                </a:solidFill>
              </a:rPr>
              <a:t>)</a:t>
            </a:r>
          </a:p>
          <a:p>
            <a:r>
              <a:rPr lang="en-US" sz="2800" u="none" dirty="0" err="1" smtClean="0">
                <a:solidFill>
                  <a:schemeClr val="tx1"/>
                </a:solidFill>
              </a:rPr>
              <a:t>def</a:t>
            </a:r>
            <a:r>
              <a:rPr lang="en-US" sz="2800" u="none" dirty="0" smtClean="0">
                <a:solidFill>
                  <a:schemeClr val="tx1"/>
                </a:solidFill>
              </a:rPr>
              <a:t> </a:t>
            </a:r>
            <a:r>
              <a:rPr lang="en-US" sz="2800" u="none" dirty="0" err="1">
                <a:solidFill>
                  <a:schemeClr val="tx1"/>
                </a:solidFill>
              </a:rPr>
              <a:t>total_sum</a:t>
            </a:r>
            <a:r>
              <a:rPr lang="en-US" sz="2800" u="none" dirty="0">
                <a:solidFill>
                  <a:schemeClr val="tx1"/>
                </a:solidFill>
              </a:rPr>
              <a:t>(numbers):    </a:t>
            </a:r>
            <a:endParaRPr lang="en-US" sz="2800" u="none" dirty="0" smtClean="0">
              <a:solidFill>
                <a:schemeClr val="tx1"/>
              </a:solidFill>
            </a:endParaRPr>
          </a:p>
          <a:p>
            <a:r>
              <a:rPr lang="en-US" sz="2800" u="none" dirty="0">
                <a:solidFill>
                  <a:schemeClr val="tx1"/>
                </a:solidFill>
              </a:rPr>
              <a:t>	</a:t>
            </a:r>
            <a:r>
              <a:rPr lang="en-US" sz="2800" u="none" dirty="0" smtClean="0">
                <a:solidFill>
                  <a:schemeClr val="tx1"/>
                </a:solidFill>
              </a:rPr>
              <a:t>s </a:t>
            </a:r>
            <a:r>
              <a:rPr lang="en-US" sz="2800" u="none" dirty="0">
                <a:solidFill>
                  <a:schemeClr val="tx1"/>
                </a:solidFill>
              </a:rPr>
              <a:t>= sum(numbers)    </a:t>
            </a:r>
            <a:endParaRPr lang="en-US" sz="2800" u="none" dirty="0" smtClean="0">
              <a:solidFill>
                <a:schemeClr val="tx1"/>
              </a:solidFill>
            </a:endParaRPr>
          </a:p>
          <a:p>
            <a:r>
              <a:rPr lang="en-US" sz="2800" u="none" dirty="0" smtClean="0">
                <a:solidFill>
                  <a:schemeClr val="tx1"/>
                </a:solidFill>
              </a:rPr>
              <a:t>	return s</a:t>
            </a:r>
          </a:p>
          <a:p>
            <a:r>
              <a:rPr lang="en-US" sz="2800" u="none" dirty="0" err="1" smtClean="0">
                <a:solidFill>
                  <a:schemeClr val="tx1"/>
                </a:solidFill>
              </a:rPr>
              <a:t>total_sum</a:t>
            </a:r>
            <a:r>
              <a:rPr lang="en-US" sz="2800" u="none" dirty="0" smtClean="0">
                <a:solidFill>
                  <a:schemeClr val="tx1"/>
                </a:solidFill>
              </a:rPr>
              <a:t>(numbers)</a:t>
            </a:r>
          </a:p>
          <a:p>
            <a:r>
              <a:rPr lang="en-US" sz="2800" u="none" dirty="0" smtClean="0">
                <a:solidFill>
                  <a:schemeClr val="tx1"/>
                </a:solidFill>
              </a:rPr>
              <a:t>print(</a:t>
            </a:r>
            <a:r>
              <a:rPr lang="en-US" sz="2800" u="none" dirty="0" err="1" smtClean="0">
                <a:solidFill>
                  <a:schemeClr val="tx1"/>
                </a:solidFill>
              </a:rPr>
              <a:t>f'Sum</a:t>
            </a:r>
            <a:r>
              <a:rPr lang="en-US" sz="2800" u="none" dirty="0" smtClean="0">
                <a:solidFill>
                  <a:schemeClr val="tx1"/>
                </a:solidFill>
              </a:rPr>
              <a:t> </a:t>
            </a:r>
            <a:r>
              <a:rPr lang="en-US" sz="2800" u="none" dirty="0">
                <a:solidFill>
                  <a:schemeClr val="tx1"/>
                </a:solidFill>
              </a:rPr>
              <a:t>of {numbers} is:  {</a:t>
            </a:r>
            <a:r>
              <a:rPr lang="en-US" sz="2800" u="none" dirty="0" err="1">
                <a:solidFill>
                  <a:schemeClr val="tx1"/>
                </a:solidFill>
              </a:rPr>
              <a:t>total_sum</a:t>
            </a:r>
            <a:r>
              <a:rPr lang="en-US" sz="2800" u="none" dirty="0">
                <a:solidFill>
                  <a:schemeClr val="tx1"/>
                </a:solidFill>
              </a:rPr>
              <a:t>(numbers)}')</a:t>
            </a:r>
          </a:p>
        </p:txBody>
      </p:sp>
    </p:spTree>
    <p:extLst>
      <p:ext uri="{BB962C8B-B14F-4D97-AF65-F5344CB8AC3E}">
        <p14:creationId xmlns:p14="http://schemas.microsoft.com/office/powerpoint/2010/main" val="2670883424"/>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143000" y="2819400"/>
            <a:ext cx="10001249" cy="492443"/>
          </a:xfrm>
        </p:spPr>
        <p:txBody>
          <a:bodyPr/>
          <a:lstStyle/>
          <a:p>
            <a:pPr algn="ctr"/>
            <a:r>
              <a:rPr lang="en-US" sz="3200" u="none" dirty="0" smtClean="0">
                <a:solidFill>
                  <a:schemeClr val="tx1"/>
                </a:solidFill>
              </a:rPr>
              <a:t>Dictionary</a:t>
            </a:r>
            <a:endParaRPr lang="en-US" sz="3200" u="none" dirty="0">
              <a:solidFill>
                <a:schemeClr val="tx1"/>
              </a:solidFill>
            </a:endParaRPr>
          </a:p>
        </p:txBody>
      </p:sp>
    </p:spTree>
    <p:extLst>
      <p:ext uri="{BB962C8B-B14F-4D97-AF65-F5344CB8AC3E}">
        <p14:creationId xmlns:p14="http://schemas.microsoft.com/office/powerpoint/2010/main" val="1382096142"/>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15592" y="292353"/>
            <a:ext cx="9629775" cy="738664"/>
          </a:xfrm>
        </p:spPr>
        <p:txBody>
          <a:bodyPr/>
          <a:lstStyle/>
          <a:p>
            <a:pPr algn="ctr"/>
            <a:r>
              <a:rPr lang="en-US" dirty="0" smtClean="0"/>
              <a:t>Dictionary Revision</a:t>
            </a:r>
            <a:endParaRPr lang="en-US" dirty="0"/>
          </a:p>
        </p:txBody>
      </p:sp>
      <p:sp>
        <p:nvSpPr>
          <p:cNvPr id="3" name="Text Placeholder 2"/>
          <p:cNvSpPr>
            <a:spLocks noGrp="1"/>
          </p:cNvSpPr>
          <p:nvPr>
            <p:ph type="body" idx="1"/>
          </p:nvPr>
        </p:nvSpPr>
        <p:spPr>
          <a:xfrm>
            <a:off x="1095375" y="1684502"/>
            <a:ext cx="10001249" cy="3939540"/>
          </a:xfrm>
        </p:spPr>
        <p:txBody>
          <a:bodyPr/>
          <a:lstStyle/>
          <a:p>
            <a:r>
              <a:rPr lang="en-US" sz="3200" u="none" dirty="0" smtClean="0">
                <a:solidFill>
                  <a:schemeClr val="tx1"/>
                </a:solidFill>
              </a:rPr>
              <a:t>Initialization a dictionary</a:t>
            </a:r>
          </a:p>
          <a:p>
            <a:r>
              <a:rPr lang="en-US" sz="3200" u="none" dirty="0">
                <a:solidFill>
                  <a:schemeClr val="tx1"/>
                </a:solidFill>
              </a:rPr>
              <a:t>contacts = {'name':'Asif Ali','email':'asif@gmail.com</a:t>
            </a:r>
            <a:r>
              <a:rPr lang="en-US" sz="3200" u="none" dirty="0" smtClean="0">
                <a:solidFill>
                  <a:schemeClr val="tx1"/>
                </a:solidFill>
              </a:rPr>
              <a:t>'}</a:t>
            </a:r>
          </a:p>
          <a:p>
            <a:r>
              <a:rPr lang="en-US" sz="3200" u="none" dirty="0" smtClean="0">
                <a:solidFill>
                  <a:schemeClr val="tx1"/>
                </a:solidFill>
              </a:rPr>
              <a:t>print(type(contacts))</a:t>
            </a:r>
          </a:p>
          <a:p>
            <a:endParaRPr lang="en-US" sz="3200" u="none" dirty="0">
              <a:solidFill>
                <a:schemeClr val="tx1"/>
              </a:solidFill>
            </a:endParaRPr>
          </a:p>
          <a:p>
            <a:r>
              <a:rPr lang="en-US" sz="3200" u="none" dirty="0" smtClean="0">
                <a:solidFill>
                  <a:schemeClr val="tx1"/>
                </a:solidFill>
              </a:rPr>
              <a:t>Displaying an index (key) in the dictionary</a:t>
            </a:r>
          </a:p>
          <a:p>
            <a:r>
              <a:rPr lang="en-US" sz="3200" u="none" dirty="0">
                <a:solidFill>
                  <a:schemeClr val="tx1"/>
                </a:solidFill>
              </a:rPr>
              <a:t>contacts = {'name':'Asif Ali','email':'asif@gmail.com</a:t>
            </a:r>
            <a:r>
              <a:rPr lang="en-US" sz="3200" u="none" dirty="0" smtClean="0">
                <a:solidFill>
                  <a:schemeClr val="tx1"/>
                </a:solidFill>
              </a:rPr>
              <a:t>'}</a:t>
            </a:r>
          </a:p>
          <a:p>
            <a:r>
              <a:rPr lang="en-US" sz="3200" u="none" dirty="0" smtClean="0">
                <a:solidFill>
                  <a:schemeClr val="tx1"/>
                </a:solidFill>
              </a:rPr>
              <a:t>for </a:t>
            </a:r>
            <a:r>
              <a:rPr lang="en-US" sz="3200" u="none" dirty="0">
                <a:solidFill>
                  <a:schemeClr val="tx1"/>
                </a:solidFill>
              </a:rPr>
              <a:t>k in contacts:    </a:t>
            </a:r>
            <a:endParaRPr lang="en-US" sz="3200" u="none" dirty="0" smtClean="0">
              <a:solidFill>
                <a:schemeClr val="tx1"/>
              </a:solidFill>
            </a:endParaRPr>
          </a:p>
          <a:p>
            <a:r>
              <a:rPr lang="en-US" sz="3200" u="none" dirty="0">
                <a:solidFill>
                  <a:schemeClr val="tx1"/>
                </a:solidFill>
              </a:rPr>
              <a:t>	</a:t>
            </a:r>
            <a:r>
              <a:rPr lang="en-US" sz="3200" u="none" dirty="0" smtClean="0">
                <a:solidFill>
                  <a:schemeClr val="tx1"/>
                </a:solidFill>
              </a:rPr>
              <a:t>print(k</a:t>
            </a:r>
            <a:r>
              <a:rPr lang="en-US" sz="3200" u="none" dirty="0">
                <a:solidFill>
                  <a:schemeClr val="tx1"/>
                </a:solidFill>
              </a:rPr>
              <a:t>)</a:t>
            </a:r>
          </a:p>
        </p:txBody>
      </p:sp>
    </p:spTree>
    <p:extLst>
      <p:ext uri="{BB962C8B-B14F-4D97-AF65-F5344CB8AC3E}">
        <p14:creationId xmlns:p14="http://schemas.microsoft.com/office/powerpoint/2010/main" val="431575192"/>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15592" y="292353"/>
            <a:ext cx="9629775" cy="738664"/>
          </a:xfrm>
        </p:spPr>
        <p:txBody>
          <a:bodyPr/>
          <a:lstStyle/>
          <a:p>
            <a:pPr algn="ctr"/>
            <a:r>
              <a:rPr lang="en-US" dirty="0" smtClean="0"/>
              <a:t>Dictionary Revision</a:t>
            </a:r>
            <a:endParaRPr lang="en-US" dirty="0"/>
          </a:p>
        </p:txBody>
      </p:sp>
      <p:sp>
        <p:nvSpPr>
          <p:cNvPr id="3" name="Text Placeholder 2"/>
          <p:cNvSpPr>
            <a:spLocks noGrp="1"/>
          </p:cNvSpPr>
          <p:nvPr>
            <p:ph type="body" idx="1"/>
          </p:nvPr>
        </p:nvSpPr>
        <p:spPr>
          <a:xfrm>
            <a:off x="1095375" y="1684502"/>
            <a:ext cx="10001249" cy="1969770"/>
          </a:xfrm>
        </p:spPr>
        <p:txBody>
          <a:bodyPr/>
          <a:lstStyle/>
          <a:p>
            <a:r>
              <a:rPr lang="en-US" sz="3200" u="none" dirty="0" smtClean="0">
                <a:solidFill>
                  <a:schemeClr val="tx1"/>
                </a:solidFill>
              </a:rPr>
              <a:t>Displaying an index (key), value in the dictionary</a:t>
            </a:r>
          </a:p>
          <a:p>
            <a:r>
              <a:rPr lang="en-US" sz="3200" u="none" dirty="0">
                <a:solidFill>
                  <a:schemeClr val="tx1"/>
                </a:solidFill>
              </a:rPr>
              <a:t>contacts = {'name':'Asif Ali','email':'asif@gmail.com</a:t>
            </a:r>
            <a:r>
              <a:rPr lang="en-US" sz="3200" u="none" dirty="0" smtClean="0">
                <a:solidFill>
                  <a:schemeClr val="tx1"/>
                </a:solidFill>
              </a:rPr>
              <a:t>'}</a:t>
            </a:r>
          </a:p>
          <a:p>
            <a:r>
              <a:rPr lang="en-US" sz="3200" u="none" dirty="0" smtClean="0">
                <a:solidFill>
                  <a:schemeClr val="tx1"/>
                </a:solidFill>
              </a:rPr>
              <a:t>for </a:t>
            </a:r>
            <a:r>
              <a:rPr lang="en-US" sz="3200" u="none" dirty="0">
                <a:solidFill>
                  <a:schemeClr val="tx1"/>
                </a:solidFill>
              </a:rPr>
              <a:t>k,v in contacts.items():    </a:t>
            </a:r>
            <a:endParaRPr lang="en-US" sz="3200" u="none" dirty="0" smtClean="0">
              <a:solidFill>
                <a:schemeClr val="tx1"/>
              </a:solidFill>
            </a:endParaRPr>
          </a:p>
          <a:p>
            <a:r>
              <a:rPr lang="en-US" sz="3200" u="none" dirty="0">
                <a:solidFill>
                  <a:schemeClr val="tx1"/>
                </a:solidFill>
              </a:rPr>
              <a:t>	</a:t>
            </a:r>
            <a:r>
              <a:rPr lang="en-US" sz="3200" u="none" dirty="0" smtClean="0">
                <a:solidFill>
                  <a:schemeClr val="tx1"/>
                </a:solidFill>
              </a:rPr>
              <a:t>print(f</a:t>
            </a:r>
            <a:r>
              <a:rPr lang="en-US" sz="3200" u="none" dirty="0">
                <a:solidFill>
                  <a:schemeClr val="tx1"/>
                </a:solidFill>
              </a:rPr>
              <a:t>'{k} : {v}')</a:t>
            </a:r>
          </a:p>
        </p:txBody>
      </p:sp>
    </p:spTree>
    <p:extLst>
      <p:ext uri="{BB962C8B-B14F-4D97-AF65-F5344CB8AC3E}">
        <p14:creationId xmlns:p14="http://schemas.microsoft.com/office/powerpoint/2010/main" val="874822536"/>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15592" y="292353"/>
            <a:ext cx="9629775" cy="1292662"/>
          </a:xfrm>
        </p:spPr>
        <p:txBody>
          <a:bodyPr/>
          <a:lstStyle/>
          <a:p>
            <a:pPr algn="ctr"/>
            <a:r>
              <a:rPr lang="en-US" sz="2800" dirty="0" smtClean="0"/>
              <a:t>Dictionary Revision</a:t>
            </a:r>
            <a:br>
              <a:rPr lang="en-US" sz="2800" dirty="0" smtClean="0"/>
            </a:br>
            <a:r>
              <a:rPr lang="en-US" sz="2800" dirty="0" smtClean="0"/>
              <a:t>Dictionary methods</a:t>
            </a:r>
            <a:br>
              <a:rPr lang="en-US" sz="2800" dirty="0" smtClean="0"/>
            </a:br>
            <a:r>
              <a:rPr lang="en-US" sz="2800" dirty="0" smtClean="0"/>
              <a:t>clear method</a:t>
            </a:r>
            <a:endParaRPr lang="en-US" sz="2800" dirty="0"/>
          </a:p>
        </p:txBody>
      </p:sp>
      <p:sp>
        <p:nvSpPr>
          <p:cNvPr id="3" name="Text Placeholder 2"/>
          <p:cNvSpPr>
            <a:spLocks noGrp="1"/>
          </p:cNvSpPr>
          <p:nvPr>
            <p:ph type="body" idx="1"/>
          </p:nvPr>
        </p:nvSpPr>
        <p:spPr>
          <a:xfrm>
            <a:off x="1095375" y="1684502"/>
            <a:ext cx="10001249" cy="1969770"/>
          </a:xfrm>
        </p:spPr>
        <p:txBody>
          <a:bodyPr/>
          <a:lstStyle/>
          <a:p>
            <a:pPr algn="l"/>
            <a:r>
              <a:rPr lang="en-US" sz="3200" u="none" dirty="0" smtClean="0">
                <a:solidFill>
                  <a:schemeClr val="tx1"/>
                </a:solidFill>
              </a:rPr>
              <a:t>contacts </a:t>
            </a:r>
            <a:r>
              <a:rPr lang="en-US" sz="3200" u="none" dirty="0">
                <a:solidFill>
                  <a:schemeClr val="tx1"/>
                </a:solidFill>
              </a:rPr>
              <a:t>= {'name':'Asif','city':'</a:t>
            </a:r>
            <a:r>
              <a:rPr lang="en-US" sz="3200" u="none" dirty="0" err="1">
                <a:solidFill>
                  <a:schemeClr val="tx1"/>
                </a:solidFill>
              </a:rPr>
              <a:t>Daharki</a:t>
            </a:r>
            <a:r>
              <a:rPr lang="en-US" sz="3200" u="none" dirty="0" smtClean="0">
                <a:solidFill>
                  <a:schemeClr val="tx1"/>
                </a:solidFill>
              </a:rPr>
              <a:t>'}</a:t>
            </a:r>
          </a:p>
          <a:p>
            <a:pPr algn="l"/>
            <a:r>
              <a:rPr lang="en-US" sz="3200" u="none" dirty="0" smtClean="0">
                <a:solidFill>
                  <a:schemeClr val="tx1"/>
                </a:solidFill>
              </a:rPr>
              <a:t>print(contacts)</a:t>
            </a:r>
          </a:p>
          <a:p>
            <a:pPr algn="l"/>
            <a:r>
              <a:rPr lang="en-US" sz="3200" u="none" dirty="0" err="1" smtClean="0">
                <a:solidFill>
                  <a:schemeClr val="tx1"/>
                </a:solidFill>
              </a:rPr>
              <a:t>contacts.clear</a:t>
            </a:r>
            <a:r>
              <a:rPr lang="en-US" sz="3200" u="none" dirty="0" smtClean="0">
                <a:solidFill>
                  <a:schemeClr val="tx1"/>
                </a:solidFill>
              </a:rPr>
              <a:t>()</a:t>
            </a:r>
          </a:p>
          <a:p>
            <a:pPr algn="l"/>
            <a:r>
              <a:rPr lang="en-US" sz="3200" u="none" dirty="0" smtClean="0">
                <a:solidFill>
                  <a:schemeClr val="tx1"/>
                </a:solidFill>
              </a:rPr>
              <a:t>print(contacts</a:t>
            </a:r>
            <a:r>
              <a:rPr lang="en-US" sz="3200" u="none" dirty="0">
                <a:solidFill>
                  <a:schemeClr val="tx1"/>
                </a:solidFill>
              </a:rPr>
              <a:t>)</a:t>
            </a:r>
          </a:p>
        </p:txBody>
      </p:sp>
    </p:spTree>
    <p:extLst>
      <p:ext uri="{BB962C8B-B14F-4D97-AF65-F5344CB8AC3E}">
        <p14:creationId xmlns:p14="http://schemas.microsoft.com/office/powerpoint/2010/main" val="3390356907"/>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15592" y="292353"/>
            <a:ext cx="9629775" cy="1292662"/>
          </a:xfrm>
        </p:spPr>
        <p:txBody>
          <a:bodyPr/>
          <a:lstStyle/>
          <a:p>
            <a:pPr algn="ctr"/>
            <a:r>
              <a:rPr lang="en-US" sz="2800" dirty="0" smtClean="0"/>
              <a:t>Dictionary Revision</a:t>
            </a:r>
            <a:br>
              <a:rPr lang="en-US" sz="2800" dirty="0" smtClean="0"/>
            </a:br>
            <a:r>
              <a:rPr lang="en-US" sz="2800" dirty="0" smtClean="0"/>
              <a:t>Dictionary methods</a:t>
            </a:r>
            <a:br>
              <a:rPr lang="en-US" sz="2800" dirty="0" smtClean="0"/>
            </a:br>
            <a:r>
              <a:rPr lang="en-US" sz="2800" dirty="0" smtClean="0"/>
              <a:t>copy method</a:t>
            </a:r>
            <a:endParaRPr lang="en-US" sz="2800" dirty="0"/>
          </a:p>
        </p:txBody>
      </p:sp>
      <p:sp>
        <p:nvSpPr>
          <p:cNvPr id="3" name="Text Placeholder 2"/>
          <p:cNvSpPr>
            <a:spLocks noGrp="1"/>
          </p:cNvSpPr>
          <p:nvPr>
            <p:ph type="body" idx="1"/>
          </p:nvPr>
        </p:nvSpPr>
        <p:spPr>
          <a:xfrm>
            <a:off x="1095375" y="1684502"/>
            <a:ext cx="10001249" cy="1969770"/>
          </a:xfrm>
        </p:spPr>
        <p:txBody>
          <a:bodyPr/>
          <a:lstStyle/>
          <a:p>
            <a:pPr algn="l"/>
            <a:r>
              <a:rPr lang="en-US" sz="3200" u="none" dirty="0">
                <a:solidFill>
                  <a:schemeClr val="tx1"/>
                </a:solidFill>
              </a:rPr>
              <a:t>contacts = {'name':'Asif','city':'</a:t>
            </a:r>
            <a:r>
              <a:rPr lang="en-US" sz="3200" u="none" dirty="0" err="1">
                <a:solidFill>
                  <a:schemeClr val="tx1"/>
                </a:solidFill>
              </a:rPr>
              <a:t>Daharki</a:t>
            </a:r>
            <a:r>
              <a:rPr lang="en-US" sz="3200" u="none" dirty="0" smtClean="0">
                <a:solidFill>
                  <a:schemeClr val="tx1"/>
                </a:solidFill>
              </a:rPr>
              <a:t>'}</a:t>
            </a:r>
          </a:p>
          <a:p>
            <a:pPr algn="l"/>
            <a:r>
              <a:rPr lang="en-US" sz="3200" u="none" dirty="0" smtClean="0">
                <a:solidFill>
                  <a:schemeClr val="tx1"/>
                </a:solidFill>
              </a:rPr>
              <a:t>print(contacts)</a:t>
            </a:r>
          </a:p>
          <a:p>
            <a:pPr algn="l"/>
            <a:r>
              <a:rPr lang="en-US" sz="3200" u="none" dirty="0" smtClean="0">
                <a:solidFill>
                  <a:schemeClr val="tx1"/>
                </a:solidFill>
              </a:rPr>
              <a:t>contact1 </a:t>
            </a:r>
            <a:r>
              <a:rPr lang="en-US" sz="3200" u="none" dirty="0">
                <a:solidFill>
                  <a:schemeClr val="tx1"/>
                </a:solidFill>
              </a:rPr>
              <a:t>= </a:t>
            </a:r>
            <a:r>
              <a:rPr lang="en-US" sz="3200" u="none" dirty="0" err="1">
                <a:solidFill>
                  <a:schemeClr val="tx1"/>
                </a:solidFill>
              </a:rPr>
              <a:t>contacts.copy</a:t>
            </a:r>
            <a:r>
              <a:rPr lang="en-US" sz="3200" u="none" dirty="0" smtClean="0">
                <a:solidFill>
                  <a:schemeClr val="tx1"/>
                </a:solidFill>
              </a:rPr>
              <a:t>()</a:t>
            </a:r>
          </a:p>
          <a:p>
            <a:pPr algn="l"/>
            <a:r>
              <a:rPr lang="en-US" sz="3200" u="none" dirty="0" smtClean="0">
                <a:solidFill>
                  <a:schemeClr val="tx1"/>
                </a:solidFill>
              </a:rPr>
              <a:t>print(contact1</a:t>
            </a:r>
            <a:r>
              <a:rPr lang="en-US" sz="3200" u="none" dirty="0">
                <a:solidFill>
                  <a:schemeClr val="tx1"/>
                </a:solidFill>
              </a:rPr>
              <a:t>)</a:t>
            </a:r>
          </a:p>
        </p:txBody>
      </p:sp>
    </p:spTree>
    <p:extLst>
      <p:ext uri="{BB962C8B-B14F-4D97-AF65-F5344CB8AC3E}">
        <p14:creationId xmlns:p14="http://schemas.microsoft.com/office/powerpoint/2010/main" val="3706416693"/>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15592" y="292353"/>
            <a:ext cx="9629775" cy="1292662"/>
          </a:xfrm>
        </p:spPr>
        <p:txBody>
          <a:bodyPr/>
          <a:lstStyle/>
          <a:p>
            <a:pPr algn="ctr"/>
            <a:r>
              <a:rPr lang="en-US" sz="2800" dirty="0" smtClean="0"/>
              <a:t>Dictionary Revision</a:t>
            </a:r>
            <a:br>
              <a:rPr lang="en-US" sz="2800" dirty="0" smtClean="0"/>
            </a:br>
            <a:r>
              <a:rPr lang="en-US" sz="2800" dirty="0" smtClean="0"/>
              <a:t>Dictionary methods</a:t>
            </a:r>
            <a:br>
              <a:rPr lang="en-US" sz="2800" dirty="0" smtClean="0"/>
            </a:br>
            <a:r>
              <a:rPr lang="en-US" sz="2800" dirty="0" smtClean="0"/>
              <a:t>get method</a:t>
            </a:r>
            <a:endParaRPr lang="en-US" sz="2800" dirty="0"/>
          </a:p>
        </p:txBody>
      </p:sp>
      <p:sp>
        <p:nvSpPr>
          <p:cNvPr id="3" name="Text Placeholder 2"/>
          <p:cNvSpPr>
            <a:spLocks noGrp="1"/>
          </p:cNvSpPr>
          <p:nvPr>
            <p:ph type="body" idx="1"/>
          </p:nvPr>
        </p:nvSpPr>
        <p:spPr>
          <a:xfrm>
            <a:off x="1095375" y="1684502"/>
            <a:ext cx="10001249" cy="1969770"/>
          </a:xfrm>
        </p:spPr>
        <p:txBody>
          <a:bodyPr/>
          <a:lstStyle/>
          <a:p>
            <a:pPr algn="l"/>
            <a:r>
              <a:rPr lang="en-US" sz="3200" u="none" dirty="0">
                <a:solidFill>
                  <a:schemeClr val="tx1"/>
                </a:solidFill>
              </a:rPr>
              <a:t>contacts = {'name</a:t>
            </a:r>
            <a:r>
              <a:rPr lang="en-US" sz="3200" u="none" dirty="0" smtClean="0">
                <a:solidFill>
                  <a:schemeClr val="tx1"/>
                </a:solidFill>
              </a:rPr>
              <a:t>':'Asif',</a:t>
            </a:r>
            <a:r>
              <a:rPr lang="en-US" sz="3200" u="none" dirty="0">
                <a:solidFill>
                  <a:schemeClr val="tx1"/>
                </a:solidFill>
              </a:rPr>
              <a:t>'city':'</a:t>
            </a:r>
            <a:r>
              <a:rPr lang="en-US" sz="3200" u="none" dirty="0" err="1">
                <a:solidFill>
                  <a:schemeClr val="tx1"/>
                </a:solidFill>
              </a:rPr>
              <a:t>Daharki</a:t>
            </a:r>
            <a:r>
              <a:rPr lang="en-US" sz="3200" u="none" dirty="0" smtClean="0">
                <a:solidFill>
                  <a:schemeClr val="tx1"/>
                </a:solidFill>
              </a:rPr>
              <a:t>'}</a:t>
            </a:r>
          </a:p>
          <a:p>
            <a:pPr algn="l"/>
            <a:r>
              <a:rPr lang="en-US" sz="3200" u="none" dirty="0" smtClean="0">
                <a:solidFill>
                  <a:schemeClr val="tx1"/>
                </a:solidFill>
              </a:rPr>
              <a:t>print(contacts)</a:t>
            </a:r>
          </a:p>
          <a:p>
            <a:pPr algn="l"/>
            <a:r>
              <a:rPr lang="en-US" sz="3200" u="none" dirty="0" smtClean="0">
                <a:solidFill>
                  <a:schemeClr val="tx1"/>
                </a:solidFill>
              </a:rPr>
              <a:t>name </a:t>
            </a:r>
            <a:r>
              <a:rPr lang="en-US" sz="3200" u="none" dirty="0">
                <a:solidFill>
                  <a:schemeClr val="tx1"/>
                </a:solidFill>
              </a:rPr>
              <a:t>= </a:t>
            </a:r>
            <a:r>
              <a:rPr lang="en-US" sz="3200" u="none" dirty="0" err="1">
                <a:solidFill>
                  <a:schemeClr val="tx1"/>
                </a:solidFill>
              </a:rPr>
              <a:t>contacts.get</a:t>
            </a:r>
            <a:r>
              <a:rPr lang="en-US" sz="3200" u="none" dirty="0">
                <a:solidFill>
                  <a:schemeClr val="tx1"/>
                </a:solidFill>
              </a:rPr>
              <a:t>('name</a:t>
            </a:r>
            <a:r>
              <a:rPr lang="en-US" sz="3200" u="none" dirty="0" smtClean="0">
                <a:solidFill>
                  <a:schemeClr val="tx1"/>
                </a:solidFill>
              </a:rPr>
              <a:t>')</a:t>
            </a:r>
          </a:p>
          <a:p>
            <a:pPr algn="l"/>
            <a:r>
              <a:rPr lang="en-US" sz="3200" u="none" dirty="0" smtClean="0">
                <a:solidFill>
                  <a:schemeClr val="tx1"/>
                </a:solidFill>
              </a:rPr>
              <a:t>print(name</a:t>
            </a:r>
            <a:r>
              <a:rPr lang="en-US" sz="3200" u="none" dirty="0">
                <a:solidFill>
                  <a:schemeClr val="tx1"/>
                </a:solidFill>
              </a:rPr>
              <a:t>)</a:t>
            </a:r>
          </a:p>
        </p:txBody>
      </p:sp>
    </p:spTree>
    <p:extLst>
      <p:ext uri="{BB962C8B-B14F-4D97-AF65-F5344CB8AC3E}">
        <p14:creationId xmlns:p14="http://schemas.microsoft.com/office/powerpoint/2010/main" val="792341709"/>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15592" y="292353"/>
            <a:ext cx="9629775" cy="1292662"/>
          </a:xfrm>
        </p:spPr>
        <p:txBody>
          <a:bodyPr/>
          <a:lstStyle/>
          <a:p>
            <a:pPr algn="ctr"/>
            <a:r>
              <a:rPr lang="en-US" sz="2800" dirty="0" smtClean="0"/>
              <a:t>Dictionary Revision</a:t>
            </a:r>
            <a:br>
              <a:rPr lang="en-US" sz="2800" dirty="0" smtClean="0"/>
            </a:br>
            <a:r>
              <a:rPr lang="en-US" sz="2800" dirty="0" smtClean="0"/>
              <a:t>Dictionary methods</a:t>
            </a:r>
            <a:br>
              <a:rPr lang="en-US" sz="2800" dirty="0" smtClean="0"/>
            </a:br>
            <a:r>
              <a:rPr lang="en-US" sz="2800" dirty="0" smtClean="0"/>
              <a:t>get method</a:t>
            </a:r>
            <a:endParaRPr lang="en-US" sz="2800" dirty="0"/>
          </a:p>
        </p:txBody>
      </p:sp>
      <p:sp>
        <p:nvSpPr>
          <p:cNvPr id="3" name="Text Placeholder 2"/>
          <p:cNvSpPr>
            <a:spLocks noGrp="1"/>
          </p:cNvSpPr>
          <p:nvPr>
            <p:ph type="body" idx="1"/>
          </p:nvPr>
        </p:nvSpPr>
        <p:spPr>
          <a:xfrm>
            <a:off x="1095375" y="1684502"/>
            <a:ext cx="10001249" cy="1969770"/>
          </a:xfrm>
        </p:spPr>
        <p:txBody>
          <a:bodyPr/>
          <a:lstStyle/>
          <a:p>
            <a:pPr algn="l"/>
            <a:r>
              <a:rPr lang="en-US" sz="3200" u="none" dirty="0">
                <a:solidFill>
                  <a:schemeClr val="tx1"/>
                </a:solidFill>
              </a:rPr>
              <a:t>contacts = {'name':['</a:t>
            </a:r>
            <a:r>
              <a:rPr lang="en-US" sz="3200" u="none" dirty="0" err="1">
                <a:solidFill>
                  <a:schemeClr val="tx1"/>
                </a:solidFill>
              </a:rPr>
              <a:t>Asif','Ali','Ahmed</a:t>
            </a:r>
            <a:r>
              <a:rPr lang="en-US" sz="3200" u="none" dirty="0">
                <a:solidFill>
                  <a:schemeClr val="tx1"/>
                </a:solidFill>
              </a:rPr>
              <a:t>'],'city':'</a:t>
            </a:r>
            <a:r>
              <a:rPr lang="en-US" sz="3200" u="none" dirty="0" err="1">
                <a:solidFill>
                  <a:schemeClr val="tx1"/>
                </a:solidFill>
              </a:rPr>
              <a:t>Daharki</a:t>
            </a:r>
            <a:r>
              <a:rPr lang="en-US" sz="3200" u="none" dirty="0" smtClean="0">
                <a:solidFill>
                  <a:schemeClr val="tx1"/>
                </a:solidFill>
              </a:rPr>
              <a:t>'}</a:t>
            </a:r>
          </a:p>
          <a:p>
            <a:pPr algn="l"/>
            <a:r>
              <a:rPr lang="en-US" sz="3200" u="none" dirty="0" smtClean="0">
                <a:solidFill>
                  <a:schemeClr val="tx1"/>
                </a:solidFill>
              </a:rPr>
              <a:t>print(contacts)</a:t>
            </a:r>
          </a:p>
          <a:p>
            <a:pPr algn="l"/>
            <a:r>
              <a:rPr lang="en-US" sz="3200" u="none" dirty="0" smtClean="0">
                <a:solidFill>
                  <a:schemeClr val="tx1"/>
                </a:solidFill>
              </a:rPr>
              <a:t>name </a:t>
            </a:r>
            <a:r>
              <a:rPr lang="en-US" sz="3200" u="none" dirty="0">
                <a:solidFill>
                  <a:schemeClr val="tx1"/>
                </a:solidFill>
              </a:rPr>
              <a:t>= </a:t>
            </a:r>
            <a:r>
              <a:rPr lang="en-US" sz="3200" u="none" dirty="0" err="1">
                <a:solidFill>
                  <a:schemeClr val="tx1"/>
                </a:solidFill>
              </a:rPr>
              <a:t>contacts.get</a:t>
            </a:r>
            <a:r>
              <a:rPr lang="en-US" sz="3200" u="none" dirty="0">
                <a:solidFill>
                  <a:schemeClr val="tx1"/>
                </a:solidFill>
              </a:rPr>
              <a:t>('name</a:t>
            </a:r>
            <a:r>
              <a:rPr lang="en-US" sz="3200" u="none" dirty="0" smtClean="0">
                <a:solidFill>
                  <a:schemeClr val="tx1"/>
                </a:solidFill>
              </a:rPr>
              <a:t>')</a:t>
            </a:r>
          </a:p>
          <a:p>
            <a:pPr algn="l"/>
            <a:r>
              <a:rPr lang="en-US" sz="3200" u="none" dirty="0" smtClean="0">
                <a:solidFill>
                  <a:schemeClr val="tx1"/>
                </a:solidFill>
              </a:rPr>
              <a:t>print(name</a:t>
            </a:r>
            <a:r>
              <a:rPr lang="en-US" sz="3200" u="none" dirty="0">
                <a:solidFill>
                  <a:schemeClr val="tx1"/>
                </a:solidFill>
              </a:rPr>
              <a:t>)</a:t>
            </a:r>
          </a:p>
        </p:txBody>
      </p:sp>
    </p:spTree>
    <p:extLst>
      <p:ext uri="{BB962C8B-B14F-4D97-AF65-F5344CB8AC3E}">
        <p14:creationId xmlns:p14="http://schemas.microsoft.com/office/powerpoint/2010/main" val="1195373009"/>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15592" y="292353"/>
            <a:ext cx="9629775" cy="1292662"/>
          </a:xfrm>
        </p:spPr>
        <p:txBody>
          <a:bodyPr/>
          <a:lstStyle/>
          <a:p>
            <a:pPr algn="ctr"/>
            <a:r>
              <a:rPr lang="en-US" sz="2800" dirty="0" smtClean="0"/>
              <a:t>Dictionary Revision</a:t>
            </a:r>
            <a:br>
              <a:rPr lang="en-US" sz="2800" dirty="0" smtClean="0"/>
            </a:br>
            <a:r>
              <a:rPr lang="en-US" sz="2800" dirty="0" smtClean="0"/>
              <a:t>Dictionary methods</a:t>
            </a:r>
            <a:br>
              <a:rPr lang="en-US" sz="2800" dirty="0" smtClean="0"/>
            </a:br>
            <a:r>
              <a:rPr lang="en-US" sz="2800" dirty="0" smtClean="0"/>
              <a:t>items method</a:t>
            </a:r>
            <a:endParaRPr lang="en-US" sz="2800" dirty="0"/>
          </a:p>
        </p:txBody>
      </p:sp>
      <p:sp>
        <p:nvSpPr>
          <p:cNvPr id="3" name="Text Placeholder 2"/>
          <p:cNvSpPr>
            <a:spLocks noGrp="1"/>
          </p:cNvSpPr>
          <p:nvPr>
            <p:ph type="body" idx="1"/>
          </p:nvPr>
        </p:nvSpPr>
        <p:spPr>
          <a:xfrm>
            <a:off x="1095375" y="1684502"/>
            <a:ext cx="10001249" cy="4431983"/>
          </a:xfrm>
        </p:spPr>
        <p:txBody>
          <a:bodyPr/>
          <a:lstStyle/>
          <a:p>
            <a:pPr algn="l"/>
            <a:r>
              <a:rPr lang="en-US" sz="3200" u="none" dirty="0">
                <a:solidFill>
                  <a:schemeClr val="tx1"/>
                </a:solidFill>
              </a:rPr>
              <a:t>contacts = {'</a:t>
            </a:r>
            <a:r>
              <a:rPr lang="en-US" sz="3200" u="none" dirty="0" err="1">
                <a:solidFill>
                  <a:schemeClr val="tx1"/>
                </a:solidFill>
              </a:rPr>
              <a:t>name':'Ali','city':'Karachi</a:t>
            </a:r>
            <a:r>
              <a:rPr lang="en-US" sz="3200" u="none" dirty="0" smtClean="0">
                <a:solidFill>
                  <a:schemeClr val="tx1"/>
                </a:solidFill>
              </a:rPr>
              <a:t>'}</a:t>
            </a:r>
          </a:p>
          <a:p>
            <a:pPr algn="l"/>
            <a:r>
              <a:rPr lang="en-US" sz="3200" u="none" dirty="0" smtClean="0">
                <a:solidFill>
                  <a:schemeClr val="tx1"/>
                </a:solidFill>
              </a:rPr>
              <a:t>items </a:t>
            </a:r>
            <a:r>
              <a:rPr lang="en-US" sz="3200" u="none" dirty="0">
                <a:solidFill>
                  <a:schemeClr val="tx1"/>
                </a:solidFill>
              </a:rPr>
              <a:t>= contacts.items</a:t>
            </a:r>
            <a:r>
              <a:rPr lang="en-US" sz="3200" u="none" dirty="0" smtClean="0">
                <a:solidFill>
                  <a:schemeClr val="tx1"/>
                </a:solidFill>
              </a:rPr>
              <a:t>()</a:t>
            </a:r>
          </a:p>
          <a:p>
            <a:pPr algn="l"/>
            <a:r>
              <a:rPr lang="en-US" sz="3200" u="none" dirty="0" smtClean="0">
                <a:solidFill>
                  <a:schemeClr val="tx1"/>
                </a:solidFill>
              </a:rPr>
              <a:t>print(items)</a:t>
            </a:r>
          </a:p>
          <a:p>
            <a:pPr algn="l"/>
            <a:endParaRPr lang="en-US" sz="3200" u="none" dirty="0">
              <a:solidFill>
                <a:schemeClr val="tx1"/>
              </a:solidFill>
            </a:endParaRPr>
          </a:p>
          <a:p>
            <a:pPr algn="l"/>
            <a:r>
              <a:rPr lang="en-US" sz="3200" u="none" dirty="0" smtClean="0">
                <a:solidFill>
                  <a:schemeClr val="tx1"/>
                </a:solidFill>
              </a:rPr>
              <a:t>OR</a:t>
            </a:r>
          </a:p>
          <a:p>
            <a:pPr algn="l"/>
            <a:r>
              <a:rPr lang="en-US" sz="3200" u="none" dirty="0">
                <a:solidFill>
                  <a:schemeClr val="tx1"/>
                </a:solidFill>
              </a:rPr>
              <a:t>contacts = {'</a:t>
            </a:r>
            <a:r>
              <a:rPr lang="en-US" sz="3200" u="none" dirty="0" err="1">
                <a:solidFill>
                  <a:schemeClr val="tx1"/>
                </a:solidFill>
              </a:rPr>
              <a:t>name':'Ali','city':'Karachi</a:t>
            </a:r>
            <a:r>
              <a:rPr lang="en-US" sz="3200" u="none" dirty="0" smtClean="0">
                <a:solidFill>
                  <a:schemeClr val="tx1"/>
                </a:solidFill>
              </a:rPr>
              <a:t>'}</a:t>
            </a:r>
          </a:p>
          <a:p>
            <a:pPr algn="l"/>
            <a:r>
              <a:rPr lang="en-US" sz="3200" u="none" dirty="0" smtClean="0">
                <a:solidFill>
                  <a:schemeClr val="tx1"/>
                </a:solidFill>
              </a:rPr>
              <a:t>for </a:t>
            </a:r>
            <a:r>
              <a:rPr lang="en-US" sz="3200" u="none" dirty="0">
                <a:solidFill>
                  <a:schemeClr val="tx1"/>
                </a:solidFill>
              </a:rPr>
              <a:t>item in contacts.items():    </a:t>
            </a:r>
            <a:endParaRPr lang="en-US" sz="3200" u="none" dirty="0" smtClean="0">
              <a:solidFill>
                <a:schemeClr val="tx1"/>
              </a:solidFill>
            </a:endParaRPr>
          </a:p>
          <a:p>
            <a:pPr algn="l"/>
            <a:r>
              <a:rPr lang="en-US" sz="3200" u="none" dirty="0">
                <a:solidFill>
                  <a:schemeClr val="tx1"/>
                </a:solidFill>
              </a:rPr>
              <a:t>	</a:t>
            </a:r>
            <a:r>
              <a:rPr lang="en-US" sz="3200" u="none" dirty="0" smtClean="0">
                <a:solidFill>
                  <a:schemeClr val="tx1"/>
                </a:solidFill>
              </a:rPr>
              <a:t>print(item</a:t>
            </a:r>
            <a:r>
              <a:rPr lang="en-US" sz="3200" u="none" dirty="0">
                <a:solidFill>
                  <a:schemeClr val="tx1"/>
                </a:solidFill>
              </a:rPr>
              <a:t>)</a:t>
            </a:r>
          </a:p>
          <a:p>
            <a:pPr algn="l"/>
            <a:endParaRPr lang="en-US" sz="3200" u="none" dirty="0">
              <a:solidFill>
                <a:schemeClr val="tx1"/>
              </a:solidFill>
            </a:endParaRPr>
          </a:p>
        </p:txBody>
      </p:sp>
    </p:spTree>
    <p:extLst>
      <p:ext uri="{BB962C8B-B14F-4D97-AF65-F5344CB8AC3E}">
        <p14:creationId xmlns:p14="http://schemas.microsoft.com/office/powerpoint/2010/main" val="2861336295"/>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15592" y="292353"/>
            <a:ext cx="9629775" cy="1292662"/>
          </a:xfrm>
        </p:spPr>
        <p:txBody>
          <a:bodyPr/>
          <a:lstStyle/>
          <a:p>
            <a:pPr algn="ctr"/>
            <a:r>
              <a:rPr lang="en-US" sz="2800" dirty="0" smtClean="0"/>
              <a:t>Dictionary Revision</a:t>
            </a:r>
            <a:br>
              <a:rPr lang="en-US" sz="2800" dirty="0" smtClean="0"/>
            </a:br>
            <a:r>
              <a:rPr lang="en-US" sz="2800" dirty="0" smtClean="0"/>
              <a:t>Dictionary methods</a:t>
            </a:r>
            <a:br>
              <a:rPr lang="en-US" sz="2800" dirty="0" smtClean="0"/>
            </a:br>
            <a:r>
              <a:rPr lang="en-US" sz="2800" dirty="0" smtClean="0"/>
              <a:t>keys method</a:t>
            </a:r>
            <a:endParaRPr lang="en-US" sz="2800" dirty="0"/>
          </a:p>
        </p:txBody>
      </p:sp>
      <p:sp>
        <p:nvSpPr>
          <p:cNvPr id="3" name="Text Placeholder 2"/>
          <p:cNvSpPr>
            <a:spLocks noGrp="1"/>
          </p:cNvSpPr>
          <p:nvPr>
            <p:ph type="body" idx="1"/>
          </p:nvPr>
        </p:nvSpPr>
        <p:spPr>
          <a:xfrm>
            <a:off x="1095375" y="1684502"/>
            <a:ext cx="10001249" cy="4431983"/>
          </a:xfrm>
        </p:spPr>
        <p:txBody>
          <a:bodyPr/>
          <a:lstStyle/>
          <a:p>
            <a:pPr algn="l"/>
            <a:r>
              <a:rPr lang="en-US" sz="3200" u="none" dirty="0">
                <a:solidFill>
                  <a:schemeClr val="tx1"/>
                </a:solidFill>
              </a:rPr>
              <a:t>contacts = {'</a:t>
            </a:r>
            <a:r>
              <a:rPr lang="en-US" sz="3200" u="none" dirty="0" err="1">
                <a:solidFill>
                  <a:schemeClr val="tx1"/>
                </a:solidFill>
              </a:rPr>
              <a:t>name':'Ali','city':'Karachi</a:t>
            </a:r>
            <a:r>
              <a:rPr lang="en-US" sz="3200" u="none" dirty="0" smtClean="0">
                <a:solidFill>
                  <a:schemeClr val="tx1"/>
                </a:solidFill>
              </a:rPr>
              <a:t>'}</a:t>
            </a:r>
          </a:p>
          <a:p>
            <a:pPr algn="l"/>
            <a:r>
              <a:rPr lang="en-US" sz="3200" u="none" dirty="0" smtClean="0">
                <a:solidFill>
                  <a:schemeClr val="tx1"/>
                </a:solidFill>
              </a:rPr>
              <a:t>keys </a:t>
            </a:r>
            <a:r>
              <a:rPr lang="en-US" sz="3200" u="none" dirty="0">
                <a:solidFill>
                  <a:schemeClr val="tx1"/>
                </a:solidFill>
              </a:rPr>
              <a:t>= </a:t>
            </a:r>
            <a:r>
              <a:rPr lang="en-US" sz="3200" u="none" dirty="0" err="1">
                <a:solidFill>
                  <a:schemeClr val="tx1"/>
                </a:solidFill>
              </a:rPr>
              <a:t>contacts.keys</a:t>
            </a:r>
            <a:r>
              <a:rPr lang="en-US" sz="3200" u="none" dirty="0" smtClean="0">
                <a:solidFill>
                  <a:schemeClr val="tx1"/>
                </a:solidFill>
              </a:rPr>
              <a:t>()</a:t>
            </a:r>
          </a:p>
          <a:p>
            <a:pPr algn="l"/>
            <a:r>
              <a:rPr lang="en-US" sz="3200" u="none" dirty="0" smtClean="0">
                <a:solidFill>
                  <a:schemeClr val="tx1"/>
                </a:solidFill>
              </a:rPr>
              <a:t>print(keys)</a:t>
            </a:r>
          </a:p>
          <a:p>
            <a:pPr algn="l"/>
            <a:endParaRPr lang="en-US" sz="3200" u="none" dirty="0">
              <a:solidFill>
                <a:schemeClr val="tx1"/>
              </a:solidFill>
            </a:endParaRPr>
          </a:p>
          <a:p>
            <a:pPr algn="l"/>
            <a:r>
              <a:rPr lang="en-US" sz="3200" u="none" dirty="0" smtClean="0">
                <a:solidFill>
                  <a:schemeClr val="tx1"/>
                </a:solidFill>
              </a:rPr>
              <a:t>OR</a:t>
            </a:r>
          </a:p>
          <a:p>
            <a:pPr algn="l"/>
            <a:r>
              <a:rPr lang="en-US" sz="3200" u="none" dirty="0" smtClean="0">
                <a:solidFill>
                  <a:schemeClr val="tx1"/>
                </a:solidFill>
              </a:rPr>
              <a:t>contacts </a:t>
            </a:r>
            <a:r>
              <a:rPr lang="en-US" sz="3200" u="none" dirty="0">
                <a:solidFill>
                  <a:schemeClr val="tx1"/>
                </a:solidFill>
              </a:rPr>
              <a:t>= {'</a:t>
            </a:r>
            <a:r>
              <a:rPr lang="en-US" sz="3200" u="none" dirty="0" err="1">
                <a:solidFill>
                  <a:schemeClr val="tx1"/>
                </a:solidFill>
              </a:rPr>
              <a:t>name':'Ali','city':'Karachi</a:t>
            </a:r>
            <a:r>
              <a:rPr lang="en-US" sz="3200" u="none" dirty="0" smtClean="0">
                <a:solidFill>
                  <a:schemeClr val="tx1"/>
                </a:solidFill>
              </a:rPr>
              <a:t>'}</a:t>
            </a:r>
          </a:p>
          <a:p>
            <a:pPr algn="l"/>
            <a:r>
              <a:rPr lang="en-US" sz="3200" u="none" dirty="0" smtClean="0">
                <a:solidFill>
                  <a:schemeClr val="tx1"/>
                </a:solidFill>
              </a:rPr>
              <a:t>keys </a:t>
            </a:r>
            <a:r>
              <a:rPr lang="en-US" sz="3200" u="none" dirty="0">
                <a:solidFill>
                  <a:schemeClr val="tx1"/>
                </a:solidFill>
              </a:rPr>
              <a:t>= </a:t>
            </a:r>
            <a:r>
              <a:rPr lang="en-US" sz="3200" u="none" dirty="0" err="1">
                <a:solidFill>
                  <a:schemeClr val="tx1"/>
                </a:solidFill>
              </a:rPr>
              <a:t>contacts.keys</a:t>
            </a:r>
            <a:r>
              <a:rPr lang="en-US" sz="3200" u="none" dirty="0" smtClean="0">
                <a:solidFill>
                  <a:schemeClr val="tx1"/>
                </a:solidFill>
              </a:rPr>
              <a:t>()</a:t>
            </a:r>
          </a:p>
          <a:p>
            <a:pPr algn="l"/>
            <a:r>
              <a:rPr lang="en-US" sz="3200" u="none" dirty="0" smtClean="0">
                <a:solidFill>
                  <a:schemeClr val="tx1"/>
                </a:solidFill>
              </a:rPr>
              <a:t>print(keys</a:t>
            </a:r>
            <a:r>
              <a:rPr lang="en-US" sz="3200" u="none" dirty="0">
                <a:solidFill>
                  <a:schemeClr val="tx1"/>
                </a:solidFill>
              </a:rPr>
              <a:t>)</a:t>
            </a:r>
            <a:endParaRPr lang="en-US" sz="3200" u="none" dirty="0" smtClean="0">
              <a:solidFill>
                <a:schemeClr val="tx1"/>
              </a:solidFill>
            </a:endParaRPr>
          </a:p>
          <a:p>
            <a:pPr algn="l"/>
            <a:endParaRPr lang="en-US" sz="3200" u="none" dirty="0">
              <a:solidFill>
                <a:schemeClr val="tx1"/>
              </a:solidFill>
            </a:endParaRPr>
          </a:p>
        </p:txBody>
      </p:sp>
    </p:spTree>
    <p:extLst>
      <p:ext uri="{BB962C8B-B14F-4D97-AF65-F5344CB8AC3E}">
        <p14:creationId xmlns:p14="http://schemas.microsoft.com/office/powerpoint/2010/main" val="3840452884"/>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15592" y="292353"/>
            <a:ext cx="9629775" cy="1292662"/>
          </a:xfrm>
        </p:spPr>
        <p:txBody>
          <a:bodyPr/>
          <a:lstStyle/>
          <a:p>
            <a:pPr algn="ctr"/>
            <a:r>
              <a:rPr lang="en-US" sz="2800" dirty="0" smtClean="0"/>
              <a:t>Dictionary Revision</a:t>
            </a:r>
            <a:br>
              <a:rPr lang="en-US" sz="2800" dirty="0" smtClean="0"/>
            </a:br>
            <a:r>
              <a:rPr lang="en-US" sz="2800" dirty="0" smtClean="0"/>
              <a:t>Dictionary methods</a:t>
            </a:r>
            <a:br>
              <a:rPr lang="en-US" sz="2800" dirty="0" smtClean="0"/>
            </a:br>
            <a:r>
              <a:rPr lang="en-US" sz="2800" dirty="0" smtClean="0"/>
              <a:t>values method</a:t>
            </a:r>
            <a:endParaRPr lang="en-US" sz="2800" dirty="0"/>
          </a:p>
        </p:txBody>
      </p:sp>
      <p:sp>
        <p:nvSpPr>
          <p:cNvPr id="3" name="Text Placeholder 2"/>
          <p:cNvSpPr>
            <a:spLocks noGrp="1"/>
          </p:cNvSpPr>
          <p:nvPr>
            <p:ph type="body" idx="1"/>
          </p:nvPr>
        </p:nvSpPr>
        <p:spPr>
          <a:xfrm>
            <a:off x="1129854" y="1828800"/>
            <a:ext cx="10001249" cy="1477328"/>
          </a:xfrm>
        </p:spPr>
        <p:txBody>
          <a:bodyPr/>
          <a:lstStyle/>
          <a:p>
            <a:pPr algn="l"/>
            <a:r>
              <a:rPr lang="en-US" sz="3200" u="none" dirty="0">
                <a:solidFill>
                  <a:schemeClr val="tx1"/>
                </a:solidFill>
              </a:rPr>
              <a:t>contacts = {'name':'Asif','city':'</a:t>
            </a:r>
            <a:r>
              <a:rPr lang="en-US" sz="3200" u="none" dirty="0" err="1">
                <a:solidFill>
                  <a:schemeClr val="tx1"/>
                </a:solidFill>
              </a:rPr>
              <a:t>Daharki</a:t>
            </a:r>
            <a:r>
              <a:rPr lang="en-US" sz="3200" u="none" dirty="0" smtClean="0">
                <a:solidFill>
                  <a:schemeClr val="tx1"/>
                </a:solidFill>
              </a:rPr>
              <a:t>'}</a:t>
            </a:r>
          </a:p>
          <a:p>
            <a:pPr algn="l"/>
            <a:r>
              <a:rPr lang="en-US" sz="3200" u="none" dirty="0" smtClean="0">
                <a:solidFill>
                  <a:schemeClr val="tx1"/>
                </a:solidFill>
              </a:rPr>
              <a:t>v </a:t>
            </a:r>
            <a:r>
              <a:rPr lang="en-US" sz="3200" u="none" dirty="0">
                <a:solidFill>
                  <a:schemeClr val="tx1"/>
                </a:solidFill>
              </a:rPr>
              <a:t>= </a:t>
            </a:r>
            <a:r>
              <a:rPr lang="en-US" sz="3200" u="none" dirty="0" err="1">
                <a:solidFill>
                  <a:schemeClr val="tx1"/>
                </a:solidFill>
              </a:rPr>
              <a:t>contacts.values</a:t>
            </a:r>
            <a:r>
              <a:rPr lang="en-US" sz="3200" u="none" dirty="0" smtClean="0">
                <a:solidFill>
                  <a:schemeClr val="tx1"/>
                </a:solidFill>
              </a:rPr>
              <a:t>()</a:t>
            </a:r>
          </a:p>
          <a:p>
            <a:pPr algn="l"/>
            <a:r>
              <a:rPr lang="en-US" sz="3200" u="none" dirty="0" smtClean="0">
                <a:solidFill>
                  <a:schemeClr val="tx1"/>
                </a:solidFill>
              </a:rPr>
              <a:t>print(v</a:t>
            </a:r>
            <a:r>
              <a:rPr lang="en-US" sz="3200" u="none" dirty="0">
                <a:solidFill>
                  <a:schemeClr val="tx1"/>
                </a:solidFill>
              </a:rPr>
              <a:t>)</a:t>
            </a:r>
          </a:p>
        </p:txBody>
      </p:sp>
    </p:spTree>
    <p:extLst>
      <p:ext uri="{BB962C8B-B14F-4D97-AF65-F5344CB8AC3E}">
        <p14:creationId xmlns:p14="http://schemas.microsoft.com/office/powerpoint/2010/main" val="297769231"/>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15592" y="292353"/>
            <a:ext cx="9629775" cy="1292662"/>
          </a:xfrm>
        </p:spPr>
        <p:txBody>
          <a:bodyPr/>
          <a:lstStyle/>
          <a:p>
            <a:pPr algn="ctr"/>
            <a:r>
              <a:rPr lang="en-US" sz="2800" dirty="0" smtClean="0"/>
              <a:t>Dictionary Revision</a:t>
            </a:r>
            <a:br>
              <a:rPr lang="en-US" sz="2800" dirty="0" smtClean="0"/>
            </a:br>
            <a:r>
              <a:rPr lang="en-US" sz="2800" dirty="0" smtClean="0"/>
              <a:t>Dictionary methods</a:t>
            </a:r>
            <a:br>
              <a:rPr lang="en-US" sz="2800" dirty="0" smtClean="0"/>
            </a:br>
            <a:r>
              <a:rPr lang="en-US" sz="2800" dirty="0" smtClean="0"/>
              <a:t>pop method</a:t>
            </a:r>
            <a:endParaRPr lang="en-US" sz="2800" dirty="0"/>
          </a:p>
        </p:txBody>
      </p:sp>
      <p:sp>
        <p:nvSpPr>
          <p:cNvPr id="3" name="Text Placeholder 2"/>
          <p:cNvSpPr>
            <a:spLocks noGrp="1"/>
          </p:cNvSpPr>
          <p:nvPr>
            <p:ph type="body" idx="1"/>
          </p:nvPr>
        </p:nvSpPr>
        <p:spPr>
          <a:xfrm>
            <a:off x="1095375" y="1684502"/>
            <a:ext cx="10001249" cy="1477328"/>
          </a:xfrm>
        </p:spPr>
        <p:txBody>
          <a:bodyPr/>
          <a:lstStyle/>
          <a:p>
            <a:pPr algn="l"/>
            <a:r>
              <a:rPr lang="en-US" sz="3200" u="none" dirty="0">
                <a:solidFill>
                  <a:schemeClr val="tx1"/>
                </a:solidFill>
              </a:rPr>
              <a:t>contacts = {'</a:t>
            </a:r>
            <a:r>
              <a:rPr lang="en-US" sz="3200" u="none" dirty="0" err="1">
                <a:solidFill>
                  <a:schemeClr val="tx1"/>
                </a:solidFill>
              </a:rPr>
              <a:t>name':'Ali','city':'Karachi</a:t>
            </a:r>
            <a:r>
              <a:rPr lang="en-US" sz="3200" u="none" dirty="0" smtClean="0">
                <a:solidFill>
                  <a:schemeClr val="tx1"/>
                </a:solidFill>
              </a:rPr>
              <a:t>'}</a:t>
            </a:r>
          </a:p>
          <a:p>
            <a:pPr algn="l"/>
            <a:r>
              <a:rPr lang="en-US" sz="3200" u="none" dirty="0" err="1" smtClean="0">
                <a:solidFill>
                  <a:schemeClr val="tx1"/>
                </a:solidFill>
              </a:rPr>
              <a:t>contacts.pop</a:t>
            </a:r>
            <a:r>
              <a:rPr lang="en-US" sz="3200" u="none" dirty="0">
                <a:solidFill>
                  <a:schemeClr val="tx1"/>
                </a:solidFill>
              </a:rPr>
              <a:t>('city</a:t>
            </a:r>
            <a:r>
              <a:rPr lang="en-US" sz="3200" u="none" dirty="0" smtClean="0">
                <a:solidFill>
                  <a:schemeClr val="tx1"/>
                </a:solidFill>
              </a:rPr>
              <a:t>')</a:t>
            </a:r>
          </a:p>
          <a:p>
            <a:pPr algn="l"/>
            <a:r>
              <a:rPr lang="en-US" sz="3200" u="none" dirty="0" smtClean="0">
                <a:solidFill>
                  <a:schemeClr val="tx1"/>
                </a:solidFill>
              </a:rPr>
              <a:t>print(contacts</a:t>
            </a:r>
            <a:r>
              <a:rPr lang="en-US" sz="3200" u="none" dirty="0">
                <a:solidFill>
                  <a:schemeClr val="tx1"/>
                </a:solidFill>
              </a:rPr>
              <a:t>)</a:t>
            </a:r>
          </a:p>
        </p:txBody>
      </p:sp>
    </p:spTree>
    <p:extLst>
      <p:ext uri="{BB962C8B-B14F-4D97-AF65-F5344CB8AC3E}">
        <p14:creationId xmlns:p14="http://schemas.microsoft.com/office/powerpoint/2010/main" val="1745215529"/>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15590" y="457200"/>
            <a:ext cx="9629775" cy="1231106"/>
          </a:xfrm>
        </p:spPr>
        <p:txBody>
          <a:bodyPr/>
          <a:lstStyle/>
          <a:p>
            <a:pPr algn="ctr"/>
            <a:r>
              <a:rPr lang="en-US" sz="4000" dirty="0" smtClean="0"/>
              <a:t>Activity-04</a:t>
            </a:r>
            <a:br>
              <a:rPr lang="en-US" sz="4000" dirty="0" smtClean="0"/>
            </a:br>
            <a:endParaRPr lang="en-US" sz="4000" dirty="0"/>
          </a:p>
        </p:txBody>
      </p:sp>
      <p:sp>
        <p:nvSpPr>
          <p:cNvPr id="3" name="Text Placeholder 2"/>
          <p:cNvSpPr>
            <a:spLocks noGrp="1"/>
          </p:cNvSpPr>
          <p:nvPr>
            <p:ph type="body" idx="1"/>
          </p:nvPr>
        </p:nvSpPr>
        <p:spPr>
          <a:xfrm>
            <a:off x="1129854" y="2286000"/>
            <a:ext cx="10001249" cy="984885"/>
          </a:xfrm>
        </p:spPr>
        <p:txBody>
          <a:bodyPr/>
          <a:lstStyle/>
          <a:p>
            <a:r>
              <a:rPr lang="en-US" sz="3200" u="none" dirty="0" smtClean="0">
                <a:solidFill>
                  <a:schemeClr val="tx1"/>
                </a:solidFill>
              </a:rPr>
              <a:t>Write a python program which insert item and value in the dictionary</a:t>
            </a:r>
            <a:endParaRPr lang="en-US" sz="3200" u="none" dirty="0">
              <a:solidFill>
                <a:schemeClr val="tx1"/>
              </a:solidFill>
            </a:endParaRPr>
          </a:p>
        </p:txBody>
      </p:sp>
    </p:spTree>
    <p:extLst>
      <p:ext uri="{BB962C8B-B14F-4D97-AF65-F5344CB8AC3E}">
        <p14:creationId xmlns:p14="http://schemas.microsoft.com/office/powerpoint/2010/main" val="453837287"/>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15590" y="457200"/>
            <a:ext cx="9629775" cy="1231106"/>
          </a:xfrm>
        </p:spPr>
        <p:txBody>
          <a:bodyPr/>
          <a:lstStyle/>
          <a:p>
            <a:pPr algn="ctr"/>
            <a:r>
              <a:rPr lang="en-US" sz="4000" dirty="0" smtClean="0"/>
              <a:t>Activity-05</a:t>
            </a:r>
            <a:br>
              <a:rPr lang="en-US" sz="4000" dirty="0" smtClean="0"/>
            </a:br>
            <a:endParaRPr lang="en-US" sz="4000" dirty="0"/>
          </a:p>
        </p:txBody>
      </p:sp>
      <p:sp>
        <p:nvSpPr>
          <p:cNvPr id="3" name="Text Placeholder 2"/>
          <p:cNvSpPr>
            <a:spLocks noGrp="1"/>
          </p:cNvSpPr>
          <p:nvPr>
            <p:ph type="body" idx="1"/>
          </p:nvPr>
        </p:nvSpPr>
        <p:spPr>
          <a:xfrm>
            <a:off x="1129854" y="2286000"/>
            <a:ext cx="10001249" cy="4431983"/>
          </a:xfrm>
        </p:spPr>
        <p:txBody>
          <a:bodyPr/>
          <a:lstStyle/>
          <a:p>
            <a:r>
              <a:rPr lang="en-US" sz="3200" u="none" dirty="0" smtClean="0">
                <a:solidFill>
                  <a:schemeClr val="tx1"/>
                </a:solidFill>
              </a:rPr>
              <a:t>Write a python program which insert multiple items in the inside the dictionary</a:t>
            </a:r>
          </a:p>
          <a:p>
            <a:r>
              <a:rPr lang="en-US" sz="3200" u="none" dirty="0" smtClean="0">
                <a:solidFill>
                  <a:schemeClr val="tx1"/>
                </a:solidFill>
              </a:rPr>
              <a:t>Sample Output:</a:t>
            </a:r>
          </a:p>
          <a:p>
            <a:r>
              <a:rPr lang="en-US" sz="3200" u="none" dirty="0">
                <a:solidFill>
                  <a:schemeClr val="tx1"/>
                </a:solidFill>
              </a:rPr>
              <a:t>How many names you want to insert: 3</a:t>
            </a:r>
          </a:p>
          <a:p>
            <a:r>
              <a:rPr lang="en-US" sz="3200" u="none" dirty="0">
                <a:solidFill>
                  <a:schemeClr val="tx1"/>
                </a:solidFill>
              </a:rPr>
              <a:t>Enter name: Asif</a:t>
            </a:r>
          </a:p>
          <a:p>
            <a:r>
              <a:rPr lang="en-US" sz="3200" u="none" dirty="0">
                <a:solidFill>
                  <a:schemeClr val="tx1"/>
                </a:solidFill>
              </a:rPr>
              <a:t>Enter name: Ali</a:t>
            </a:r>
          </a:p>
          <a:p>
            <a:r>
              <a:rPr lang="en-US" sz="3200" u="none" dirty="0">
                <a:solidFill>
                  <a:schemeClr val="tx1"/>
                </a:solidFill>
              </a:rPr>
              <a:t>Enter name: Ahmed</a:t>
            </a:r>
          </a:p>
          <a:p>
            <a:r>
              <a:rPr lang="en-US" sz="3200" u="none" dirty="0">
                <a:solidFill>
                  <a:schemeClr val="tx1"/>
                </a:solidFill>
              </a:rPr>
              <a:t>{'name': ['Asif', 'Ali', 'Ahmed']}</a:t>
            </a:r>
          </a:p>
          <a:p>
            <a:endParaRPr lang="en-US" sz="3200" u="none" dirty="0">
              <a:solidFill>
                <a:schemeClr val="tx1"/>
              </a:solidFill>
            </a:endParaRPr>
          </a:p>
        </p:txBody>
      </p:sp>
    </p:spTree>
    <p:extLst>
      <p:ext uri="{BB962C8B-B14F-4D97-AF65-F5344CB8AC3E}">
        <p14:creationId xmlns:p14="http://schemas.microsoft.com/office/powerpoint/2010/main" val="223539857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ubtitle 5"/>
          <p:cNvSpPr>
            <a:spLocks noGrp="1"/>
          </p:cNvSpPr>
          <p:nvPr>
            <p:ph type="subTitle" idx="4"/>
          </p:nvPr>
        </p:nvSpPr>
        <p:spPr>
          <a:xfrm>
            <a:off x="1371600" y="2133600"/>
            <a:ext cx="8534400" cy="1354217"/>
          </a:xfrm>
        </p:spPr>
        <p:txBody>
          <a:bodyPr/>
          <a:lstStyle/>
          <a:p>
            <a:pPr algn="ctr"/>
            <a:r>
              <a:rPr lang="en-US" sz="4400" u="none" dirty="0" smtClean="0">
                <a:solidFill>
                  <a:schemeClr val="tx1"/>
                </a:solidFill>
              </a:rPr>
              <a:t>Thank you </a:t>
            </a:r>
          </a:p>
          <a:p>
            <a:pPr algn="ctr"/>
            <a:r>
              <a:rPr lang="en-US" sz="4400" u="none" dirty="0" smtClean="0">
                <a:solidFill>
                  <a:schemeClr val="accent1"/>
                </a:solidFill>
                <a:sym typeface="Wingdings" panose="05000000000000000000" pitchFamily="2" charset="2"/>
              </a:rPr>
              <a:t> </a:t>
            </a:r>
            <a:endParaRPr lang="en-US" sz="4400" u="none" dirty="0">
              <a:solidFill>
                <a:schemeClr val="accent1"/>
              </a:solidFill>
            </a:endParaRPr>
          </a:p>
        </p:txBody>
      </p:sp>
    </p:spTree>
    <p:extLst>
      <p:ext uri="{BB962C8B-B14F-4D97-AF65-F5344CB8AC3E}">
        <p14:creationId xmlns:p14="http://schemas.microsoft.com/office/powerpoint/2010/main" val="275246755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426</TotalTime>
  <Words>833</Words>
  <Application>Microsoft Office PowerPoint</Application>
  <PresentationFormat>Widescreen</PresentationFormat>
  <Paragraphs>227</Paragraphs>
  <Slides>37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37</vt:i4>
      </vt:variant>
    </vt:vector>
  </HeadingPairs>
  <TitlesOfParts>
    <vt:vector size="41" baseType="lpstr">
      <vt:lpstr>Calibri</vt:lpstr>
      <vt:lpstr>Calibri Light</vt:lpstr>
      <vt:lpstr>Wingdings</vt:lpstr>
      <vt:lpstr>Office Theme</vt:lpstr>
      <vt:lpstr>PowerPoint Presentation</vt:lpstr>
      <vt:lpstr>Learning outcomes</vt:lpstr>
      <vt:lpstr>PowerPoint Presentation</vt:lpstr>
      <vt:lpstr>List Revision</vt:lpstr>
      <vt:lpstr>List Revision</vt:lpstr>
      <vt:lpstr>List Revision Inserting an item in the list</vt:lpstr>
      <vt:lpstr>List Revision Removing item from the list</vt:lpstr>
      <vt:lpstr>List Revision: Inserting and Removing item from list</vt:lpstr>
      <vt:lpstr>List Revision: Sorting a list</vt:lpstr>
      <vt:lpstr>List Revision: Checking item occurrence in the list</vt:lpstr>
      <vt:lpstr>Activity-01</vt:lpstr>
      <vt:lpstr>Activity-01 solution</vt:lpstr>
      <vt:lpstr>Function Revision</vt:lpstr>
      <vt:lpstr>Activity-02 </vt:lpstr>
      <vt:lpstr>Function Revision: power of any number using function</vt:lpstr>
      <vt:lpstr>PowerPoint Presentation</vt:lpstr>
      <vt:lpstr>Tuple Revision</vt:lpstr>
      <vt:lpstr>Tuple Revision</vt:lpstr>
      <vt:lpstr>Tuple Revision Searching in a tuple</vt:lpstr>
      <vt:lpstr>Tuple Revision Conversion from tuple to list and vice-versa</vt:lpstr>
      <vt:lpstr>Tuple Revision Finding sum using function and tuple</vt:lpstr>
      <vt:lpstr>Activity-03</vt:lpstr>
      <vt:lpstr>Activity-03 Solution</vt:lpstr>
      <vt:lpstr>PowerPoint Presentation</vt:lpstr>
      <vt:lpstr>Dictionary Revision</vt:lpstr>
      <vt:lpstr>Dictionary Revision</vt:lpstr>
      <vt:lpstr>Dictionary Revision Dictionary methods clear method</vt:lpstr>
      <vt:lpstr>Dictionary Revision Dictionary methods copy method</vt:lpstr>
      <vt:lpstr>Dictionary Revision Dictionary methods get method</vt:lpstr>
      <vt:lpstr>Dictionary Revision Dictionary methods get method</vt:lpstr>
      <vt:lpstr>Dictionary Revision Dictionary methods items method</vt:lpstr>
      <vt:lpstr>Dictionary Revision Dictionary methods keys method</vt:lpstr>
      <vt:lpstr>Dictionary Revision Dictionary methods values method</vt:lpstr>
      <vt:lpstr>Dictionary Revision Dictionary methods pop method</vt:lpstr>
      <vt:lpstr>Activity-04 </vt:lpstr>
      <vt:lpstr>Activity-05 </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Python Programming</dc:title>
  <dc:creator>Asif Ali</dc:creator>
  <cp:lastModifiedBy>Engr Asif Ali</cp:lastModifiedBy>
  <cp:revision>177</cp:revision>
  <dcterms:created xsi:type="dcterms:W3CDTF">2025-01-12T08:42:22Z</dcterms:created>
  <dcterms:modified xsi:type="dcterms:W3CDTF">2025-02-04T04:59:08Z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2022-03-15T00:00:00Z</vt:filetime>
  </property>
  <property fmtid="{D5CDD505-2E9C-101B-9397-08002B2CF9AE}" pid="3" name="Creator">
    <vt:lpwstr>Microsoft® PowerPoint® 2013</vt:lpwstr>
  </property>
  <property fmtid="{D5CDD505-2E9C-101B-9397-08002B2CF9AE}" pid="4" name="LastSaved">
    <vt:filetime>2025-01-12T00:00:00Z</vt:filetime>
  </property>
  <property fmtid="{D5CDD505-2E9C-101B-9397-08002B2CF9AE}" pid="5" name="Producer">
    <vt:lpwstr>Microsoft® PowerPoint® 2013</vt:lpwstr>
  </property>
</Properties>
</file>