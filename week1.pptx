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0"/>
  </p:notesMasterIdLst>
  <p:sldIdLst>
    <p:sldId id="256" r:id="rId2"/>
    <p:sldId id="267" r:id="rId3"/>
    <p:sldId id="268" r:id="rId4"/>
    <p:sldId id="260" r:id="rId5"/>
    <p:sldId id="257" r:id="rId6"/>
    <p:sldId id="258" r:id="rId7"/>
    <p:sldId id="259" r:id="rId8"/>
    <p:sldId id="264" r:id="rId9"/>
    <p:sldId id="265" r:id="rId10"/>
    <p:sldId id="261" r:id="rId11"/>
    <p:sldId id="292" r:id="rId12"/>
    <p:sldId id="266" r:id="rId13"/>
    <p:sldId id="263" r:id="rId14"/>
    <p:sldId id="271" r:id="rId15"/>
    <p:sldId id="272" r:id="rId16"/>
    <p:sldId id="273" r:id="rId17"/>
    <p:sldId id="274" r:id="rId18"/>
    <p:sldId id="262" r:id="rId19"/>
    <p:sldId id="269" r:id="rId20"/>
    <p:sldId id="270" r:id="rId21"/>
    <p:sldId id="277" r:id="rId22"/>
    <p:sldId id="278" r:id="rId23"/>
    <p:sldId id="279" r:id="rId24"/>
    <p:sldId id="280" r:id="rId25"/>
    <p:sldId id="293" r:id="rId26"/>
    <p:sldId id="294" r:id="rId27"/>
    <p:sldId id="295" r:id="rId28"/>
    <p:sldId id="296" r:id="rId29"/>
    <p:sldId id="297" r:id="rId30"/>
    <p:sldId id="298" r:id="rId31"/>
    <p:sldId id="299" r:id="rId32"/>
    <p:sldId id="300" r:id="rId33"/>
    <p:sldId id="301" r:id="rId34"/>
    <p:sldId id="302" r:id="rId35"/>
    <p:sldId id="305" r:id="rId36"/>
    <p:sldId id="306" r:id="rId37"/>
    <p:sldId id="303" r:id="rId38"/>
    <p:sldId id="304" r:id="rId3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46" d="100"/>
          <a:sy n="46" d="100"/>
        </p:scale>
        <p:origin x="1080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F246AF5-25DD-403D-9F7E-CE1A2165BAEE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FEEBBBE-34EE-4E09-BE48-5E4C749C32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51471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FEEBBBE-34EE-4E09-BE48-5E4C749C3277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243341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4EFBCD-77D6-5E81-9983-2215CEC7E18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2BBA508-90F8-A78E-6F78-43A04F3FBC9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45E507-01DC-10FA-F98D-E828A68212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6E150B-80D4-4E40-B2CA-D9685EFDB67C}" type="datetime1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E47D8C-F873-67BB-A972-F76C65B1FF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Engr. Tushar Kanjwani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A78AB1-3A2E-265C-0E55-50B57FD860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5428C7-48FA-4A8B-9F71-19374B1000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96201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3EFF79-C64E-1119-B5B2-776572988B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251751-8CE3-5ED3-4124-72E8469B9F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85D9A6-0926-F62B-DA26-B3E592B971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A91E2B-2307-43D8-8AB4-C76B3CDB3907}" type="datetime1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DC8F42-5448-448C-AD20-FEF0212D96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Engr. Tushar Kanjwani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7D7362-9DD9-F67A-FB46-383F49BA5E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5428C7-48FA-4A8B-9F71-19374B1000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92085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3764FF-492E-9DD1-1079-4D1E828E4A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454507B-FDAB-7D5B-0EF8-954F366E32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BDF240-AE7A-3CA0-1648-C261925904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2515C7-6BDA-4ACA-BC1A-089E4125E5FD}" type="datetime1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DE6504-F890-B15C-9708-B24FED778A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Engr. Tushar Kanjwani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189DB8-000C-2546-4AC7-ABF4A1D18B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5428C7-48FA-4A8B-9F71-19374B1000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95446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E43D9E-3147-5554-B6BB-1758C3D569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0AD001-1FA5-BE90-65A1-C133054918F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4E31F6-E485-DD67-9B1F-31EFFCA6FE5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631D10F-1DF7-FD26-9636-0DA6ABE0FE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133641-6721-4DF6-BF1D-862E3F26D9B3}" type="datetime1">
              <a:rPr lang="en-US" smtClean="0"/>
              <a:t>6/4/2026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6FA6F40-DCA7-530E-2E08-69D2C5B611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Engr. Tushar Kanjwani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43EF2A-7178-FC52-C841-FE5C4E85B5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5428C7-48FA-4A8B-9F71-19374B1000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17021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1B5925-0605-4FB1-5046-09F5DE74C2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F620D9-192A-69E9-AE57-1EE89E3FA8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32305F4-14D2-A6F9-23F4-27C18D1B35E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82A57C6-86A6-C7DA-7E76-C261B2EF873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EB74DD-E2C6-2CB8-4360-B572898530C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0DCD404-E477-E6B0-02ED-6E6E16B125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13F6F6-2962-4659-910F-3B99CD0A9DD2}" type="datetime1">
              <a:rPr lang="en-US" smtClean="0"/>
              <a:t>6/4/2026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070C07C-C8DB-1AA5-F251-8835EA409D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Engr. Tushar Kanjwani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771EC06-36EF-CF8C-97E9-0361F2448D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5428C7-48FA-4A8B-9F71-19374B1000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84060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0019A8-853E-1C73-2FCB-3A19689CA8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B71F51B-900F-7CE4-D720-08939BEDE2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82204C-9932-4EAB-87AE-DE5EEE888C48}" type="datetime1">
              <a:rPr lang="en-US" smtClean="0"/>
              <a:t>6/4/2026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BA2C7D8-1DC7-817A-551D-C49CC341C9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Engr. Tushar Kanjwani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F2C48FF-789E-FBBE-CAAE-BD5D22D8F1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5428C7-48FA-4A8B-9F71-19374B1000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71351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CC5DD5C-92F1-1FB1-CA7F-28E5CADD53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AB051F-C13A-429D-8E5F-4336173926B5}" type="datetime1">
              <a:rPr lang="en-US" smtClean="0"/>
              <a:t>6/4/2026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9970485-8395-B584-8B11-A355CAE9AB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Engr. Tushar Kanjwani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4281263-C348-F060-F690-FAF4FCCDBA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5428C7-48FA-4A8B-9F71-19374B1000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06362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6F0E1D-2B22-AEC8-3E44-578439DB80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A42088-855A-BD2A-88F9-BD28E71D09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5A3E3A4-3EDA-6247-5CFE-A1811093BF9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63443F7-9FFF-B1BE-0644-EE4914CD50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E2A6DD-B2ED-469F-A831-CD830401FDF6}" type="datetime1">
              <a:rPr lang="en-US" smtClean="0"/>
              <a:t>6/4/2026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574EC7C-517E-69FC-6495-A1125C464B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Engr. Tushar Kanjwani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9F3763B-139E-97AB-267C-7100079EC7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5428C7-48FA-4A8B-9F71-19374B1000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90170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B6C684-00B6-4AA9-EF70-48C88B5262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9FA54C7-6686-C932-E6F5-A11D922713B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945DF74-031B-A764-9A0B-5E71DEBF2D8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42CB063-020F-B513-BC7E-55EF57D64A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FFF9EC-A1F9-4727-A36A-37E9626856EB}" type="datetime1">
              <a:rPr lang="en-US" smtClean="0"/>
              <a:t>6/4/2026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E5EADAF-D43E-83DC-1AC0-ABA45CACA2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Engr. Tushar Kanjwani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E6BEB91-6E5C-7871-4902-5F6D7D7F3B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5428C7-48FA-4A8B-9F71-19374B1000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22900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01A76C-FB33-43D3-98F0-7066CA4875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517810F-BC1E-F121-0EC8-EFB963EE961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AD27D2-028A-0C4E-843E-85DE450C37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9B5127-A066-47C8-8359-1F14632B57AD}" type="datetime1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7621FB-7AA4-521C-19D9-EB9DB3F865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Engr. Tushar Kanjwani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C5B44C-252E-BA10-50F7-687E53D157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5428C7-48FA-4A8B-9F71-19374B1000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78354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57C1556-50DB-EC63-D81C-F4678C3F67E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F07CF81-5365-7445-3757-1FDFD8A373A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EAFBD0-3EEE-D520-62C1-20F665D1CD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751D64-D0F2-4666-94A0-AAC2DC84BB0F}" type="datetime1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728A4F-F1CB-A298-5334-2AB9A49EB4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Engr. Tushar Kanjwani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A59B7E-6EDC-8E85-5E8F-9E306F5299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5428C7-48FA-4A8B-9F71-19374B1000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21921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378E2C5-7E1B-B6F5-578E-9071EFEABB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287C513-F09F-AB7A-D753-F1A97AF484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84EAD8-292B-00E1-31DC-1D2F4C5FBA8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DD77813-487F-454F-85A5-545C202A3882}" type="datetime1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A4B206-E9CE-023B-60EC-4C4AA2781B0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/>
              <a:t>Engr. Tushar Kanjwani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50CAB1-ACB8-28A7-F820-9441A84B888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A5428C7-48FA-4A8B-9F71-19374B1000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22337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F7C45A-26B8-5EDA-5FBF-E8385C1A4A1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Introduction to Programming and Python Basics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E5FB319-95E3-D733-2790-40840DEBB30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Introduction to Programming Concepts</a:t>
            </a:r>
          </a:p>
          <a:p>
            <a:r>
              <a:rPr lang="en-US" dirty="0"/>
              <a:t>Week 1</a:t>
            </a:r>
          </a:p>
          <a:p>
            <a:r>
              <a:rPr lang="en-US" dirty="0"/>
              <a:t>Engr. </a:t>
            </a:r>
            <a:r>
              <a:rPr lang="en-US"/>
              <a:t>Tushar Kanjwani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066FB12-F91E-5B9C-FB15-391F6395DF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Engr. Tushar Kanjwani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84A2D4E-6A06-B1FE-92F9-2C85DFB151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5428C7-48FA-4A8B-9F71-19374B10004A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70275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CB6680-5A95-9D12-BA5E-0BAFE79A70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Course 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B2A5E7-29C4-1A1B-24B5-716A8D8CCE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Introduction to Programming and Python Basics</a:t>
            </a:r>
          </a:p>
          <a:p>
            <a:r>
              <a:rPr lang="en-US" dirty="0"/>
              <a:t>Control Flow and Looping</a:t>
            </a:r>
          </a:p>
          <a:p>
            <a:r>
              <a:rPr lang="en-US" dirty="0"/>
              <a:t>Functions and More Data Structures</a:t>
            </a:r>
          </a:p>
          <a:p>
            <a:r>
              <a:rPr lang="en-US" dirty="0"/>
              <a:t>File Handling and Basic Project Structuring</a:t>
            </a:r>
          </a:p>
          <a:p>
            <a:r>
              <a:rPr lang="en-US" dirty="0"/>
              <a:t>Introduction to Object-Oriented Programming (OOP)</a:t>
            </a:r>
          </a:p>
          <a:p>
            <a:r>
              <a:rPr lang="en-US" dirty="0"/>
              <a:t>Introduction to APIs and External Libraries</a:t>
            </a:r>
          </a:p>
          <a:p>
            <a:r>
              <a:rPr lang="en-US" dirty="0"/>
              <a:t>Advanced Python Concepts and Data Visualization</a:t>
            </a:r>
          </a:p>
          <a:p>
            <a:r>
              <a:rPr lang="en-US" dirty="0"/>
              <a:t>Project Finalization and Deployment 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2CC75A6-1C6F-DD96-5493-2B866D7159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Engr. Tushar Kanjwani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8AA8B53-F716-BFB1-372D-2C085DC15A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5428C7-48FA-4A8B-9F71-19374B10004A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65387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0A935B-72F2-0E57-2D6A-A83EBCDEB0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Learning Outcomes: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B42DBE-6C70-A4E6-F6E3-B1397384AE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Install Python and set up an Integrated Development Environment (IDE).</a:t>
            </a:r>
          </a:p>
          <a:p>
            <a:r>
              <a:rPr lang="en-US" dirty="0"/>
              <a:t>Understand basic programming concepts. </a:t>
            </a:r>
          </a:p>
          <a:p>
            <a:r>
              <a:rPr lang="en-US" dirty="0"/>
              <a:t>Write and execute your first Python program. </a:t>
            </a:r>
          </a:p>
          <a:p>
            <a:r>
              <a:rPr lang="en-US" dirty="0"/>
              <a:t>Work with basic data types (strings, integers). </a:t>
            </a:r>
          </a:p>
          <a:p>
            <a:r>
              <a:rPr lang="en-US" dirty="0"/>
              <a:t>Understand how to declare and use variables.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A2DE64F-86CF-8D0B-33DA-1219F14FDD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Engr. Tushar Kanjwani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5AAA29E-9593-892B-5D5B-F8C8321DED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5428C7-48FA-4A8B-9F71-19374B10004A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51348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28BEB7-FDD3-288E-27B9-69C9ACF6CD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Programming Languages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81402F-0A54-D87B-BA97-0FF01243CB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A programming language is how we write code, what keywords we use, to tell the computer what to do.</a:t>
            </a:r>
          </a:p>
          <a:p>
            <a:r>
              <a:rPr lang="en-US" b="1" dirty="0"/>
              <a:t>Why Programming is Used</a:t>
            </a:r>
          </a:p>
          <a:p>
            <a:pPr lvl="1"/>
            <a:r>
              <a:rPr lang="en-US" dirty="0"/>
              <a:t>Programming is used to create:</a:t>
            </a:r>
          </a:p>
          <a:p>
            <a:pPr lvl="1"/>
            <a:r>
              <a:rPr lang="en-US" dirty="0"/>
              <a:t>Websites</a:t>
            </a:r>
          </a:p>
          <a:p>
            <a:pPr lvl="1"/>
            <a:r>
              <a:rPr lang="en-US" dirty="0"/>
              <a:t>Mobile apps </a:t>
            </a:r>
          </a:p>
          <a:p>
            <a:pPr lvl="1"/>
            <a:r>
              <a:rPr lang="en-US" dirty="0"/>
              <a:t>Games </a:t>
            </a:r>
          </a:p>
          <a:p>
            <a:pPr lvl="1"/>
            <a:r>
              <a:rPr lang="en-US" dirty="0"/>
              <a:t>Software </a:t>
            </a:r>
          </a:p>
          <a:p>
            <a:pPr lvl="1"/>
            <a:r>
              <a:rPr lang="en-US" dirty="0"/>
              <a:t>Artificial Intelligence </a:t>
            </a:r>
          </a:p>
          <a:p>
            <a:r>
              <a:rPr lang="en-US" b="1" dirty="0"/>
              <a:t>Very Simple Example (Real Life)</a:t>
            </a:r>
          </a:p>
          <a:p>
            <a:pPr lvl="1"/>
            <a:r>
              <a:rPr lang="en-US" dirty="0"/>
              <a:t>Think of programming like a </a:t>
            </a:r>
            <a:r>
              <a:rPr lang="en-US" b="1" dirty="0"/>
              <a:t>recipe for cooking</a:t>
            </a:r>
            <a:r>
              <a:rPr lang="en-US" dirty="0"/>
              <a:t> 🍳.</a:t>
            </a:r>
            <a:br>
              <a:rPr lang="en-US" dirty="0"/>
            </a:br>
            <a:r>
              <a:rPr lang="en-US" dirty="0"/>
              <a:t>You write </a:t>
            </a:r>
            <a:r>
              <a:rPr lang="en-US" b="1" dirty="0"/>
              <a:t>step-by-step instructions</a:t>
            </a:r>
            <a:r>
              <a:rPr lang="en-US" dirty="0"/>
              <a:t>, and the computer follows them exactly</a:t>
            </a:r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166CECF-701B-F6FE-BB58-5775D33060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Engr. Tushar Kanjwani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F2028AD-3324-D020-6CB7-A8E1798FAE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5428C7-48FA-4A8B-9F71-19374B10004A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7762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1" name="Rectangle 1030">
            <a:extLst>
              <a:ext uri="{FF2B5EF4-FFF2-40B4-BE49-F238E27FC236}">
                <a16:creationId xmlns:a16="http://schemas.microsoft.com/office/drawing/2014/main" id="{4F7EBAE4-9945-4473-9E34-B2C66EA0F0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4AF82E3-F779-3C96-652C-5D6D3095C8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5393361" cy="1325563"/>
          </a:xfrm>
        </p:spPr>
        <p:txBody>
          <a:bodyPr>
            <a:normAutofit/>
          </a:bodyPr>
          <a:lstStyle/>
          <a:p>
            <a:r>
              <a:rPr lang="en-US" dirty="0"/>
              <a:t>What is Python?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D56D97-7879-211A-17CC-80C5EF7B41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393361" cy="4351338"/>
          </a:xfrm>
        </p:spPr>
        <p:txBody>
          <a:bodyPr>
            <a:normAutofit/>
          </a:bodyPr>
          <a:lstStyle/>
          <a:p>
            <a:r>
              <a:rPr lang="en-US" dirty="0"/>
              <a:t>Python is a popular programming language.</a:t>
            </a:r>
          </a:p>
          <a:p>
            <a:r>
              <a:rPr lang="en-US" dirty="0"/>
              <a:t>It is used for:</a:t>
            </a:r>
          </a:p>
          <a:p>
            <a:pPr lvl="1"/>
            <a:r>
              <a:rPr lang="en-US" dirty="0"/>
              <a:t>web development (server-side)</a:t>
            </a:r>
          </a:p>
          <a:p>
            <a:pPr lvl="1"/>
            <a:r>
              <a:rPr lang="en-US" dirty="0"/>
              <a:t>software development</a:t>
            </a:r>
          </a:p>
          <a:p>
            <a:pPr lvl="1"/>
            <a:r>
              <a:rPr lang="en-US" dirty="0"/>
              <a:t>Mathematics</a:t>
            </a:r>
          </a:p>
          <a:p>
            <a:pPr lvl="1"/>
            <a:r>
              <a:rPr lang="en-US" dirty="0"/>
              <a:t>Game development</a:t>
            </a:r>
          </a:p>
        </p:txBody>
      </p:sp>
      <p:pic>
        <p:nvPicPr>
          <p:cNvPr id="1026" name="Picture 2" descr="10 Reasons to Choose Python for Your ...">
            <a:extLst>
              <a:ext uri="{FF2B5EF4-FFF2-40B4-BE49-F238E27FC236}">
                <a16:creationId xmlns:a16="http://schemas.microsoft.com/office/drawing/2014/main" id="{A5184648-FCA1-AC0A-C35D-B526E75F27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981" r="21020" b="2"/>
          <a:stretch>
            <a:fillRect/>
          </a:stretch>
        </p:blipFill>
        <p:spPr bwMode="auto">
          <a:xfrm>
            <a:off x="6374920" y="758514"/>
            <a:ext cx="5122238" cy="5122238"/>
          </a:xfrm>
          <a:custGeom>
            <a:avLst/>
            <a:gdLst/>
            <a:ahLst/>
            <a:cxnLst/>
            <a:rect l="l" t="t" r="r" b="b"/>
            <a:pathLst>
              <a:path w="2663168" h="2663168">
                <a:moveTo>
                  <a:pt x="1331584" y="0"/>
                </a:moveTo>
                <a:cubicBezTo>
                  <a:pt x="2066998" y="0"/>
                  <a:pt x="2663168" y="596170"/>
                  <a:pt x="2663168" y="1331584"/>
                </a:cubicBezTo>
                <a:cubicBezTo>
                  <a:pt x="2663168" y="2066998"/>
                  <a:pt x="2066998" y="2663168"/>
                  <a:pt x="1331584" y="2663168"/>
                </a:cubicBezTo>
                <a:cubicBezTo>
                  <a:pt x="596170" y="2663168"/>
                  <a:pt x="0" y="2066998"/>
                  <a:pt x="0" y="1331584"/>
                </a:cubicBezTo>
                <a:cubicBezTo>
                  <a:pt x="0" y="596170"/>
                  <a:pt x="596170" y="0"/>
                  <a:pt x="1331584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33" name="!!Arc">
            <a:extLst>
              <a:ext uri="{FF2B5EF4-FFF2-40B4-BE49-F238E27FC236}">
                <a16:creationId xmlns:a16="http://schemas.microsoft.com/office/drawing/2014/main" id="{70BEB1E7-2F88-40BC-B73D-42E5B6F80B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1189197" flipV="1">
            <a:off x="6261882" y="687822"/>
            <a:ext cx="5471147" cy="5471147"/>
          </a:xfrm>
          <a:prstGeom prst="arc">
            <a:avLst>
              <a:gd name="adj1" fmla="val 16200000"/>
              <a:gd name="adj2" fmla="val 20093138"/>
            </a:avLst>
          </a:prstGeom>
          <a:ln w="127000" cap="rnd">
            <a:solidFill>
              <a:schemeClr val="accent4">
                <a:alpha val="9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35" name="!!Oval">
            <a:extLst>
              <a:ext uri="{FF2B5EF4-FFF2-40B4-BE49-F238E27FC236}">
                <a16:creationId xmlns:a16="http://schemas.microsoft.com/office/drawing/2014/main" id="{A7B99495-F43F-4D80-A44F-2CB4764EB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48561" y="921125"/>
            <a:ext cx="791021" cy="769563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E662ED3-D30D-5AC4-0968-89EEEAD460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Engr. Tushar Kanjwani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282A630-B1A9-88A3-78E2-DCEBC9739E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5428C7-48FA-4A8B-9F71-19374B10004A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29198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CE66AC-328D-E5C5-74B0-0C53EAB212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can Python do?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8B2892-EF4E-65AE-954C-BD82D5CEF1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Python can be used on a server to create web applications.</a:t>
            </a:r>
          </a:p>
          <a:p>
            <a:r>
              <a:rPr lang="en-US" dirty="0"/>
              <a:t>Python can connect to database systems. </a:t>
            </a:r>
          </a:p>
          <a:p>
            <a:r>
              <a:rPr lang="en-US" dirty="0"/>
              <a:t>Python can be used to handle big data and perform complex mathematics.</a:t>
            </a:r>
          </a:p>
          <a:p>
            <a:r>
              <a:rPr lang="en-US" dirty="0"/>
              <a:t>Python can be used for rapid prototyping, or for production-ready software development.</a:t>
            </a:r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7BA1AD7-4081-926C-1139-80512381C5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Engr. Tushar Kanjwani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72035C9-FB71-0B4B-756A-55F5CCE135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5428C7-48FA-4A8B-9F71-19374B10004A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08066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D81A68-B664-AB0A-B3C8-1FF07D9F54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Install Python and IDE Setup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638D03-3F81-8E60-288E-8B15A8C2D1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Python Installation: </a:t>
            </a:r>
          </a:p>
          <a:p>
            <a:pPr lvl="1"/>
            <a:r>
              <a:rPr lang="en-US" dirty="0"/>
              <a:t>Visit https://www.python.org/downloads/ </a:t>
            </a:r>
          </a:p>
          <a:p>
            <a:pPr lvl="1"/>
            <a:r>
              <a:rPr lang="en-US" dirty="0"/>
              <a:t>Download the latest version of Python</a:t>
            </a:r>
          </a:p>
          <a:p>
            <a:endParaRPr lang="en-US" dirty="0"/>
          </a:p>
          <a:p>
            <a:r>
              <a:rPr lang="en-US" dirty="0"/>
              <a:t>Install an IDE like Visual Studio Code or PyCharm.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9AA07BC-1580-1FDB-FDA5-4A8AAB4A73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Engr. Tushar Kanjwani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00CAF42-D827-5343-D29F-092CEB1746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5428C7-48FA-4A8B-9F71-19374B10004A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40980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A42373-E8A8-424A-4E34-3EC52AF41E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Your First Python Program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782492-C985-7DFC-BBF7-0870F366A2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C0703CD-BF44-54C3-DFBC-913D88336F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1292" y="2628788"/>
            <a:ext cx="3331968" cy="1320214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13BD78F-D141-195D-5EF3-31A54D92F8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Engr. Tushar Kanjwani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5CE9B9-73EE-F43D-CDE0-F142E3BCFC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5428C7-48FA-4A8B-9F71-19374B10004A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29087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B68AB6-F940-DB75-0DF6-C4B61CAA77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Write a Python program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0D7AF6F8-C3E6-9580-1C5B-92F129CA1C9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4072142"/>
            <a:ext cx="3692641" cy="132556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322CCFC-6188-3020-4321-E93C38C804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3162" y="1981432"/>
            <a:ext cx="5896798" cy="1086002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428E7AE9-DCFC-B80C-6D5A-AEF50CC9FA71}"/>
              </a:ext>
            </a:extLst>
          </p:cNvPr>
          <p:cNvSpPr txBox="1">
            <a:spLocks/>
          </p:cNvSpPr>
          <p:nvPr/>
        </p:nvSpPr>
        <p:spPr>
          <a:xfrm>
            <a:off x="766667" y="2986140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OUTPUT: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84E4D31-ABE0-D776-2800-B29E631439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Engr. Tushar Kanjwani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880BA1-0FFA-683A-4A25-EBDFB71529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5428C7-48FA-4A8B-9F71-19374B10004A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56186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E77ADB-5FC0-84A9-A7E6-4B9A28C892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Variables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F4B892-6329-678E-1008-29B18B9850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variable is a container used to store data in a program.</a:t>
            </a:r>
            <a:br>
              <a:rPr lang="en-US" dirty="0"/>
            </a:br>
            <a:r>
              <a:rPr lang="en-US" dirty="0"/>
              <a:t>The value stored in a variable can change during program execution.</a:t>
            </a:r>
          </a:p>
          <a:p>
            <a:endParaRPr lang="en-US" dirty="0"/>
          </a:p>
          <a:p>
            <a:r>
              <a:rPr lang="en-US" b="1" dirty="0"/>
              <a:t>name = "Ali"</a:t>
            </a:r>
          </a:p>
          <a:p>
            <a:r>
              <a:rPr lang="en-US" b="1" dirty="0"/>
              <a:t>age = 20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7ACD578-0CC1-D5B5-CA3D-0530BED0DC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Engr. Tushar Kanjwani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56F1106-7F53-3516-630C-555DDBD837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5428C7-48FA-4A8B-9F71-19374B10004A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317366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38200" y="653616"/>
            <a:ext cx="10515600" cy="748581"/>
          </a:xfrm>
          <a:prstGeom prst="rect">
            <a:avLst/>
          </a:prstGeom>
        </p:spPr>
        <p:txBody>
          <a:bodyPr vert="horz" wrap="square" lIns="0" tIns="70781" rIns="0" bIns="0" rtlCol="0">
            <a:spAutoFit/>
          </a:bodyPr>
          <a:lstStyle/>
          <a:p>
            <a:pPr marL="173990">
              <a:lnSpc>
                <a:spcPct val="100000"/>
              </a:lnSpc>
              <a:spcBef>
                <a:spcPts val="100"/>
              </a:spcBef>
              <a:tabLst>
                <a:tab pos="2533650" algn="l"/>
                <a:tab pos="10140315" algn="l"/>
              </a:tabLst>
            </a:pPr>
            <a:r>
              <a:rPr dirty="0"/>
              <a:t> </a:t>
            </a:r>
            <a:r>
              <a:rPr spc="-80" dirty="0"/>
              <a:t>Variable</a:t>
            </a:r>
            <a:r>
              <a:rPr spc="-120" dirty="0"/>
              <a:t> </a:t>
            </a:r>
            <a:r>
              <a:rPr spc="-45" dirty="0"/>
              <a:t>naming</a:t>
            </a:r>
            <a:r>
              <a:rPr spc="-95" dirty="0"/>
              <a:t> </a:t>
            </a:r>
            <a:r>
              <a:rPr spc="-40" dirty="0"/>
              <a:t>rules	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176019" y="1676543"/>
            <a:ext cx="9996170" cy="3370579"/>
          </a:xfrm>
          <a:prstGeom prst="rect">
            <a:avLst/>
          </a:prstGeom>
        </p:spPr>
        <p:txBody>
          <a:bodyPr vert="horz" wrap="square" lIns="0" tIns="140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10"/>
              </a:spcBef>
            </a:pPr>
            <a:r>
              <a:rPr sz="3200" spc="-5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Same</a:t>
            </a:r>
            <a:r>
              <a:rPr sz="3200" spc="5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3200" spc="-5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rules</a:t>
            </a:r>
            <a:r>
              <a:rPr sz="3200" spc="5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3200" spc="-30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like</a:t>
            </a:r>
            <a:r>
              <a:rPr sz="3200" spc="15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3200" spc="-5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in</a:t>
            </a:r>
            <a:r>
              <a:rPr sz="3200" spc="5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3200" spc="-5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other</a:t>
            </a:r>
            <a:r>
              <a:rPr sz="3200" spc="5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3200" spc="-15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programming</a:t>
            </a:r>
            <a:r>
              <a:rPr sz="3200" spc="15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3200" spc="-5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language.</a:t>
            </a:r>
            <a:endParaRPr sz="3200" dirty="0">
              <a:latin typeface="Calibri" panose="020F0502020204030204"/>
              <a:cs typeface="Calibri" panose="020F0502020204030204"/>
            </a:endParaRPr>
          </a:p>
          <a:p>
            <a:pPr marL="12700" marR="5080">
              <a:lnSpc>
                <a:spcPts val="3460"/>
              </a:lnSpc>
              <a:spcBef>
                <a:spcPts val="1440"/>
              </a:spcBef>
              <a:buAutoNum type="arabicPeriod"/>
              <a:tabLst>
                <a:tab pos="512445" algn="l"/>
                <a:tab pos="513080" algn="l"/>
                <a:tab pos="1478915" algn="l"/>
                <a:tab pos="2984500" algn="l"/>
                <a:tab pos="4286250" algn="l"/>
                <a:tab pos="4894580" algn="l"/>
                <a:tab pos="5845810" algn="l"/>
                <a:tab pos="6772275" algn="l"/>
                <a:tab pos="7948930" algn="l"/>
                <a:tab pos="8496300" algn="l"/>
                <a:tab pos="9625330" algn="l"/>
              </a:tabLst>
            </a:pPr>
            <a:r>
              <a:rPr sz="3200" spc="-55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E</a:t>
            </a:r>
            <a:r>
              <a:rPr sz="3200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ach	</a:t>
            </a:r>
            <a:r>
              <a:rPr sz="3200" spc="-45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v</a:t>
            </a:r>
            <a:r>
              <a:rPr sz="3200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ariab</a:t>
            </a:r>
            <a:r>
              <a:rPr sz="3200" spc="-15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l</a:t>
            </a:r>
            <a:r>
              <a:rPr sz="3200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e	</a:t>
            </a:r>
            <a:r>
              <a:rPr sz="3200" spc="-5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shoul</a:t>
            </a:r>
            <a:r>
              <a:rPr sz="3200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d	</a:t>
            </a:r>
            <a:r>
              <a:rPr sz="3200" spc="5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b</a:t>
            </a:r>
            <a:r>
              <a:rPr sz="3200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e	</a:t>
            </a:r>
            <a:r>
              <a:rPr sz="3200" spc="-45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st</a:t>
            </a:r>
            <a:r>
              <a:rPr sz="3200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art	with	</a:t>
            </a:r>
            <a:r>
              <a:rPr sz="3200" spc="-5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uppe</a:t>
            </a:r>
            <a:r>
              <a:rPr sz="3200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r	or	lo</a:t>
            </a:r>
            <a:r>
              <a:rPr sz="3200" spc="-35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w</a:t>
            </a:r>
            <a:r>
              <a:rPr sz="3200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er	or  </a:t>
            </a:r>
            <a:r>
              <a:rPr sz="3200" spc="-15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underscore</a:t>
            </a:r>
            <a:r>
              <a:rPr sz="3200" spc="-35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3200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signe.</a:t>
            </a:r>
            <a:endParaRPr sz="3200" dirty="0">
              <a:latin typeface="Calibri" panose="020F0502020204030204"/>
              <a:cs typeface="Calibri" panose="020F0502020204030204"/>
            </a:endParaRPr>
          </a:p>
          <a:p>
            <a:pPr marL="12700" marR="5080">
              <a:lnSpc>
                <a:spcPts val="3460"/>
              </a:lnSpc>
              <a:spcBef>
                <a:spcPts val="1400"/>
              </a:spcBef>
              <a:buAutoNum type="arabicPeriod"/>
              <a:tabLst>
                <a:tab pos="322580" algn="l"/>
              </a:tabLst>
            </a:pPr>
            <a:r>
              <a:rPr sz="3200" spc="-15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Each</a:t>
            </a:r>
            <a:r>
              <a:rPr sz="3200" spc="75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3200" spc="-10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variable</a:t>
            </a:r>
            <a:r>
              <a:rPr sz="3200" spc="75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3200" spc="-5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can</a:t>
            </a:r>
            <a:r>
              <a:rPr sz="3200" spc="70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3200" spc="-15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contain</a:t>
            </a:r>
            <a:r>
              <a:rPr sz="3200" spc="90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3200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upper</a:t>
            </a:r>
            <a:r>
              <a:rPr sz="3200" spc="80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3200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or</a:t>
            </a:r>
            <a:r>
              <a:rPr sz="3200" spc="70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3200" spc="-10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lower</a:t>
            </a:r>
            <a:r>
              <a:rPr sz="3200" spc="65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3200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or</a:t>
            </a:r>
            <a:r>
              <a:rPr sz="3200" spc="60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3200" spc="-15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undersocre</a:t>
            </a:r>
            <a:r>
              <a:rPr sz="3200" spc="90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3200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or </a:t>
            </a:r>
            <a:r>
              <a:rPr sz="3200" spc="-710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3200" spc="-5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number</a:t>
            </a:r>
            <a:r>
              <a:rPr sz="3200" spc="10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3200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or</a:t>
            </a:r>
            <a:r>
              <a:rPr sz="3200" spc="-5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3200" spc="-20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any</a:t>
            </a:r>
            <a:r>
              <a:rPr sz="3200" spc="5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3200" spc="-5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other </a:t>
            </a:r>
            <a:r>
              <a:rPr sz="3200" spc="-10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symbols.</a:t>
            </a:r>
            <a:endParaRPr sz="3200" dirty="0">
              <a:latin typeface="Calibri" panose="020F0502020204030204"/>
              <a:cs typeface="Calibri" panose="020F0502020204030204"/>
            </a:endParaRPr>
          </a:p>
          <a:p>
            <a:pPr marL="321945" indent="-309880">
              <a:lnSpc>
                <a:spcPct val="100000"/>
              </a:lnSpc>
              <a:spcBef>
                <a:spcPts val="965"/>
              </a:spcBef>
              <a:buAutoNum type="arabicPeriod"/>
              <a:tabLst>
                <a:tab pos="322580" algn="l"/>
              </a:tabLst>
            </a:pPr>
            <a:r>
              <a:rPr sz="3200" spc="-25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Variable</a:t>
            </a:r>
            <a:r>
              <a:rPr sz="3200" spc="35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3200" spc="-5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name</a:t>
            </a:r>
            <a:r>
              <a:rPr sz="3200" spc="5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3200" spc="-5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cannot </a:t>
            </a:r>
            <a:r>
              <a:rPr sz="3200" spc="-20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start</a:t>
            </a:r>
            <a:r>
              <a:rPr sz="3200" spc="10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3200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with</a:t>
            </a:r>
            <a:r>
              <a:rPr sz="3200" spc="-10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3200" spc="-5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space.</a:t>
            </a:r>
            <a:endParaRPr sz="3200" dirty="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0C95B3F-0904-0CDC-3FF7-0FA9D5F701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Engr. Tushar Kanjwani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1BB9332-57A0-04C2-F7E6-DF01B3BE83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5428C7-48FA-4A8B-9F71-19374B10004A}" type="slidenum">
              <a:rPr lang="en-US" smtClean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BC39D5-389D-9557-497E-B40723C6AE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 to Variables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CEF070-E7F9-D529-9579-E848DDD66F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Understand variables and how they store data. </a:t>
            </a:r>
          </a:p>
          <a:p>
            <a:r>
              <a:rPr lang="en-US" dirty="0"/>
              <a:t>Assign values to variables and display them using `print()`.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1F071CD-ACB6-CD50-3F82-9D36CD0A24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1974" y="3220859"/>
            <a:ext cx="6515203" cy="239616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7108931-18D3-E734-AA41-4132E10DEC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75372" y="3461657"/>
            <a:ext cx="3341244" cy="1411794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B3C65D4-2D29-478C-61E9-2C8FDD2471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Engr. Tushar Kanjwani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E49302-BBF3-3398-6A61-90CD2B700D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5428C7-48FA-4A8B-9F71-19374B10004A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10180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FCECA-0FE8-2558-CAAC-07938D32C6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Input / Output (I/O)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8EEBB2-D110-7191-1834-7BC75A413A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Input</a:t>
            </a:r>
            <a:r>
              <a:rPr lang="en-US" dirty="0"/>
              <a:t> means getting data from the user.</a:t>
            </a:r>
          </a:p>
          <a:p>
            <a:r>
              <a:rPr lang="en-US" b="1" dirty="0"/>
              <a:t>Output</a:t>
            </a:r>
            <a:r>
              <a:rPr lang="en-US" dirty="0"/>
              <a:t> means displaying results to the user.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8A3C7EA-78D6-DF80-1053-56AC743D3A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3074" y="3334221"/>
            <a:ext cx="4586281" cy="2186836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DAD0839-99E9-84DB-FEC5-008D5677A8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Engr. Tushar Kanjwani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52F87A-7605-8CF5-001C-D7367EF76F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5428C7-48FA-4A8B-9F71-19374B10004A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65329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5940B6-A305-78AB-99EA-675364D65E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User Input and String Concatenation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0735A8-5B06-DCF4-A602-7ED7C6F4A3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Learn how to use the `input()` function to get user input. </a:t>
            </a:r>
          </a:p>
          <a:p>
            <a:r>
              <a:rPr lang="en-US" dirty="0"/>
              <a:t>Write a program that asks the user for their name and age: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D588434-376A-4CD6-1E21-8F89B813AC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10936" y="3267765"/>
            <a:ext cx="3943900" cy="146705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B391AD3-29BB-8F37-8F77-586D84CBA6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3267765"/>
            <a:ext cx="6328776" cy="1252849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5A66E97-CA0F-E391-C471-573966DADA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Engr. Tushar Kanjwani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5DAC45-A9F3-8C1B-1588-A1FA93E9E1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5428C7-48FA-4A8B-9F71-19374B10004A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458834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44E24E-3BBC-6D16-549D-63DD6CD37E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E50344-E4D8-537E-FB4B-2AC040CF34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Combining Strings and Numbers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89309B-0314-0E78-3152-D2AC3D1AED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Learn how to concatenate numbers and strings in the same output. </a:t>
            </a:r>
          </a:p>
          <a:p>
            <a:r>
              <a:rPr lang="en-US" dirty="0"/>
              <a:t>Write a program that asks the user for their name and age, then prints a personalized message that includes arithmetic operations: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70E785F-A684-19D2-87E1-7C2F18DC92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Engr. Tushar Kanjwani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27DC620-08FE-F1A3-530C-4C526FF4E3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5428C7-48FA-4A8B-9F71-19374B10004A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12870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B540EA-ACD0-10C2-4BDD-2DC6C84DD9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929DCC-9872-44DF-EB34-9F5C73A88F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Combining Strings and Numbers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0EB4FA4-2B17-5747-32A3-4658940B5C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32555" y="3549235"/>
            <a:ext cx="3331438" cy="212101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C7E4CA2-D056-95BC-F20B-A9718B841C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588" y="1821316"/>
            <a:ext cx="10349647" cy="1487449"/>
          </a:xfrm>
          <a:prstGeom prst="rect">
            <a:avLst/>
          </a:prstGeom>
        </p:spPr>
      </p:pic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C724AC8-4BB8-9059-B9A3-165E93E281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Engr. Tushar Kanjwani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D2B3A1-BFE2-B79B-5340-1882233412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5428C7-48FA-4A8B-9F71-19374B10004A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20440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5D3434-A8E1-42E9-5020-1354A39884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Assignment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CB26AF-EABE-8A99-9AF2-EA2EB16390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Write a detailed Python program that asks the user for the following details: </a:t>
            </a:r>
          </a:p>
          <a:p>
            <a:pPr lvl="1"/>
            <a:r>
              <a:rPr lang="en-US" dirty="0"/>
              <a:t>Full name </a:t>
            </a:r>
          </a:p>
          <a:p>
            <a:pPr lvl="1"/>
            <a:r>
              <a:rPr lang="en-US" dirty="0"/>
              <a:t>Age </a:t>
            </a:r>
          </a:p>
          <a:p>
            <a:pPr lvl="1"/>
            <a:r>
              <a:rPr lang="en-US" dirty="0"/>
              <a:t>Favorite hobby </a:t>
            </a:r>
          </a:p>
          <a:p>
            <a:pPr lvl="1"/>
            <a:r>
              <a:rPr lang="en-US" dirty="0"/>
              <a:t>Year of birth </a:t>
            </a:r>
          </a:p>
          <a:p>
            <a:r>
              <a:rPr lang="en-US" dirty="0"/>
              <a:t>Based on the inputs, the program should: </a:t>
            </a:r>
          </a:p>
          <a:p>
            <a:pPr lvl="1"/>
            <a:r>
              <a:rPr lang="en-US" dirty="0"/>
              <a:t>1. Greet the user with their full name. </a:t>
            </a:r>
          </a:p>
          <a:p>
            <a:pPr lvl="1"/>
            <a:r>
              <a:rPr lang="en-US" dirty="0"/>
              <a:t>2. Calculate the number of years remaining until they turn 100 years old. 3. Display their age in dog years (1 human year = 7 dog years). </a:t>
            </a:r>
          </a:p>
          <a:p>
            <a:pPr lvl="1"/>
            <a:r>
              <a:rPr lang="en-US" dirty="0"/>
              <a:t>4. Print a personalized message mentioning their hobby and what year they were born in. 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4068636-2704-7853-9F50-86A90193A5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Engr. Tushar Kanjwani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1E12A08-2AF7-83E0-63B5-44C7809487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5428C7-48FA-4A8B-9F71-19374B10004A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69400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2048A5-03ED-FBE6-F3EF-72DC86D469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Data Types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8602FB-D06B-6245-814B-1551B1BA1F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/>
              <a:t>Data types define the type of data a variable can store.</a:t>
            </a:r>
          </a:p>
          <a:p>
            <a:r>
              <a:rPr lang="en-US"/>
              <a:t>Common data types include:</a:t>
            </a:r>
          </a:p>
          <a:p>
            <a:pPr lvl="1"/>
            <a:r>
              <a:rPr lang="en-US" b="1"/>
              <a:t>Integer</a:t>
            </a:r>
            <a:r>
              <a:rPr lang="en-US"/>
              <a:t> (int): whole numbers</a:t>
            </a:r>
            <a:br>
              <a:rPr lang="en-US"/>
            </a:br>
            <a:r>
              <a:rPr lang="en-US"/>
              <a:t>Example: 10, 25</a:t>
            </a:r>
          </a:p>
          <a:p>
            <a:pPr lvl="1"/>
            <a:r>
              <a:rPr lang="en-US" b="1"/>
              <a:t>Float</a:t>
            </a:r>
            <a:r>
              <a:rPr lang="en-US"/>
              <a:t>: decimal numbers</a:t>
            </a:r>
            <a:br>
              <a:rPr lang="en-US"/>
            </a:br>
            <a:r>
              <a:rPr lang="en-US"/>
              <a:t>Example: 3.14, 10.5</a:t>
            </a:r>
          </a:p>
          <a:p>
            <a:pPr lvl="1"/>
            <a:r>
              <a:rPr lang="en-US" b="1"/>
              <a:t>String</a:t>
            </a:r>
            <a:r>
              <a:rPr lang="en-US"/>
              <a:t> (str): text or characters</a:t>
            </a:r>
            <a:br>
              <a:rPr lang="en-US"/>
            </a:br>
            <a:r>
              <a:rPr lang="en-US"/>
              <a:t>Example: "Hello", "Python"</a:t>
            </a:r>
          </a:p>
          <a:p>
            <a:pPr lvl="1"/>
            <a:r>
              <a:rPr lang="en-US" b="1"/>
              <a:t>Boolean</a:t>
            </a:r>
            <a:r>
              <a:rPr lang="en-US"/>
              <a:t> (bool): true or false values</a:t>
            </a:r>
            <a:br>
              <a:rPr lang="en-US"/>
            </a:br>
            <a:r>
              <a:rPr lang="en-US"/>
              <a:t>Example: True, False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028CFFD-7EBC-5D8B-EC44-14BCE655887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4288"/>
          <a:stretch>
            <a:fillRect/>
          </a:stretch>
        </p:blipFill>
        <p:spPr>
          <a:xfrm>
            <a:off x="7099901" y="3116826"/>
            <a:ext cx="4264500" cy="1592825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93A1A47-A642-A8D9-3460-BDF43D3AA3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Engr. Tushar Kanjwani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F2F569-E8BA-679A-F52B-34AA0E9616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5428C7-48FA-4A8B-9F71-19374B10004A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60371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47B072-73D4-D4BB-A6EA-1E5DC8B405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Checking Data Types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8057E2-51A6-7845-C56D-0DD0B9E17C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Write a Python program that creates a string, integer, and float variable, then prints their data types: 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D2D1D07-E903-600F-1DDD-4103ADF6A6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97044" y="2985603"/>
            <a:ext cx="3896144" cy="2235492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2E505097-18C3-AFC3-F7B2-8464D07C27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7555" y="2985603"/>
            <a:ext cx="4890489" cy="2466324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018B433-39F2-B1D8-AA7A-0DA2E845CF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Engr. Tushar Kanjwani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D2F21B0-8042-82AA-E696-BA04C33F11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5428C7-48FA-4A8B-9F71-19374B10004A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002340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4E62BF-707E-2871-329E-AB3A3FC053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5B2892-B68E-FB4C-A490-C0E73835A4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Simple Arithmetic Operation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D3A7BB-77D9-444D-BFAA-42B91198A9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Learn how to use basic arithmetic operations (addition, multiplication).</a:t>
            </a:r>
          </a:p>
          <a:p>
            <a:r>
              <a:rPr lang="en-US" dirty="0"/>
              <a:t>Write a program that asks the user for two numbers and performs arithmetic operations: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4F9DB2A-38EC-02BA-DE81-30E635C94C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3900952"/>
            <a:ext cx="4725059" cy="214342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3D7D6B7-1987-CA3C-048C-2D260D68AB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69573" y="3694893"/>
            <a:ext cx="3331438" cy="2121015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5A4FF2A-9494-17AF-2332-141414A14A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Engr. Tushar Kanjwani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F9E4D8-F194-F9AD-825E-3ACB4D1C98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5428C7-48FA-4A8B-9F71-19374B10004A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78589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2BBFC9-A3BD-AFE1-1042-87781FE2B0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FADBC0-CCFA-1428-85B5-7AED5C7453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Performing Arithmetic Operations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4E9865-12BB-4745-D516-9B607D7A60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Learn how to use basic arithmetic operations (addition, subtraction, multiplication, division).</a:t>
            </a:r>
          </a:p>
          <a:p>
            <a:r>
              <a:rPr lang="en-US" dirty="0"/>
              <a:t>Write a program that asks the user for two numbers and performs arithmetic operations: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C17E16E-E46B-2CAC-A101-2F622C2F70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Engr. Tushar Kanjwani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76DA7FE-A52F-CF95-62FD-90DF0D0339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5428C7-48FA-4A8B-9F71-19374B10004A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803519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787331-C829-9F4A-1A0C-74E36D88B6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8908AE-1937-4CDD-40A6-6C7C30EF10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Working with Floats and Integers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4AFF2A-2F3F-3EC0-ADF9-9EA5245C40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Understand the difference between integers and floats. </a:t>
            </a:r>
          </a:p>
          <a:p>
            <a:r>
              <a:rPr lang="en-US" dirty="0"/>
              <a:t>Perform operations with both integer and float data types.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FCA7868-61EF-1E07-8DCD-07FFDAF706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Engr. Tushar Kanjwani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2834016-CF00-8276-4684-956088DE23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5428C7-48FA-4A8B-9F71-19374B10004A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063552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DD2431-6BC7-3B80-C809-B19D1F1A4E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DDBE9A-E58E-2996-04C8-9161702312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Working with Floats and Integers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F918C74-8B1E-2E4F-7DC1-F3177E1CB4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2127" y="1994960"/>
            <a:ext cx="7856281" cy="142952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E767F54-FD08-9922-E874-7EA62116E8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86677" y="3728758"/>
            <a:ext cx="5947179" cy="1256878"/>
          </a:xfrm>
          <a:prstGeom prst="rect">
            <a:avLst/>
          </a:prstGeom>
        </p:spPr>
      </p:pic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D3FC3DE-88CA-C9D5-A3FF-0C3F5A2DCC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Engr. Tushar Kanjwani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ABD0AD-F205-0877-6107-ADF98FAEFC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5428C7-48FA-4A8B-9F71-19374B10004A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59980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A3DBD5-EB93-8DF8-F893-2F3E201D65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Combining User Input and Calculations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F87959-596E-4F5F-F324-79D726B343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Write programs that ask the user for inputs (like cost, and quantity) and perform calculations using these inputs and save output in </a:t>
            </a:r>
            <a:r>
              <a:rPr lang="en-US" dirty="0" err="1"/>
              <a:t>total_cost</a:t>
            </a:r>
            <a:r>
              <a:rPr lang="en-US" dirty="0"/>
              <a:t>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B80E582-DF86-F374-AE9D-E6F4FF4E8A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3168" y="3214541"/>
            <a:ext cx="5829711" cy="141717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2893459-63B4-85E1-6430-C9A32B4B69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898" y="3538956"/>
            <a:ext cx="4679244" cy="1092758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BB03F7E-57C1-AE5D-0418-BD907322E6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Engr. Tushar Kanjwani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D697C0-07CC-19A9-3C47-E518887DFB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5428C7-48FA-4A8B-9F71-19374B10004A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30526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307498-8D11-B65E-5BA1-36972EFEAB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74957"/>
            <a:ext cx="10515600" cy="1325563"/>
          </a:xfrm>
        </p:spPr>
        <p:txBody>
          <a:bodyPr/>
          <a:lstStyle/>
          <a:p>
            <a:r>
              <a:rPr lang="en-US" dirty="0"/>
              <a:t>Handling Division and Float Precision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2BF91F-E3F2-4E04-AF77-3BDA36E657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Explore how Python handles division and float precision. </a:t>
            </a:r>
          </a:p>
          <a:p>
            <a:r>
              <a:rPr lang="en-US" dirty="0"/>
              <a:t>Write a program that divides two numbers and limits the result to two decimal places. </a:t>
            </a:r>
          </a:p>
          <a:p>
            <a:r>
              <a:rPr lang="en-US" dirty="0"/>
              <a:t>Start teaching them built-in functions, e.g., round().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C497958-D7D1-453B-139B-CA042B0891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Engr. Tushar Kanjwani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4622EB8-AEF4-AB52-4864-7AC2CA2979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5428C7-48FA-4A8B-9F71-19374B10004A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892330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73B764-6A1F-EF2E-A618-1DC731F0D2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221EE6-F994-BA4B-5F36-E977518AE6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Handling Division and Float Precision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A67E290-89D5-064C-16AB-A2D6603C9F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6152" y="1781123"/>
            <a:ext cx="7233510" cy="154488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7430FB2-C345-63AF-86C2-05967521C8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60010" y="3708229"/>
            <a:ext cx="4967083" cy="1544880"/>
          </a:xfrm>
          <a:prstGeom prst="rect">
            <a:avLst/>
          </a:prstGeom>
        </p:spPr>
      </p:pic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E624026-4D69-1850-E278-70FC880E6F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Engr. Tushar Kanjwani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73066C8-1A2E-8F35-779C-9B9AD55DB9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5428C7-48FA-4A8B-9F71-19374B10004A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070759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9754DE-5402-23FD-D01E-A86F33634D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Calculating Averages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719CA7-3802-DEDD-AEB9-7BA0016A82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0940845" cy="4351338"/>
          </a:xfrm>
        </p:spPr>
        <p:txBody>
          <a:bodyPr/>
          <a:lstStyle/>
          <a:p>
            <a:r>
              <a:rPr lang="en-US" dirty="0"/>
              <a:t>Write a program that asks the user for two numbers and calculates the average.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92B022F-9607-52A9-F69C-8008B1212E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30934" y="4102701"/>
            <a:ext cx="7077848" cy="148428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D23DCF6-4E21-DE52-F265-F4120CDA95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85344" y="2686856"/>
            <a:ext cx="4430380" cy="1199895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B28D0CA-9647-5E78-4227-8F9BD562C9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Engr. Tushar Kanjwani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696AC5-8A76-DAC9-7814-9168213EDB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5428C7-48FA-4A8B-9F71-19374B10004A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097309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2A503D-BD6F-2546-5D10-A2A1F5F0A8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Advanced Input and Output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6ED974-D56D-C398-9AA9-8DA405EC3C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Use formatted strings to display results with clarity. </a:t>
            </a:r>
          </a:p>
          <a:p>
            <a:r>
              <a:rPr lang="en-US" dirty="0"/>
              <a:t>Write a Python program that takes multiple inputs from the user and displays them in a well-formatted </a:t>
            </a:r>
            <a:r>
              <a:rPr lang="en-US" dirty="0" err="1"/>
              <a:t>output.x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7C7C655-C63C-C9C7-5817-431A68ABD2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8863" y="3586317"/>
            <a:ext cx="9014273" cy="1447800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C92D179-AB0A-001C-980A-44D0ABDCB7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Engr. Tushar Kanjwani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348FC5-F3E1-3005-2478-802FAF9897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5428C7-48FA-4A8B-9F71-19374B10004A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303054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AB49F0-E7F0-A2DE-5A76-6848632146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Using the Modulus Operator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9EFE7D-5AF8-37FC-CDA3-75C3D250C5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Learn how to use the modulus operator `%` to find remainders in division.</a:t>
            </a:r>
          </a:p>
          <a:p>
            <a:r>
              <a:rPr lang="en-US" dirty="0"/>
              <a:t>Write a program that checks if a number is even or odd using the modulus operator.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8814930-BB00-BF77-0529-44846A0472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07425" y="3796590"/>
            <a:ext cx="6177149" cy="2131937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76AD9C7-B0AD-DC71-887E-753BC42431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Engr. Tushar Kanjwani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D32870-0B98-78F3-D4AF-776AD380F5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5428C7-48FA-4A8B-9F71-19374B10004A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47135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9A2AF4-50E3-4B15-006C-210295580D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Assignment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EC3305-9894-7582-0C93-AB03D429BB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Write a Python program that asks the user for the radius of a circle and calculates the area </a:t>
            </a:r>
          </a:p>
          <a:p>
            <a:r>
              <a:rPr lang="en-US" dirty="0"/>
              <a:t>Formula: </a:t>
            </a:r>
            <a:r>
              <a:rPr lang="en-US" b="1" dirty="0"/>
              <a:t>Area = π * (radius)^2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023F4D1-D79D-6A4C-79F1-8D9D9E61AD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Engr. Tushar Kanjwani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A59B535-1067-9EC9-1B2F-DA5384E4E7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5428C7-48FA-4A8B-9F71-19374B10004A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432040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B46A4F-81FF-4512-E0B1-B5F34DBD12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Solution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EEFD214-61F8-DB33-625E-195C915AED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6563" y="1590204"/>
            <a:ext cx="9438873" cy="1738312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D46D038F-8677-6CF0-F11E-3C00BF5673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5086" y="3722847"/>
            <a:ext cx="7260689" cy="1323886"/>
          </a:xfrm>
          <a:prstGeom prst="rect">
            <a:avLst/>
          </a:prstGeom>
        </p:spPr>
      </p:pic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DD73F94-714D-87B3-0FB6-D4E46A6C91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Engr. Tushar Kanjwani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B2A4AD-C76C-FD96-3D65-B75641B512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5428C7-48FA-4A8B-9F71-19374B10004A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38956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1F5EE6-163D-4B92-1E0B-FA7259F368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Correct Variable Naming in Python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7E7F40-D414-0C3B-40D1-37249D5538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Variable names must start with a letter or an underscore (_), but not a number. </a:t>
            </a:r>
          </a:p>
          <a:p>
            <a:r>
              <a:rPr lang="en-US" dirty="0"/>
              <a:t>Variable names can only contain alphanumeric characters (A-Z, a-z, 0-9) and underscores (_). </a:t>
            </a:r>
          </a:p>
          <a:p>
            <a:r>
              <a:rPr lang="en-US" dirty="0"/>
              <a:t>Variable names are case-sensitive (e.g., age and Age are different variables). </a:t>
            </a:r>
          </a:p>
          <a:p>
            <a:r>
              <a:rPr lang="en-US" dirty="0"/>
              <a:t>Variable names should be descriptive and concise, avoiding abbreviations where clarity might be lost. </a:t>
            </a:r>
          </a:p>
          <a:p>
            <a:r>
              <a:rPr lang="en-US" dirty="0"/>
              <a:t>Avoid using Python keywords like if, else, for, class, etc., as variable names. 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1) 1st_variable = “Hello World" </a:t>
            </a:r>
          </a:p>
          <a:p>
            <a:pPr lvl="1"/>
            <a:r>
              <a:rPr lang="en-US" dirty="0"/>
              <a:t>2) @name = "John" </a:t>
            </a:r>
          </a:p>
          <a:p>
            <a:pPr lvl="1"/>
            <a:r>
              <a:rPr lang="en-US" dirty="0"/>
              <a:t>3) my variable = "This is wrong" </a:t>
            </a:r>
          </a:p>
          <a:p>
            <a:pPr lvl="1"/>
            <a:r>
              <a:rPr lang="en-US" dirty="0"/>
              <a:t>4) user-age = 25 </a:t>
            </a:r>
          </a:p>
          <a:p>
            <a:pPr lvl="1"/>
            <a:r>
              <a:rPr lang="en-US" dirty="0"/>
              <a:t>5) </a:t>
            </a:r>
            <a:r>
              <a:rPr lang="en-US" dirty="0" err="1"/>
              <a:t>total$amount</a:t>
            </a:r>
            <a:r>
              <a:rPr lang="en-US" dirty="0"/>
              <a:t> = 1000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16CBBE5-E928-34E2-DC87-E69672DE54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Engr. Tushar Kanjwani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B6817A7-DBC1-B910-1487-E686CE8F0B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5428C7-48FA-4A8B-9F71-19374B10004A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34941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DE7EA5-1337-2424-524D-1250706227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String Concatenation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8B7BB7-78D1-FEC0-E3AD-C0E892F59F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Practice combining strings using concatenation.</a:t>
            </a:r>
          </a:p>
          <a:p>
            <a:r>
              <a:rPr lang="en-US" dirty="0"/>
              <a:t>Write a Python program that accepts a favorite color and food from the user and combines them in a sentence.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1AD85F1-9DEC-E9D0-C1B7-AA30CE066B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6958" y="4433384"/>
            <a:ext cx="10576842" cy="110367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C24E70C-8A7A-5D19-A4FF-B940C701D8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8236" y="3429000"/>
            <a:ext cx="7407712" cy="937197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0447EAE-3F2A-18DC-E8E9-8A222B6941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Engr. Tushar Kanjwani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824EC4-21E3-D2A2-F39D-5C0FFEF6F5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5428C7-48FA-4A8B-9F71-19374B10004A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00923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63C1F6-0D4B-BD0C-AD6B-69E3E534DB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String Formatting Using f-Strings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69EA27-B1DE-F319-4374-5B83F12BF7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Learn how to format strings using f-strings for cleaner code and output. </a:t>
            </a:r>
          </a:p>
          <a:p>
            <a:r>
              <a:rPr lang="en-US" dirty="0"/>
              <a:t>Write a Python program that accepts name, age, and hobby, and formats them in a message using f-strings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C5E506A-2246-AAC6-D78C-4BA973E01C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6275" y="3919529"/>
            <a:ext cx="9914205" cy="1637209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5B2CCE3-FFFE-D3A9-DBE6-59A94A1B0A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Engr. Tushar Kanjwani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1351769-EC8A-A00B-31A4-E53C5295BA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5428C7-48FA-4A8B-9F71-19374B10004A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874038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A51E1A-A3A1-5445-DEEC-2197332181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String Formatting with the ‘format()’ Method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70248B-2EF2-0878-BD58-B04F72776E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Write a program that asks for the user's favorite movie and city, then prints a formatted message using `format()`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96711A5-4F95-E983-A0FF-A1377D4DE4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411" y="2909507"/>
            <a:ext cx="10522264" cy="1318363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B200A3B-9258-B0E2-8703-E60DC4AFEB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Engr. Tushar Kanjwani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3E3568-B890-6AB0-C21A-84A39F2BDE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5428C7-48FA-4A8B-9F71-19374B10004A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122086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B7E27E-BD04-2C13-BA0C-C5D7A9A1CF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Different between f-string &amp; format()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E181BC5-696B-FEFA-73D3-A4CEE3C602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9374" y="3273681"/>
            <a:ext cx="10435646" cy="151462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E154BA7-E87D-EC25-E2ED-50460212A7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02478" y="1690688"/>
            <a:ext cx="8150468" cy="1358412"/>
          </a:xfrm>
          <a:prstGeom prst="rect">
            <a:avLst/>
          </a:prstGeom>
        </p:spPr>
      </p:pic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152FAA5-91A9-6193-9A2D-6DCDD4B3AD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Engr. Tushar Kanjwani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EDC46A-26B7-2204-1821-A24E374D2B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5428C7-48FA-4A8B-9F71-19374B10004A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736177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515D3A-5DF6-2FE6-01FE-80CEB49EA1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Advanced Input and Output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E22ED9-C03B-11D6-4B6F-1C5913F03E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Write a program that asks for the user's name, profession, and a fun fact, then prints them in a multi-line format. (hint = ‘\n’)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2A31D00-1239-6990-231F-EF40FE8FF2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7507" y="4580075"/>
            <a:ext cx="10040158" cy="132556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5CABC56-5995-B47A-CB1F-E5FAD31447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8396" y="2624025"/>
            <a:ext cx="3748313" cy="1868628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DDD0C70-4097-B00D-2275-156F434712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Engr. Tushar Kanjwani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428767-77C0-D631-2977-C083CA6018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5428C7-48FA-4A8B-9F71-19374B10004A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44053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3D9193-F1FA-AF88-4F93-604174BDD8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Handling Different Data Types in Input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A33E9F-E5B8-27B5-6341-F0C89982B2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Write a program that asks for a person's height (float) and weight (float) and calculates their Body Mass Index (BMI). </a:t>
            </a:r>
          </a:p>
          <a:p>
            <a:pPr marL="0" indent="0">
              <a:buNone/>
            </a:pPr>
            <a:r>
              <a:rPr lang="en-US" dirty="0"/>
              <a:t>(Hint=1pound = 2.2kg and 1meter = 3.28)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315E248-5AE0-533F-5D8B-B68A6F1EF9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386" y="3773919"/>
            <a:ext cx="5297287" cy="146127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320D235-3AD8-7AFC-63E1-40ECA7052B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3329" y="3693532"/>
            <a:ext cx="5629696" cy="1325562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843A040-580E-C2DF-DDE8-639257D613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Engr. Tushar Kanjwani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C8A521-F8F2-F5FD-DFA4-E076848388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5428C7-48FA-4A8B-9F71-19374B10004A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48868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560</TotalTime>
  <Words>1489</Words>
  <Application>Microsoft Office PowerPoint</Application>
  <PresentationFormat>Widescreen</PresentationFormat>
  <Paragraphs>225</Paragraphs>
  <Slides>38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43" baseType="lpstr">
      <vt:lpstr>Aptos</vt:lpstr>
      <vt:lpstr>Aptos Display</vt:lpstr>
      <vt:lpstr>Arial</vt:lpstr>
      <vt:lpstr>Calibri</vt:lpstr>
      <vt:lpstr>Office Theme</vt:lpstr>
      <vt:lpstr>Introduction to Programming and Python Basics </vt:lpstr>
      <vt:lpstr>Course Outline</vt:lpstr>
      <vt:lpstr>Learning Outcomes: </vt:lpstr>
      <vt:lpstr>Programming Languages</vt:lpstr>
      <vt:lpstr>What is Python?</vt:lpstr>
      <vt:lpstr>What can Python do?</vt:lpstr>
      <vt:lpstr>Install Python and IDE Setup</vt:lpstr>
      <vt:lpstr>Your First Python Program</vt:lpstr>
      <vt:lpstr>Write a Python program</vt:lpstr>
      <vt:lpstr>Variables</vt:lpstr>
      <vt:lpstr> Variable naming rules </vt:lpstr>
      <vt:lpstr>Introduction to Variables</vt:lpstr>
      <vt:lpstr>Input / Output (I/O)</vt:lpstr>
      <vt:lpstr>User Input and String Concatenation</vt:lpstr>
      <vt:lpstr>Combining Strings and Numbers</vt:lpstr>
      <vt:lpstr>Combining Strings and Numbers</vt:lpstr>
      <vt:lpstr>Assignment</vt:lpstr>
      <vt:lpstr>Data Types</vt:lpstr>
      <vt:lpstr>Checking Data Types</vt:lpstr>
      <vt:lpstr>Simple Arithmetic Operation</vt:lpstr>
      <vt:lpstr>Performing Arithmetic Operations </vt:lpstr>
      <vt:lpstr>Working with Floats and Integers </vt:lpstr>
      <vt:lpstr>Working with Floats and Integers </vt:lpstr>
      <vt:lpstr>Combining User Input and Calculations</vt:lpstr>
      <vt:lpstr>Handling Division and Float Precision</vt:lpstr>
      <vt:lpstr>Handling Division and Float Precision</vt:lpstr>
      <vt:lpstr>Calculating Averages</vt:lpstr>
      <vt:lpstr>Advanced Input and Output</vt:lpstr>
      <vt:lpstr>Using the Modulus Operator</vt:lpstr>
      <vt:lpstr>Assignment</vt:lpstr>
      <vt:lpstr>Solution</vt:lpstr>
      <vt:lpstr>Correct Variable Naming in Python</vt:lpstr>
      <vt:lpstr>String Concatenation</vt:lpstr>
      <vt:lpstr>String Formatting Using f-Strings</vt:lpstr>
      <vt:lpstr>String Formatting with the ‘format()’ Method</vt:lpstr>
      <vt:lpstr>Different between f-string &amp; format()</vt:lpstr>
      <vt:lpstr>Advanced Input and Output</vt:lpstr>
      <vt:lpstr>Handling Different Data Types in Input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Barkha Teekam</dc:creator>
  <cp:lastModifiedBy>Barkha Teekam</cp:lastModifiedBy>
  <cp:revision>20</cp:revision>
  <dcterms:created xsi:type="dcterms:W3CDTF">2026-03-09T09:08:35Z</dcterms:created>
  <dcterms:modified xsi:type="dcterms:W3CDTF">2026-06-04T07:27:40Z</dcterms:modified>
</cp:coreProperties>
</file>